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diagrams/quickStyle1.xml" ContentType="application/vnd.openxmlformats-officedocument.drawingml.diagramStyl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1"/>
  </p:sldMasterIdLst>
  <p:notesMasterIdLst>
    <p:notesMasterId r:id="rId59"/>
  </p:notesMasterIdLst>
  <p:handoutMasterIdLst>
    <p:handoutMasterId r:id="rId60"/>
  </p:handoutMasterIdLst>
  <p:sldIdLst>
    <p:sldId id="620" r:id="rId2"/>
    <p:sldId id="631" r:id="rId3"/>
    <p:sldId id="622" r:id="rId4"/>
    <p:sldId id="623" r:id="rId5"/>
    <p:sldId id="625" r:id="rId6"/>
    <p:sldId id="626" r:id="rId7"/>
    <p:sldId id="627" r:id="rId8"/>
    <p:sldId id="506" r:id="rId9"/>
    <p:sldId id="621" r:id="rId10"/>
    <p:sldId id="628" r:id="rId11"/>
    <p:sldId id="582" r:id="rId12"/>
    <p:sldId id="507" r:id="rId13"/>
    <p:sldId id="364" r:id="rId14"/>
    <p:sldId id="467" r:id="rId15"/>
    <p:sldId id="326" r:id="rId16"/>
    <p:sldId id="618" r:id="rId17"/>
    <p:sldId id="377" r:id="rId18"/>
    <p:sldId id="570" r:id="rId19"/>
    <p:sldId id="546" r:id="rId20"/>
    <p:sldId id="547" r:id="rId21"/>
    <p:sldId id="569" r:id="rId22"/>
    <p:sldId id="617" r:id="rId23"/>
    <p:sldId id="540" r:id="rId24"/>
    <p:sldId id="571" r:id="rId25"/>
    <p:sldId id="572" r:id="rId26"/>
    <p:sldId id="605" r:id="rId27"/>
    <p:sldId id="606" r:id="rId28"/>
    <p:sldId id="607" r:id="rId29"/>
    <p:sldId id="573" r:id="rId30"/>
    <p:sldId id="613" r:id="rId31"/>
    <p:sldId id="553" r:id="rId32"/>
    <p:sldId id="614" r:id="rId33"/>
    <p:sldId id="615" r:id="rId34"/>
    <p:sldId id="616" r:id="rId35"/>
    <p:sldId id="528" r:id="rId36"/>
    <p:sldId id="529" r:id="rId37"/>
    <p:sldId id="276" r:id="rId38"/>
    <p:sldId id="277" r:id="rId39"/>
    <p:sldId id="527" r:id="rId40"/>
    <p:sldId id="531" r:id="rId41"/>
    <p:sldId id="532" r:id="rId42"/>
    <p:sldId id="535" r:id="rId43"/>
    <p:sldId id="537" r:id="rId44"/>
    <p:sldId id="471" r:id="rId45"/>
    <p:sldId id="472" r:id="rId46"/>
    <p:sldId id="619" r:id="rId47"/>
    <p:sldId id="479" r:id="rId48"/>
    <p:sldId id="473" r:id="rId49"/>
    <p:sldId id="292" r:id="rId50"/>
    <p:sldId id="355" r:id="rId51"/>
    <p:sldId id="481" r:id="rId52"/>
    <p:sldId id="482" r:id="rId53"/>
    <p:sldId id="483" r:id="rId54"/>
    <p:sldId id="484" r:id="rId55"/>
    <p:sldId id="485" r:id="rId56"/>
    <p:sldId id="630" r:id="rId57"/>
    <p:sldId id="594" r:id="rId5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3333FF"/>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56" autoAdjust="0"/>
    <p:restoredTop sz="93861" autoAdjust="0"/>
  </p:normalViewPr>
  <p:slideViewPr>
    <p:cSldViewPr>
      <p:cViewPr varScale="1">
        <p:scale>
          <a:sx n="66" d="100"/>
          <a:sy n="66" d="100"/>
        </p:scale>
        <p:origin x="-127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1856"/>
    </p:cViewPr>
  </p:sorterViewPr>
  <p:notesViewPr>
    <p:cSldViewPr>
      <p:cViewPr varScale="1">
        <p:scale>
          <a:sx n="57" d="100"/>
          <a:sy n="57" d="100"/>
        </p:scale>
        <p:origin x="-2604"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A84AB2-AEC7-49D0-87F6-8EA499A0805C}" type="doc">
      <dgm:prSet loTypeId="urn:microsoft.com/office/officeart/2005/8/layout/process2" loCatId="process" qsTypeId="urn:microsoft.com/office/officeart/2005/8/quickstyle/simple5" qsCatId="simple" csTypeId="urn:microsoft.com/office/officeart/2005/8/colors/colorful1#2" csCatId="colorful" phldr="1"/>
      <dgm:spPr/>
      <dgm:t>
        <a:bodyPr/>
        <a:lstStyle/>
        <a:p>
          <a:endParaRPr lang="zh-CN" altLang="en-US"/>
        </a:p>
      </dgm:t>
    </dgm:pt>
    <dgm:pt modelId="{FFDB240A-ADBB-46EC-A4F3-533592386CFC}">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词法分析</a:t>
          </a:r>
        </a:p>
      </dgm:t>
    </dgm:pt>
    <dgm:pt modelId="{DB82DDEF-C71C-4520-9442-4BC5D771E1E4}" type="parTrans" cxnId="{5FB9CDE8-CED1-4C3E-A04B-E6D58A9C089E}">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3495BBD7-544F-437A-B39F-71347DB57C2D}" type="sibTrans" cxnId="{5FB9CDE8-CED1-4C3E-A04B-E6D58A9C089E}">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A0576AA4-AAD9-41AB-A5AD-31042454ED0A}">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语义分析</a:t>
          </a:r>
        </a:p>
      </dgm:t>
    </dgm:pt>
    <dgm:pt modelId="{02459F68-A170-440C-8049-30B67C2DB217}" type="sibTrans" cxnId="{172641B2-B7C0-46EB-B744-26E8D21A2B17}">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946A27D0-FD69-44F2-8E7E-8D2CD6C8A39B}" type="parTrans" cxnId="{172641B2-B7C0-46EB-B744-26E8D21A2B17}">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BBB017B0-370F-4037-8ADB-55064805BA1F}">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语法分析</a:t>
          </a:r>
        </a:p>
      </dgm:t>
    </dgm:pt>
    <dgm:pt modelId="{E9BC3387-C8F6-407A-AC90-7B72A935734A}" type="sibTrans" cxnId="{0521B282-C52B-4F12-920D-733A4389B158}">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FB946E2E-AFE4-46CB-AA21-4EC41AAC4CB7}" type="parTrans" cxnId="{0521B282-C52B-4F12-920D-733A4389B158}">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30270972-4E9A-49D1-B180-6A3640A4BD6A}">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中间代码生成</a:t>
          </a:r>
        </a:p>
      </dgm:t>
    </dgm:pt>
    <dgm:pt modelId="{19D89F5A-1A9C-49CA-9149-1C925055BBC4}" type="parTrans" cxnId="{E1BC2B29-BEAA-486B-AB0E-1194C0D36EAC}">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FCDFF7E0-1333-40C6-B936-C978EE1D4833}" type="sibTrans" cxnId="{E1BC2B29-BEAA-486B-AB0E-1194C0D36EAC}">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8D79C2FC-E507-41F9-B6A6-6D7200CA86FA}">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代码优化</a:t>
          </a:r>
        </a:p>
      </dgm:t>
    </dgm:pt>
    <dgm:pt modelId="{924EACA4-FB6E-4561-B60D-D1292380B20E}" type="parTrans" cxnId="{63B4D81C-2297-4B39-B36F-D58D1CB73360}">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5D619618-B5BC-4CB0-BDDC-E3677B677EA8}" type="sibTrans" cxnId="{63B4D81C-2297-4B39-B36F-D58D1CB73360}">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4B63C74B-FDD8-4196-A671-ED860960FDAB}">
      <dgm:prSet phldrT="[文本]" custT="1"/>
      <dgm:spPr>
        <a:noFill/>
        <a:ln>
          <a:solidFill>
            <a:schemeClr val="tx1"/>
          </a:solidFill>
        </a:ln>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目标代码生成</a:t>
          </a:r>
        </a:p>
      </dgm:t>
    </dgm:pt>
    <dgm:pt modelId="{1AC1A39B-FE6A-4655-AC79-9064F727DBFA}" type="parTrans" cxnId="{7B84A248-A746-407E-8800-2218E2122C08}">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34FD7CCF-6EAB-4531-91EF-EB4E54631FE4}" type="sibTrans" cxnId="{7B84A248-A746-407E-8800-2218E2122C08}">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5E72E02E-1C19-41EE-A634-766775FFC5BB}">
      <dgm:prSet phldrT="[文本]" custT="1"/>
      <dgm:spPr>
        <a:noFill/>
        <a:ln>
          <a:noFill/>
        </a:ln>
        <a:scene3d>
          <a:camera prst="orthographicFront">
            <a:rot lat="0" lon="0" rev="0"/>
          </a:camera>
          <a:lightRig rig="threePt" dir="t">
            <a:rot lat="0" lon="0" rev="1200000"/>
          </a:lightRig>
        </a:scene3d>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目标程序</a:t>
          </a:r>
        </a:p>
      </dgm:t>
    </dgm:pt>
    <dgm:pt modelId="{354EBA61-C947-48C2-97A8-11620743F2B0}" type="parTrans" cxnId="{9FB6D4E0-A107-47A5-B40A-48D4FAF10381}">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65A65140-7DFE-4631-A791-632642F9EBBA}" type="sibTrans" cxnId="{9FB6D4E0-A107-47A5-B40A-48D4FAF10381}">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50BC95B5-5640-4B8F-B2E7-6C2E84A90651}">
      <dgm:prSet phldrT="[文本]" custT="1"/>
      <dgm:spPr>
        <a:noFill/>
        <a:ln>
          <a:noFill/>
        </a:ln>
        <a:scene3d>
          <a:camera prst="orthographicFront">
            <a:rot lat="0" lon="0" rev="0"/>
          </a:camera>
          <a:lightRig rig="threePt" dir="t">
            <a:rot lat="0" lon="0" rev="1200000"/>
          </a:lightRig>
        </a:scene3d>
      </dgm:spPr>
      <dgm:t>
        <a:bodyPr/>
        <a:lstStyle/>
        <a:p>
          <a:r>
            <a:rPr lang="zh-CN" altLang="en-US" sz="24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源程序</a:t>
          </a:r>
        </a:p>
      </dgm:t>
    </dgm:pt>
    <dgm:pt modelId="{6DABFBA8-AF62-4DF8-8188-2CDE92568478}" type="parTrans" cxnId="{BDF9FD2A-BB7F-43AF-94AB-2DBACCFF536C}">
      <dgm:prSet/>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19A781F2-E65D-4C3E-A95D-189F54C0260A}" type="sibTrans" cxnId="{BDF9FD2A-BB7F-43AF-94AB-2DBACCFF536C}">
      <dgm:prSet custT="1"/>
      <dgm:spPr>
        <a:solidFill>
          <a:srgbClr val="FFC000"/>
        </a:solidFill>
      </dgm:spPr>
      <dgm:t>
        <a:bodyPr/>
        <a:lstStyle/>
        <a:p>
          <a:endParaRPr lang="zh-CN" altLang="en-US" sz="2400" b="1">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dgm:t>
    </dgm:pt>
    <dgm:pt modelId="{C71EA0E1-2442-422B-939E-053604E7B429}" type="pres">
      <dgm:prSet presAssocID="{20A84AB2-AEC7-49D0-87F6-8EA499A0805C}" presName="linearFlow" presStyleCnt="0">
        <dgm:presLayoutVars>
          <dgm:resizeHandles val="exact"/>
        </dgm:presLayoutVars>
      </dgm:prSet>
      <dgm:spPr/>
      <dgm:t>
        <a:bodyPr/>
        <a:lstStyle/>
        <a:p>
          <a:endParaRPr lang="zh-CN" altLang="en-US"/>
        </a:p>
      </dgm:t>
    </dgm:pt>
    <dgm:pt modelId="{A67D105E-CAD4-4439-8774-BBD117DD842A}" type="pres">
      <dgm:prSet presAssocID="{50BC95B5-5640-4B8F-B2E7-6C2E84A90651}" presName="node" presStyleLbl="node1" presStyleIdx="0" presStyleCnt="8">
        <dgm:presLayoutVars>
          <dgm:bulletEnabled val="1"/>
        </dgm:presLayoutVars>
      </dgm:prSet>
      <dgm:spPr/>
      <dgm:t>
        <a:bodyPr/>
        <a:lstStyle/>
        <a:p>
          <a:endParaRPr lang="zh-CN" altLang="en-US"/>
        </a:p>
      </dgm:t>
    </dgm:pt>
    <dgm:pt modelId="{3405C2EB-FAB7-4D75-B430-3A2C1F67743F}" type="pres">
      <dgm:prSet presAssocID="{19A781F2-E65D-4C3E-A95D-189F54C0260A}" presName="sibTrans" presStyleLbl="sibTrans2D1" presStyleIdx="0" presStyleCnt="7"/>
      <dgm:spPr/>
      <dgm:t>
        <a:bodyPr/>
        <a:lstStyle/>
        <a:p>
          <a:endParaRPr lang="zh-CN" altLang="en-US"/>
        </a:p>
      </dgm:t>
    </dgm:pt>
    <dgm:pt modelId="{042C2E40-F309-497E-BB46-931A21FC192E}" type="pres">
      <dgm:prSet presAssocID="{19A781F2-E65D-4C3E-A95D-189F54C0260A}" presName="connectorText" presStyleLbl="sibTrans2D1" presStyleIdx="0" presStyleCnt="7"/>
      <dgm:spPr/>
      <dgm:t>
        <a:bodyPr/>
        <a:lstStyle/>
        <a:p>
          <a:endParaRPr lang="zh-CN" altLang="en-US"/>
        </a:p>
      </dgm:t>
    </dgm:pt>
    <dgm:pt modelId="{CFD2066F-E7A3-4655-8645-BB0CA5ED71D1}" type="pres">
      <dgm:prSet presAssocID="{FFDB240A-ADBB-46EC-A4F3-533592386CFC}" presName="node" presStyleLbl="node1" presStyleIdx="1" presStyleCnt="8" custScaleX="140350">
        <dgm:presLayoutVars>
          <dgm:bulletEnabled val="1"/>
        </dgm:presLayoutVars>
      </dgm:prSet>
      <dgm:spPr/>
      <dgm:t>
        <a:bodyPr/>
        <a:lstStyle/>
        <a:p>
          <a:endParaRPr lang="zh-CN" altLang="en-US"/>
        </a:p>
      </dgm:t>
    </dgm:pt>
    <dgm:pt modelId="{4CAE1B5F-2740-4927-A6D6-88D8E2FFB249}" type="pres">
      <dgm:prSet presAssocID="{3495BBD7-544F-437A-B39F-71347DB57C2D}" presName="sibTrans" presStyleLbl="sibTrans2D1" presStyleIdx="1" presStyleCnt="7"/>
      <dgm:spPr/>
      <dgm:t>
        <a:bodyPr/>
        <a:lstStyle/>
        <a:p>
          <a:endParaRPr lang="zh-CN" altLang="en-US"/>
        </a:p>
      </dgm:t>
    </dgm:pt>
    <dgm:pt modelId="{E2395C47-D91A-4373-8DC0-05F32894E856}" type="pres">
      <dgm:prSet presAssocID="{3495BBD7-544F-437A-B39F-71347DB57C2D}" presName="connectorText" presStyleLbl="sibTrans2D1" presStyleIdx="1" presStyleCnt="7"/>
      <dgm:spPr/>
      <dgm:t>
        <a:bodyPr/>
        <a:lstStyle/>
        <a:p>
          <a:endParaRPr lang="zh-CN" altLang="en-US"/>
        </a:p>
      </dgm:t>
    </dgm:pt>
    <dgm:pt modelId="{074DB975-FB44-4D56-84C3-87D21E74BB89}" type="pres">
      <dgm:prSet presAssocID="{BBB017B0-370F-4037-8ADB-55064805BA1F}" presName="node" presStyleLbl="node1" presStyleIdx="2" presStyleCnt="8" custScaleX="135148">
        <dgm:presLayoutVars>
          <dgm:bulletEnabled val="1"/>
        </dgm:presLayoutVars>
      </dgm:prSet>
      <dgm:spPr/>
      <dgm:t>
        <a:bodyPr/>
        <a:lstStyle/>
        <a:p>
          <a:endParaRPr lang="zh-CN" altLang="en-US"/>
        </a:p>
      </dgm:t>
    </dgm:pt>
    <dgm:pt modelId="{2F7F782D-7A3D-45C9-8C20-E6BF95733023}" type="pres">
      <dgm:prSet presAssocID="{E9BC3387-C8F6-407A-AC90-7B72A935734A}" presName="sibTrans" presStyleLbl="sibTrans2D1" presStyleIdx="2" presStyleCnt="7"/>
      <dgm:spPr/>
      <dgm:t>
        <a:bodyPr/>
        <a:lstStyle/>
        <a:p>
          <a:endParaRPr lang="zh-CN" altLang="en-US"/>
        </a:p>
      </dgm:t>
    </dgm:pt>
    <dgm:pt modelId="{FB67B372-498C-410B-8FA2-605346007709}" type="pres">
      <dgm:prSet presAssocID="{E9BC3387-C8F6-407A-AC90-7B72A935734A}" presName="connectorText" presStyleLbl="sibTrans2D1" presStyleIdx="2" presStyleCnt="7"/>
      <dgm:spPr/>
      <dgm:t>
        <a:bodyPr/>
        <a:lstStyle/>
        <a:p>
          <a:endParaRPr lang="zh-CN" altLang="en-US"/>
        </a:p>
      </dgm:t>
    </dgm:pt>
    <dgm:pt modelId="{317AD32A-D273-4247-8EE1-602BCD174A9E}" type="pres">
      <dgm:prSet presAssocID="{A0576AA4-AAD9-41AB-A5AD-31042454ED0A}" presName="node" presStyleLbl="node1" presStyleIdx="3" presStyleCnt="8" custScaleX="135148">
        <dgm:presLayoutVars>
          <dgm:bulletEnabled val="1"/>
        </dgm:presLayoutVars>
      </dgm:prSet>
      <dgm:spPr/>
      <dgm:t>
        <a:bodyPr/>
        <a:lstStyle/>
        <a:p>
          <a:endParaRPr lang="zh-CN" altLang="en-US"/>
        </a:p>
      </dgm:t>
    </dgm:pt>
    <dgm:pt modelId="{AE79C62B-0E8B-4EDC-98FD-ACE94D2FADE9}" type="pres">
      <dgm:prSet presAssocID="{02459F68-A170-440C-8049-30B67C2DB217}" presName="sibTrans" presStyleLbl="sibTrans2D1" presStyleIdx="3" presStyleCnt="7"/>
      <dgm:spPr/>
      <dgm:t>
        <a:bodyPr/>
        <a:lstStyle/>
        <a:p>
          <a:endParaRPr lang="zh-CN" altLang="en-US"/>
        </a:p>
      </dgm:t>
    </dgm:pt>
    <dgm:pt modelId="{3602CF18-CC10-48B5-AFB7-92AA69B7991C}" type="pres">
      <dgm:prSet presAssocID="{02459F68-A170-440C-8049-30B67C2DB217}" presName="connectorText" presStyleLbl="sibTrans2D1" presStyleIdx="3" presStyleCnt="7"/>
      <dgm:spPr/>
      <dgm:t>
        <a:bodyPr/>
        <a:lstStyle/>
        <a:p>
          <a:endParaRPr lang="zh-CN" altLang="en-US"/>
        </a:p>
      </dgm:t>
    </dgm:pt>
    <dgm:pt modelId="{F84586BF-9F22-48BD-8C5F-B8F8D9B53222}" type="pres">
      <dgm:prSet presAssocID="{30270972-4E9A-49D1-B180-6A3640A4BD6A}" presName="node" presStyleLbl="node1" presStyleIdx="4" presStyleCnt="8" custScaleX="135148">
        <dgm:presLayoutVars>
          <dgm:bulletEnabled val="1"/>
        </dgm:presLayoutVars>
      </dgm:prSet>
      <dgm:spPr/>
      <dgm:t>
        <a:bodyPr/>
        <a:lstStyle/>
        <a:p>
          <a:endParaRPr lang="zh-CN" altLang="en-US"/>
        </a:p>
      </dgm:t>
    </dgm:pt>
    <dgm:pt modelId="{B95E2499-1BA9-4FDC-873D-6A1094E27391}" type="pres">
      <dgm:prSet presAssocID="{FCDFF7E0-1333-40C6-B936-C978EE1D4833}" presName="sibTrans" presStyleLbl="sibTrans2D1" presStyleIdx="4" presStyleCnt="7"/>
      <dgm:spPr/>
      <dgm:t>
        <a:bodyPr/>
        <a:lstStyle/>
        <a:p>
          <a:endParaRPr lang="zh-CN" altLang="en-US"/>
        </a:p>
      </dgm:t>
    </dgm:pt>
    <dgm:pt modelId="{B2EB6C7F-2267-4E5B-A501-3591FB96AF47}" type="pres">
      <dgm:prSet presAssocID="{FCDFF7E0-1333-40C6-B936-C978EE1D4833}" presName="connectorText" presStyleLbl="sibTrans2D1" presStyleIdx="4" presStyleCnt="7"/>
      <dgm:spPr/>
      <dgm:t>
        <a:bodyPr/>
        <a:lstStyle/>
        <a:p>
          <a:endParaRPr lang="zh-CN" altLang="en-US"/>
        </a:p>
      </dgm:t>
    </dgm:pt>
    <dgm:pt modelId="{F46DA271-A5D6-4B15-8052-B10C78F605B8}" type="pres">
      <dgm:prSet presAssocID="{8D79C2FC-E507-41F9-B6A6-6D7200CA86FA}" presName="node" presStyleLbl="node1" presStyleIdx="5" presStyleCnt="8" custScaleX="135148">
        <dgm:presLayoutVars>
          <dgm:bulletEnabled val="1"/>
        </dgm:presLayoutVars>
      </dgm:prSet>
      <dgm:spPr/>
      <dgm:t>
        <a:bodyPr/>
        <a:lstStyle/>
        <a:p>
          <a:endParaRPr lang="zh-CN" altLang="en-US"/>
        </a:p>
      </dgm:t>
    </dgm:pt>
    <dgm:pt modelId="{03D3A681-29A9-425D-9BE5-FC0B7D94727C}" type="pres">
      <dgm:prSet presAssocID="{5D619618-B5BC-4CB0-BDDC-E3677B677EA8}" presName="sibTrans" presStyleLbl="sibTrans2D1" presStyleIdx="5" presStyleCnt="7"/>
      <dgm:spPr/>
      <dgm:t>
        <a:bodyPr/>
        <a:lstStyle/>
        <a:p>
          <a:endParaRPr lang="zh-CN" altLang="en-US"/>
        </a:p>
      </dgm:t>
    </dgm:pt>
    <dgm:pt modelId="{38DAEFDB-F142-415A-8B36-FDD2DA8D818A}" type="pres">
      <dgm:prSet presAssocID="{5D619618-B5BC-4CB0-BDDC-E3677B677EA8}" presName="connectorText" presStyleLbl="sibTrans2D1" presStyleIdx="5" presStyleCnt="7"/>
      <dgm:spPr/>
      <dgm:t>
        <a:bodyPr/>
        <a:lstStyle/>
        <a:p>
          <a:endParaRPr lang="zh-CN" altLang="en-US"/>
        </a:p>
      </dgm:t>
    </dgm:pt>
    <dgm:pt modelId="{FF3799FC-FEEE-436F-BE1B-90BAE64A4A6E}" type="pres">
      <dgm:prSet presAssocID="{4B63C74B-FDD8-4196-A671-ED860960FDAB}" presName="node" presStyleLbl="node1" presStyleIdx="6" presStyleCnt="8" custScaleX="135148">
        <dgm:presLayoutVars>
          <dgm:bulletEnabled val="1"/>
        </dgm:presLayoutVars>
      </dgm:prSet>
      <dgm:spPr/>
      <dgm:t>
        <a:bodyPr/>
        <a:lstStyle/>
        <a:p>
          <a:endParaRPr lang="zh-CN" altLang="en-US"/>
        </a:p>
      </dgm:t>
    </dgm:pt>
    <dgm:pt modelId="{A592261E-F124-4AC7-8ABF-394A209C2506}" type="pres">
      <dgm:prSet presAssocID="{34FD7CCF-6EAB-4531-91EF-EB4E54631FE4}" presName="sibTrans" presStyleLbl="sibTrans2D1" presStyleIdx="6" presStyleCnt="7"/>
      <dgm:spPr/>
      <dgm:t>
        <a:bodyPr/>
        <a:lstStyle/>
        <a:p>
          <a:endParaRPr lang="zh-CN" altLang="en-US"/>
        </a:p>
      </dgm:t>
    </dgm:pt>
    <dgm:pt modelId="{7EFA6337-AAE0-433B-BB29-3CE72D097E02}" type="pres">
      <dgm:prSet presAssocID="{34FD7CCF-6EAB-4531-91EF-EB4E54631FE4}" presName="connectorText" presStyleLbl="sibTrans2D1" presStyleIdx="6" presStyleCnt="7"/>
      <dgm:spPr/>
      <dgm:t>
        <a:bodyPr/>
        <a:lstStyle/>
        <a:p>
          <a:endParaRPr lang="zh-CN" altLang="en-US"/>
        </a:p>
      </dgm:t>
    </dgm:pt>
    <dgm:pt modelId="{21D78335-5B5A-49F0-A781-3A4E1EDCCC70}" type="pres">
      <dgm:prSet presAssocID="{5E72E02E-1C19-41EE-A634-766775FFC5BB}" presName="node" presStyleLbl="node1" presStyleIdx="7" presStyleCnt="8">
        <dgm:presLayoutVars>
          <dgm:bulletEnabled val="1"/>
        </dgm:presLayoutVars>
      </dgm:prSet>
      <dgm:spPr/>
      <dgm:t>
        <a:bodyPr/>
        <a:lstStyle/>
        <a:p>
          <a:endParaRPr lang="zh-CN" altLang="en-US"/>
        </a:p>
      </dgm:t>
    </dgm:pt>
  </dgm:ptLst>
  <dgm:cxnLst>
    <dgm:cxn modelId="{FC29107D-0797-4F35-B654-7198CA23E29A}" type="presOf" srcId="{3495BBD7-544F-437A-B39F-71347DB57C2D}" destId="{E2395C47-D91A-4373-8DC0-05F32894E856}" srcOrd="1" destOrd="0" presId="urn:microsoft.com/office/officeart/2005/8/layout/process2"/>
    <dgm:cxn modelId="{A4B57487-59A2-4229-8253-3FD065910F81}" type="presOf" srcId="{BBB017B0-370F-4037-8ADB-55064805BA1F}" destId="{074DB975-FB44-4D56-84C3-87D21E74BB89}" srcOrd="0" destOrd="0" presId="urn:microsoft.com/office/officeart/2005/8/layout/process2"/>
    <dgm:cxn modelId="{5FB9CDE8-CED1-4C3E-A04B-E6D58A9C089E}" srcId="{20A84AB2-AEC7-49D0-87F6-8EA499A0805C}" destId="{FFDB240A-ADBB-46EC-A4F3-533592386CFC}" srcOrd="1" destOrd="0" parTransId="{DB82DDEF-C71C-4520-9442-4BC5D771E1E4}" sibTransId="{3495BBD7-544F-437A-B39F-71347DB57C2D}"/>
    <dgm:cxn modelId="{7B84A248-A746-407E-8800-2218E2122C08}" srcId="{20A84AB2-AEC7-49D0-87F6-8EA499A0805C}" destId="{4B63C74B-FDD8-4196-A671-ED860960FDAB}" srcOrd="6" destOrd="0" parTransId="{1AC1A39B-FE6A-4655-AC79-9064F727DBFA}" sibTransId="{34FD7CCF-6EAB-4531-91EF-EB4E54631FE4}"/>
    <dgm:cxn modelId="{2BE9DED5-F6E0-4EB7-AF4E-EB74A56861B6}" type="presOf" srcId="{19A781F2-E65D-4C3E-A95D-189F54C0260A}" destId="{042C2E40-F309-497E-BB46-931A21FC192E}" srcOrd="1" destOrd="0" presId="urn:microsoft.com/office/officeart/2005/8/layout/process2"/>
    <dgm:cxn modelId="{D9B78383-6111-4669-BAF5-0ED910C35D75}" type="presOf" srcId="{4B63C74B-FDD8-4196-A671-ED860960FDAB}" destId="{FF3799FC-FEEE-436F-BE1B-90BAE64A4A6E}" srcOrd="0" destOrd="0" presId="urn:microsoft.com/office/officeart/2005/8/layout/process2"/>
    <dgm:cxn modelId="{0BCB37D6-E2B7-4F1F-A365-444A37E3C37B}" type="presOf" srcId="{FCDFF7E0-1333-40C6-B936-C978EE1D4833}" destId="{B95E2499-1BA9-4FDC-873D-6A1094E27391}" srcOrd="0" destOrd="0" presId="urn:microsoft.com/office/officeart/2005/8/layout/process2"/>
    <dgm:cxn modelId="{2AD23ADE-83AD-44BF-BF53-072509072B4D}" type="presOf" srcId="{5E72E02E-1C19-41EE-A634-766775FFC5BB}" destId="{21D78335-5B5A-49F0-A781-3A4E1EDCCC70}" srcOrd="0" destOrd="0" presId="urn:microsoft.com/office/officeart/2005/8/layout/process2"/>
    <dgm:cxn modelId="{9EFA4D14-9DE1-4EFF-9863-FF0A40407105}" type="presOf" srcId="{02459F68-A170-440C-8049-30B67C2DB217}" destId="{AE79C62B-0E8B-4EDC-98FD-ACE94D2FADE9}" srcOrd="0" destOrd="0" presId="urn:microsoft.com/office/officeart/2005/8/layout/process2"/>
    <dgm:cxn modelId="{6452668D-576D-4F37-8484-93990DFC3254}" type="presOf" srcId="{02459F68-A170-440C-8049-30B67C2DB217}" destId="{3602CF18-CC10-48B5-AFB7-92AA69B7991C}" srcOrd="1" destOrd="0" presId="urn:microsoft.com/office/officeart/2005/8/layout/process2"/>
    <dgm:cxn modelId="{B755EC8D-FA09-4193-B31D-A160C5D17B23}" type="presOf" srcId="{5D619618-B5BC-4CB0-BDDC-E3677B677EA8}" destId="{38DAEFDB-F142-415A-8B36-FDD2DA8D818A}" srcOrd="1" destOrd="0" presId="urn:microsoft.com/office/officeart/2005/8/layout/process2"/>
    <dgm:cxn modelId="{0521B282-C52B-4F12-920D-733A4389B158}" srcId="{20A84AB2-AEC7-49D0-87F6-8EA499A0805C}" destId="{BBB017B0-370F-4037-8ADB-55064805BA1F}" srcOrd="2" destOrd="0" parTransId="{FB946E2E-AFE4-46CB-AA21-4EC41AAC4CB7}" sibTransId="{E9BC3387-C8F6-407A-AC90-7B72A935734A}"/>
    <dgm:cxn modelId="{AD2C6541-513F-4822-B11E-A7D1B7E63F48}" type="presOf" srcId="{8D79C2FC-E507-41F9-B6A6-6D7200CA86FA}" destId="{F46DA271-A5D6-4B15-8052-B10C78F605B8}" srcOrd="0" destOrd="0" presId="urn:microsoft.com/office/officeart/2005/8/layout/process2"/>
    <dgm:cxn modelId="{575DE30D-B48D-46FF-841E-E351FEF2D345}" type="presOf" srcId="{E9BC3387-C8F6-407A-AC90-7B72A935734A}" destId="{FB67B372-498C-410B-8FA2-605346007709}" srcOrd="1" destOrd="0" presId="urn:microsoft.com/office/officeart/2005/8/layout/process2"/>
    <dgm:cxn modelId="{E1BC2B29-BEAA-486B-AB0E-1194C0D36EAC}" srcId="{20A84AB2-AEC7-49D0-87F6-8EA499A0805C}" destId="{30270972-4E9A-49D1-B180-6A3640A4BD6A}" srcOrd="4" destOrd="0" parTransId="{19D89F5A-1A9C-49CA-9149-1C925055BBC4}" sibTransId="{FCDFF7E0-1333-40C6-B936-C978EE1D4833}"/>
    <dgm:cxn modelId="{172641B2-B7C0-46EB-B744-26E8D21A2B17}" srcId="{20A84AB2-AEC7-49D0-87F6-8EA499A0805C}" destId="{A0576AA4-AAD9-41AB-A5AD-31042454ED0A}" srcOrd="3" destOrd="0" parTransId="{946A27D0-FD69-44F2-8E7E-8D2CD6C8A39B}" sibTransId="{02459F68-A170-440C-8049-30B67C2DB217}"/>
    <dgm:cxn modelId="{D6E60465-F159-47B8-B3F6-1EBC8F37700B}" type="presOf" srcId="{20A84AB2-AEC7-49D0-87F6-8EA499A0805C}" destId="{C71EA0E1-2442-422B-939E-053604E7B429}" srcOrd="0" destOrd="0" presId="urn:microsoft.com/office/officeart/2005/8/layout/process2"/>
    <dgm:cxn modelId="{D8A4986F-CCC5-401D-BF09-AF4AD90BE183}" type="presOf" srcId="{E9BC3387-C8F6-407A-AC90-7B72A935734A}" destId="{2F7F782D-7A3D-45C9-8C20-E6BF95733023}" srcOrd="0" destOrd="0" presId="urn:microsoft.com/office/officeart/2005/8/layout/process2"/>
    <dgm:cxn modelId="{46E14FDA-F5E1-415E-9ED0-5623F2D5EA06}" type="presOf" srcId="{50BC95B5-5640-4B8F-B2E7-6C2E84A90651}" destId="{A67D105E-CAD4-4439-8774-BBD117DD842A}" srcOrd="0" destOrd="0" presId="urn:microsoft.com/office/officeart/2005/8/layout/process2"/>
    <dgm:cxn modelId="{537D0BEC-E36B-4A79-8488-A5085423F6AC}" type="presOf" srcId="{FFDB240A-ADBB-46EC-A4F3-533592386CFC}" destId="{CFD2066F-E7A3-4655-8645-BB0CA5ED71D1}" srcOrd="0" destOrd="0" presId="urn:microsoft.com/office/officeart/2005/8/layout/process2"/>
    <dgm:cxn modelId="{30A96454-237A-4788-96F1-40D7B5F6D38A}" type="presOf" srcId="{5D619618-B5BC-4CB0-BDDC-E3677B677EA8}" destId="{03D3A681-29A9-425D-9BE5-FC0B7D94727C}" srcOrd="0" destOrd="0" presId="urn:microsoft.com/office/officeart/2005/8/layout/process2"/>
    <dgm:cxn modelId="{08FCCBD1-FF2B-4B9B-BBB3-29B48AEA010B}" type="presOf" srcId="{A0576AA4-AAD9-41AB-A5AD-31042454ED0A}" destId="{317AD32A-D273-4247-8EE1-602BCD174A9E}" srcOrd="0" destOrd="0" presId="urn:microsoft.com/office/officeart/2005/8/layout/process2"/>
    <dgm:cxn modelId="{2E1DBB51-8552-4640-BF57-2068A0AA16A5}" type="presOf" srcId="{19A781F2-E65D-4C3E-A95D-189F54C0260A}" destId="{3405C2EB-FAB7-4D75-B430-3A2C1F67743F}" srcOrd="0" destOrd="0" presId="urn:microsoft.com/office/officeart/2005/8/layout/process2"/>
    <dgm:cxn modelId="{EE0BA363-9212-4F19-BA05-700BD8DB2E6E}" type="presOf" srcId="{34FD7CCF-6EAB-4531-91EF-EB4E54631FE4}" destId="{7EFA6337-AAE0-433B-BB29-3CE72D097E02}" srcOrd="1" destOrd="0" presId="urn:microsoft.com/office/officeart/2005/8/layout/process2"/>
    <dgm:cxn modelId="{BDF9FD2A-BB7F-43AF-94AB-2DBACCFF536C}" srcId="{20A84AB2-AEC7-49D0-87F6-8EA499A0805C}" destId="{50BC95B5-5640-4B8F-B2E7-6C2E84A90651}" srcOrd="0" destOrd="0" parTransId="{6DABFBA8-AF62-4DF8-8188-2CDE92568478}" sibTransId="{19A781F2-E65D-4C3E-A95D-189F54C0260A}"/>
    <dgm:cxn modelId="{62783E77-9BA0-49F2-9C80-A7ED82E68120}" type="presOf" srcId="{30270972-4E9A-49D1-B180-6A3640A4BD6A}" destId="{F84586BF-9F22-48BD-8C5F-B8F8D9B53222}" srcOrd="0" destOrd="0" presId="urn:microsoft.com/office/officeart/2005/8/layout/process2"/>
    <dgm:cxn modelId="{63B4D81C-2297-4B39-B36F-D58D1CB73360}" srcId="{20A84AB2-AEC7-49D0-87F6-8EA499A0805C}" destId="{8D79C2FC-E507-41F9-B6A6-6D7200CA86FA}" srcOrd="5" destOrd="0" parTransId="{924EACA4-FB6E-4561-B60D-D1292380B20E}" sibTransId="{5D619618-B5BC-4CB0-BDDC-E3677B677EA8}"/>
    <dgm:cxn modelId="{17DF602D-904F-4597-9275-55CC18745525}" type="presOf" srcId="{34FD7CCF-6EAB-4531-91EF-EB4E54631FE4}" destId="{A592261E-F124-4AC7-8ABF-394A209C2506}" srcOrd="0" destOrd="0" presId="urn:microsoft.com/office/officeart/2005/8/layout/process2"/>
    <dgm:cxn modelId="{9FB6D4E0-A107-47A5-B40A-48D4FAF10381}" srcId="{20A84AB2-AEC7-49D0-87F6-8EA499A0805C}" destId="{5E72E02E-1C19-41EE-A634-766775FFC5BB}" srcOrd="7" destOrd="0" parTransId="{354EBA61-C947-48C2-97A8-11620743F2B0}" sibTransId="{65A65140-7DFE-4631-A791-632642F9EBBA}"/>
    <dgm:cxn modelId="{741E5620-8DFC-4A22-8EC8-DD45E49931E8}" type="presOf" srcId="{3495BBD7-544F-437A-B39F-71347DB57C2D}" destId="{4CAE1B5F-2740-4927-A6D6-88D8E2FFB249}" srcOrd="0" destOrd="0" presId="urn:microsoft.com/office/officeart/2005/8/layout/process2"/>
    <dgm:cxn modelId="{3D395520-2721-43F3-B7FF-157D2FD84A84}" type="presOf" srcId="{FCDFF7E0-1333-40C6-B936-C978EE1D4833}" destId="{B2EB6C7F-2267-4E5B-A501-3591FB96AF47}" srcOrd="1" destOrd="0" presId="urn:microsoft.com/office/officeart/2005/8/layout/process2"/>
    <dgm:cxn modelId="{46E0CFFF-C1EA-4759-B2DC-41A056302136}" type="presParOf" srcId="{C71EA0E1-2442-422B-939E-053604E7B429}" destId="{A67D105E-CAD4-4439-8774-BBD117DD842A}" srcOrd="0" destOrd="0" presId="urn:microsoft.com/office/officeart/2005/8/layout/process2"/>
    <dgm:cxn modelId="{7D948923-AF30-4F7F-BCCD-D5E991B81F7F}" type="presParOf" srcId="{C71EA0E1-2442-422B-939E-053604E7B429}" destId="{3405C2EB-FAB7-4D75-B430-3A2C1F67743F}" srcOrd="1" destOrd="0" presId="urn:microsoft.com/office/officeart/2005/8/layout/process2"/>
    <dgm:cxn modelId="{DCAB0E39-1D82-43A0-A8A2-A3708754794A}" type="presParOf" srcId="{3405C2EB-FAB7-4D75-B430-3A2C1F67743F}" destId="{042C2E40-F309-497E-BB46-931A21FC192E}" srcOrd="0" destOrd="0" presId="urn:microsoft.com/office/officeart/2005/8/layout/process2"/>
    <dgm:cxn modelId="{C88F0C94-1300-45B7-A4A1-86D64B6E564F}" type="presParOf" srcId="{C71EA0E1-2442-422B-939E-053604E7B429}" destId="{CFD2066F-E7A3-4655-8645-BB0CA5ED71D1}" srcOrd="2" destOrd="0" presId="urn:microsoft.com/office/officeart/2005/8/layout/process2"/>
    <dgm:cxn modelId="{6F62B459-599E-43F6-B2CB-533EDED5F24D}" type="presParOf" srcId="{C71EA0E1-2442-422B-939E-053604E7B429}" destId="{4CAE1B5F-2740-4927-A6D6-88D8E2FFB249}" srcOrd="3" destOrd="0" presId="urn:microsoft.com/office/officeart/2005/8/layout/process2"/>
    <dgm:cxn modelId="{95B2B737-C262-4703-8230-8A529EAFDCDA}" type="presParOf" srcId="{4CAE1B5F-2740-4927-A6D6-88D8E2FFB249}" destId="{E2395C47-D91A-4373-8DC0-05F32894E856}" srcOrd="0" destOrd="0" presId="urn:microsoft.com/office/officeart/2005/8/layout/process2"/>
    <dgm:cxn modelId="{A9180600-85B7-40AC-9E96-BA55720C20A0}" type="presParOf" srcId="{C71EA0E1-2442-422B-939E-053604E7B429}" destId="{074DB975-FB44-4D56-84C3-87D21E74BB89}" srcOrd="4" destOrd="0" presId="urn:microsoft.com/office/officeart/2005/8/layout/process2"/>
    <dgm:cxn modelId="{503A7D62-CACA-41BC-9014-126E2096231B}" type="presParOf" srcId="{C71EA0E1-2442-422B-939E-053604E7B429}" destId="{2F7F782D-7A3D-45C9-8C20-E6BF95733023}" srcOrd="5" destOrd="0" presId="urn:microsoft.com/office/officeart/2005/8/layout/process2"/>
    <dgm:cxn modelId="{8564D745-D63F-40A0-8D7D-7FFE48CE4A63}" type="presParOf" srcId="{2F7F782D-7A3D-45C9-8C20-E6BF95733023}" destId="{FB67B372-498C-410B-8FA2-605346007709}" srcOrd="0" destOrd="0" presId="urn:microsoft.com/office/officeart/2005/8/layout/process2"/>
    <dgm:cxn modelId="{C83D1827-5242-45BE-BF41-AECF4F70AD94}" type="presParOf" srcId="{C71EA0E1-2442-422B-939E-053604E7B429}" destId="{317AD32A-D273-4247-8EE1-602BCD174A9E}" srcOrd="6" destOrd="0" presId="urn:microsoft.com/office/officeart/2005/8/layout/process2"/>
    <dgm:cxn modelId="{FFEAB0E1-A6DF-4AF4-AEF2-CA54F89BB0F4}" type="presParOf" srcId="{C71EA0E1-2442-422B-939E-053604E7B429}" destId="{AE79C62B-0E8B-4EDC-98FD-ACE94D2FADE9}" srcOrd="7" destOrd="0" presId="urn:microsoft.com/office/officeart/2005/8/layout/process2"/>
    <dgm:cxn modelId="{4D087DD6-7C64-47DC-BD60-67CB0CCABD7C}" type="presParOf" srcId="{AE79C62B-0E8B-4EDC-98FD-ACE94D2FADE9}" destId="{3602CF18-CC10-48B5-AFB7-92AA69B7991C}" srcOrd="0" destOrd="0" presId="urn:microsoft.com/office/officeart/2005/8/layout/process2"/>
    <dgm:cxn modelId="{B1BFBDAB-5384-4615-8404-99A5A0F91D3E}" type="presParOf" srcId="{C71EA0E1-2442-422B-939E-053604E7B429}" destId="{F84586BF-9F22-48BD-8C5F-B8F8D9B53222}" srcOrd="8" destOrd="0" presId="urn:microsoft.com/office/officeart/2005/8/layout/process2"/>
    <dgm:cxn modelId="{32549124-9A74-45FA-9C6E-C622D48F69EB}" type="presParOf" srcId="{C71EA0E1-2442-422B-939E-053604E7B429}" destId="{B95E2499-1BA9-4FDC-873D-6A1094E27391}" srcOrd="9" destOrd="0" presId="urn:microsoft.com/office/officeart/2005/8/layout/process2"/>
    <dgm:cxn modelId="{86797312-EECB-49C0-B8AD-57B323721008}" type="presParOf" srcId="{B95E2499-1BA9-4FDC-873D-6A1094E27391}" destId="{B2EB6C7F-2267-4E5B-A501-3591FB96AF47}" srcOrd="0" destOrd="0" presId="urn:microsoft.com/office/officeart/2005/8/layout/process2"/>
    <dgm:cxn modelId="{66684322-C0A9-41C7-806C-D385DA77E9D5}" type="presParOf" srcId="{C71EA0E1-2442-422B-939E-053604E7B429}" destId="{F46DA271-A5D6-4B15-8052-B10C78F605B8}" srcOrd="10" destOrd="0" presId="urn:microsoft.com/office/officeart/2005/8/layout/process2"/>
    <dgm:cxn modelId="{0F2CDAEC-E847-4F10-8768-AFF16DD70EC9}" type="presParOf" srcId="{C71EA0E1-2442-422B-939E-053604E7B429}" destId="{03D3A681-29A9-425D-9BE5-FC0B7D94727C}" srcOrd="11" destOrd="0" presId="urn:microsoft.com/office/officeart/2005/8/layout/process2"/>
    <dgm:cxn modelId="{6C21190B-AFF5-4CF7-92FE-FFBD09533EA7}" type="presParOf" srcId="{03D3A681-29A9-425D-9BE5-FC0B7D94727C}" destId="{38DAEFDB-F142-415A-8B36-FDD2DA8D818A}" srcOrd="0" destOrd="0" presId="urn:microsoft.com/office/officeart/2005/8/layout/process2"/>
    <dgm:cxn modelId="{C7C53F64-DA1E-4BF9-A381-3C8492FF17F4}" type="presParOf" srcId="{C71EA0E1-2442-422B-939E-053604E7B429}" destId="{FF3799FC-FEEE-436F-BE1B-90BAE64A4A6E}" srcOrd="12" destOrd="0" presId="urn:microsoft.com/office/officeart/2005/8/layout/process2"/>
    <dgm:cxn modelId="{6E80BCCD-FC3E-4BE5-A673-15DCFDAD448F}" type="presParOf" srcId="{C71EA0E1-2442-422B-939E-053604E7B429}" destId="{A592261E-F124-4AC7-8ABF-394A209C2506}" srcOrd="13" destOrd="0" presId="urn:microsoft.com/office/officeart/2005/8/layout/process2"/>
    <dgm:cxn modelId="{6A90652C-3658-4C69-945F-906A10452A84}" type="presParOf" srcId="{A592261E-F124-4AC7-8ABF-394A209C2506}" destId="{7EFA6337-AAE0-433B-BB29-3CE72D097E02}" srcOrd="0" destOrd="0" presId="urn:microsoft.com/office/officeart/2005/8/layout/process2"/>
    <dgm:cxn modelId="{FC9DD288-E923-410B-8AD8-CA3647B3AD85}" type="presParOf" srcId="{C71EA0E1-2442-422B-939E-053604E7B429}" destId="{21D78335-5B5A-49F0-A781-3A4E1EDCCC70}" srcOrd="14" destOrd="0" presId="urn:microsoft.com/office/officeart/2005/8/layout/process2"/>
  </dgm:cxnLst>
  <dgm:bg/>
  <dgm:whole/>
</dgm:dataModel>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51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673AD530-7A9B-4EE2-ACAB-7A3F2E058D08}"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92164"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A165063E-347F-456B-8C42-6F80C1AD902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1219200" y="2452679"/>
            <a:ext cx="6858000" cy="990600"/>
          </a:xfrm>
        </p:spPr>
        <p:txBody>
          <a:bodyPr anchor="t" anchorCtr="0"/>
          <a:lstStyle>
            <a:lvl1pPr algn="r">
              <a:defRPr sz="3200">
                <a:solidFill>
                  <a:schemeClr val="tx1"/>
                </a:solidFill>
              </a:defRPr>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1219200" y="3690929"/>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6400800" y="6355080"/>
            <a:ext cx="2286000" cy="365760"/>
          </a:xfrm>
        </p:spPr>
        <p:txBody>
          <a:bodyPr/>
          <a:lstStyle>
            <a:lvl1pPr>
              <a:defRPr sz="1400"/>
            </a:lvl1pPr>
          </a:lstStyle>
          <a:p>
            <a:pPr>
              <a:defRPr/>
            </a:pPr>
            <a:fld id="{44102567-5D38-4550-BBBB-020300EE2E95}" type="datetime1">
              <a:rPr lang="zh-CN" altLang="en-US" smtClean="0"/>
              <a:t>2017/1/22</a:t>
            </a:fld>
            <a:endParaRPr lang="en-US" altLang="zh-CN"/>
          </a:p>
        </p:txBody>
      </p:sp>
      <p:sp>
        <p:nvSpPr>
          <p:cNvPr id="17" name="页脚占位符 16"/>
          <p:cNvSpPr>
            <a:spLocks noGrp="1"/>
          </p:cNvSpPr>
          <p:nvPr>
            <p:ph type="ftr" sz="quarter" idx="11"/>
          </p:nvPr>
        </p:nvSpPr>
        <p:spPr>
          <a:xfrm>
            <a:off x="2898648" y="6355080"/>
            <a:ext cx="3474720" cy="365760"/>
          </a:xfrm>
        </p:spPr>
        <p:txBody>
          <a:bodyPr/>
          <a:lstStyle/>
          <a:p>
            <a:pPr>
              <a:defRPr/>
            </a:pPr>
            <a:r>
              <a:rPr lang="zh-CN" altLang="en-US" dirty="0" smtClean="0"/>
              <a:t>第一章：引论</a:t>
            </a:r>
            <a:endParaRPr lang="en-US" altLang="zh-CN" dirty="0"/>
          </a:p>
        </p:txBody>
      </p:sp>
      <p:sp>
        <p:nvSpPr>
          <p:cNvPr id="29" name="灯片编号占位符 28"/>
          <p:cNvSpPr>
            <a:spLocks noGrp="1"/>
          </p:cNvSpPr>
          <p:nvPr>
            <p:ph type="sldNum" sz="quarter" idx="12"/>
          </p:nvPr>
        </p:nvSpPr>
        <p:spPr>
          <a:xfrm>
            <a:off x="1216152" y="6355080"/>
            <a:ext cx="1219200" cy="365760"/>
          </a:xfrm>
        </p:spPr>
        <p:txBody>
          <a:bodyPr/>
          <a:lstStyle/>
          <a:p>
            <a:pPr>
              <a:defRPr/>
            </a:pPr>
            <a:fld id="{970E0AF8-CD58-4BD6-BE76-FED4405D858A}" type="slidenum">
              <a:rPr lang="zh-CN" altLang="en-US" smtClean="0"/>
              <a:pPr>
                <a:defRPr/>
              </a:pPr>
              <a:t>‹#›</a:t>
            </a:fld>
            <a:endParaRPr lang="en-US" altLang="zh-CN"/>
          </a:p>
        </p:txBody>
      </p:sp>
      <p:sp>
        <p:nvSpPr>
          <p:cNvPr id="21" name="矩形 20"/>
          <p:cNvSpPr/>
          <p:nvPr/>
        </p:nvSpPr>
        <p:spPr>
          <a:xfrm>
            <a:off x="904875" y="2214554"/>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614729"/>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2214554"/>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14400" y="3614729"/>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pPr>
              <a:defRPr/>
            </a:pPr>
            <a:fld id="{49D2E324-6EF1-48A0-A49B-1BC12ADB97A2}" type="datetime1">
              <a:rPr lang="zh-CN" altLang="en-US" smtClean="0"/>
              <a:t>2017/1/22</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第一章：引论</a:t>
            </a:r>
            <a:endParaRPr lang="en-US" altLang="zh-CN"/>
          </a:p>
        </p:txBody>
      </p:sp>
      <p:sp>
        <p:nvSpPr>
          <p:cNvPr id="6" name="灯片编号占位符 5"/>
          <p:cNvSpPr>
            <a:spLocks noGrp="1"/>
          </p:cNvSpPr>
          <p:nvPr>
            <p:ph type="sldNum" sz="quarter" idx="12"/>
          </p:nvPr>
        </p:nvSpPr>
        <p:spPr/>
        <p:txBody>
          <a:bodyPr/>
          <a:lstStyle/>
          <a:p>
            <a:pPr>
              <a:defRPr/>
            </a:pPr>
            <a:fld id="{A9037077-57B6-4C6B-9679-EE84D27848C8}" type="slidenum">
              <a:rPr lang="zh-CN" altLang="en-US" smtClean="0"/>
              <a:pPr>
                <a:defRPr/>
              </a:pPr>
              <a:t>‹#›</a:t>
            </a:fld>
            <a:r>
              <a:rPr lang="en-US" altLang="zh-CN" dirty="0" smtClean="0"/>
              <a:t>/57</a:t>
            </a:r>
            <a:endParaRPr lang="en-US" altLang="zh-CN" dirty="0"/>
          </a:p>
        </p:txBody>
      </p:sp>
      <p:sp>
        <p:nvSpPr>
          <p:cNvPr id="8" name="内容占位符 7"/>
          <p:cNvSpPr>
            <a:spLocks noGrp="1"/>
          </p:cNvSpPr>
          <p:nvPr>
            <p:ph sz="quarter" idx="1"/>
          </p:nvPr>
        </p:nvSpPr>
        <p:spPr>
          <a:xfrm>
            <a:off x="457200" y="1219200"/>
            <a:ext cx="8229600" cy="493776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152400"/>
            <a:ext cx="8229600" cy="990600"/>
          </a:xfrm>
          <a:prstGeom prst="rect">
            <a:avLst/>
          </a:prstGeom>
        </p:spPr>
        <p:txBody>
          <a:bodyPr vert="horz" anchor="b" anchorCtr="0">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CN" altLang="en-US" dirty="0" smtClean="0"/>
              <a:t>单击此处编辑母版文本样式</a:t>
            </a:r>
          </a:p>
          <a:p>
            <a:pPr lvl="1" eaLnBrk="1" latinLnBrk="0" hangingPunct="1"/>
            <a:r>
              <a:rPr kumimoji="0" lang="zh-CN" altLang="en-US" dirty="0" smtClean="0"/>
              <a:t>第二级</a:t>
            </a:r>
          </a:p>
          <a:p>
            <a:pPr lvl="2" eaLnBrk="1" latinLnBrk="0" hangingPunct="1"/>
            <a:r>
              <a:rPr kumimoji="0" lang="zh-CN" altLang="en-US" dirty="0" smtClean="0"/>
              <a:t>第三级</a:t>
            </a:r>
          </a:p>
          <a:p>
            <a:pPr lvl="3" eaLnBrk="1" latinLnBrk="0" hangingPunct="1"/>
            <a:r>
              <a:rPr kumimoji="0" lang="zh-CN" altLang="en-US" dirty="0" smtClean="0"/>
              <a:t>第四级</a:t>
            </a:r>
          </a:p>
          <a:p>
            <a:pPr lvl="4" eaLnBrk="1" latinLnBrk="0" hangingPunct="1"/>
            <a:r>
              <a:rPr kumimoji="0" lang="zh-CN" altLang="en-US" dirty="0" smtClean="0"/>
              <a:t>第五级</a:t>
            </a:r>
            <a:endParaRPr kumimoji="0" lang="en-US" dirty="0"/>
          </a:p>
        </p:txBody>
      </p:sp>
      <p:sp>
        <p:nvSpPr>
          <p:cNvPr id="14" name="日期占位符 13"/>
          <p:cNvSpPr>
            <a:spLocks noGrp="1"/>
          </p:cNvSpPr>
          <p:nvPr>
            <p:ph type="dt" sz="half" idx="2"/>
          </p:nvPr>
        </p:nvSpPr>
        <p:spPr>
          <a:xfrm>
            <a:off x="285720" y="6357958"/>
            <a:ext cx="1785950" cy="365760"/>
          </a:xfrm>
          <a:prstGeom prst="rect">
            <a:avLst/>
          </a:prstGeom>
        </p:spPr>
        <p:txBody>
          <a:bodyPr vert="horz"/>
          <a:lstStyle>
            <a:lvl1pPr algn="l" eaLnBrk="1" latinLnBrk="0" hangingPunct="1">
              <a:defRPr kumimoji="0" sz="1400">
                <a:solidFill>
                  <a:schemeClr val="tx2"/>
                </a:solidFill>
              </a:defRPr>
            </a:lvl1pPr>
          </a:lstStyle>
          <a:p>
            <a:pPr>
              <a:defRPr/>
            </a:pPr>
            <a:fld id="{A4570D01-6EAE-41D6-8ECB-318B977BD6C7}" type="datetime1">
              <a:rPr lang="zh-CN" altLang="en-US" smtClean="0"/>
              <a:t>2017/1/22</a:t>
            </a:fld>
            <a:endParaRPr lang="en-US" altLang="zh-CN"/>
          </a:p>
        </p:txBody>
      </p:sp>
      <p:sp>
        <p:nvSpPr>
          <p:cNvPr id="3" name="页脚占位符 2"/>
          <p:cNvSpPr>
            <a:spLocks noGrp="1"/>
          </p:cNvSpPr>
          <p:nvPr>
            <p:ph type="ftr" sz="quarter" idx="3"/>
          </p:nvPr>
        </p:nvSpPr>
        <p:spPr>
          <a:xfrm>
            <a:off x="2898648" y="6356350"/>
            <a:ext cx="2673484" cy="365760"/>
          </a:xfrm>
          <a:prstGeom prst="rect">
            <a:avLst/>
          </a:prstGeom>
        </p:spPr>
        <p:txBody>
          <a:bodyPr vert="horz"/>
          <a:lstStyle>
            <a:lvl1pPr algn="ctr" eaLnBrk="1" latinLnBrk="0" hangingPunct="1">
              <a:defRPr kumimoji="0" sz="1400">
                <a:solidFill>
                  <a:schemeClr val="tx2"/>
                </a:solidFill>
              </a:defRPr>
            </a:lvl1pPr>
          </a:lstStyle>
          <a:p>
            <a:pPr>
              <a:defRPr/>
            </a:pPr>
            <a:r>
              <a:rPr lang="zh-CN" altLang="en-US" smtClean="0"/>
              <a:t>第一章：引论</a:t>
            </a:r>
            <a:endParaRPr lang="en-US" altLang="zh-CN" dirty="0"/>
          </a:p>
        </p:txBody>
      </p:sp>
      <p:sp>
        <p:nvSpPr>
          <p:cNvPr id="23" name="灯片编号占位符 22"/>
          <p:cNvSpPr>
            <a:spLocks noGrp="1"/>
          </p:cNvSpPr>
          <p:nvPr>
            <p:ph type="sldNum" sz="quarter" idx="4"/>
          </p:nvPr>
        </p:nvSpPr>
        <p:spPr>
          <a:xfrm>
            <a:off x="8143900" y="6356350"/>
            <a:ext cx="909694" cy="365760"/>
          </a:xfrm>
          <a:prstGeom prst="rect">
            <a:avLst/>
          </a:prstGeom>
        </p:spPr>
        <p:txBody>
          <a:bodyPr vert="horz"/>
          <a:lstStyle>
            <a:lvl1pPr algn="l" eaLnBrk="1" latinLnBrk="0" hangingPunct="1">
              <a:defRPr kumimoji="0" sz="1400">
                <a:solidFill>
                  <a:schemeClr val="tx2"/>
                </a:solidFill>
              </a:defRPr>
            </a:lvl1pPr>
          </a:lstStyle>
          <a:p>
            <a:pPr>
              <a:defRPr/>
            </a:pPr>
            <a:fld id="{3D718F1B-DCCD-48E2-9BC2-7F3F4B536ABF}" type="slidenum">
              <a:rPr lang="zh-CN" altLang="en-US" smtClean="0"/>
              <a:pPr>
                <a:defRPr/>
              </a:pPr>
              <a:t>‹#›</a:t>
            </a:fld>
            <a:r>
              <a:rPr lang="en-US" altLang="zh-CN" dirty="0" smtClean="0"/>
              <a:t>/57</a:t>
            </a:r>
            <a:endParaRPr lang="en-US" altLang="zh-CN" dirty="0"/>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pic>
        <p:nvPicPr>
          <p:cNvPr id="11" name="Picture 9" descr="haohao_studio_03"/>
          <p:cNvPicPr>
            <a:picLocks noChangeAspect="1" noChangeArrowheads="1"/>
          </p:cNvPicPr>
          <p:nvPr userDrawn="1"/>
        </p:nvPicPr>
        <p:blipFill>
          <a:blip r:embed="rId4"/>
          <a:srcRect/>
          <a:stretch>
            <a:fillRect/>
          </a:stretch>
        </p:blipFill>
        <p:spPr bwMode="auto">
          <a:xfrm>
            <a:off x="7429520" y="6356350"/>
            <a:ext cx="285750" cy="304800"/>
          </a:xfrm>
          <a:prstGeom prst="rect">
            <a:avLst/>
          </a:prstGeom>
          <a:noFill/>
          <a:ln w="9525">
            <a:solidFill>
              <a:srgbClr val="CCFFFF"/>
            </a:solidFill>
            <a:miter lim="800000"/>
            <a:headEnd/>
            <a:tailEnd/>
          </a:ln>
        </p:spPr>
      </p:pic>
      <p:sp>
        <p:nvSpPr>
          <p:cNvPr id="12" name="Text Box 10"/>
          <p:cNvSpPr txBox="1">
            <a:spLocks noChangeArrowheads="1"/>
          </p:cNvSpPr>
          <p:nvPr userDrawn="1"/>
        </p:nvSpPr>
        <p:spPr bwMode="auto">
          <a:xfrm>
            <a:off x="5857884" y="6356350"/>
            <a:ext cx="1517650" cy="336550"/>
          </a:xfrm>
          <a:prstGeom prst="rect">
            <a:avLst/>
          </a:prstGeom>
          <a:noFill/>
          <a:ln w="9525">
            <a:noFill/>
            <a:miter lim="800000"/>
            <a:headEnd/>
            <a:tailEnd/>
          </a:ln>
          <a:effectLst/>
        </p:spPr>
        <p:txBody>
          <a:bodyPr>
            <a:spAutoFit/>
          </a:bodyPr>
          <a:lstStyle/>
          <a:p>
            <a:pPr>
              <a:defRPr/>
            </a:pPr>
            <a:r>
              <a:rPr kumimoji="1" lang="zh-CN" altLang="en-US" sz="1600" dirty="0">
                <a:latin typeface="Times New Roman" pitchFamily="18" charset="0"/>
                <a:ea typeface="华文行楷" pitchFamily="2" charset="-122"/>
              </a:rPr>
              <a:t>计算机教研室</a:t>
            </a:r>
          </a:p>
        </p:txBody>
      </p:sp>
      <p:sp>
        <p:nvSpPr>
          <p:cNvPr id="15" name="AutoShape 14" descr="Granite"/>
          <p:cNvSpPr>
            <a:spLocks noChangeArrowheads="1"/>
          </p:cNvSpPr>
          <p:nvPr userDrawn="1"/>
        </p:nvSpPr>
        <p:spPr bwMode="auto">
          <a:xfrm>
            <a:off x="428625" y="1143000"/>
            <a:ext cx="8286750" cy="71438"/>
          </a:xfrm>
          <a:prstGeom prst="roundRect">
            <a:avLst>
              <a:gd name="adj" fmla="val 16667"/>
            </a:avLst>
          </a:prstGeom>
          <a:blipFill dpi="0" rotWithShape="0">
            <a:blip r:embed="rId5" cstate="print"/>
            <a:srcRect/>
            <a:tile tx="0" ty="0" sx="100000" sy="100000" flip="none" algn="tl"/>
          </a:blipFill>
          <a:ln w="9525">
            <a:noFill/>
            <a:round/>
            <a:headEnd/>
            <a:tailEnd/>
          </a:ln>
          <a:effectLst/>
        </p:spPr>
        <p:txBody>
          <a:bodyPr wrap="none" anchor="ctr"/>
          <a:lstStyle/>
          <a:p>
            <a:pPr>
              <a:defRPr/>
            </a:pPr>
            <a:endParaRPr lang="zh-CN" altLang="zh-CN"/>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Lst>
  <p:hf hdr="0"/>
  <p:txStyles>
    <p:titleStyle>
      <a:lvl1pPr algn="l" rtl="0" eaLnBrk="1" latinLnBrk="0" hangingPunct="1">
        <a:spcBef>
          <a:spcPct val="0"/>
        </a:spcBef>
        <a:buNone/>
        <a:defRPr kumimoji="0" sz="3600" b="1"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pitchFamily="2" charset="2"/>
        <a:buChar char="n"/>
        <a:defRPr kumimoji="0" sz="2600" b="1" kern="1200">
          <a:solidFill>
            <a:schemeClr val="tx1"/>
          </a:solidFill>
          <a:latin typeface="+mj-ea"/>
          <a:ea typeface="+mj-ea"/>
          <a:cs typeface="+mn-cs"/>
        </a:defRPr>
      </a:lvl1pPr>
      <a:lvl2pPr marL="548640" indent="-274320" algn="l" rtl="0" eaLnBrk="1" latinLnBrk="0" hangingPunct="1">
        <a:spcBef>
          <a:spcPts val="500"/>
        </a:spcBef>
        <a:buClr>
          <a:schemeClr val="accent2"/>
        </a:buClr>
        <a:buSzPct val="76000"/>
        <a:buFont typeface="Wingdings" pitchFamily="2" charset="2"/>
        <a:buChar char="n"/>
        <a:defRPr kumimoji="0" sz="2300" b="1" kern="1200">
          <a:solidFill>
            <a:schemeClr val="tx2"/>
          </a:solidFill>
          <a:latin typeface="+mj-ea"/>
          <a:ea typeface="+mj-ea"/>
          <a:cs typeface="+mn-cs"/>
        </a:defRPr>
      </a:lvl2pPr>
      <a:lvl3pPr marL="822960" indent="-228600" algn="l" rtl="0" eaLnBrk="1" latinLnBrk="0" hangingPunct="1">
        <a:spcBef>
          <a:spcPts val="500"/>
        </a:spcBef>
        <a:buClr>
          <a:schemeClr val="bg1">
            <a:shade val="50000"/>
          </a:schemeClr>
        </a:buClr>
        <a:buSzPct val="76000"/>
        <a:buFont typeface="Wingdings" pitchFamily="2" charset="2"/>
        <a:buChar char="n"/>
        <a:defRPr kumimoji="0" sz="2000" b="1" kern="1200">
          <a:solidFill>
            <a:schemeClr val="tx1"/>
          </a:solidFill>
          <a:latin typeface="+mj-ea"/>
          <a:ea typeface="+mj-ea"/>
          <a:cs typeface="+mn-cs"/>
        </a:defRPr>
      </a:lvl3pPr>
      <a:lvl4pPr marL="1097280" indent="-228600" algn="l" rtl="0" eaLnBrk="1" latinLnBrk="0" hangingPunct="1">
        <a:spcBef>
          <a:spcPts val="400"/>
        </a:spcBef>
        <a:buClr>
          <a:schemeClr val="accent2">
            <a:shade val="75000"/>
          </a:schemeClr>
        </a:buClr>
        <a:buSzPct val="70000"/>
        <a:buFont typeface="Wingdings" pitchFamily="2" charset="2"/>
        <a:buChar char="n"/>
        <a:defRPr kumimoji="0" sz="1800" b="1" kern="1200">
          <a:solidFill>
            <a:schemeClr val="tx1"/>
          </a:solidFill>
          <a:latin typeface="+mj-ea"/>
          <a:ea typeface="+mj-ea"/>
          <a:cs typeface="+mn-cs"/>
        </a:defRPr>
      </a:lvl4pPr>
      <a:lvl5pPr marL="1371600" indent="-228600" algn="l" rtl="0" eaLnBrk="1" latinLnBrk="0" hangingPunct="1">
        <a:spcBef>
          <a:spcPts val="300"/>
        </a:spcBef>
        <a:buClr>
          <a:schemeClr val="accent2"/>
        </a:buClr>
        <a:buSzPct val="70000"/>
        <a:buFont typeface="Wingdings" pitchFamily="2" charset="2"/>
        <a:buChar char="n"/>
        <a:defRPr kumimoji="0" sz="1600" b="1" kern="1200">
          <a:solidFill>
            <a:schemeClr val="tx1"/>
          </a:solidFill>
          <a:latin typeface="+mj-ea"/>
          <a:ea typeface="+mj-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1428728" y="2428868"/>
            <a:ext cx="6215106" cy="928694"/>
          </a:xfrm>
        </p:spPr>
        <p:txBody>
          <a:bodyPr>
            <a:normAutofit/>
          </a:bodyPr>
          <a:lstStyle/>
          <a:p>
            <a:pPr algn="ctr" eaLnBrk="1" hangingPunct="1"/>
            <a:r>
              <a:rPr lang="zh-CN" altLang="en-US" sz="4000" b="1" dirty="0" smtClean="0"/>
              <a:t>第一章 引论</a:t>
            </a:r>
          </a:p>
        </p:txBody>
      </p:sp>
      <p:sp>
        <p:nvSpPr>
          <p:cNvPr id="8195" name="Rectangle 3"/>
          <p:cNvSpPr>
            <a:spLocks noGrp="1" noChangeArrowheads="1"/>
          </p:cNvSpPr>
          <p:nvPr>
            <p:ph type="subTitle" idx="1"/>
          </p:nvPr>
        </p:nvSpPr>
        <p:spPr>
          <a:xfrm>
            <a:off x="3000364" y="3641728"/>
            <a:ext cx="3484563" cy="715966"/>
          </a:xfrm>
        </p:spPr>
        <p:txBody>
          <a:bodyPr>
            <a:normAutofit/>
          </a:bodyPr>
          <a:lstStyle/>
          <a:p>
            <a:pPr algn="ctr" fontAlgn="auto">
              <a:spcAft>
                <a:spcPts val="0"/>
              </a:spcAft>
              <a:defRPr/>
            </a:pPr>
            <a:r>
              <a:rPr lang="zh-CN" altLang="en-US" sz="3600" dirty="0" smtClean="0">
                <a:ea typeface="隶书" pitchFamily="49" charset="-122"/>
              </a:rPr>
              <a:t>主讲：郑剑</a:t>
            </a:r>
          </a:p>
        </p:txBody>
      </p:sp>
      <p:pic>
        <p:nvPicPr>
          <p:cNvPr id="8196" name="Picture 4"/>
          <p:cNvPicPr>
            <a:picLocks noChangeAspect="1" noChangeArrowheads="1"/>
          </p:cNvPicPr>
          <p:nvPr/>
        </p:nvPicPr>
        <p:blipFill>
          <a:blip r:embed="rId2" cstate="print"/>
          <a:srcRect/>
          <a:stretch>
            <a:fillRect/>
          </a:stretch>
        </p:blipFill>
        <p:spPr bwMode="auto">
          <a:xfrm>
            <a:off x="4071934" y="4500570"/>
            <a:ext cx="1071570" cy="10317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课程要求</a:t>
            </a:r>
            <a:endParaRPr lang="zh-CN" altLang="en-US" dirty="0"/>
          </a:p>
        </p:txBody>
      </p:sp>
      <p:sp>
        <p:nvSpPr>
          <p:cNvPr id="3" name="日期占位符 2"/>
          <p:cNvSpPr>
            <a:spLocks noGrp="1"/>
          </p:cNvSpPr>
          <p:nvPr>
            <p:ph type="dt" sz="half" idx="10"/>
          </p:nvPr>
        </p:nvSpPr>
        <p:spPr/>
        <p:txBody>
          <a:bodyPr/>
          <a:lstStyle/>
          <a:p>
            <a:pPr>
              <a:defRPr/>
            </a:pPr>
            <a:fld id="{C127E54B-CDB6-41CA-967E-D8296F4FE54A}" type="datetime1">
              <a:rPr lang="zh-CN" altLang="en-US" smtClean="0"/>
              <a:t>2017/1/22</a:t>
            </a:fld>
            <a:endParaRPr lang="en-US" altLang="zh-CN"/>
          </a:p>
        </p:txBody>
      </p:sp>
      <p:sp>
        <p:nvSpPr>
          <p:cNvPr id="4" name="页脚占位符 3"/>
          <p:cNvSpPr>
            <a:spLocks noGrp="1"/>
          </p:cNvSpPr>
          <p:nvPr>
            <p:ph type="ftr" sz="quarter" idx="11"/>
          </p:nvPr>
        </p:nvSpPr>
        <p:spPr/>
        <p:txBody>
          <a:bodyPr/>
          <a:lstStyle/>
          <a:p>
            <a:pPr>
              <a:defRPr/>
            </a:pPr>
            <a:r>
              <a:rPr lang="zh-CN" altLang="en-US" smtClean="0"/>
              <a:t>第一章：引论</a:t>
            </a:r>
            <a:endParaRPr lang="en-US" altLang="zh-CN"/>
          </a:p>
        </p:txBody>
      </p:sp>
      <p:sp>
        <p:nvSpPr>
          <p:cNvPr id="5" name="灯片编号占位符 4"/>
          <p:cNvSpPr>
            <a:spLocks noGrp="1"/>
          </p:cNvSpPr>
          <p:nvPr>
            <p:ph type="sldNum" sz="quarter" idx="12"/>
          </p:nvPr>
        </p:nvSpPr>
        <p:spPr/>
        <p:txBody>
          <a:bodyPr/>
          <a:lstStyle/>
          <a:p>
            <a:pPr>
              <a:defRPr/>
            </a:pPr>
            <a:fld id="{A9037077-57B6-4C6B-9679-EE84D27848C8}" type="slidenum">
              <a:rPr lang="zh-CN" altLang="en-US" smtClean="0"/>
              <a:pPr>
                <a:defRPr/>
              </a:pPr>
              <a:t>2</a:t>
            </a:fld>
            <a:r>
              <a:rPr lang="en-US" altLang="zh-CN" dirty="0" smtClean="0"/>
              <a:t>/57</a:t>
            </a:r>
            <a:endParaRPr lang="en-US" altLang="zh-CN" dirty="0"/>
          </a:p>
        </p:txBody>
      </p:sp>
      <p:sp>
        <p:nvSpPr>
          <p:cNvPr id="6" name="内容占位符 5"/>
          <p:cNvSpPr>
            <a:spLocks noGrp="1"/>
          </p:cNvSpPr>
          <p:nvPr>
            <p:ph sz="quarter" idx="1"/>
          </p:nvPr>
        </p:nvSpPr>
        <p:spPr/>
        <p:txBody>
          <a:bodyPr/>
          <a:lstStyle/>
          <a:p>
            <a:r>
              <a:rPr lang="en-US" altLang="zh-CN" dirty="0" smtClean="0"/>
              <a:t>1</a:t>
            </a:r>
            <a:r>
              <a:rPr lang="zh-CN" altLang="en-US" dirty="0" smtClean="0"/>
              <a:t>、最终成绩</a:t>
            </a:r>
            <a:r>
              <a:rPr lang="en-US" altLang="zh-CN" dirty="0" smtClean="0"/>
              <a:t>=</a:t>
            </a:r>
            <a:r>
              <a:rPr lang="zh-CN" altLang="en-US" dirty="0" smtClean="0"/>
              <a:t>平时成绩</a:t>
            </a:r>
            <a:r>
              <a:rPr lang="en-US" altLang="zh-CN" dirty="0" smtClean="0"/>
              <a:t>*0.3+</a:t>
            </a:r>
            <a:r>
              <a:rPr lang="zh-CN" altLang="en-US" dirty="0" smtClean="0"/>
              <a:t>考试成绩</a:t>
            </a:r>
            <a:r>
              <a:rPr lang="en-US" altLang="zh-CN" dirty="0" smtClean="0"/>
              <a:t>*0.7</a:t>
            </a:r>
          </a:p>
          <a:p>
            <a:r>
              <a:rPr lang="en-US" altLang="zh-CN" dirty="0" smtClean="0"/>
              <a:t>2</a:t>
            </a:r>
            <a:r>
              <a:rPr lang="zh-CN" altLang="en-US" dirty="0" smtClean="0"/>
              <a:t>、考试试卷来自试题库</a:t>
            </a:r>
            <a:endParaRPr lang="en-US" altLang="zh-CN" dirty="0" smtClean="0"/>
          </a:p>
          <a:p>
            <a:r>
              <a:rPr lang="en-US" altLang="zh-CN" dirty="0" smtClean="0"/>
              <a:t>3</a:t>
            </a:r>
            <a:r>
              <a:rPr lang="zh-CN" altLang="en-US" dirty="0" smtClean="0"/>
              <a:t>、要准备作业本，最终考试的题目很多都来自平时的作业。</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457200" y="357166"/>
            <a:ext cx="8229600" cy="785834"/>
          </a:xfrm>
        </p:spPr>
        <p:txBody>
          <a:bodyPr/>
          <a:lstStyle/>
          <a:p>
            <a:pPr eaLnBrk="1" hangingPunct="1"/>
            <a:r>
              <a:rPr lang="zh-CN" altLang="en-US" b="1" dirty="0" smtClean="0"/>
              <a:t>编译器的介绍</a:t>
            </a:r>
          </a:p>
        </p:txBody>
      </p:sp>
      <p:sp>
        <p:nvSpPr>
          <p:cNvPr id="9220" name="日期占位符 3"/>
          <p:cNvSpPr>
            <a:spLocks noGrp="1"/>
          </p:cNvSpPr>
          <p:nvPr>
            <p:ph type="dt" sz="half" idx="10"/>
          </p:nvPr>
        </p:nvSpPr>
        <p:spPr>
          <a:noFill/>
        </p:spPr>
        <p:txBody>
          <a:bodyPr/>
          <a:lstStyle/>
          <a:p>
            <a:fld id="{15745E30-0592-4890-889A-EC01604A188E}" type="datetime1">
              <a:rPr lang="zh-CN" altLang="en-US" smtClean="0"/>
              <a:t>2017/1/22</a:t>
            </a:fld>
            <a:endParaRPr lang="en-US" altLang="zh-CN" dirty="0" smtClean="0"/>
          </a:p>
        </p:txBody>
      </p:sp>
      <p:sp>
        <p:nvSpPr>
          <p:cNvPr id="9221" name="页脚占位符 4"/>
          <p:cNvSpPr>
            <a:spLocks noGrp="1"/>
          </p:cNvSpPr>
          <p:nvPr>
            <p:ph type="ftr" sz="quarter" idx="11"/>
          </p:nvPr>
        </p:nvSpPr>
        <p:spPr>
          <a:noFill/>
        </p:spPr>
        <p:txBody>
          <a:bodyPr/>
          <a:lstStyle/>
          <a:p>
            <a:r>
              <a:rPr lang="zh-CN" altLang="en-US" dirty="0" smtClean="0"/>
              <a:t>第一章：引论</a:t>
            </a:r>
            <a:endParaRPr lang="en-US" altLang="zh-CN" dirty="0" smtClean="0"/>
          </a:p>
        </p:txBody>
      </p:sp>
      <p:sp>
        <p:nvSpPr>
          <p:cNvPr id="9222" name="灯片编号占位符 5"/>
          <p:cNvSpPr>
            <a:spLocks noGrp="1"/>
          </p:cNvSpPr>
          <p:nvPr>
            <p:ph type="sldNum" sz="quarter" idx="12"/>
          </p:nvPr>
        </p:nvSpPr>
        <p:spPr>
          <a:noFill/>
        </p:spPr>
        <p:txBody>
          <a:bodyPr/>
          <a:lstStyle/>
          <a:p>
            <a:fld id="{37D51C70-EFF3-47E5-B670-B22B8FE0E693}" type="slidenum">
              <a:rPr lang="zh-CN" altLang="en-US" smtClean="0"/>
              <a:pPr/>
              <a:t>3</a:t>
            </a:fld>
            <a:r>
              <a:rPr lang="en-US" altLang="zh-CN" dirty="0" smtClean="0"/>
              <a:t>/57</a:t>
            </a:r>
            <a:endParaRPr lang="en-US" altLang="zh-CN" dirty="0" smtClean="0"/>
          </a:p>
        </p:txBody>
      </p:sp>
      <p:sp>
        <p:nvSpPr>
          <p:cNvPr id="9219" name="内容占位符 2"/>
          <p:cNvSpPr>
            <a:spLocks noGrp="1"/>
          </p:cNvSpPr>
          <p:nvPr>
            <p:ph sz="quarter" idx="1"/>
          </p:nvPr>
        </p:nvSpPr>
        <p:spPr/>
        <p:txBody>
          <a:bodyPr/>
          <a:lstStyle/>
          <a:p>
            <a:pPr eaLnBrk="1" hangingPunct="1"/>
            <a:r>
              <a:rPr lang="zh-CN" altLang="en-US" b="1" dirty="0" smtClean="0"/>
              <a:t>程序设计语言的两种实现方法</a:t>
            </a:r>
            <a:endParaRPr lang="en-US" altLang="zh-CN" b="1" dirty="0" smtClean="0"/>
          </a:p>
          <a:p>
            <a:pPr eaLnBrk="1" hangingPunct="1"/>
            <a:r>
              <a:rPr lang="zh-CN" altLang="en-US" b="1" dirty="0" smtClean="0"/>
              <a:t>编译器</a:t>
            </a:r>
            <a:endParaRPr lang="en-US" altLang="zh-CN" b="1" dirty="0" smtClean="0"/>
          </a:p>
          <a:p>
            <a:pPr eaLnBrk="1" hangingPunct="1"/>
            <a:endParaRPr lang="en-US" altLang="zh-CN" b="1" dirty="0" smtClean="0"/>
          </a:p>
          <a:p>
            <a:pPr eaLnBrk="1" hangingPunct="1">
              <a:buFont typeface="Wingdings" pitchFamily="2" charset="2"/>
              <a:buNone/>
            </a:pPr>
            <a:endParaRPr lang="en-US" altLang="zh-CN" b="1" dirty="0" smtClean="0"/>
          </a:p>
          <a:p>
            <a:pPr eaLnBrk="1" hangingPunct="1">
              <a:buFont typeface="Wingdings" pitchFamily="2" charset="2"/>
              <a:buNone/>
            </a:pPr>
            <a:endParaRPr lang="en-US" altLang="zh-CN" b="1" dirty="0" smtClean="0"/>
          </a:p>
          <a:p>
            <a:pPr eaLnBrk="1" hangingPunct="1"/>
            <a:r>
              <a:rPr lang="zh-CN" altLang="en-US" b="1" dirty="0" smtClean="0"/>
              <a:t>解释器</a:t>
            </a:r>
          </a:p>
        </p:txBody>
      </p:sp>
      <p:pic>
        <p:nvPicPr>
          <p:cNvPr id="7" name="Picture 8"/>
          <p:cNvPicPr>
            <a:picLocks noChangeAspect="1" noChangeArrowheads="1"/>
          </p:cNvPicPr>
          <p:nvPr/>
        </p:nvPicPr>
        <p:blipFill>
          <a:blip r:embed="rId2"/>
          <a:srcRect/>
          <a:stretch>
            <a:fillRect/>
          </a:stretch>
        </p:blipFill>
        <p:spPr bwMode="auto">
          <a:xfrm>
            <a:off x="2643188" y="2286000"/>
            <a:ext cx="4500562" cy="2090738"/>
          </a:xfrm>
          <a:prstGeom prst="rect">
            <a:avLst/>
          </a:prstGeom>
          <a:noFill/>
          <a:ln w="9525">
            <a:noFill/>
            <a:miter lim="800000"/>
            <a:headEnd/>
            <a:tailEnd/>
          </a:ln>
        </p:spPr>
      </p:pic>
      <p:pic>
        <p:nvPicPr>
          <p:cNvPr id="8" name="Picture 9"/>
          <p:cNvPicPr>
            <a:picLocks noChangeAspect="1" noChangeArrowheads="1"/>
          </p:cNvPicPr>
          <p:nvPr/>
        </p:nvPicPr>
        <p:blipFill>
          <a:blip r:embed="rId3"/>
          <a:srcRect/>
          <a:stretch>
            <a:fillRect/>
          </a:stretch>
        </p:blipFill>
        <p:spPr bwMode="auto">
          <a:xfrm>
            <a:off x="2643188" y="4714875"/>
            <a:ext cx="4592637" cy="928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eaLnBrk="1" hangingPunct="1"/>
            <a:r>
              <a:rPr lang="zh-CN" altLang="en-US" b="1" smtClean="0"/>
              <a:t>编译器的介绍</a:t>
            </a:r>
            <a:endParaRPr lang="zh-CN" altLang="en-US" smtClean="0"/>
          </a:p>
        </p:txBody>
      </p:sp>
      <p:sp>
        <p:nvSpPr>
          <p:cNvPr id="10244" name="日期占位符 3"/>
          <p:cNvSpPr>
            <a:spLocks noGrp="1"/>
          </p:cNvSpPr>
          <p:nvPr>
            <p:ph type="dt" sz="half" idx="10"/>
          </p:nvPr>
        </p:nvSpPr>
        <p:spPr>
          <a:noFill/>
        </p:spPr>
        <p:txBody>
          <a:bodyPr/>
          <a:lstStyle/>
          <a:p>
            <a:fld id="{1278D717-D306-439A-8FA1-01DB7046D611}" type="datetime1">
              <a:rPr lang="zh-CN" altLang="en-US" smtClean="0"/>
              <a:t>2017/1/22</a:t>
            </a:fld>
            <a:endParaRPr lang="en-US" altLang="zh-CN" smtClean="0"/>
          </a:p>
        </p:txBody>
      </p:sp>
      <p:sp>
        <p:nvSpPr>
          <p:cNvPr id="1024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0246" name="灯片编号占位符 5"/>
          <p:cNvSpPr>
            <a:spLocks noGrp="1"/>
          </p:cNvSpPr>
          <p:nvPr>
            <p:ph type="sldNum" sz="quarter" idx="12"/>
          </p:nvPr>
        </p:nvSpPr>
        <p:spPr>
          <a:noFill/>
        </p:spPr>
        <p:txBody>
          <a:bodyPr/>
          <a:lstStyle/>
          <a:p>
            <a:fld id="{1131AE43-5AB6-456B-BA98-B61E11B1E855}" type="slidenum">
              <a:rPr lang="zh-CN" altLang="en-US" smtClean="0"/>
              <a:pPr/>
              <a:t>4</a:t>
            </a:fld>
            <a:r>
              <a:rPr lang="en-US" altLang="zh-CN" dirty="0" smtClean="0"/>
              <a:t>/57</a:t>
            </a:r>
            <a:endParaRPr lang="en-US" altLang="zh-CN" dirty="0" smtClean="0"/>
          </a:p>
        </p:txBody>
      </p:sp>
      <p:sp>
        <p:nvSpPr>
          <p:cNvPr id="10243" name="内容占位符 2"/>
          <p:cNvSpPr>
            <a:spLocks noGrp="1"/>
          </p:cNvSpPr>
          <p:nvPr>
            <p:ph sz="quarter" idx="1"/>
          </p:nvPr>
        </p:nvSpPr>
        <p:spPr>
          <a:xfrm>
            <a:off x="566738" y="1752600"/>
            <a:ext cx="8001000" cy="596900"/>
          </a:xfrm>
        </p:spPr>
        <p:txBody>
          <a:bodyPr/>
          <a:lstStyle/>
          <a:p>
            <a:pPr eaLnBrk="1" hangingPunct="1"/>
            <a:r>
              <a:rPr lang="zh-CN" altLang="en-US" b="1" smtClean="0"/>
              <a:t>编译器的产生</a:t>
            </a:r>
          </a:p>
        </p:txBody>
      </p:sp>
      <p:pic>
        <p:nvPicPr>
          <p:cNvPr id="10247" name="Picture 2"/>
          <p:cNvPicPr>
            <a:picLocks noChangeAspect="1" noChangeArrowheads="1"/>
          </p:cNvPicPr>
          <p:nvPr/>
        </p:nvPicPr>
        <p:blipFill>
          <a:blip r:embed="rId2"/>
          <a:srcRect/>
          <a:stretch>
            <a:fillRect/>
          </a:stretch>
        </p:blipFill>
        <p:spPr bwMode="auto">
          <a:xfrm>
            <a:off x="566738" y="1804988"/>
            <a:ext cx="7318375" cy="2967037"/>
          </a:xfrm>
          <a:prstGeom prst="rect">
            <a:avLst/>
          </a:prstGeom>
          <a:noFill/>
          <a:ln w="9525">
            <a:noFill/>
            <a:miter lim="800000"/>
            <a:headEnd/>
            <a:tailEnd/>
          </a:ln>
        </p:spPr>
      </p:pic>
      <p:sp>
        <p:nvSpPr>
          <p:cNvPr id="8" name="Rectangle 3"/>
          <p:cNvSpPr txBox="1">
            <a:spLocks noChangeArrowheads="1"/>
          </p:cNvSpPr>
          <p:nvPr/>
        </p:nvSpPr>
        <p:spPr bwMode="auto">
          <a:xfrm>
            <a:off x="323850" y="5229225"/>
            <a:ext cx="8135938" cy="863600"/>
          </a:xfrm>
          <a:prstGeom prst="rect">
            <a:avLst/>
          </a:prstGeom>
          <a:noFill/>
          <a:ln w="9525">
            <a:noFill/>
            <a:miter lim="800000"/>
            <a:headEnd/>
            <a:tailEnd/>
          </a:ln>
        </p:spPr>
        <p:txBody>
          <a:bodyPr/>
          <a:lstStyle/>
          <a:p>
            <a:pPr marL="469900" indent="-469900">
              <a:lnSpc>
                <a:spcPct val="90000"/>
              </a:lnSpc>
              <a:spcBef>
                <a:spcPct val="20000"/>
              </a:spcBef>
              <a:buClr>
                <a:schemeClr val="accent2"/>
              </a:buClr>
              <a:defRPr/>
            </a:pPr>
            <a:r>
              <a:rPr lang="zh-CN" altLang="en-US" sz="2800" b="1" kern="0" dirty="0">
                <a:latin typeface="宋体" pitchFamily="2" charset="-122"/>
                <a:ea typeface="+mn-ea"/>
              </a:rPr>
              <a:t>意义：人们开始考虑如何能让程序设计变得更加高效，从而降低开发成本。</a:t>
            </a:r>
          </a:p>
        </p:txBody>
      </p:sp>
      <p:sp>
        <p:nvSpPr>
          <p:cNvPr id="9" name="Rectangle 3"/>
          <p:cNvSpPr txBox="1">
            <a:spLocks noChangeArrowheads="1"/>
          </p:cNvSpPr>
          <p:nvPr/>
        </p:nvSpPr>
        <p:spPr bwMode="auto">
          <a:xfrm>
            <a:off x="323850" y="4797425"/>
            <a:ext cx="8208963" cy="431800"/>
          </a:xfrm>
          <a:prstGeom prst="rect">
            <a:avLst/>
          </a:prstGeom>
          <a:noFill/>
          <a:ln w="9525">
            <a:noFill/>
            <a:miter lim="800000"/>
            <a:headEnd/>
            <a:tailEnd/>
          </a:ln>
        </p:spPr>
        <p:txBody>
          <a:bodyPr/>
          <a:lstStyle/>
          <a:p>
            <a:pPr marL="469900" indent="-469900">
              <a:lnSpc>
                <a:spcPct val="90000"/>
              </a:lnSpc>
              <a:spcBef>
                <a:spcPct val="20000"/>
              </a:spcBef>
              <a:buClr>
                <a:schemeClr val="accent2"/>
              </a:buClr>
              <a:defRPr/>
            </a:pPr>
            <a:r>
              <a:rPr lang="zh-CN" altLang="en-US" sz="2800" b="1" kern="0" dirty="0">
                <a:latin typeface="宋体" pitchFamily="2" charset="-122"/>
                <a:ea typeface="+mn-ea"/>
              </a:rPr>
              <a:t>软件的成本远远超过硬件的成本。</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zh-CN" altLang="en-US" dirty="0" smtClean="0">
                <a:latin typeface="+mn-ea"/>
              </a:rPr>
              <a:t>解释器的雏形</a:t>
            </a:r>
            <a:endParaRPr lang="zh-CN" altLang="en-US" dirty="0" smtClean="0"/>
          </a:p>
        </p:txBody>
      </p:sp>
      <p:sp>
        <p:nvSpPr>
          <p:cNvPr id="11268" name="日期占位符 3"/>
          <p:cNvSpPr>
            <a:spLocks noGrp="1"/>
          </p:cNvSpPr>
          <p:nvPr>
            <p:ph type="dt" sz="half" idx="10"/>
          </p:nvPr>
        </p:nvSpPr>
        <p:spPr>
          <a:noFill/>
        </p:spPr>
        <p:txBody>
          <a:bodyPr/>
          <a:lstStyle/>
          <a:p>
            <a:fld id="{9EA45184-B844-4BF7-B93A-09FDEC8526EA}" type="datetime1">
              <a:rPr lang="zh-CN" altLang="en-US" smtClean="0"/>
              <a:t>2017/1/22</a:t>
            </a:fld>
            <a:endParaRPr lang="en-US" altLang="zh-CN" dirty="0" smtClean="0"/>
          </a:p>
        </p:txBody>
      </p:sp>
      <p:sp>
        <p:nvSpPr>
          <p:cNvPr id="11269" name="页脚占位符 4"/>
          <p:cNvSpPr>
            <a:spLocks noGrp="1"/>
          </p:cNvSpPr>
          <p:nvPr>
            <p:ph type="ftr" sz="quarter" idx="11"/>
          </p:nvPr>
        </p:nvSpPr>
        <p:spPr>
          <a:noFill/>
        </p:spPr>
        <p:txBody>
          <a:bodyPr/>
          <a:lstStyle/>
          <a:p>
            <a:r>
              <a:rPr lang="zh-CN" altLang="en-US" dirty="0" smtClean="0"/>
              <a:t>第一章：引论</a:t>
            </a:r>
            <a:endParaRPr lang="en-US" altLang="zh-CN" dirty="0" smtClean="0"/>
          </a:p>
        </p:txBody>
      </p:sp>
      <p:sp>
        <p:nvSpPr>
          <p:cNvPr id="11270" name="灯片编号占位符 5"/>
          <p:cNvSpPr>
            <a:spLocks noGrp="1"/>
          </p:cNvSpPr>
          <p:nvPr>
            <p:ph type="sldNum" sz="quarter" idx="12"/>
          </p:nvPr>
        </p:nvSpPr>
        <p:spPr>
          <a:noFill/>
        </p:spPr>
        <p:txBody>
          <a:bodyPr/>
          <a:lstStyle/>
          <a:p>
            <a:fld id="{3270BD60-05A8-4EFA-96C9-3227EF7541D4}" type="slidenum">
              <a:rPr lang="zh-CN" altLang="en-US" smtClean="0"/>
              <a:pPr/>
              <a:t>5</a:t>
            </a:fld>
            <a:r>
              <a:rPr lang="en-US" altLang="zh-CN" dirty="0" smtClean="0"/>
              <a:t>/57</a:t>
            </a:r>
            <a:endParaRPr lang="en-US" altLang="zh-CN" dirty="0" smtClean="0"/>
          </a:p>
        </p:txBody>
      </p:sp>
      <p:sp>
        <p:nvSpPr>
          <p:cNvPr id="11267" name="内容占位符 2"/>
          <p:cNvSpPr>
            <a:spLocks noGrp="1"/>
          </p:cNvSpPr>
          <p:nvPr>
            <p:ph sz="quarter" idx="1"/>
          </p:nvPr>
        </p:nvSpPr>
        <p:spPr>
          <a:xfrm>
            <a:off x="179512" y="4725144"/>
            <a:ext cx="8820472" cy="1440160"/>
          </a:xfrm>
        </p:spPr>
        <p:txBody>
          <a:bodyPr/>
          <a:lstStyle/>
          <a:p>
            <a:pPr eaLnBrk="1" hangingPunct="1"/>
            <a:r>
              <a:rPr lang="zh-CN" altLang="en-US" sz="2800" b="1" dirty="0" smtClean="0">
                <a:latin typeface="+mn-ea"/>
              </a:rPr>
              <a:t>一种解释器的雏形，优点是使编写程序所需要的时间大大缩短了，缺点：所执行的程序要比人手写的程序慢上</a:t>
            </a:r>
            <a:r>
              <a:rPr lang="en-US" altLang="zh-CN" sz="2800" b="1" dirty="0" smtClean="0">
                <a:latin typeface="+mn-ea"/>
              </a:rPr>
              <a:t>10</a:t>
            </a:r>
            <a:r>
              <a:rPr lang="zh-CN" altLang="en-US" sz="2800" b="1" dirty="0" smtClean="0">
                <a:latin typeface="+mn-ea"/>
              </a:rPr>
              <a:t>到</a:t>
            </a:r>
            <a:r>
              <a:rPr lang="en-US" altLang="zh-CN" sz="2800" b="1" dirty="0" smtClean="0">
                <a:latin typeface="+mn-ea"/>
              </a:rPr>
              <a:t>20</a:t>
            </a:r>
            <a:r>
              <a:rPr lang="zh-CN" altLang="en-US" sz="2800" b="1" dirty="0" smtClean="0">
                <a:latin typeface="+mn-ea"/>
              </a:rPr>
              <a:t>倍，占用</a:t>
            </a:r>
            <a:r>
              <a:rPr lang="en-US" altLang="zh-CN" sz="2800" b="1" dirty="0" smtClean="0">
                <a:latin typeface="+mn-ea"/>
              </a:rPr>
              <a:t>1/3</a:t>
            </a:r>
            <a:r>
              <a:rPr lang="zh-CN" altLang="en-US" sz="2800" b="1" dirty="0" smtClean="0">
                <a:latin typeface="+mn-ea"/>
              </a:rPr>
              <a:t>的内存</a:t>
            </a:r>
            <a:r>
              <a:rPr lang="en-US" altLang="zh-CN" sz="2800" b="1" dirty="0" smtClean="0">
                <a:latin typeface="+mn-ea"/>
              </a:rPr>
              <a:t>(300</a:t>
            </a:r>
            <a:r>
              <a:rPr lang="zh-CN" altLang="en-US" sz="2800" b="1" dirty="0" smtClean="0">
                <a:latin typeface="+mn-ea"/>
              </a:rPr>
              <a:t>字节</a:t>
            </a:r>
            <a:r>
              <a:rPr lang="en-US" altLang="zh-CN" sz="2800" b="1" dirty="0" smtClean="0">
                <a:latin typeface="+mn-ea"/>
              </a:rPr>
              <a:t>)</a:t>
            </a:r>
            <a:r>
              <a:rPr lang="zh-CN" altLang="en-US" sz="2800" b="1" dirty="0" smtClean="0">
                <a:latin typeface="+mn-ea"/>
              </a:rPr>
              <a:t>。</a:t>
            </a:r>
          </a:p>
        </p:txBody>
      </p:sp>
      <p:pic>
        <p:nvPicPr>
          <p:cNvPr id="11272" name="Picture 8"/>
          <p:cNvPicPr>
            <a:picLocks noChangeAspect="1" noChangeArrowheads="1"/>
          </p:cNvPicPr>
          <p:nvPr/>
        </p:nvPicPr>
        <p:blipFill>
          <a:blip r:embed="rId2"/>
          <a:srcRect/>
          <a:stretch>
            <a:fillRect/>
          </a:stretch>
        </p:blipFill>
        <p:spPr bwMode="auto">
          <a:xfrm>
            <a:off x="841624" y="1645890"/>
            <a:ext cx="6322664" cy="2994946"/>
          </a:xfrm>
          <a:prstGeom prst="rect">
            <a:avLst/>
          </a:prstGeom>
          <a:noFill/>
          <a:ln w="9525" cap="flat" cmpd="sng">
            <a:noFill/>
            <a:prstDash val="solid"/>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ea"/>
              </a:rPr>
              <a:t>FORTRAN 1</a:t>
            </a:r>
            <a:endParaRPr lang="zh-CN" altLang="en-US" dirty="0"/>
          </a:p>
        </p:txBody>
      </p:sp>
      <p:sp>
        <p:nvSpPr>
          <p:cNvPr id="4" name="日期占位符 3"/>
          <p:cNvSpPr>
            <a:spLocks noGrp="1"/>
          </p:cNvSpPr>
          <p:nvPr>
            <p:ph type="dt" sz="half" idx="10"/>
          </p:nvPr>
        </p:nvSpPr>
        <p:spPr/>
        <p:txBody>
          <a:bodyPr/>
          <a:lstStyle/>
          <a:p>
            <a:pPr>
              <a:defRPr/>
            </a:pPr>
            <a:fld id="{9BFE011C-4678-470D-91E3-0E77CAFB6F6D}" type="datetime1">
              <a:rPr lang="zh-CN" altLang="en-US" smtClean="0"/>
              <a:t>2017/1/22</a:t>
            </a:fld>
            <a:endParaRPr lang="en-US" altLang="zh-CN" dirty="0"/>
          </a:p>
        </p:txBody>
      </p:sp>
      <p:sp>
        <p:nvSpPr>
          <p:cNvPr id="5" name="页脚占位符 4"/>
          <p:cNvSpPr>
            <a:spLocks noGrp="1"/>
          </p:cNvSpPr>
          <p:nvPr>
            <p:ph type="ftr" sz="quarter" idx="11"/>
          </p:nvPr>
        </p:nvSpPr>
        <p:spPr/>
        <p:txBody>
          <a:bodyPr/>
          <a:lstStyle/>
          <a:p>
            <a:pPr>
              <a:defRPr/>
            </a:pPr>
            <a:r>
              <a:rPr lang="zh-CN" altLang="en-US" smtClean="0"/>
              <a:t>第一章：引论</a:t>
            </a:r>
            <a:endParaRPr lang="en-US" altLang="zh-CN"/>
          </a:p>
        </p:txBody>
      </p:sp>
      <p:sp>
        <p:nvSpPr>
          <p:cNvPr id="6" name="灯片编号占位符 5"/>
          <p:cNvSpPr>
            <a:spLocks noGrp="1"/>
          </p:cNvSpPr>
          <p:nvPr>
            <p:ph type="sldNum" sz="quarter" idx="12"/>
          </p:nvPr>
        </p:nvSpPr>
        <p:spPr/>
        <p:txBody>
          <a:bodyPr/>
          <a:lstStyle/>
          <a:p>
            <a:pPr>
              <a:defRPr/>
            </a:pPr>
            <a:fld id="{A9037077-57B6-4C6B-9679-EE84D27848C8}" type="slidenum">
              <a:rPr lang="zh-CN" altLang="en-US" smtClean="0"/>
              <a:pPr>
                <a:defRPr/>
              </a:pPr>
              <a:t>6</a:t>
            </a:fld>
            <a:r>
              <a:rPr lang="en-US" altLang="zh-CN" dirty="0" smtClean="0"/>
              <a:t>/57</a:t>
            </a:r>
            <a:endParaRPr lang="en-US" altLang="zh-CN" dirty="0"/>
          </a:p>
        </p:txBody>
      </p:sp>
      <p:sp>
        <p:nvSpPr>
          <p:cNvPr id="3" name="内容占位符 2"/>
          <p:cNvSpPr>
            <a:spLocks noGrp="1"/>
          </p:cNvSpPr>
          <p:nvPr>
            <p:ph sz="quarter" idx="1"/>
          </p:nvPr>
        </p:nvSpPr>
        <p:spPr>
          <a:xfrm>
            <a:off x="323528" y="1752600"/>
            <a:ext cx="8424936" cy="4267200"/>
          </a:xfrm>
        </p:spPr>
        <p:txBody>
          <a:bodyPr/>
          <a:lstStyle/>
          <a:p>
            <a:r>
              <a:rPr lang="en-US" altLang="zh-CN" dirty="0" err="1" smtClean="0">
                <a:latin typeface="+mn-ea"/>
              </a:rPr>
              <a:t>Speedcoding</a:t>
            </a:r>
            <a:r>
              <a:rPr lang="zh-CN" altLang="en-US" dirty="0" smtClean="0">
                <a:latin typeface="+mn-ea"/>
              </a:rPr>
              <a:t>失败的原因：快速代码所执行的程序要比人手写的程序慢上</a:t>
            </a:r>
            <a:r>
              <a:rPr lang="en-US" altLang="zh-CN" dirty="0" smtClean="0">
                <a:latin typeface="+mn-ea"/>
              </a:rPr>
              <a:t>10</a:t>
            </a:r>
            <a:r>
              <a:rPr lang="zh-CN" altLang="en-US" dirty="0" smtClean="0">
                <a:latin typeface="+mn-ea"/>
              </a:rPr>
              <a:t>到</a:t>
            </a:r>
            <a:r>
              <a:rPr lang="en-US" altLang="zh-CN" dirty="0" smtClean="0">
                <a:latin typeface="+mn-ea"/>
              </a:rPr>
              <a:t>20</a:t>
            </a:r>
            <a:r>
              <a:rPr lang="zh-CN" altLang="en-US" dirty="0" smtClean="0">
                <a:latin typeface="+mn-ea"/>
              </a:rPr>
              <a:t>倍。而且解释器占用太多的内存。</a:t>
            </a:r>
            <a:endParaRPr lang="en-US" altLang="zh-CN" b="1" dirty="0" smtClean="0">
              <a:latin typeface="+mn-ea"/>
            </a:endParaRPr>
          </a:p>
          <a:p>
            <a:r>
              <a:rPr lang="zh-CN" altLang="en-US" b="1" dirty="0" smtClean="0">
                <a:latin typeface="+mn-ea"/>
              </a:rPr>
              <a:t>该项目从</a:t>
            </a:r>
            <a:r>
              <a:rPr lang="en-US" altLang="zh-CN" b="1" dirty="0" smtClean="0">
                <a:latin typeface="+mn-ea"/>
              </a:rPr>
              <a:t>1954-1957</a:t>
            </a:r>
            <a:r>
              <a:rPr lang="zh-CN" altLang="en-US" b="1" dirty="0" smtClean="0">
                <a:latin typeface="+mn-ea"/>
              </a:rPr>
              <a:t>年，但从</a:t>
            </a:r>
            <a:r>
              <a:rPr lang="en-US" altLang="zh-CN" b="1" dirty="0" smtClean="0">
                <a:latin typeface="+mn-ea"/>
              </a:rPr>
              <a:t>1958</a:t>
            </a:r>
            <a:r>
              <a:rPr lang="zh-CN" altLang="en-US" b="1" dirty="0" smtClean="0">
                <a:latin typeface="+mn-ea"/>
              </a:rPr>
              <a:t>年开始，</a:t>
            </a:r>
            <a:r>
              <a:rPr lang="en-US" altLang="zh-CN" b="1" dirty="0" smtClean="0">
                <a:latin typeface="+mn-ea"/>
              </a:rPr>
              <a:t>50%</a:t>
            </a:r>
            <a:r>
              <a:rPr lang="zh-CN" altLang="en-US" b="1" dirty="0" smtClean="0">
                <a:latin typeface="+mn-ea"/>
              </a:rPr>
              <a:t>的源代码都是用</a:t>
            </a:r>
            <a:r>
              <a:rPr lang="en-US" altLang="zh-CN" b="1" dirty="0" smtClean="0">
                <a:latin typeface="+mn-ea"/>
              </a:rPr>
              <a:t>FORTRAN</a:t>
            </a:r>
            <a:r>
              <a:rPr lang="zh-CN" altLang="en-US" b="1" dirty="0" smtClean="0">
                <a:latin typeface="+mn-ea"/>
              </a:rPr>
              <a:t>来编写的。</a:t>
            </a:r>
          </a:p>
          <a:p>
            <a:r>
              <a:rPr lang="en-US" altLang="zh-CN" b="1" dirty="0" smtClean="0">
                <a:latin typeface="+mn-ea"/>
              </a:rPr>
              <a:t>FORTRAN</a:t>
            </a:r>
            <a:r>
              <a:rPr lang="zh-CN" altLang="en-US" b="1" dirty="0" smtClean="0">
                <a:latin typeface="+mn-ea"/>
              </a:rPr>
              <a:t>不仅提升了编写程序语言的抽象层次，也提高了程序员的生产力，同时也可以让每个人都能更好地使用计算机。</a:t>
            </a:r>
            <a:endParaRPr lang="en-US" altLang="zh-CN" b="1" dirty="0" smtClean="0">
              <a:latin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mn-ea"/>
              </a:rPr>
              <a:t>FORTRAN 1 </a:t>
            </a:r>
            <a:r>
              <a:rPr lang="zh-CN" altLang="en-US" dirty="0" smtClean="0">
                <a:latin typeface="+mn-ea"/>
              </a:rPr>
              <a:t>实现的思想</a:t>
            </a:r>
            <a:endParaRPr lang="zh-CN" altLang="en-US" dirty="0"/>
          </a:p>
        </p:txBody>
      </p:sp>
      <p:sp>
        <p:nvSpPr>
          <p:cNvPr id="4" name="日期占位符 3"/>
          <p:cNvSpPr>
            <a:spLocks noGrp="1"/>
          </p:cNvSpPr>
          <p:nvPr>
            <p:ph type="dt" sz="half" idx="10"/>
          </p:nvPr>
        </p:nvSpPr>
        <p:spPr/>
        <p:txBody>
          <a:bodyPr/>
          <a:lstStyle/>
          <a:p>
            <a:pPr>
              <a:defRPr/>
            </a:pPr>
            <a:fld id="{89496492-D98B-4D89-83A4-D4995176FB47}" type="datetime1">
              <a:rPr lang="zh-CN" altLang="en-US" smtClean="0"/>
              <a:t>2017/1/22</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第一章：引论</a:t>
            </a:r>
            <a:endParaRPr lang="en-US" altLang="zh-CN"/>
          </a:p>
        </p:txBody>
      </p:sp>
      <p:sp>
        <p:nvSpPr>
          <p:cNvPr id="6" name="灯片编号占位符 5"/>
          <p:cNvSpPr>
            <a:spLocks noGrp="1"/>
          </p:cNvSpPr>
          <p:nvPr>
            <p:ph type="sldNum" sz="quarter" idx="12"/>
          </p:nvPr>
        </p:nvSpPr>
        <p:spPr/>
        <p:txBody>
          <a:bodyPr/>
          <a:lstStyle/>
          <a:p>
            <a:pPr>
              <a:defRPr/>
            </a:pPr>
            <a:fld id="{A9037077-57B6-4C6B-9679-EE84D27848C8}" type="slidenum">
              <a:rPr lang="zh-CN" altLang="en-US" smtClean="0"/>
              <a:pPr>
                <a:defRPr/>
              </a:pPr>
              <a:t>7</a:t>
            </a:fld>
            <a:r>
              <a:rPr lang="en-US" altLang="zh-CN" dirty="0" smtClean="0"/>
              <a:t>/57</a:t>
            </a:r>
            <a:endParaRPr lang="en-US" altLang="zh-CN" dirty="0"/>
          </a:p>
        </p:txBody>
      </p:sp>
      <p:sp>
        <p:nvSpPr>
          <p:cNvPr id="3" name="内容占位符 2"/>
          <p:cNvSpPr>
            <a:spLocks noGrp="1"/>
          </p:cNvSpPr>
          <p:nvPr>
            <p:ph sz="quarter" idx="1"/>
          </p:nvPr>
        </p:nvSpPr>
        <p:spPr>
          <a:xfrm>
            <a:off x="395536" y="1772816"/>
            <a:ext cx="8001000" cy="4267200"/>
          </a:xfrm>
        </p:spPr>
        <p:txBody>
          <a:bodyPr/>
          <a:lstStyle/>
          <a:p>
            <a:r>
              <a:rPr lang="zh-CN" altLang="en-US" dirty="0" smtClean="0">
                <a:latin typeface="+mn-ea"/>
              </a:rPr>
              <a:t>采用编译方式，编译的过程分成五个步骤：</a:t>
            </a:r>
            <a:endParaRPr lang="en-US" altLang="zh-CN" dirty="0" smtClean="0"/>
          </a:p>
          <a:p>
            <a:pPr lvl="1">
              <a:buNone/>
            </a:pPr>
            <a:r>
              <a:rPr lang="en-US" altLang="zh-CN" dirty="0" smtClean="0"/>
              <a:t>1</a:t>
            </a:r>
            <a:r>
              <a:rPr lang="zh-CN" altLang="en-US" dirty="0" smtClean="0"/>
              <a:t>）词法分析</a:t>
            </a:r>
          </a:p>
          <a:p>
            <a:pPr lvl="1">
              <a:buNone/>
            </a:pPr>
            <a:r>
              <a:rPr lang="en-US" altLang="zh-CN" dirty="0" smtClean="0"/>
              <a:t>2</a:t>
            </a:r>
            <a:r>
              <a:rPr lang="zh-CN" altLang="en-US" dirty="0" smtClean="0"/>
              <a:t>）语法分析</a:t>
            </a:r>
          </a:p>
          <a:p>
            <a:pPr lvl="1">
              <a:buNone/>
            </a:pPr>
            <a:r>
              <a:rPr lang="en-US" altLang="zh-CN" dirty="0" smtClean="0"/>
              <a:t>3</a:t>
            </a:r>
            <a:r>
              <a:rPr lang="zh-CN" altLang="en-US" dirty="0" smtClean="0"/>
              <a:t>）语义分析</a:t>
            </a:r>
          </a:p>
          <a:p>
            <a:pPr lvl="1">
              <a:buNone/>
            </a:pPr>
            <a:r>
              <a:rPr lang="en-US" altLang="zh-CN" dirty="0" smtClean="0"/>
              <a:t>4</a:t>
            </a:r>
            <a:r>
              <a:rPr lang="zh-CN" altLang="en-US" dirty="0" smtClean="0"/>
              <a:t>）代码优化</a:t>
            </a:r>
          </a:p>
          <a:p>
            <a:pPr lvl="1">
              <a:buNone/>
            </a:pPr>
            <a:r>
              <a:rPr lang="en-US" altLang="zh-CN" dirty="0" smtClean="0"/>
              <a:t>5</a:t>
            </a:r>
            <a:r>
              <a:rPr lang="zh-CN" altLang="en-US" dirty="0" smtClean="0"/>
              <a:t>）代码的产生</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xfrm>
            <a:off x="571472" y="357166"/>
            <a:ext cx="7758112" cy="739775"/>
          </a:xfrm>
        </p:spPr>
        <p:txBody>
          <a:bodyPr/>
          <a:lstStyle/>
          <a:p>
            <a:pPr eaLnBrk="1" hangingPunct="1"/>
            <a:r>
              <a:rPr lang="en-US" altLang="zh-CN" sz="3400" b="1" dirty="0" smtClean="0"/>
              <a:t>《</a:t>
            </a:r>
            <a:r>
              <a:rPr lang="zh-CN" altLang="en-US" sz="3400" b="1" dirty="0" smtClean="0"/>
              <a:t>编译原理</a:t>
            </a:r>
            <a:r>
              <a:rPr lang="en-US" altLang="zh-CN" sz="3400" b="1" dirty="0" smtClean="0"/>
              <a:t>》</a:t>
            </a:r>
            <a:r>
              <a:rPr lang="zh-CN" altLang="en-US" sz="3400" b="1" dirty="0" smtClean="0"/>
              <a:t>课程信息</a:t>
            </a:r>
          </a:p>
        </p:txBody>
      </p:sp>
      <p:sp>
        <p:nvSpPr>
          <p:cNvPr id="12290" name="日期占位符 3"/>
          <p:cNvSpPr>
            <a:spLocks noGrp="1"/>
          </p:cNvSpPr>
          <p:nvPr>
            <p:ph type="dt" sz="half" idx="10"/>
          </p:nvPr>
        </p:nvSpPr>
        <p:spPr>
          <a:noFill/>
        </p:spPr>
        <p:txBody>
          <a:bodyPr/>
          <a:lstStyle/>
          <a:p>
            <a:fld id="{E09BD457-46FE-4998-9959-0C879D0142D3}" type="datetime1">
              <a:rPr lang="zh-CN" altLang="en-US" smtClean="0"/>
              <a:t>2017/1/22</a:t>
            </a:fld>
            <a:endParaRPr lang="en-US" altLang="zh-CN" dirty="0" smtClean="0"/>
          </a:p>
        </p:txBody>
      </p:sp>
      <p:sp>
        <p:nvSpPr>
          <p:cNvPr id="1229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2292" name="灯片编号占位符 5"/>
          <p:cNvSpPr>
            <a:spLocks noGrp="1"/>
          </p:cNvSpPr>
          <p:nvPr>
            <p:ph type="sldNum" sz="quarter" idx="12"/>
          </p:nvPr>
        </p:nvSpPr>
        <p:spPr>
          <a:noFill/>
        </p:spPr>
        <p:txBody>
          <a:bodyPr/>
          <a:lstStyle/>
          <a:p>
            <a:fld id="{4C6B5D7A-AA3F-4FB9-ADAE-A095DBA66686}" type="slidenum">
              <a:rPr lang="zh-CN" altLang="en-US" smtClean="0"/>
              <a:pPr/>
              <a:t>8</a:t>
            </a:fld>
            <a:r>
              <a:rPr lang="en-US" altLang="zh-CN" dirty="0" smtClean="0"/>
              <a:t>/57</a:t>
            </a:r>
            <a:endParaRPr lang="en-US" altLang="zh-CN" dirty="0" smtClean="0"/>
          </a:p>
        </p:txBody>
      </p:sp>
      <p:sp>
        <p:nvSpPr>
          <p:cNvPr id="12294" name="Rectangle 3"/>
          <p:cNvSpPr>
            <a:spLocks noGrp="1" noChangeArrowheads="1"/>
          </p:cNvSpPr>
          <p:nvPr>
            <p:ph sz="quarter" idx="1"/>
          </p:nvPr>
        </p:nvSpPr>
        <p:spPr>
          <a:xfrm>
            <a:off x="468313" y="1700213"/>
            <a:ext cx="8496300" cy="4392612"/>
          </a:xfrm>
        </p:spPr>
        <p:txBody>
          <a:bodyPr/>
          <a:lstStyle/>
          <a:p>
            <a:pPr eaLnBrk="1" hangingPunct="1">
              <a:lnSpc>
                <a:spcPct val="90000"/>
              </a:lnSpc>
            </a:pPr>
            <a:r>
              <a:rPr lang="zh-CN" altLang="en-US" b="1" dirty="0" smtClean="0">
                <a:latin typeface="宋体" pitchFamily="2" charset="-122"/>
              </a:rPr>
              <a:t>教学目的与要求：</a:t>
            </a:r>
          </a:p>
          <a:p>
            <a:pPr eaLnBrk="1" hangingPunct="1">
              <a:lnSpc>
                <a:spcPct val="90000"/>
              </a:lnSpc>
              <a:buFont typeface="Wingdings" pitchFamily="2" charset="2"/>
              <a:buNone/>
            </a:pPr>
            <a:r>
              <a:rPr lang="zh-CN" altLang="en-US" b="1" dirty="0" smtClean="0">
                <a:latin typeface="宋体" pitchFamily="2" charset="-122"/>
              </a:rPr>
              <a:t>      </a:t>
            </a:r>
            <a:r>
              <a:rPr lang="zh-CN" altLang="en-US" dirty="0" smtClean="0">
                <a:solidFill>
                  <a:srgbClr val="3333FF"/>
                </a:solidFill>
                <a:latin typeface="宋体" pitchFamily="2" charset="-122"/>
              </a:rPr>
              <a:t>目的</a:t>
            </a:r>
            <a:r>
              <a:rPr lang="zh-CN" altLang="en-US" dirty="0" smtClean="0">
                <a:latin typeface="宋体" pitchFamily="2" charset="-122"/>
              </a:rPr>
              <a:t>：教授编译器设计中使用的根本思想和方法论。</a:t>
            </a:r>
            <a:r>
              <a:rPr lang="zh-CN" altLang="en-US" b="1" dirty="0" smtClean="0">
                <a:latin typeface="宋体" pitchFamily="2" charset="-122"/>
              </a:rPr>
              <a:t>会将所学的常用技术和算法应用于类似的软件的设计和实现中。</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611560" y="285728"/>
            <a:ext cx="7772400" cy="822325"/>
          </a:xfrm>
        </p:spPr>
        <p:txBody>
          <a:bodyPr/>
          <a:lstStyle/>
          <a:p>
            <a:pPr eaLnBrk="1" hangingPunct="1"/>
            <a:r>
              <a:rPr lang="zh-CN" altLang="en-US" dirty="0" smtClean="0">
                <a:solidFill>
                  <a:schemeClr val="tx1"/>
                </a:solidFill>
                <a:latin typeface="+mj-ea"/>
              </a:rPr>
              <a:t>课程简介</a:t>
            </a:r>
          </a:p>
        </p:txBody>
      </p:sp>
      <p:sp>
        <p:nvSpPr>
          <p:cNvPr id="14338" name="日期占位符 3"/>
          <p:cNvSpPr>
            <a:spLocks noGrp="1"/>
          </p:cNvSpPr>
          <p:nvPr>
            <p:ph type="dt" sz="half" idx="10"/>
          </p:nvPr>
        </p:nvSpPr>
        <p:spPr>
          <a:noFill/>
        </p:spPr>
        <p:txBody>
          <a:bodyPr/>
          <a:lstStyle/>
          <a:p>
            <a:fld id="{A9358C3E-D53E-4913-8F5C-E8D4E18856DE}" type="datetime1">
              <a:rPr lang="zh-CN" altLang="en-US" smtClean="0"/>
              <a:t>2017/1/22</a:t>
            </a:fld>
            <a:endParaRPr lang="en-US" altLang="zh-CN" smtClean="0"/>
          </a:p>
        </p:txBody>
      </p:sp>
      <p:sp>
        <p:nvSpPr>
          <p:cNvPr id="1433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4340" name="灯片编号占位符 5"/>
          <p:cNvSpPr>
            <a:spLocks noGrp="1"/>
          </p:cNvSpPr>
          <p:nvPr>
            <p:ph type="sldNum" sz="quarter" idx="12"/>
          </p:nvPr>
        </p:nvSpPr>
        <p:spPr>
          <a:noFill/>
        </p:spPr>
        <p:txBody>
          <a:bodyPr/>
          <a:lstStyle/>
          <a:p>
            <a:fld id="{C8EE50AF-AE4B-4D4E-908B-2853D30A1495}" type="slidenum">
              <a:rPr lang="zh-CN" altLang="en-US" smtClean="0"/>
              <a:pPr/>
              <a:t>9</a:t>
            </a:fld>
            <a:r>
              <a:rPr lang="en-US" altLang="zh-CN" dirty="0" smtClean="0"/>
              <a:t>/57</a:t>
            </a:r>
            <a:endParaRPr lang="en-US" altLang="zh-CN" dirty="0" smtClean="0"/>
          </a:p>
        </p:txBody>
      </p:sp>
      <p:sp>
        <p:nvSpPr>
          <p:cNvPr id="14342" name="Text Box 3"/>
          <p:cNvSpPr>
            <a:spLocks noGrp="1" noChangeArrowheads="1"/>
          </p:cNvSpPr>
          <p:nvPr>
            <p:ph sz="quarter" idx="1"/>
          </p:nvPr>
        </p:nvSpPr>
        <p:spPr>
          <a:xfrm>
            <a:off x="400050" y="1357298"/>
            <a:ext cx="7772400" cy="1219200"/>
          </a:xfrm>
          <a:noFill/>
        </p:spPr>
        <p:txBody>
          <a:bodyPr lIns="92075" tIns="46038" rIns="92075" bIns="46038"/>
          <a:lstStyle/>
          <a:p>
            <a:pPr algn="ctr" eaLnBrk="1" hangingPunct="1">
              <a:spcBef>
                <a:spcPct val="0"/>
              </a:spcBef>
              <a:buClrTx/>
              <a:buFontTx/>
              <a:buNone/>
            </a:pPr>
            <a:r>
              <a:rPr lang="zh-CN" altLang="en-US" dirty="0" smtClean="0">
                <a:latin typeface="+mn-ea"/>
              </a:rPr>
              <a:t>先行课程：程序设计语言</a:t>
            </a:r>
            <a:r>
              <a:rPr lang="zh-CN" altLang="en-US" b="1" dirty="0" smtClean="0">
                <a:latin typeface="+mn-ea"/>
              </a:rPr>
              <a:t>、离散数学、算法、</a:t>
            </a:r>
          </a:p>
          <a:p>
            <a:pPr eaLnBrk="1" hangingPunct="1">
              <a:buClrTx/>
              <a:buFontTx/>
              <a:buNone/>
            </a:pPr>
            <a:r>
              <a:rPr lang="zh-CN" altLang="en-US" b="1" dirty="0" smtClean="0">
                <a:latin typeface="+mn-ea"/>
              </a:rPr>
              <a:t>　　　　　        汇编语言、数据结构</a:t>
            </a:r>
          </a:p>
        </p:txBody>
      </p:sp>
      <p:sp>
        <p:nvSpPr>
          <p:cNvPr id="465924" name="Text Box 4"/>
          <p:cNvSpPr txBox="1">
            <a:spLocks noChangeArrowheads="1"/>
          </p:cNvSpPr>
          <p:nvPr/>
        </p:nvSpPr>
        <p:spPr bwMode="auto">
          <a:xfrm>
            <a:off x="52388" y="2743200"/>
            <a:ext cx="6248400" cy="2351088"/>
          </a:xfrm>
          <a:prstGeom prst="rect">
            <a:avLst/>
          </a:prstGeom>
          <a:gradFill rotWithShape="0">
            <a:gsLst>
              <a:gs pos="0">
                <a:srgbClr val="333399"/>
              </a:gs>
              <a:gs pos="100000">
                <a:schemeClr val="bg1"/>
              </a:gs>
            </a:gsLst>
            <a:path path="rect">
              <a:fillToRect l="100000" t="100000"/>
            </a:path>
          </a:gradFill>
          <a:ln w="38100">
            <a:solidFill>
              <a:srgbClr val="3399FF"/>
            </a:solidFill>
            <a:miter lim="800000"/>
            <a:headEnd/>
            <a:tailEnd/>
          </a:ln>
          <a:effectLst/>
        </p:spPr>
        <p:txBody>
          <a:bodyPr>
            <a:spAutoFit/>
          </a:bodyPr>
          <a:lstStyle/>
          <a:p>
            <a:pPr>
              <a:spcBef>
                <a:spcPct val="20000"/>
              </a:spcBef>
              <a:defRPr/>
            </a:pPr>
            <a:r>
              <a:rPr kumimoji="1" lang="zh-CN" altLang="en-US" sz="3200" b="1" dirty="0">
                <a:solidFill>
                  <a:srgbClr val="FFFFFF"/>
                </a:solidFill>
                <a:effectLst>
                  <a:outerShdw blurRad="38100" dist="38100" dir="2700000" algn="tl">
                    <a:srgbClr val="000000"/>
                  </a:outerShdw>
                </a:effectLst>
                <a:latin typeface="Times New Roman" pitchFamily="18" charset="0"/>
              </a:rPr>
              <a:t>　</a:t>
            </a:r>
            <a:r>
              <a:rPr kumimoji="1" lang="zh-CN" altLang="en-US" sz="3200" b="1" dirty="0">
                <a:solidFill>
                  <a:srgbClr val="FFFF00"/>
                </a:solidFill>
                <a:effectLst>
                  <a:outerShdw blurRad="38100" dist="38100" dir="2700000" algn="tl">
                    <a:srgbClr val="000000"/>
                  </a:outerShdw>
                </a:effectLst>
                <a:latin typeface="Times New Roman" pitchFamily="18" charset="0"/>
              </a:rPr>
              <a:t>　</a:t>
            </a:r>
            <a:r>
              <a:rPr kumimoji="1" lang="zh-CN" altLang="en-US" sz="4000" b="1" dirty="0">
                <a:effectLst>
                  <a:outerShdw blurRad="38100" dist="38100" dir="2700000" algn="tl">
                    <a:srgbClr val="FFFFFF"/>
                  </a:outerShdw>
                </a:effectLst>
                <a:latin typeface="Times New Roman" pitchFamily="18" charset="0"/>
                <a:ea typeface="华文彩云" pitchFamily="2" charset="-122"/>
              </a:rPr>
              <a:t>编译原理课程应用领域</a:t>
            </a:r>
          </a:p>
          <a:p>
            <a:pPr>
              <a:spcBef>
                <a:spcPct val="20000"/>
              </a:spcBef>
              <a:defRPr/>
            </a:pPr>
            <a:endParaRPr kumimoji="1" lang="zh-CN" altLang="en-US" sz="1600" b="1" dirty="0">
              <a:effectLst>
                <a:outerShdw blurRad="38100" dist="38100" dir="2700000" algn="tl">
                  <a:srgbClr val="FFFFFF"/>
                </a:outerShdw>
              </a:effectLst>
              <a:latin typeface="Times New Roman" pitchFamily="18" charset="0"/>
              <a:ea typeface="华文彩云" pitchFamily="2" charset="-122"/>
            </a:endParaRPr>
          </a:p>
          <a:p>
            <a:pPr>
              <a:spcBef>
                <a:spcPct val="20000"/>
              </a:spcBef>
              <a:buFont typeface="Wingdings" pitchFamily="2" charset="2"/>
              <a:buChar char="Ø"/>
              <a:defRPr/>
            </a:pPr>
            <a:r>
              <a:rPr kumimoji="1" lang="zh-CN" altLang="en-US" sz="3600" b="1" dirty="0">
                <a:effectLst>
                  <a:outerShdw blurRad="38100" dist="38100" dir="2700000" algn="tl">
                    <a:srgbClr val="FFFFFF"/>
                  </a:outerShdw>
                </a:effectLst>
                <a:latin typeface="Times New Roman" pitchFamily="18" charset="0"/>
                <a:ea typeface="幼圆" pitchFamily="49" charset="-122"/>
              </a:rPr>
              <a:t>编译器的设计</a:t>
            </a:r>
          </a:p>
          <a:p>
            <a:pPr>
              <a:spcBef>
                <a:spcPct val="20000"/>
              </a:spcBef>
              <a:buFont typeface="Wingdings" pitchFamily="2" charset="2"/>
              <a:buChar char="Ø"/>
              <a:defRPr/>
            </a:pPr>
            <a:r>
              <a:rPr kumimoji="1" lang="zh-CN" altLang="en-US" sz="3600" b="1" dirty="0">
                <a:effectLst>
                  <a:outerShdw blurRad="38100" dist="38100" dir="2700000" algn="tl">
                    <a:srgbClr val="FFFFFF"/>
                  </a:outerShdw>
                </a:effectLst>
                <a:latin typeface="Times New Roman" pitchFamily="18" charset="0"/>
                <a:ea typeface="幼圆" pitchFamily="49" charset="-122"/>
              </a:rPr>
              <a:t>一般的软件设计</a:t>
            </a:r>
            <a:endParaRPr kumimoji="1" lang="zh-CN" altLang="en-US" sz="3600" b="1" dirty="0">
              <a:effectLst>
                <a:outerShdw blurRad="38100" dist="38100" dir="2700000" algn="tl">
                  <a:srgbClr val="FFFFFF"/>
                </a:outerShdw>
              </a:effectLst>
              <a:latin typeface="黑体" pitchFamily="2" charset="-122"/>
              <a:ea typeface="幼圆" pitchFamily="49" charset="-122"/>
            </a:endParaRPr>
          </a:p>
        </p:txBody>
      </p:sp>
      <p:sp>
        <p:nvSpPr>
          <p:cNvPr id="465925" name="Text Box 5"/>
          <p:cNvSpPr txBox="1">
            <a:spLocks noChangeArrowheads="1"/>
          </p:cNvSpPr>
          <p:nvPr/>
        </p:nvSpPr>
        <p:spPr bwMode="auto">
          <a:xfrm>
            <a:off x="4038600" y="3733800"/>
            <a:ext cx="4953000" cy="2522538"/>
          </a:xfrm>
          <a:prstGeom prst="rect">
            <a:avLst/>
          </a:prstGeom>
          <a:gradFill rotWithShape="0">
            <a:gsLst>
              <a:gs pos="0">
                <a:srgbClr val="333399"/>
              </a:gs>
              <a:gs pos="100000">
                <a:schemeClr val="bg1"/>
              </a:gs>
            </a:gsLst>
            <a:path path="rect">
              <a:fillToRect l="100000" t="100000"/>
            </a:path>
          </a:gradFill>
          <a:ln w="38100">
            <a:solidFill>
              <a:srgbClr val="000066"/>
            </a:solidFill>
            <a:miter lim="800000"/>
            <a:headEnd/>
            <a:tailEnd/>
          </a:ln>
          <a:effectLst/>
        </p:spPr>
        <p:txBody>
          <a:bodyPr>
            <a:spAutoFit/>
          </a:bodyPr>
          <a:lstStyle/>
          <a:p>
            <a:pPr>
              <a:spcBef>
                <a:spcPct val="20000"/>
              </a:spcBef>
              <a:defRPr/>
            </a:pPr>
            <a:r>
              <a:rPr kumimoji="1" lang="zh-CN" altLang="en-US" sz="2800" b="1">
                <a:effectLst>
                  <a:outerShdw blurRad="38100" dist="38100" dir="2700000" algn="tl">
                    <a:srgbClr val="FFFFFF"/>
                  </a:outerShdw>
                </a:effectLst>
                <a:latin typeface="Times New Roman" pitchFamily="18" charset="0"/>
              </a:rPr>
              <a:t>例如：</a:t>
            </a:r>
          </a:p>
          <a:p>
            <a:pPr>
              <a:spcBef>
                <a:spcPct val="20000"/>
              </a:spcBef>
              <a:buFont typeface="Wingdings" pitchFamily="2" charset="2"/>
              <a:buChar char="v"/>
              <a:defRPr/>
            </a:pPr>
            <a:r>
              <a:rPr kumimoji="1" lang="zh-CN" altLang="en-US" sz="2800" b="1">
                <a:effectLst>
                  <a:outerShdw blurRad="38100" dist="38100" dir="2700000" algn="tl">
                    <a:srgbClr val="FFFFFF"/>
                  </a:outerShdw>
                </a:effectLst>
                <a:latin typeface="黑体" pitchFamily="2" charset="-122"/>
                <a:ea typeface="黑体" pitchFamily="2" charset="-122"/>
              </a:rPr>
              <a:t>文本编辑器、信息检索系统、模式识别器</a:t>
            </a:r>
          </a:p>
          <a:p>
            <a:pPr>
              <a:spcBef>
                <a:spcPct val="20000"/>
              </a:spcBef>
              <a:buFont typeface="Wingdings" pitchFamily="2" charset="2"/>
              <a:buChar char="v"/>
              <a:defRPr/>
            </a:pPr>
            <a:r>
              <a:rPr kumimoji="1" lang="zh-CN" altLang="en-US" sz="2800" b="1">
                <a:effectLst>
                  <a:outerShdw blurRad="38100" dist="38100" dir="2700000" algn="tl">
                    <a:srgbClr val="FFFFFF"/>
                  </a:outerShdw>
                </a:effectLst>
                <a:latin typeface="黑体" pitchFamily="2" charset="-122"/>
                <a:ea typeface="黑体" pitchFamily="2" charset="-122"/>
              </a:rPr>
              <a:t>排版、绘图系统</a:t>
            </a:r>
          </a:p>
          <a:p>
            <a:pPr>
              <a:spcBef>
                <a:spcPct val="20000"/>
              </a:spcBef>
              <a:buFont typeface="Wingdings" pitchFamily="2" charset="2"/>
              <a:buChar char="v"/>
              <a:defRPr/>
            </a:pPr>
            <a:r>
              <a:rPr kumimoji="1" lang="zh-CN" altLang="en-US" sz="2800" b="1">
                <a:effectLst>
                  <a:outerShdw blurRad="38100" dist="38100" dir="2700000" algn="tl">
                    <a:srgbClr val="FFFFFF"/>
                  </a:outerShdw>
                </a:effectLst>
                <a:latin typeface="黑体" pitchFamily="2" charset="-122"/>
                <a:ea typeface="黑体" pitchFamily="2" charset="-122"/>
              </a:rPr>
              <a:t>程序验证器</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为什么要学习编译原理</a:t>
            </a:r>
            <a:endParaRPr lang="zh-CN" altLang="en-US" b="1" dirty="0"/>
          </a:p>
        </p:txBody>
      </p:sp>
      <p:sp>
        <p:nvSpPr>
          <p:cNvPr id="4" name="日期占位符 3"/>
          <p:cNvSpPr>
            <a:spLocks noGrp="1"/>
          </p:cNvSpPr>
          <p:nvPr>
            <p:ph type="dt" sz="half" idx="10"/>
          </p:nvPr>
        </p:nvSpPr>
        <p:spPr/>
        <p:txBody>
          <a:bodyPr/>
          <a:lstStyle/>
          <a:p>
            <a:pPr>
              <a:defRPr/>
            </a:pPr>
            <a:fld id="{0AFCCB9F-C6EF-4982-81CF-DECBB9AB8D7F}" type="datetime1">
              <a:rPr lang="zh-CN" altLang="en-US" smtClean="0"/>
              <a:t>2017/1/22</a:t>
            </a:fld>
            <a:endParaRPr lang="en-US" altLang="zh-CN" dirty="0"/>
          </a:p>
        </p:txBody>
      </p:sp>
      <p:sp>
        <p:nvSpPr>
          <p:cNvPr id="5" name="页脚占位符 4"/>
          <p:cNvSpPr>
            <a:spLocks noGrp="1"/>
          </p:cNvSpPr>
          <p:nvPr>
            <p:ph type="ftr" sz="quarter" idx="11"/>
          </p:nvPr>
        </p:nvSpPr>
        <p:spPr/>
        <p:txBody>
          <a:bodyPr/>
          <a:lstStyle/>
          <a:p>
            <a:pPr>
              <a:defRPr/>
            </a:pPr>
            <a:r>
              <a:rPr lang="zh-CN" altLang="en-US" smtClean="0"/>
              <a:t>第一章：引论</a:t>
            </a:r>
            <a:endParaRPr lang="en-US" altLang="zh-CN"/>
          </a:p>
        </p:txBody>
      </p:sp>
      <p:sp>
        <p:nvSpPr>
          <p:cNvPr id="6" name="灯片编号占位符 5"/>
          <p:cNvSpPr>
            <a:spLocks noGrp="1"/>
          </p:cNvSpPr>
          <p:nvPr>
            <p:ph type="sldNum" sz="quarter" idx="12"/>
          </p:nvPr>
        </p:nvSpPr>
        <p:spPr/>
        <p:txBody>
          <a:bodyPr/>
          <a:lstStyle/>
          <a:p>
            <a:pPr>
              <a:defRPr/>
            </a:pPr>
            <a:fld id="{A9037077-57B6-4C6B-9679-EE84D27848C8}" type="slidenum">
              <a:rPr lang="zh-CN" altLang="en-US" smtClean="0"/>
              <a:pPr>
                <a:defRPr/>
              </a:pPr>
              <a:t>10</a:t>
            </a:fld>
            <a:r>
              <a:rPr lang="en-US" altLang="zh-CN" dirty="0" smtClean="0"/>
              <a:t>/57</a:t>
            </a:r>
            <a:endParaRPr lang="en-US" altLang="zh-CN" dirty="0"/>
          </a:p>
        </p:txBody>
      </p:sp>
      <p:sp>
        <p:nvSpPr>
          <p:cNvPr id="3" name="内容占位符 2"/>
          <p:cNvSpPr>
            <a:spLocks noGrp="1"/>
          </p:cNvSpPr>
          <p:nvPr>
            <p:ph sz="quarter" idx="1"/>
          </p:nvPr>
        </p:nvSpPr>
        <p:spPr>
          <a:xfrm>
            <a:off x="566738" y="1752600"/>
            <a:ext cx="8001000" cy="3764632"/>
          </a:xfrm>
        </p:spPr>
        <p:txBody>
          <a:bodyPr/>
          <a:lstStyle/>
          <a:p>
            <a:pPr marL="609600" indent="-609600">
              <a:lnSpc>
                <a:spcPct val="90000"/>
              </a:lnSpc>
              <a:buFont typeface="Monotype Sorts" pitchFamily="2" charset="2"/>
              <a:buAutoNum type="arabicPeriod"/>
            </a:pPr>
            <a:r>
              <a:rPr lang="en-US" altLang="zh-CN" dirty="0" smtClean="0">
                <a:latin typeface="+mn-ea"/>
              </a:rPr>
              <a:t>Excellent software-engineering example --- theory meets practice.</a:t>
            </a:r>
          </a:p>
          <a:p>
            <a:pPr marL="609600" indent="-609600">
              <a:lnSpc>
                <a:spcPct val="90000"/>
              </a:lnSpc>
              <a:buFont typeface="Monotype Sorts" pitchFamily="2" charset="2"/>
              <a:buAutoNum type="arabicPeriod"/>
            </a:pPr>
            <a:r>
              <a:rPr lang="en-US" altLang="zh-CN" dirty="0" smtClean="0">
                <a:latin typeface="+mn-ea"/>
              </a:rPr>
              <a:t>Essential software tool.</a:t>
            </a:r>
          </a:p>
          <a:p>
            <a:pPr marL="609600" indent="-609600">
              <a:lnSpc>
                <a:spcPct val="90000"/>
              </a:lnSpc>
              <a:buFont typeface="Monotype Sorts" pitchFamily="2" charset="2"/>
              <a:buAutoNum type="arabicPeriod"/>
            </a:pPr>
            <a:r>
              <a:rPr lang="en-US" altLang="zh-CN" dirty="0" smtClean="0">
                <a:latin typeface="+mn-ea"/>
              </a:rPr>
              <a:t>Influences hardware design, e.g., RISC, VLIW.</a:t>
            </a:r>
          </a:p>
          <a:p>
            <a:pPr marL="609600" indent="-609600">
              <a:lnSpc>
                <a:spcPct val="90000"/>
              </a:lnSpc>
              <a:buFont typeface="Monotype Sorts" pitchFamily="2" charset="2"/>
              <a:buAutoNum type="arabicPeriod"/>
            </a:pPr>
            <a:r>
              <a:rPr lang="en-US" altLang="zh-CN" dirty="0" smtClean="0">
                <a:latin typeface="+mn-ea"/>
              </a:rPr>
              <a:t>Tools (mostly “optimization”) for enhancing software reliability and security.</a:t>
            </a:r>
          </a:p>
          <a:p>
            <a:endParaRPr lang="zh-CN" altLang="en-US" dirty="0">
              <a:latin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a:xfrm>
            <a:off x="500034" y="357166"/>
            <a:ext cx="6873875" cy="728663"/>
          </a:xfrm>
        </p:spPr>
        <p:txBody>
          <a:bodyPr/>
          <a:lstStyle/>
          <a:p>
            <a:pPr eaLnBrk="1" hangingPunct="1"/>
            <a:r>
              <a:rPr lang="zh-CN" altLang="en-US" b="1" dirty="0" smtClean="0">
                <a:latin typeface="宋体" pitchFamily="2" charset="-122"/>
              </a:rPr>
              <a:t> 教材及主要参考书</a:t>
            </a:r>
          </a:p>
        </p:txBody>
      </p:sp>
      <p:sp>
        <p:nvSpPr>
          <p:cNvPr id="15362" name="日期占位符 3"/>
          <p:cNvSpPr>
            <a:spLocks noGrp="1"/>
          </p:cNvSpPr>
          <p:nvPr>
            <p:ph type="dt" sz="half" idx="10"/>
          </p:nvPr>
        </p:nvSpPr>
        <p:spPr>
          <a:noFill/>
        </p:spPr>
        <p:txBody>
          <a:bodyPr/>
          <a:lstStyle/>
          <a:p>
            <a:fld id="{D748ECCB-367D-428E-A3A0-F58AD11D5333}" type="datetime1">
              <a:rPr lang="zh-CN" altLang="en-US" smtClean="0"/>
              <a:t>2017/1/22</a:t>
            </a:fld>
            <a:endParaRPr lang="en-US" altLang="zh-CN" smtClean="0"/>
          </a:p>
        </p:txBody>
      </p:sp>
      <p:sp>
        <p:nvSpPr>
          <p:cNvPr id="1536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5364" name="灯片编号占位符 5"/>
          <p:cNvSpPr>
            <a:spLocks noGrp="1"/>
          </p:cNvSpPr>
          <p:nvPr>
            <p:ph type="sldNum" sz="quarter" idx="12"/>
          </p:nvPr>
        </p:nvSpPr>
        <p:spPr>
          <a:noFill/>
        </p:spPr>
        <p:txBody>
          <a:bodyPr/>
          <a:lstStyle/>
          <a:p>
            <a:fld id="{B91E53D1-876A-4B82-9AA6-010378C8CBD0}" type="slidenum">
              <a:rPr lang="zh-CN" altLang="en-US" smtClean="0"/>
              <a:pPr/>
              <a:t>11</a:t>
            </a:fld>
            <a:r>
              <a:rPr lang="en-US" altLang="zh-CN" dirty="0" smtClean="0"/>
              <a:t>/57</a:t>
            </a:r>
            <a:endParaRPr lang="en-US" altLang="zh-CN" dirty="0" smtClean="0"/>
          </a:p>
        </p:txBody>
      </p:sp>
      <p:sp>
        <p:nvSpPr>
          <p:cNvPr id="15366" name="Rectangle 3"/>
          <p:cNvSpPr>
            <a:spLocks noGrp="1" noChangeArrowheads="1"/>
          </p:cNvSpPr>
          <p:nvPr>
            <p:ph sz="quarter" idx="1"/>
          </p:nvPr>
        </p:nvSpPr>
        <p:spPr>
          <a:xfrm>
            <a:off x="395288" y="1773238"/>
            <a:ext cx="8424862" cy="4032250"/>
          </a:xfrm>
        </p:spPr>
        <p:txBody>
          <a:bodyPr/>
          <a:lstStyle/>
          <a:p>
            <a:pPr marL="609600" indent="-609600" eaLnBrk="1" hangingPunct="1">
              <a:lnSpc>
                <a:spcPct val="90000"/>
              </a:lnSpc>
              <a:buFont typeface="Wingdings" pitchFamily="2" charset="2"/>
              <a:buNone/>
            </a:pPr>
            <a:r>
              <a:rPr lang="zh-CN" altLang="en-US" b="1" dirty="0" smtClean="0">
                <a:latin typeface="+mn-ea"/>
              </a:rPr>
              <a:t>教材：</a:t>
            </a:r>
            <a:r>
              <a:rPr lang="en-US" altLang="zh-CN" b="1" dirty="0" smtClean="0">
                <a:latin typeface="+mn-ea"/>
              </a:rPr>
              <a:t>《</a:t>
            </a:r>
            <a:r>
              <a:rPr lang="zh-CN" altLang="en-US" b="1" dirty="0" smtClean="0">
                <a:latin typeface="+mn-ea"/>
              </a:rPr>
              <a:t>编译原理</a:t>
            </a:r>
            <a:r>
              <a:rPr lang="en-US" altLang="zh-CN" b="1" dirty="0" smtClean="0">
                <a:latin typeface="+mn-ea"/>
              </a:rPr>
              <a:t>》</a:t>
            </a:r>
            <a:r>
              <a:rPr lang="zh-CN" altLang="en-US" b="1" dirty="0" smtClean="0">
                <a:latin typeface="+mn-ea"/>
              </a:rPr>
              <a:t>（</a:t>
            </a:r>
            <a:r>
              <a:rPr lang="zh-CN" altLang="en-US" b="1" dirty="0" smtClean="0">
                <a:latin typeface="+mn-ea"/>
              </a:rPr>
              <a:t>第</a:t>
            </a:r>
            <a:r>
              <a:rPr lang="en-US" altLang="zh-CN" dirty="0" smtClean="0">
                <a:latin typeface="+mn-ea"/>
              </a:rPr>
              <a:t>3</a:t>
            </a:r>
            <a:r>
              <a:rPr lang="zh-CN" altLang="en-US" b="1" dirty="0" smtClean="0">
                <a:latin typeface="+mn-ea"/>
              </a:rPr>
              <a:t>版），王生原、董渊、张素琴</a:t>
            </a:r>
            <a:r>
              <a:rPr lang="zh-CN" altLang="en-US" b="1" dirty="0" smtClean="0">
                <a:latin typeface="+mn-ea"/>
              </a:rPr>
              <a:t>、吕映芝、</a:t>
            </a:r>
            <a:r>
              <a:rPr lang="zh-CN" altLang="en-US" b="1" dirty="0" smtClean="0">
                <a:latin typeface="+mn-ea"/>
              </a:rPr>
              <a:t>蒋维杜，</a:t>
            </a:r>
            <a:r>
              <a:rPr lang="zh-CN" altLang="en-US" b="1" dirty="0" smtClean="0">
                <a:latin typeface="+mn-ea"/>
              </a:rPr>
              <a:t>清华大学出版社 </a:t>
            </a:r>
            <a:r>
              <a:rPr lang="en-US" altLang="zh-CN" b="1" dirty="0" smtClean="0">
                <a:latin typeface="+mn-ea"/>
              </a:rPr>
              <a:t>2015</a:t>
            </a:r>
            <a:endParaRPr lang="en-US" altLang="zh-CN" b="1" dirty="0" smtClean="0">
              <a:latin typeface="+mn-ea"/>
            </a:endParaRPr>
          </a:p>
          <a:p>
            <a:pPr marL="609600" indent="-609600" eaLnBrk="1" hangingPunct="1">
              <a:lnSpc>
                <a:spcPct val="90000"/>
              </a:lnSpc>
              <a:buFont typeface="Wingdings" pitchFamily="2" charset="2"/>
              <a:buNone/>
            </a:pPr>
            <a:r>
              <a:rPr lang="zh-CN" altLang="en-US" b="1" dirty="0" smtClean="0">
                <a:latin typeface="+mn-ea"/>
              </a:rPr>
              <a:t>参考书：</a:t>
            </a:r>
            <a:r>
              <a:rPr lang="en-US" altLang="zh-CN" b="1" dirty="0" smtClean="0">
                <a:latin typeface="+mn-ea"/>
              </a:rPr>
              <a:t>《Compilers: Principles, </a:t>
            </a:r>
            <a:r>
              <a:rPr lang="en-US" altLang="zh-CN" b="1" dirty="0" err="1" smtClean="0">
                <a:latin typeface="+mn-ea"/>
              </a:rPr>
              <a:t>Technigues</a:t>
            </a:r>
            <a:r>
              <a:rPr lang="en-US" altLang="zh-CN" b="1" dirty="0" smtClean="0">
                <a:latin typeface="+mn-ea"/>
              </a:rPr>
              <a:t>, and Tools》</a:t>
            </a:r>
            <a:r>
              <a:rPr lang="zh-CN" altLang="en-US" b="1" dirty="0" smtClean="0">
                <a:latin typeface="+mn-ea"/>
              </a:rPr>
              <a:t>（第</a:t>
            </a:r>
            <a:r>
              <a:rPr lang="en-US" altLang="zh-CN" b="1" dirty="0" smtClean="0">
                <a:latin typeface="+mn-ea"/>
              </a:rPr>
              <a:t>2</a:t>
            </a:r>
            <a:r>
              <a:rPr lang="zh-CN" altLang="en-US" b="1" dirty="0" smtClean="0">
                <a:latin typeface="+mn-ea"/>
              </a:rPr>
              <a:t>版）</a:t>
            </a:r>
            <a:r>
              <a:rPr lang="en-US" altLang="zh-CN" b="1" dirty="0" smtClean="0">
                <a:latin typeface="+mn-ea"/>
              </a:rPr>
              <a:t> Alfred </a:t>
            </a:r>
            <a:r>
              <a:rPr lang="en-US" altLang="zh-CN" b="1" dirty="0" err="1" smtClean="0">
                <a:latin typeface="+mn-ea"/>
              </a:rPr>
              <a:t>V.Aho</a:t>
            </a:r>
            <a:r>
              <a:rPr lang="en-US" altLang="zh-CN" b="1" dirty="0" smtClean="0">
                <a:latin typeface="+mn-ea"/>
              </a:rPr>
              <a:t>, Ravi </a:t>
            </a:r>
            <a:r>
              <a:rPr lang="en-US" altLang="zh-CN" b="1" dirty="0" err="1" smtClean="0">
                <a:latin typeface="+mn-ea"/>
              </a:rPr>
              <a:t>Sethi</a:t>
            </a:r>
            <a:r>
              <a:rPr lang="en-US" altLang="zh-CN" b="1" dirty="0" smtClean="0">
                <a:latin typeface="+mn-ea"/>
              </a:rPr>
              <a:t>, Jeffrey </a:t>
            </a:r>
            <a:r>
              <a:rPr lang="en-US" altLang="zh-CN" b="1" dirty="0" err="1" smtClean="0">
                <a:latin typeface="+mn-ea"/>
              </a:rPr>
              <a:t>D.Ullman</a:t>
            </a:r>
            <a:r>
              <a:rPr lang="en-US" altLang="zh-CN" b="1" dirty="0" smtClean="0">
                <a:latin typeface="+mn-ea"/>
              </a:rPr>
              <a:t>, Addison-Wesley,2006. </a:t>
            </a:r>
            <a:r>
              <a:rPr lang="zh-CN" altLang="en-US" b="1" dirty="0" smtClean="0">
                <a:latin typeface="+mn-ea"/>
              </a:rPr>
              <a:t>编译原理，机械工业出版社 </a:t>
            </a:r>
            <a:r>
              <a:rPr lang="en-US" altLang="zh-CN" b="1" dirty="0" smtClean="0">
                <a:latin typeface="+mn-ea"/>
              </a:rPr>
              <a:t>2009</a:t>
            </a:r>
          </a:p>
          <a:p>
            <a:pPr marL="609600" indent="-609600" eaLnBrk="1" hangingPunct="1">
              <a:lnSpc>
                <a:spcPct val="90000"/>
              </a:lnSpc>
              <a:buFont typeface="Wingdings" pitchFamily="2" charset="2"/>
              <a:buNone/>
            </a:pPr>
            <a:r>
              <a:rPr lang="zh-CN" altLang="en-US" b="1" dirty="0" smtClean="0">
                <a:latin typeface="+mn-ea"/>
              </a:rPr>
              <a:t>参考书</a:t>
            </a:r>
            <a:r>
              <a:rPr lang="en-US" altLang="zh-CN" b="1" dirty="0" smtClean="0">
                <a:latin typeface="+mn-ea"/>
              </a:rPr>
              <a:t>:《</a:t>
            </a:r>
            <a:r>
              <a:rPr lang="zh-CN" altLang="en-US" b="1" dirty="0" smtClean="0">
                <a:latin typeface="+mn-ea"/>
              </a:rPr>
              <a:t>程序设计语言 编译原理</a:t>
            </a:r>
            <a:r>
              <a:rPr lang="en-US" altLang="zh-CN" b="1" dirty="0" smtClean="0">
                <a:latin typeface="+mn-ea"/>
              </a:rPr>
              <a:t>》</a:t>
            </a:r>
            <a:r>
              <a:rPr lang="zh-CN" altLang="en-US" b="1" dirty="0" smtClean="0">
                <a:latin typeface="+mn-ea"/>
              </a:rPr>
              <a:t>（第</a:t>
            </a:r>
            <a:r>
              <a:rPr lang="en-US" altLang="zh-CN" b="1" dirty="0" smtClean="0">
                <a:latin typeface="+mn-ea"/>
              </a:rPr>
              <a:t>3</a:t>
            </a:r>
            <a:r>
              <a:rPr lang="zh-CN" altLang="en-US" b="1" dirty="0" smtClean="0">
                <a:latin typeface="+mn-ea"/>
              </a:rPr>
              <a:t>版），陈火旺、刘春林等，国防工业出版社 </a:t>
            </a:r>
            <a:r>
              <a:rPr lang="en-US" altLang="zh-CN" b="1" dirty="0" smtClean="0">
                <a:latin typeface="+mn-ea"/>
              </a:rPr>
              <a:t>2000</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574675" y="285728"/>
            <a:ext cx="8001000" cy="828675"/>
          </a:xfrm>
        </p:spPr>
        <p:txBody>
          <a:bodyPr/>
          <a:lstStyle/>
          <a:p>
            <a:pPr eaLnBrk="1" hangingPunct="1"/>
            <a:r>
              <a:rPr lang="zh-CN" altLang="en-US" b="1" dirty="0" smtClean="0">
                <a:latin typeface="宋体" pitchFamily="2" charset="-122"/>
              </a:rPr>
              <a:t>本章内容</a:t>
            </a:r>
          </a:p>
        </p:txBody>
      </p:sp>
      <p:sp>
        <p:nvSpPr>
          <p:cNvPr id="16386" name="日期占位符 3"/>
          <p:cNvSpPr>
            <a:spLocks noGrp="1"/>
          </p:cNvSpPr>
          <p:nvPr>
            <p:ph type="dt" sz="half" idx="10"/>
          </p:nvPr>
        </p:nvSpPr>
        <p:spPr>
          <a:noFill/>
        </p:spPr>
        <p:txBody>
          <a:bodyPr/>
          <a:lstStyle/>
          <a:p>
            <a:fld id="{65565E48-7461-4665-BC4D-054E02E6ECEF}" type="datetime1">
              <a:rPr lang="zh-CN" altLang="en-US" smtClean="0"/>
              <a:t>2017/1/22</a:t>
            </a:fld>
            <a:endParaRPr lang="en-US" altLang="zh-CN" smtClean="0"/>
          </a:p>
        </p:txBody>
      </p:sp>
      <p:sp>
        <p:nvSpPr>
          <p:cNvPr id="1638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6388" name="灯片编号占位符 5"/>
          <p:cNvSpPr>
            <a:spLocks noGrp="1"/>
          </p:cNvSpPr>
          <p:nvPr>
            <p:ph type="sldNum" sz="quarter" idx="12"/>
          </p:nvPr>
        </p:nvSpPr>
        <p:spPr>
          <a:noFill/>
        </p:spPr>
        <p:txBody>
          <a:bodyPr/>
          <a:lstStyle/>
          <a:p>
            <a:fld id="{9F3ACA4E-25A8-4B10-9125-38A69308C368}" type="slidenum">
              <a:rPr lang="zh-CN" altLang="en-US" smtClean="0"/>
              <a:pPr/>
              <a:t>12</a:t>
            </a:fld>
            <a:r>
              <a:rPr lang="en-US" altLang="zh-CN" dirty="0" smtClean="0"/>
              <a:t>/57</a:t>
            </a:r>
            <a:endParaRPr lang="en-US" altLang="zh-CN" dirty="0" smtClean="0"/>
          </a:p>
        </p:txBody>
      </p:sp>
      <p:sp>
        <p:nvSpPr>
          <p:cNvPr id="328707" name="Rectangle 3"/>
          <p:cNvSpPr>
            <a:spLocks noGrp="1" noChangeArrowheads="1"/>
          </p:cNvSpPr>
          <p:nvPr>
            <p:ph sz="quarter" idx="1"/>
          </p:nvPr>
        </p:nvSpPr>
        <p:spPr>
          <a:xfrm>
            <a:off x="571472" y="1357298"/>
            <a:ext cx="7486650" cy="4267200"/>
          </a:xfrm>
        </p:spPr>
        <p:txBody>
          <a:bodyPr/>
          <a:lstStyle/>
          <a:p>
            <a:pPr eaLnBrk="1" hangingPunct="1">
              <a:buFont typeface="Wingdings" pitchFamily="2" charset="2"/>
              <a:buNone/>
            </a:pPr>
            <a:r>
              <a:rPr lang="en-US" altLang="zh-CN" sz="2800" b="1" dirty="0" smtClean="0"/>
              <a:t>1.1 </a:t>
            </a:r>
            <a:r>
              <a:rPr lang="zh-CN" altLang="en-US" sz="2800" b="1" dirty="0" smtClean="0"/>
              <a:t>什么是编译程序</a:t>
            </a:r>
          </a:p>
          <a:p>
            <a:pPr eaLnBrk="1" hangingPunct="1">
              <a:buFont typeface="Wingdings" pitchFamily="2" charset="2"/>
              <a:buNone/>
            </a:pPr>
            <a:r>
              <a:rPr lang="en-US" altLang="zh-CN" sz="2800" b="1" dirty="0" smtClean="0"/>
              <a:t>1.2 </a:t>
            </a:r>
            <a:r>
              <a:rPr lang="zh-CN" altLang="en-US" sz="2800" b="1" dirty="0" smtClean="0"/>
              <a:t>编译过程和编译程序的结构</a:t>
            </a:r>
            <a:endParaRPr lang="en-US" altLang="zh-CN" sz="2800" b="1" dirty="0" smtClean="0"/>
          </a:p>
          <a:p>
            <a:pPr eaLnBrk="1" hangingPunct="1">
              <a:buFont typeface="Wingdings" pitchFamily="2" charset="2"/>
              <a:buNone/>
            </a:pPr>
            <a:r>
              <a:rPr lang="en-US" altLang="zh-CN" sz="2800" b="1" dirty="0" smtClean="0"/>
              <a:t>1.3 </a:t>
            </a:r>
            <a:r>
              <a:rPr lang="zh-CN" altLang="en-US" sz="2800" b="1" dirty="0" smtClean="0"/>
              <a:t>解释程序和一些软件工具</a:t>
            </a:r>
          </a:p>
          <a:p>
            <a:pPr eaLnBrk="1" hangingPunct="1">
              <a:buFont typeface="Wingdings" pitchFamily="2" charset="2"/>
              <a:buNone/>
            </a:pPr>
            <a:r>
              <a:rPr lang="en-US" altLang="zh-CN" sz="2800" b="1" dirty="0" smtClean="0"/>
              <a:t>1.4 </a:t>
            </a:r>
            <a:r>
              <a:rPr lang="en-US" altLang="zh-CN" sz="2800" b="1" dirty="0" smtClean="0"/>
              <a:t>PL/0</a:t>
            </a:r>
            <a:r>
              <a:rPr lang="zh-CN" altLang="en-US" sz="2800" b="1" dirty="0" smtClean="0"/>
              <a:t>语言编译系统</a:t>
            </a:r>
            <a:endParaRPr lang="zh-CN" altLang="en-US" sz="2800" b="1" dirty="0" smtClean="0"/>
          </a:p>
          <a:p>
            <a:pPr eaLnBrk="1" hangingPunct="1">
              <a:buFont typeface="Wingdings" pitchFamily="2" charset="2"/>
              <a:buNone/>
            </a:pPr>
            <a:r>
              <a:rPr lang="en-US" altLang="zh-CN" b="1" dirty="0" smtClean="0">
                <a:latin typeface="宋体" pitchFamily="2" charset="-122"/>
              </a:rPr>
              <a:t> </a:t>
            </a:r>
            <a:endParaRPr lang="zh-CN" altLang="en-US" b="1" dirty="0" smtClean="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1" end="1"/>
                                            </p:txEl>
                                          </p:spTgt>
                                        </p:tgtEl>
                                        <p:attrNameLst>
                                          <p:attrName>style.visibility</p:attrName>
                                        </p:attrNameLst>
                                      </p:cBhvr>
                                      <p:to>
                                        <p:strVal val="visible"/>
                                      </p:to>
                                    </p:set>
                                    <p:anim calcmode="lin" valueType="num">
                                      <p:cBhvr additive="base">
                                        <p:cTn id="13" dur="500" fill="hold"/>
                                        <p:tgtEl>
                                          <p:spTgt spid="3287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2" end="2"/>
                                            </p:txEl>
                                          </p:spTgt>
                                        </p:tgtEl>
                                        <p:attrNameLst>
                                          <p:attrName>style.visibility</p:attrName>
                                        </p:attrNameLst>
                                      </p:cBhvr>
                                      <p:to>
                                        <p:strVal val="visible"/>
                                      </p:to>
                                    </p:set>
                                    <p:anim calcmode="lin" valueType="num">
                                      <p:cBhvr additive="base">
                                        <p:cTn id="19"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8707">
                                            <p:txEl>
                                              <p:pRg st="3" end="3"/>
                                            </p:txEl>
                                          </p:spTgt>
                                        </p:tgtEl>
                                        <p:attrNameLst>
                                          <p:attrName>style.visibility</p:attrName>
                                        </p:attrNameLst>
                                      </p:cBhvr>
                                      <p:to>
                                        <p:strVal val="visible"/>
                                      </p:to>
                                    </p:set>
                                    <p:anim calcmode="lin" valueType="num">
                                      <p:cBhvr additive="base">
                                        <p:cTn id="25" dur="500" fill="hold"/>
                                        <p:tgtEl>
                                          <p:spTgt spid="3287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87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8707">
                                            <p:txEl>
                                              <p:pRg st="4" end="4"/>
                                            </p:txEl>
                                          </p:spTgt>
                                        </p:tgtEl>
                                        <p:attrNameLst>
                                          <p:attrName>style.visibility</p:attrName>
                                        </p:attrNameLst>
                                      </p:cBhvr>
                                      <p:to>
                                        <p:strVal val="visible"/>
                                      </p:to>
                                    </p:set>
                                    <p:anim calcmode="lin" valueType="num">
                                      <p:cBhvr additive="base">
                                        <p:cTn id="31"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1026"/>
          <p:cNvSpPr>
            <a:spLocks noGrp="1" noChangeArrowheads="1"/>
          </p:cNvSpPr>
          <p:nvPr>
            <p:ph type="title"/>
          </p:nvPr>
        </p:nvSpPr>
        <p:spPr>
          <a:xfrm>
            <a:off x="428596" y="285728"/>
            <a:ext cx="8001000" cy="828675"/>
          </a:xfrm>
        </p:spPr>
        <p:txBody>
          <a:bodyPr/>
          <a:lstStyle/>
          <a:p>
            <a:pPr eaLnBrk="1" hangingPunct="1"/>
            <a:r>
              <a:rPr lang="en-US" altLang="zh-CN" b="1" dirty="0" smtClean="0">
                <a:latin typeface="宋体" pitchFamily="2" charset="-122"/>
              </a:rPr>
              <a:t>1.1</a:t>
            </a:r>
            <a:r>
              <a:rPr lang="zh-CN" altLang="en-US" b="1" dirty="0" smtClean="0">
                <a:latin typeface="宋体" pitchFamily="2" charset="-122"/>
              </a:rPr>
              <a:t>什么是编译程序(</a:t>
            </a:r>
            <a:r>
              <a:rPr lang="en-US" altLang="zh-CN" b="1" dirty="0" smtClean="0">
                <a:latin typeface="宋体" pitchFamily="2" charset="-122"/>
              </a:rPr>
              <a:t>compiler)</a:t>
            </a:r>
          </a:p>
        </p:txBody>
      </p:sp>
      <p:sp>
        <p:nvSpPr>
          <p:cNvPr id="17410" name="日期占位符 3"/>
          <p:cNvSpPr>
            <a:spLocks noGrp="1"/>
          </p:cNvSpPr>
          <p:nvPr>
            <p:ph type="dt" sz="half" idx="10"/>
          </p:nvPr>
        </p:nvSpPr>
        <p:spPr>
          <a:noFill/>
        </p:spPr>
        <p:txBody>
          <a:bodyPr/>
          <a:lstStyle/>
          <a:p>
            <a:fld id="{586A5791-B355-4F36-A21A-46A2C1E05E1B}" type="datetime1">
              <a:rPr lang="zh-CN" altLang="en-US" smtClean="0"/>
              <a:t>2017/1/22</a:t>
            </a:fld>
            <a:endParaRPr lang="en-US" altLang="zh-CN" smtClean="0"/>
          </a:p>
        </p:txBody>
      </p:sp>
      <p:sp>
        <p:nvSpPr>
          <p:cNvPr id="1741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7412" name="灯片编号占位符 5"/>
          <p:cNvSpPr>
            <a:spLocks noGrp="1"/>
          </p:cNvSpPr>
          <p:nvPr>
            <p:ph type="sldNum" sz="quarter" idx="12"/>
          </p:nvPr>
        </p:nvSpPr>
        <p:spPr>
          <a:noFill/>
        </p:spPr>
        <p:txBody>
          <a:bodyPr/>
          <a:lstStyle/>
          <a:p>
            <a:fld id="{EC3B9C7B-35D9-46A0-8ADB-D3D3203922C0}" type="slidenum">
              <a:rPr lang="zh-CN" altLang="en-US" smtClean="0"/>
              <a:pPr/>
              <a:t>13</a:t>
            </a:fld>
            <a:r>
              <a:rPr lang="en-US" altLang="zh-CN" dirty="0" smtClean="0"/>
              <a:t>/57</a:t>
            </a:r>
            <a:endParaRPr lang="en-US" altLang="zh-CN" dirty="0" smtClean="0"/>
          </a:p>
        </p:txBody>
      </p:sp>
      <p:sp>
        <p:nvSpPr>
          <p:cNvPr id="17414" name="Rectangle 1027"/>
          <p:cNvSpPr>
            <a:spLocks noGrp="1" noChangeArrowheads="1"/>
          </p:cNvSpPr>
          <p:nvPr>
            <p:ph sz="quarter" idx="1"/>
          </p:nvPr>
        </p:nvSpPr>
        <p:spPr>
          <a:xfrm>
            <a:off x="285720" y="1643050"/>
            <a:ext cx="8332789" cy="3611562"/>
          </a:xfrm>
        </p:spPr>
        <p:txBody>
          <a:bodyPr>
            <a:normAutofit/>
          </a:bodyPr>
          <a:lstStyle/>
          <a:p>
            <a:pPr eaLnBrk="1" hangingPunct="1">
              <a:buFont typeface="Wingdings" pitchFamily="2" charset="2"/>
              <a:buNone/>
            </a:pPr>
            <a:r>
              <a:rPr lang="zh-CN" altLang="en-US" sz="2800" b="1" dirty="0" smtClean="0">
                <a:latin typeface="宋体" pitchFamily="2" charset="-122"/>
              </a:rPr>
              <a:t>  编译程序是现代计算机系统的基本组成部分。</a:t>
            </a:r>
          </a:p>
          <a:p>
            <a:pPr eaLnBrk="1" hangingPunct="1">
              <a:buFont typeface="Wingdings" pitchFamily="2" charset="2"/>
              <a:buNone/>
            </a:pPr>
            <a:r>
              <a:rPr lang="zh-CN" altLang="en-US" sz="2800" b="1" dirty="0" smtClean="0">
                <a:latin typeface="宋体" pitchFamily="2" charset="-122"/>
              </a:rPr>
              <a:t>  从</a:t>
            </a:r>
            <a:r>
              <a:rPr lang="zh-CN" altLang="en-US" sz="2800" b="1" dirty="0" smtClean="0">
                <a:solidFill>
                  <a:srgbClr val="3333FF"/>
                </a:solidFill>
                <a:latin typeface="宋体" pitchFamily="2" charset="-122"/>
              </a:rPr>
              <a:t>功能</a:t>
            </a:r>
            <a:r>
              <a:rPr lang="zh-CN" altLang="en-US" sz="2800" b="1" dirty="0" smtClean="0">
                <a:latin typeface="宋体" pitchFamily="2" charset="-122"/>
              </a:rPr>
              <a:t>上看，一个编译程序就是一个语言翻译程序，它把一种语言(称作源语言)书写的程序翻译成另一种语言(称作目标语言)的等价的程序.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xfrm>
            <a:off x="611188" y="500042"/>
            <a:ext cx="7772400" cy="598487"/>
          </a:xfrm>
        </p:spPr>
        <p:txBody>
          <a:bodyPr>
            <a:normAutofit fontScale="90000"/>
          </a:bodyPr>
          <a:lstStyle/>
          <a:p>
            <a:pPr eaLnBrk="1" hangingPunct="1"/>
            <a:r>
              <a:rPr lang="zh-CN" altLang="en-US" sz="3600" b="1" dirty="0" smtClean="0"/>
              <a:t>什么是编译程序</a:t>
            </a:r>
          </a:p>
        </p:txBody>
      </p:sp>
      <p:sp>
        <p:nvSpPr>
          <p:cNvPr id="18434" name="日期占位符 3"/>
          <p:cNvSpPr>
            <a:spLocks noGrp="1"/>
          </p:cNvSpPr>
          <p:nvPr>
            <p:ph type="dt" sz="half" idx="10"/>
          </p:nvPr>
        </p:nvSpPr>
        <p:spPr>
          <a:noFill/>
        </p:spPr>
        <p:txBody>
          <a:bodyPr/>
          <a:lstStyle/>
          <a:p>
            <a:fld id="{C059E687-A927-48D5-BB4D-565298BDD761}" type="datetime1">
              <a:rPr lang="zh-CN" altLang="en-US" smtClean="0"/>
              <a:t>2017/1/22</a:t>
            </a:fld>
            <a:endParaRPr lang="en-US" altLang="zh-CN" smtClean="0"/>
          </a:p>
        </p:txBody>
      </p:sp>
      <p:sp>
        <p:nvSpPr>
          <p:cNvPr id="1843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8436" name="灯片编号占位符 5"/>
          <p:cNvSpPr>
            <a:spLocks noGrp="1"/>
          </p:cNvSpPr>
          <p:nvPr>
            <p:ph type="sldNum" sz="quarter" idx="12"/>
          </p:nvPr>
        </p:nvSpPr>
        <p:spPr>
          <a:noFill/>
        </p:spPr>
        <p:txBody>
          <a:bodyPr/>
          <a:lstStyle/>
          <a:p>
            <a:fld id="{CA3ACE18-2A63-4ED8-9CD1-313577AE7575}" type="slidenum">
              <a:rPr lang="zh-CN" altLang="en-US" smtClean="0"/>
              <a:pPr/>
              <a:t>14</a:t>
            </a:fld>
            <a:r>
              <a:rPr lang="en-US" altLang="zh-CN" dirty="0" smtClean="0"/>
              <a:t>/57</a:t>
            </a:r>
            <a:endParaRPr lang="en-US" altLang="zh-CN" dirty="0" smtClean="0"/>
          </a:p>
        </p:txBody>
      </p:sp>
      <p:sp>
        <p:nvSpPr>
          <p:cNvPr id="18438" name="Rectangle 3"/>
          <p:cNvSpPr>
            <a:spLocks noGrp="1" noChangeArrowheads="1"/>
          </p:cNvSpPr>
          <p:nvPr>
            <p:ph sz="quarter" idx="1"/>
          </p:nvPr>
        </p:nvSpPr>
        <p:spPr>
          <a:xfrm>
            <a:off x="467544" y="1700808"/>
            <a:ext cx="1440160" cy="533400"/>
          </a:xfrm>
        </p:spPr>
        <p:txBody>
          <a:bodyPr/>
          <a:lstStyle/>
          <a:p>
            <a:pPr eaLnBrk="1" hangingPunct="1">
              <a:lnSpc>
                <a:spcPct val="90000"/>
              </a:lnSpc>
              <a:buFont typeface="Wingdings" pitchFamily="2" charset="2"/>
              <a:buNone/>
            </a:pPr>
            <a:r>
              <a:rPr lang="zh-CN" altLang="en-US" b="1" dirty="0" smtClean="0">
                <a:solidFill>
                  <a:srgbClr val="3333FF"/>
                </a:solidFill>
              </a:rPr>
              <a:t>功能</a:t>
            </a:r>
          </a:p>
        </p:txBody>
      </p:sp>
      <p:sp>
        <p:nvSpPr>
          <p:cNvPr id="258052" name="Text Box 4"/>
          <p:cNvSpPr txBox="1">
            <a:spLocks noChangeArrowheads="1"/>
          </p:cNvSpPr>
          <p:nvPr/>
        </p:nvSpPr>
        <p:spPr bwMode="auto">
          <a:xfrm>
            <a:off x="467866" y="3629923"/>
            <a:ext cx="8352606" cy="2031325"/>
          </a:xfrm>
          <a:prstGeom prst="rect">
            <a:avLst/>
          </a:prstGeom>
          <a:noFill/>
          <a:ln w="28575">
            <a:noFill/>
            <a:miter lim="800000"/>
            <a:headEnd/>
            <a:tailEnd/>
          </a:ln>
        </p:spPr>
        <p:txBody>
          <a:bodyPr wrap="square">
            <a:spAutoFit/>
          </a:bodyPr>
          <a:lstStyle/>
          <a:p>
            <a:pPr>
              <a:lnSpc>
                <a:spcPct val="90000"/>
              </a:lnSpc>
              <a:spcBef>
                <a:spcPct val="50000"/>
              </a:spcBef>
            </a:pPr>
            <a:r>
              <a:rPr kumimoji="1" lang="zh-CN" altLang="en-US" sz="2800" b="1" dirty="0">
                <a:solidFill>
                  <a:srgbClr val="3333FF"/>
                </a:solidFill>
                <a:latin typeface="宋体" pitchFamily="2" charset="-122"/>
              </a:rPr>
              <a:t>术语</a:t>
            </a:r>
          </a:p>
          <a:p>
            <a:pPr lvl="1">
              <a:lnSpc>
                <a:spcPct val="90000"/>
              </a:lnSpc>
              <a:spcBef>
                <a:spcPct val="50000"/>
              </a:spcBef>
            </a:pPr>
            <a:r>
              <a:rPr kumimoji="1" lang="zh-CN" altLang="en-US" sz="2400" b="1" dirty="0" smtClean="0">
                <a:latin typeface="宋体" pitchFamily="2" charset="-122"/>
              </a:rPr>
              <a:t>编译程序</a:t>
            </a:r>
            <a:r>
              <a:rPr kumimoji="1" lang="zh-CN" altLang="en-US" sz="2400" b="1" dirty="0">
                <a:latin typeface="宋体" pitchFamily="2" charset="-122"/>
              </a:rPr>
              <a:t>的源语言</a:t>
            </a:r>
            <a:r>
              <a:rPr kumimoji="1" lang="en-US" altLang="zh-CN" sz="2400" b="1" dirty="0">
                <a:latin typeface="宋体" pitchFamily="2" charset="-122"/>
              </a:rPr>
              <a:t>(</a:t>
            </a:r>
            <a:r>
              <a:rPr kumimoji="1" lang="zh-CN" altLang="en-US" sz="2400" b="1" dirty="0">
                <a:latin typeface="宋体" pitchFamily="2" charset="-122"/>
              </a:rPr>
              <a:t>源程序</a:t>
            </a:r>
            <a:r>
              <a:rPr kumimoji="1" lang="en-US" altLang="zh-CN" sz="2400" b="1" dirty="0">
                <a:latin typeface="宋体" pitchFamily="2" charset="-122"/>
              </a:rPr>
              <a:t>)</a:t>
            </a:r>
          </a:p>
          <a:p>
            <a:pPr lvl="1">
              <a:lnSpc>
                <a:spcPct val="90000"/>
              </a:lnSpc>
              <a:spcBef>
                <a:spcPct val="50000"/>
              </a:spcBef>
            </a:pPr>
            <a:r>
              <a:rPr kumimoji="1" lang="zh-CN" altLang="en-US" sz="2400" b="1" dirty="0">
                <a:latin typeface="宋体" pitchFamily="2" charset="-122"/>
              </a:rPr>
              <a:t>编译程序的目标语言</a:t>
            </a:r>
            <a:r>
              <a:rPr kumimoji="1" lang="en-US" altLang="zh-CN" sz="2400" b="1" dirty="0">
                <a:latin typeface="宋体" pitchFamily="2" charset="-122"/>
              </a:rPr>
              <a:t>(</a:t>
            </a:r>
            <a:r>
              <a:rPr kumimoji="1" lang="zh-CN" altLang="en-US" sz="2400" b="1" dirty="0">
                <a:latin typeface="宋体" pitchFamily="2" charset="-122"/>
              </a:rPr>
              <a:t>目标程序</a:t>
            </a:r>
            <a:r>
              <a:rPr kumimoji="1" lang="en-US" altLang="zh-CN" sz="2400" b="1" dirty="0">
                <a:latin typeface="宋体" pitchFamily="2" charset="-122"/>
              </a:rPr>
              <a:t>)</a:t>
            </a:r>
          </a:p>
          <a:p>
            <a:pPr lvl="1">
              <a:lnSpc>
                <a:spcPct val="90000"/>
              </a:lnSpc>
              <a:spcBef>
                <a:spcPct val="50000"/>
              </a:spcBef>
            </a:pPr>
            <a:r>
              <a:rPr kumimoji="1" lang="zh-CN" altLang="en-US" sz="2400" b="1" dirty="0">
                <a:latin typeface="宋体" pitchFamily="2" charset="-122"/>
              </a:rPr>
              <a:t>编译程序的实现语言</a:t>
            </a:r>
          </a:p>
        </p:txBody>
      </p:sp>
      <p:sp>
        <p:nvSpPr>
          <p:cNvPr id="18441" name="Text Box 8"/>
          <p:cNvSpPr txBox="1">
            <a:spLocks noChangeArrowheads="1"/>
          </p:cNvSpPr>
          <p:nvPr/>
        </p:nvSpPr>
        <p:spPr bwMode="auto">
          <a:xfrm>
            <a:off x="2082552" y="2209800"/>
            <a:ext cx="1905000" cy="923330"/>
          </a:xfrm>
          <a:prstGeom prst="rect">
            <a:avLst/>
          </a:prstGeom>
          <a:noFill/>
          <a:ln w="9525">
            <a:noFill/>
            <a:miter lim="800000"/>
            <a:headEnd/>
            <a:tailEnd/>
          </a:ln>
        </p:spPr>
        <p:txBody>
          <a:bodyPr>
            <a:spAutoFit/>
          </a:bodyPr>
          <a:lstStyle/>
          <a:p>
            <a:pPr>
              <a:spcBef>
                <a:spcPct val="50000"/>
              </a:spcBef>
            </a:pPr>
            <a:r>
              <a:rPr kumimoji="1" lang="zh-CN" altLang="en-US" sz="2400" b="1" dirty="0">
                <a:latin typeface="Times New Roman" pitchFamily="18" charset="0"/>
              </a:rPr>
              <a:t>  </a:t>
            </a:r>
            <a:r>
              <a:rPr kumimoji="1" lang="zh-CN" altLang="en-US" sz="2000" b="1" dirty="0">
                <a:latin typeface="Times New Roman" pitchFamily="18" charset="0"/>
              </a:rPr>
              <a:t>高级语言</a:t>
            </a:r>
          </a:p>
          <a:p>
            <a:pPr>
              <a:spcBef>
                <a:spcPct val="50000"/>
              </a:spcBef>
            </a:pPr>
            <a:r>
              <a:rPr kumimoji="1" lang="zh-CN" altLang="en-US" sz="2000" b="1" dirty="0" smtClean="0">
                <a:latin typeface="Times New Roman" pitchFamily="18" charset="0"/>
              </a:rPr>
              <a:t>程序（源程序）</a:t>
            </a:r>
            <a:endParaRPr kumimoji="1" lang="zh-CN" altLang="en-US" sz="2000" b="1" dirty="0">
              <a:latin typeface="Times New Roman" pitchFamily="18" charset="0"/>
            </a:endParaRPr>
          </a:p>
        </p:txBody>
      </p:sp>
      <p:sp>
        <p:nvSpPr>
          <p:cNvPr id="18443" name="Text Box 10"/>
          <p:cNvSpPr txBox="1">
            <a:spLocks noChangeArrowheads="1"/>
          </p:cNvSpPr>
          <p:nvPr/>
        </p:nvSpPr>
        <p:spPr bwMode="auto">
          <a:xfrm>
            <a:off x="6273552" y="2285992"/>
            <a:ext cx="2057400" cy="861774"/>
          </a:xfrm>
          <a:prstGeom prst="rect">
            <a:avLst/>
          </a:prstGeom>
          <a:noFill/>
          <a:ln w="9525">
            <a:noFill/>
            <a:miter lim="800000"/>
            <a:headEnd/>
            <a:tailEnd/>
          </a:ln>
        </p:spPr>
        <p:txBody>
          <a:bodyPr>
            <a:spAutoFit/>
          </a:bodyPr>
          <a:lstStyle/>
          <a:p>
            <a:pPr>
              <a:spcBef>
                <a:spcPct val="50000"/>
              </a:spcBef>
            </a:pPr>
            <a:r>
              <a:rPr kumimoji="1" lang="zh-CN" altLang="en-US" sz="2000" b="1" dirty="0">
                <a:latin typeface="Times New Roman" pitchFamily="18" charset="0"/>
              </a:rPr>
              <a:t>低级语言</a:t>
            </a:r>
            <a:r>
              <a:rPr kumimoji="1" lang="zh-CN" altLang="en-US" sz="2000" b="1" dirty="0" smtClean="0">
                <a:latin typeface="Times New Roman" pitchFamily="18" charset="0"/>
              </a:rPr>
              <a:t>程序</a:t>
            </a:r>
            <a:endParaRPr kumimoji="1" lang="en-US" altLang="zh-CN" sz="2000" b="1" dirty="0" smtClean="0">
              <a:latin typeface="Times New Roman" pitchFamily="18" charset="0"/>
            </a:endParaRPr>
          </a:p>
          <a:p>
            <a:pPr>
              <a:spcBef>
                <a:spcPct val="50000"/>
              </a:spcBef>
            </a:pPr>
            <a:r>
              <a:rPr kumimoji="1" lang="en-US" altLang="zh-CN" sz="2000" b="1" dirty="0" smtClean="0">
                <a:latin typeface="Times New Roman" pitchFamily="18" charset="0"/>
              </a:rPr>
              <a:t> </a:t>
            </a:r>
            <a:r>
              <a:rPr kumimoji="1" lang="en-US" altLang="zh-CN" sz="2000" b="1" dirty="0" smtClean="0">
                <a:latin typeface="Times New Roman" pitchFamily="18" charset="0"/>
              </a:rPr>
              <a:t>  </a:t>
            </a:r>
            <a:r>
              <a:rPr kumimoji="1" lang="zh-CN" altLang="en-US" sz="2000" b="1" dirty="0" smtClean="0">
                <a:latin typeface="Times New Roman" pitchFamily="18" charset="0"/>
              </a:rPr>
              <a:t>（目标程序）</a:t>
            </a:r>
            <a:endParaRPr kumimoji="1" lang="zh-CN" altLang="en-US" sz="2000" b="1" dirty="0">
              <a:latin typeface="Times New Roman" pitchFamily="18" charset="0"/>
            </a:endParaRPr>
          </a:p>
        </p:txBody>
      </p:sp>
      <p:grpSp>
        <p:nvGrpSpPr>
          <p:cNvPr id="22" name="组合 21"/>
          <p:cNvGrpSpPr/>
          <p:nvPr/>
        </p:nvGrpSpPr>
        <p:grpSpPr>
          <a:xfrm>
            <a:off x="1979712" y="2060575"/>
            <a:ext cx="6275388" cy="1292225"/>
            <a:chOff x="2438400" y="2060575"/>
            <a:chExt cx="6275388" cy="1292225"/>
          </a:xfrm>
        </p:grpSpPr>
        <p:sp>
          <p:nvSpPr>
            <p:cNvPr id="18442" name="Text Box 9"/>
            <p:cNvSpPr txBox="1">
              <a:spLocks noChangeArrowheads="1"/>
            </p:cNvSpPr>
            <p:nvPr/>
          </p:nvSpPr>
          <p:spPr bwMode="auto">
            <a:xfrm>
              <a:off x="4724400" y="2438400"/>
              <a:ext cx="1495425" cy="466725"/>
            </a:xfrm>
            <a:prstGeom prst="rect">
              <a:avLst/>
            </a:prstGeom>
            <a:noFill/>
            <a:ln w="9525">
              <a:solidFill>
                <a:schemeClr val="tx1"/>
              </a:solidFill>
              <a:miter lim="800000"/>
              <a:headEnd/>
              <a:tailEnd/>
            </a:ln>
          </p:spPr>
          <p:txBody>
            <a:bodyPr wrap="none">
              <a:spAutoFit/>
            </a:bodyPr>
            <a:lstStyle/>
            <a:p>
              <a:pPr>
                <a:spcBef>
                  <a:spcPct val="50000"/>
                </a:spcBef>
              </a:pPr>
              <a:r>
                <a:rPr kumimoji="1" lang="zh-CN" altLang="en-US" sz="2400" b="1">
                  <a:latin typeface="Times New Roman" pitchFamily="18" charset="0"/>
                </a:rPr>
                <a:t> 编译程序</a:t>
              </a:r>
            </a:p>
          </p:txBody>
        </p:sp>
        <p:sp>
          <p:nvSpPr>
            <p:cNvPr id="18444" name="Line 11"/>
            <p:cNvSpPr>
              <a:spLocks noChangeShapeType="1"/>
            </p:cNvSpPr>
            <p:nvPr/>
          </p:nvSpPr>
          <p:spPr bwMode="auto">
            <a:xfrm flipV="1">
              <a:off x="4284663" y="2708275"/>
              <a:ext cx="431800" cy="0"/>
            </a:xfrm>
            <a:prstGeom prst="line">
              <a:avLst/>
            </a:prstGeom>
            <a:noFill/>
            <a:ln w="9525">
              <a:solidFill>
                <a:schemeClr val="tx1"/>
              </a:solidFill>
              <a:round/>
              <a:headEnd/>
              <a:tailEnd type="triangle" w="med" len="med"/>
            </a:ln>
          </p:spPr>
          <p:txBody>
            <a:bodyPr/>
            <a:lstStyle/>
            <a:p>
              <a:endParaRPr lang="zh-CN" altLang="en-US"/>
            </a:p>
          </p:txBody>
        </p:sp>
        <p:sp>
          <p:nvSpPr>
            <p:cNvPr id="18445" name="Line 12"/>
            <p:cNvSpPr>
              <a:spLocks noChangeShapeType="1"/>
            </p:cNvSpPr>
            <p:nvPr/>
          </p:nvSpPr>
          <p:spPr bwMode="auto">
            <a:xfrm>
              <a:off x="6248400" y="2667000"/>
              <a:ext cx="457200" cy="0"/>
            </a:xfrm>
            <a:prstGeom prst="line">
              <a:avLst/>
            </a:prstGeom>
            <a:noFill/>
            <a:ln w="9525">
              <a:solidFill>
                <a:schemeClr val="tx1"/>
              </a:solidFill>
              <a:round/>
              <a:headEnd/>
              <a:tailEnd type="triangle" w="med" len="med"/>
            </a:ln>
          </p:spPr>
          <p:txBody>
            <a:bodyPr/>
            <a:lstStyle/>
            <a:p>
              <a:endParaRPr lang="zh-CN" altLang="en-US"/>
            </a:p>
          </p:txBody>
        </p:sp>
        <p:sp>
          <p:nvSpPr>
            <p:cNvPr id="18446" name="Oval 13"/>
            <p:cNvSpPr>
              <a:spLocks noChangeArrowheads="1"/>
            </p:cNvSpPr>
            <p:nvPr/>
          </p:nvSpPr>
          <p:spPr bwMode="auto">
            <a:xfrm>
              <a:off x="2438400" y="2133600"/>
              <a:ext cx="1828800" cy="1219200"/>
            </a:xfrm>
            <a:prstGeom prst="ellipse">
              <a:avLst/>
            </a:prstGeom>
            <a:noFill/>
            <a:ln w="9525">
              <a:solidFill>
                <a:schemeClr val="tx1"/>
              </a:solidFill>
              <a:round/>
              <a:headEnd/>
              <a:tailEnd/>
            </a:ln>
          </p:spPr>
          <p:txBody>
            <a:bodyPr wrap="none" anchor="ctr"/>
            <a:lstStyle/>
            <a:p>
              <a:endParaRPr lang="zh-CN" altLang="en-US"/>
            </a:p>
          </p:txBody>
        </p:sp>
        <p:sp>
          <p:nvSpPr>
            <p:cNvPr id="18447" name="Oval 14"/>
            <p:cNvSpPr>
              <a:spLocks noChangeArrowheads="1"/>
            </p:cNvSpPr>
            <p:nvPr/>
          </p:nvSpPr>
          <p:spPr bwMode="auto">
            <a:xfrm>
              <a:off x="6732588" y="2060575"/>
              <a:ext cx="1981200" cy="1219200"/>
            </a:xfrm>
            <a:prstGeom prst="ellipse">
              <a:avLst/>
            </a:prstGeom>
            <a:noFill/>
            <a:ln w="9525">
              <a:solidFill>
                <a:schemeClr val="tx1"/>
              </a:solidFill>
              <a:round/>
              <a:headEnd/>
              <a:tailEnd/>
            </a:ln>
          </p:spPr>
          <p:txBody>
            <a:bodyPr wrap="none" anchor="ctr"/>
            <a:lstStyle/>
            <a:p>
              <a:endParaRPr lang="zh-CN" altLang="en-US"/>
            </a:p>
          </p:txBody>
        </p:sp>
      </p:grpSp>
      <p:sp>
        <p:nvSpPr>
          <p:cNvPr id="16" name="TextBox 15"/>
          <p:cNvSpPr txBox="1"/>
          <p:nvPr/>
        </p:nvSpPr>
        <p:spPr>
          <a:xfrm>
            <a:off x="3643306" y="3571876"/>
            <a:ext cx="2409634" cy="369332"/>
          </a:xfrm>
          <a:prstGeom prst="rect">
            <a:avLst/>
          </a:prstGeom>
          <a:noFill/>
        </p:spPr>
        <p:txBody>
          <a:bodyPr wrap="none" rtlCol="0">
            <a:spAutoFit/>
          </a:bodyPr>
          <a:lstStyle/>
          <a:p>
            <a:r>
              <a:rPr lang="zh-CN" altLang="en-US" dirty="0" smtClean="0"/>
              <a:t>图</a:t>
            </a:r>
            <a:r>
              <a:rPr lang="en-US" altLang="zh-CN" dirty="0" smtClean="0"/>
              <a:t>1.1</a:t>
            </a:r>
            <a:r>
              <a:rPr lang="zh-CN" altLang="en-US" dirty="0" smtClean="0"/>
              <a:t>编译程序的功能</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58052"/>
                                        </p:tgtEl>
                                        <p:attrNameLst>
                                          <p:attrName>style.visibility</p:attrName>
                                        </p:attrNameLst>
                                      </p:cBhvr>
                                      <p:to>
                                        <p:strVal val="visible"/>
                                      </p:to>
                                    </p:set>
                                    <p:anim calcmode="lin" valueType="num">
                                      <p:cBhvr additive="base">
                                        <p:cTn id="7" dur="500" fill="hold"/>
                                        <p:tgtEl>
                                          <p:spTgt spid="258052"/>
                                        </p:tgtEl>
                                        <p:attrNameLst>
                                          <p:attrName>ppt_x</p:attrName>
                                        </p:attrNameLst>
                                      </p:cBhvr>
                                      <p:tavLst>
                                        <p:tav tm="0">
                                          <p:val>
                                            <p:strVal val="0-#ppt_w/2"/>
                                          </p:val>
                                        </p:tav>
                                        <p:tav tm="100000">
                                          <p:val>
                                            <p:strVal val="#ppt_x"/>
                                          </p:val>
                                        </p:tav>
                                      </p:tavLst>
                                    </p:anim>
                                    <p:anim calcmode="lin" valueType="num">
                                      <p:cBhvr additive="base">
                                        <p:cTn id="8" dur="500" fill="hold"/>
                                        <p:tgtEl>
                                          <p:spTgt spid="258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1026"/>
          <p:cNvSpPr>
            <a:spLocks noGrp="1" noChangeArrowheads="1"/>
          </p:cNvSpPr>
          <p:nvPr>
            <p:ph type="title"/>
          </p:nvPr>
        </p:nvSpPr>
        <p:spPr/>
        <p:txBody>
          <a:bodyPr/>
          <a:lstStyle/>
          <a:p>
            <a:pPr eaLnBrk="1" hangingPunct="1"/>
            <a:r>
              <a:rPr lang="zh-CN" altLang="en-US" b="1" smtClean="0"/>
              <a:t>什么是编译程序</a:t>
            </a:r>
          </a:p>
        </p:txBody>
      </p:sp>
      <p:sp>
        <p:nvSpPr>
          <p:cNvPr id="20482" name="日期占位符 3"/>
          <p:cNvSpPr>
            <a:spLocks noGrp="1"/>
          </p:cNvSpPr>
          <p:nvPr>
            <p:ph type="dt" sz="half" idx="10"/>
          </p:nvPr>
        </p:nvSpPr>
        <p:spPr>
          <a:noFill/>
        </p:spPr>
        <p:txBody>
          <a:bodyPr/>
          <a:lstStyle/>
          <a:p>
            <a:fld id="{1363CCA5-EC13-4D04-B97D-9FE70F61E543}" type="datetime1">
              <a:rPr lang="zh-CN" altLang="en-US" smtClean="0"/>
              <a:t>2017/1/22</a:t>
            </a:fld>
            <a:endParaRPr lang="en-US" altLang="zh-CN" smtClean="0"/>
          </a:p>
        </p:txBody>
      </p:sp>
      <p:sp>
        <p:nvSpPr>
          <p:cNvPr id="2048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0484" name="灯片编号占位符 5"/>
          <p:cNvSpPr>
            <a:spLocks noGrp="1"/>
          </p:cNvSpPr>
          <p:nvPr>
            <p:ph type="sldNum" sz="quarter" idx="12"/>
          </p:nvPr>
        </p:nvSpPr>
        <p:spPr>
          <a:noFill/>
        </p:spPr>
        <p:txBody>
          <a:bodyPr/>
          <a:lstStyle/>
          <a:p>
            <a:fld id="{EC861981-04EA-40E3-8691-2D5FDFD71107}" type="slidenum">
              <a:rPr lang="zh-CN" altLang="en-US" smtClean="0"/>
              <a:pPr/>
              <a:t>15</a:t>
            </a:fld>
            <a:r>
              <a:rPr lang="en-US" altLang="zh-CN" dirty="0" smtClean="0"/>
              <a:t>/57</a:t>
            </a:r>
            <a:endParaRPr lang="en-US" altLang="zh-CN" dirty="0" smtClean="0"/>
          </a:p>
        </p:txBody>
      </p:sp>
      <p:sp>
        <p:nvSpPr>
          <p:cNvPr id="20486" name="Rectangle 1027"/>
          <p:cNvSpPr>
            <a:spLocks noGrp="1" noChangeArrowheads="1"/>
          </p:cNvSpPr>
          <p:nvPr>
            <p:ph sz="quarter" idx="1"/>
          </p:nvPr>
        </p:nvSpPr>
        <p:spPr/>
        <p:txBody>
          <a:bodyPr/>
          <a:lstStyle/>
          <a:p>
            <a:pPr eaLnBrk="1" hangingPunct="1"/>
            <a:r>
              <a:rPr lang="zh-CN" altLang="en-US" b="1" dirty="0" smtClean="0"/>
              <a:t>语言转(变）换系统</a:t>
            </a:r>
          </a:p>
        </p:txBody>
      </p:sp>
      <p:sp>
        <p:nvSpPr>
          <p:cNvPr id="20487" name="Rectangle 1028"/>
          <p:cNvSpPr>
            <a:spLocks noChangeArrowheads="1"/>
          </p:cNvSpPr>
          <p:nvPr/>
        </p:nvSpPr>
        <p:spPr bwMode="auto">
          <a:xfrm>
            <a:off x="2414588" y="2852738"/>
            <a:ext cx="3276600" cy="685800"/>
          </a:xfrm>
          <a:prstGeom prst="rect">
            <a:avLst/>
          </a:prstGeom>
          <a:solidFill>
            <a:schemeClr val="bg1"/>
          </a:solidFill>
          <a:ln w="28575">
            <a:solidFill>
              <a:schemeClr val="tx1"/>
            </a:solidFill>
            <a:miter lim="800000"/>
            <a:headEnd/>
            <a:tailEnd/>
          </a:ln>
        </p:spPr>
        <p:txBody>
          <a:bodyPr wrap="none" anchor="ctr"/>
          <a:lstStyle/>
          <a:p>
            <a:pPr algn="ctr"/>
            <a:r>
              <a:rPr kumimoji="1" lang="en-US" altLang="en-US" sz="2400" b="1">
                <a:latin typeface="Times New Roman" pitchFamily="18" charset="0"/>
              </a:rPr>
              <a:t>C++</a:t>
            </a:r>
            <a:r>
              <a:rPr kumimoji="1" lang="zh-CN" altLang="en-US" sz="2400" b="1">
                <a:latin typeface="Times New Roman" pitchFamily="18" charset="0"/>
              </a:rPr>
              <a:t>编译器</a:t>
            </a:r>
          </a:p>
        </p:txBody>
      </p:sp>
      <p:sp>
        <p:nvSpPr>
          <p:cNvPr id="20488" name="Rectangle 1029"/>
          <p:cNvSpPr>
            <a:spLocks noChangeArrowheads="1"/>
          </p:cNvSpPr>
          <p:nvPr/>
        </p:nvSpPr>
        <p:spPr bwMode="auto">
          <a:xfrm>
            <a:off x="1195388" y="3005138"/>
            <a:ext cx="533400" cy="304800"/>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a:latin typeface="Times New Roman" pitchFamily="18" charset="0"/>
              </a:rPr>
              <a:t>C++</a:t>
            </a:r>
            <a:endParaRPr kumimoji="1" lang="en-US" altLang="zh-CN" sz="2400" b="1">
              <a:latin typeface="Times New Roman" pitchFamily="18" charset="0"/>
            </a:endParaRPr>
          </a:p>
        </p:txBody>
      </p:sp>
      <p:sp>
        <p:nvSpPr>
          <p:cNvPr id="20489" name="Rectangle 1030"/>
          <p:cNvSpPr>
            <a:spLocks noChangeArrowheads="1"/>
          </p:cNvSpPr>
          <p:nvPr/>
        </p:nvSpPr>
        <p:spPr bwMode="auto">
          <a:xfrm>
            <a:off x="6376988" y="3005138"/>
            <a:ext cx="609600" cy="457200"/>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a:latin typeface="Times New Roman" pitchFamily="18" charset="0"/>
              </a:rPr>
              <a:t>C</a:t>
            </a:r>
            <a:endParaRPr kumimoji="1" lang="en-US" altLang="zh-CN" sz="2400" b="1">
              <a:latin typeface="Times New Roman" pitchFamily="18" charset="0"/>
            </a:endParaRPr>
          </a:p>
        </p:txBody>
      </p:sp>
      <p:sp>
        <p:nvSpPr>
          <p:cNvPr id="20490" name="Line 1031"/>
          <p:cNvSpPr>
            <a:spLocks noChangeShapeType="1"/>
          </p:cNvSpPr>
          <p:nvPr/>
        </p:nvSpPr>
        <p:spPr bwMode="auto">
          <a:xfrm>
            <a:off x="5691188" y="3233738"/>
            <a:ext cx="685800" cy="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20491" name="Line 1032"/>
          <p:cNvSpPr>
            <a:spLocks noChangeShapeType="1"/>
          </p:cNvSpPr>
          <p:nvPr/>
        </p:nvSpPr>
        <p:spPr bwMode="auto">
          <a:xfrm>
            <a:off x="1804988" y="3157538"/>
            <a:ext cx="609600" cy="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20492" name="Rectangle 1033"/>
          <p:cNvSpPr>
            <a:spLocks noChangeArrowheads="1"/>
          </p:cNvSpPr>
          <p:nvPr/>
        </p:nvSpPr>
        <p:spPr bwMode="auto">
          <a:xfrm>
            <a:off x="1042988" y="4452938"/>
            <a:ext cx="914400" cy="457200"/>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a:latin typeface="Times New Roman" pitchFamily="18" charset="0"/>
              </a:rPr>
              <a:t>Java</a:t>
            </a:r>
            <a:endParaRPr kumimoji="1" lang="en-US" altLang="zh-CN" sz="2400" b="1">
              <a:latin typeface="Times New Roman" pitchFamily="18" charset="0"/>
            </a:endParaRPr>
          </a:p>
        </p:txBody>
      </p:sp>
      <p:sp>
        <p:nvSpPr>
          <p:cNvPr id="20493" name="Rectangle 1034"/>
          <p:cNvSpPr>
            <a:spLocks noChangeArrowheads="1"/>
          </p:cNvSpPr>
          <p:nvPr/>
        </p:nvSpPr>
        <p:spPr bwMode="auto">
          <a:xfrm>
            <a:off x="6376988" y="4529138"/>
            <a:ext cx="1219200" cy="457200"/>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a:latin typeface="Times New Roman" pitchFamily="18" charset="0"/>
              </a:rPr>
              <a:t>Bytecode</a:t>
            </a:r>
            <a:endParaRPr kumimoji="1" lang="en-US" altLang="zh-CN" sz="2400" b="1">
              <a:latin typeface="Times New Roman" pitchFamily="18" charset="0"/>
            </a:endParaRPr>
          </a:p>
        </p:txBody>
      </p:sp>
      <p:sp>
        <p:nvSpPr>
          <p:cNvPr id="20494" name="Rectangle 1035"/>
          <p:cNvSpPr>
            <a:spLocks noChangeArrowheads="1"/>
          </p:cNvSpPr>
          <p:nvPr/>
        </p:nvSpPr>
        <p:spPr bwMode="auto">
          <a:xfrm>
            <a:off x="2338388" y="4452938"/>
            <a:ext cx="3276600" cy="685800"/>
          </a:xfrm>
          <a:prstGeom prst="rect">
            <a:avLst/>
          </a:prstGeom>
          <a:solidFill>
            <a:schemeClr val="bg1"/>
          </a:solidFill>
          <a:ln w="28575">
            <a:solidFill>
              <a:schemeClr val="tx1"/>
            </a:solidFill>
            <a:miter lim="800000"/>
            <a:headEnd/>
            <a:tailEnd/>
          </a:ln>
        </p:spPr>
        <p:txBody>
          <a:bodyPr wrap="none" anchor="ctr"/>
          <a:lstStyle/>
          <a:p>
            <a:pPr algn="ctr"/>
            <a:r>
              <a:rPr kumimoji="1" lang="en-US" altLang="zh-CN" sz="2400" b="1">
                <a:latin typeface="Times New Roman" pitchFamily="18" charset="0"/>
              </a:rPr>
              <a:t>Java</a:t>
            </a:r>
            <a:r>
              <a:rPr kumimoji="1" lang="zh-CN" altLang="en-US" sz="2400" b="1">
                <a:latin typeface="Times New Roman" pitchFamily="18" charset="0"/>
              </a:rPr>
              <a:t>编译器</a:t>
            </a:r>
          </a:p>
        </p:txBody>
      </p:sp>
      <p:sp>
        <p:nvSpPr>
          <p:cNvPr id="20495" name="Line 1036"/>
          <p:cNvSpPr>
            <a:spLocks noChangeShapeType="1"/>
          </p:cNvSpPr>
          <p:nvPr/>
        </p:nvSpPr>
        <p:spPr bwMode="auto">
          <a:xfrm>
            <a:off x="1728788" y="4681538"/>
            <a:ext cx="609600" cy="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20496" name="Line 1037"/>
          <p:cNvSpPr>
            <a:spLocks noChangeShapeType="1"/>
          </p:cNvSpPr>
          <p:nvPr/>
        </p:nvSpPr>
        <p:spPr bwMode="auto">
          <a:xfrm>
            <a:off x="5614988" y="4757738"/>
            <a:ext cx="609600" cy="0"/>
          </a:xfrm>
          <a:prstGeom prst="line">
            <a:avLst/>
          </a:prstGeom>
          <a:noFill/>
          <a:ln w="28575">
            <a:solidFill>
              <a:schemeClr val="tx1"/>
            </a:solidFill>
            <a:round/>
            <a:headEnd/>
            <a:tailEnd type="triangle"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half" idx="10"/>
          </p:nvPr>
        </p:nvSpPr>
        <p:spPr>
          <a:noFill/>
        </p:spPr>
        <p:txBody>
          <a:bodyPr/>
          <a:lstStyle/>
          <a:p>
            <a:fld id="{1495D9E1-0914-47F2-9091-71675181A5D3}" type="datetime1">
              <a:rPr lang="zh-CN" altLang="en-US" smtClean="0"/>
              <a:t>2017/1/22</a:t>
            </a:fld>
            <a:endParaRPr lang="en-US" altLang="zh-CN" smtClean="0"/>
          </a:p>
        </p:txBody>
      </p:sp>
      <p:sp>
        <p:nvSpPr>
          <p:cNvPr id="21507" name="页脚占位符 4"/>
          <p:cNvSpPr>
            <a:spLocks noGrp="1"/>
          </p:cNvSpPr>
          <p:nvPr>
            <p:ph type="ftr" sz="quarter" idx="11"/>
          </p:nvPr>
        </p:nvSpPr>
        <p:spPr>
          <a:xfrm>
            <a:off x="2898648" y="6357958"/>
            <a:ext cx="2673484" cy="365760"/>
          </a:xfrm>
          <a:noFill/>
        </p:spPr>
        <p:txBody>
          <a:bodyPr/>
          <a:lstStyle/>
          <a:p>
            <a:r>
              <a:rPr lang="zh-CN" altLang="en-US" dirty="0" smtClean="0"/>
              <a:t>第一章：引论</a:t>
            </a:r>
            <a:endParaRPr lang="en-US" altLang="zh-CN" dirty="0" smtClean="0"/>
          </a:p>
        </p:txBody>
      </p:sp>
      <p:sp>
        <p:nvSpPr>
          <p:cNvPr id="21508" name="灯片编号占位符 5"/>
          <p:cNvSpPr>
            <a:spLocks noGrp="1"/>
          </p:cNvSpPr>
          <p:nvPr>
            <p:ph type="sldNum" sz="quarter" idx="12"/>
          </p:nvPr>
        </p:nvSpPr>
        <p:spPr>
          <a:noFill/>
        </p:spPr>
        <p:txBody>
          <a:bodyPr/>
          <a:lstStyle/>
          <a:p>
            <a:fld id="{128B6FD9-A3EE-405C-9E9C-D5C59B7C56C7}" type="slidenum">
              <a:rPr lang="zh-CN" altLang="en-US" smtClean="0"/>
              <a:pPr/>
              <a:t>16</a:t>
            </a:fld>
            <a:r>
              <a:rPr lang="en-US" altLang="zh-CN" dirty="0" smtClean="0"/>
              <a:t>/57</a:t>
            </a:r>
            <a:endParaRPr lang="en-US" altLang="zh-CN" dirty="0" smtClean="0"/>
          </a:p>
        </p:txBody>
      </p:sp>
      <p:sp>
        <p:nvSpPr>
          <p:cNvPr id="21510" name="Rectangle 3"/>
          <p:cNvSpPr>
            <a:spLocks noGrp="1" noChangeArrowheads="1"/>
          </p:cNvSpPr>
          <p:nvPr>
            <p:ph sz="quarter" idx="1"/>
          </p:nvPr>
        </p:nvSpPr>
        <p:spPr>
          <a:xfrm>
            <a:off x="566738" y="1752600"/>
            <a:ext cx="836910" cy="4267200"/>
          </a:xfrm>
        </p:spPr>
        <p:txBody>
          <a:bodyPr/>
          <a:lstStyle/>
          <a:p>
            <a:pPr eaLnBrk="1" hangingPunct="1"/>
            <a:endParaRPr lang="zh-CN" altLang="en-US" b="1" dirty="0" smtClean="0">
              <a:latin typeface="宋体" pitchFamily="2" charset="-122"/>
            </a:endParaRPr>
          </a:p>
        </p:txBody>
      </p:sp>
      <p:grpSp>
        <p:nvGrpSpPr>
          <p:cNvPr id="21511" name="Group 5"/>
          <p:cNvGrpSpPr>
            <a:grpSpLocks/>
          </p:cNvGrpSpPr>
          <p:nvPr/>
        </p:nvGrpSpPr>
        <p:grpSpPr bwMode="auto">
          <a:xfrm>
            <a:off x="3810000" y="42269"/>
            <a:ext cx="1914525" cy="6022975"/>
            <a:chOff x="2064" y="0"/>
            <a:chExt cx="1248" cy="4148"/>
          </a:xfrm>
        </p:grpSpPr>
        <p:sp>
          <p:nvSpPr>
            <p:cNvPr id="21513" name="AutoShape 6"/>
            <p:cNvSpPr>
              <a:spLocks noChangeArrowheads="1"/>
            </p:cNvSpPr>
            <p:nvPr/>
          </p:nvSpPr>
          <p:spPr bwMode="auto">
            <a:xfrm>
              <a:off x="2544" y="261"/>
              <a:ext cx="144" cy="260"/>
            </a:xfrm>
            <a:prstGeom prst="downArrow">
              <a:avLst>
                <a:gd name="adj1" fmla="val 50000"/>
                <a:gd name="adj2" fmla="val 45139"/>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14" name="Rectangle 7"/>
            <p:cNvSpPr>
              <a:spLocks noChangeArrowheads="1"/>
            </p:cNvSpPr>
            <p:nvPr/>
          </p:nvSpPr>
          <p:spPr bwMode="auto">
            <a:xfrm>
              <a:off x="2256" y="0"/>
              <a:ext cx="768" cy="304"/>
            </a:xfrm>
            <a:prstGeom prst="rect">
              <a:avLst/>
            </a:prstGeom>
            <a:noFill/>
            <a:ln w="9525">
              <a:noFill/>
              <a:miter lim="800000"/>
              <a:headEnd/>
              <a:tailEnd/>
            </a:ln>
          </p:spPr>
          <p:txBody>
            <a:bodyPr wrap="none" anchor="ctr"/>
            <a:lstStyle/>
            <a:p>
              <a:pPr algn="ctr"/>
              <a:r>
                <a:rPr kumimoji="1" lang="zh-CN" altLang="en-US" sz="2400" b="1" dirty="0">
                  <a:latin typeface="宋体" pitchFamily="2" charset="-122"/>
                </a:rPr>
                <a:t>需预处理的源程序</a:t>
              </a:r>
            </a:p>
          </p:txBody>
        </p:sp>
        <p:sp>
          <p:nvSpPr>
            <p:cNvPr id="21515" name="Rectangle 8"/>
            <p:cNvSpPr>
              <a:spLocks noChangeArrowheads="1"/>
            </p:cNvSpPr>
            <p:nvPr/>
          </p:nvSpPr>
          <p:spPr bwMode="auto">
            <a:xfrm>
              <a:off x="2112" y="521"/>
              <a:ext cx="1056" cy="261"/>
            </a:xfrm>
            <a:prstGeom prst="rect">
              <a:avLst/>
            </a:prstGeom>
            <a:noFill/>
            <a:ln w="28575">
              <a:solidFill>
                <a:schemeClr val="tx1"/>
              </a:solidFill>
              <a:miter lim="800000"/>
              <a:headEnd/>
              <a:tailEnd/>
            </a:ln>
          </p:spPr>
          <p:txBody>
            <a:bodyPr wrap="none" anchor="ctr"/>
            <a:lstStyle/>
            <a:p>
              <a:pPr algn="ctr"/>
              <a:r>
                <a:rPr kumimoji="1" lang="zh-CN" altLang="en-US" sz="2400" b="1">
                  <a:latin typeface="宋体" pitchFamily="2" charset="-122"/>
                </a:rPr>
                <a:t>预处理程序</a:t>
              </a:r>
            </a:p>
          </p:txBody>
        </p:sp>
        <p:sp>
          <p:nvSpPr>
            <p:cNvPr id="21516" name="AutoShape 9"/>
            <p:cNvSpPr>
              <a:spLocks noChangeArrowheads="1"/>
            </p:cNvSpPr>
            <p:nvPr/>
          </p:nvSpPr>
          <p:spPr bwMode="auto">
            <a:xfrm>
              <a:off x="2544" y="782"/>
              <a:ext cx="144" cy="260"/>
            </a:xfrm>
            <a:prstGeom prst="downArrow">
              <a:avLst>
                <a:gd name="adj1" fmla="val 50000"/>
                <a:gd name="adj2" fmla="val 45139"/>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17" name="Rectangle 10"/>
            <p:cNvSpPr>
              <a:spLocks noChangeArrowheads="1"/>
            </p:cNvSpPr>
            <p:nvPr/>
          </p:nvSpPr>
          <p:spPr bwMode="auto">
            <a:xfrm>
              <a:off x="2256" y="999"/>
              <a:ext cx="720" cy="260"/>
            </a:xfrm>
            <a:prstGeom prst="rect">
              <a:avLst/>
            </a:prstGeom>
            <a:noFill/>
            <a:ln w="28575">
              <a:noFill/>
              <a:miter lim="800000"/>
              <a:headEnd/>
              <a:tailEnd/>
            </a:ln>
          </p:spPr>
          <p:txBody>
            <a:bodyPr wrap="none" anchor="ctr"/>
            <a:lstStyle/>
            <a:p>
              <a:pPr algn="ctr"/>
              <a:r>
                <a:rPr kumimoji="1" lang="zh-CN" altLang="en-US" sz="2400" b="1">
                  <a:latin typeface="宋体" pitchFamily="2" charset="-122"/>
                </a:rPr>
                <a:t>源程序</a:t>
              </a:r>
            </a:p>
          </p:txBody>
        </p:sp>
        <p:sp>
          <p:nvSpPr>
            <p:cNvPr id="21518" name="AutoShape 11"/>
            <p:cNvSpPr>
              <a:spLocks noChangeArrowheads="1"/>
            </p:cNvSpPr>
            <p:nvPr/>
          </p:nvSpPr>
          <p:spPr bwMode="auto">
            <a:xfrm>
              <a:off x="2544" y="1259"/>
              <a:ext cx="144" cy="261"/>
            </a:xfrm>
            <a:prstGeom prst="downArrow">
              <a:avLst>
                <a:gd name="adj1" fmla="val 50000"/>
                <a:gd name="adj2" fmla="val 45313"/>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19" name="Rectangle 12"/>
            <p:cNvSpPr>
              <a:spLocks noChangeArrowheads="1"/>
            </p:cNvSpPr>
            <p:nvPr/>
          </p:nvSpPr>
          <p:spPr bwMode="auto">
            <a:xfrm>
              <a:off x="2208" y="1520"/>
              <a:ext cx="864" cy="261"/>
            </a:xfrm>
            <a:prstGeom prst="rect">
              <a:avLst/>
            </a:prstGeom>
            <a:noFill/>
            <a:ln w="28575">
              <a:solidFill>
                <a:schemeClr val="tx1"/>
              </a:solidFill>
              <a:miter lim="800000"/>
              <a:headEnd/>
              <a:tailEnd/>
            </a:ln>
          </p:spPr>
          <p:txBody>
            <a:bodyPr wrap="none" anchor="ctr"/>
            <a:lstStyle/>
            <a:p>
              <a:pPr algn="ctr"/>
              <a:r>
                <a:rPr kumimoji="1" lang="zh-CN" altLang="en-US" sz="2400" b="1">
                  <a:latin typeface="宋体" pitchFamily="2" charset="-122"/>
                </a:rPr>
                <a:t>编译程序</a:t>
              </a:r>
            </a:p>
          </p:txBody>
        </p:sp>
        <p:sp>
          <p:nvSpPr>
            <p:cNvPr id="21520" name="Rectangle 13"/>
            <p:cNvSpPr>
              <a:spLocks noChangeArrowheads="1"/>
            </p:cNvSpPr>
            <p:nvPr/>
          </p:nvSpPr>
          <p:spPr bwMode="auto">
            <a:xfrm>
              <a:off x="2256" y="1998"/>
              <a:ext cx="720" cy="260"/>
            </a:xfrm>
            <a:prstGeom prst="rect">
              <a:avLst/>
            </a:prstGeom>
            <a:noFill/>
            <a:ln w="28575">
              <a:noFill/>
              <a:miter lim="800000"/>
              <a:headEnd/>
              <a:tailEnd/>
            </a:ln>
          </p:spPr>
          <p:txBody>
            <a:bodyPr wrap="none" anchor="ctr"/>
            <a:lstStyle/>
            <a:p>
              <a:pPr algn="ctr"/>
              <a:r>
                <a:rPr kumimoji="1" lang="zh-CN" altLang="en-US" sz="2400" b="1">
                  <a:latin typeface="宋体" pitchFamily="2" charset="-122"/>
                </a:rPr>
                <a:t>目标汇编程序</a:t>
              </a:r>
            </a:p>
          </p:txBody>
        </p:sp>
        <p:sp>
          <p:nvSpPr>
            <p:cNvPr id="21521" name="AutoShape 14"/>
            <p:cNvSpPr>
              <a:spLocks noChangeArrowheads="1"/>
            </p:cNvSpPr>
            <p:nvPr/>
          </p:nvSpPr>
          <p:spPr bwMode="auto">
            <a:xfrm>
              <a:off x="2544" y="1781"/>
              <a:ext cx="144" cy="260"/>
            </a:xfrm>
            <a:prstGeom prst="downArrow">
              <a:avLst>
                <a:gd name="adj1" fmla="val 50000"/>
                <a:gd name="adj2" fmla="val 45139"/>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22" name="AutoShape 15"/>
            <p:cNvSpPr>
              <a:spLocks noChangeArrowheads="1"/>
            </p:cNvSpPr>
            <p:nvPr/>
          </p:nvSpPr>
          <p:spPr bwMode="auto">
            <a:xfrm>
              <a:off x="2544" y="2215"/>
              <a:ext cx="144" cy="260"/>
            </a:xfrm>
            <a:prstGeom prst="downArrow">
              <a:avLst>
                <a:gd name="adj1" fmla="val 50000"/>
                <a:gd name="adj2" fmla="val 45139"/>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23" name="Rectangle 16"/>
            <p:cNvSpPr>
              <a:spLocks noChangeArrowheads="1"/>
            </p:cNvSpPr>
            <p:nvPr/>
          </p:nvSpPr>
          <p:spPr bwMode="auto">
            <a:xfrm>
              <a:off x="2160" y="2475"/>
              <a:ext cx="864" cy="261"/>
            </a:xfrm>
            <a:prstGeom prst="rect">
              <a:avLst/>
            </a:prstGeom>
            <a:noFill/>
            <a:ln w="28575">
              <a:solidFill>
                <a:schemeClr val="tx1"/>
              </a:solidFill>
              <a:miter lim="800000"/>
              <a:headEnd/>
              <a:tailEnd/>
            </a:ln>
          </p:spPr>
          <p:txBody>
            <a:bodyPr wrap="none" anchor="ctr"/>
            <a:lstStyle/>
            <a:p>
              <a:pPr algn="ctr"/>
              <a:r>
                <a:rPr kumimoji="1" lang="zh-CN" altLang="en-US" sz="2400" b="1" dirty="0">
                  <a:latin typeface="宋体" pitchFamily="2" charset="-122"/>
                </a:rPr>
                <a:t>汇编程序</a:t>
              </a:r>
            </a:p>
          </p:txBody>
        </p:sp>
        <p:sp>
          <p:nvSpPr>
            <p:cNvPr id="21524" name="Rectangle 17"/>
            <p:cNvSpPr>
              <a:spLocks noChangeArrowheads="1"/>
            </p:cNvSpPr>
            <p:nvPr/>
          </p:nvSpPr>
          <p:spPr bwMode="auto">
            <a:xfrm>
              <a:off x="2304" y="2953"/>
              <a:ext cx="720" cy="261"/>
            </a:xfrm>
            <a:prstGeom prst="rect">
              <a:avLst/>
            </a:prstGeom>
            <a:noFill/>
            <a:ln w="28575">
              <a:noFill/>
              <a:miter lim="800000"/>
              <a:headEnd/>
              <a:tailEnd/>
            </a:ln>
          </p:spPr>
          <p:txBody>
            <a:bodyPr wrap="none" anchor="ctr"/>
            <a:lstStyle/>
            <a:p>
              <a:pPr algn="ctr"/>
              <a:r>
                <a:rPr kumimoji="1" lang="zh-CN" altLang="en-US" sz="2400" b="1">
                  <a:latin typeface="宋体" pitchFamily="2" charset="-122"/>
                </a:rPr>
                <a:t>可再装配的机器代码</a:t>
              </a:r>
            </a:p>
          </p:txBody>
        </p:sp>
        <p:sp>
          <p:nvSpPr>
            <p:cNvPr id="21525" name="AutoShape 18"/>
            <p:cNvSpPr>
              <a:spLocks noChangeArrowheads="1"/>
            </p:cNvSpPr>
            <p:nvPr/>
          </p:nvSpPr>
          <p:spPr bwMode="auto">
            <a:xfrm>
              <a:off x="2544" y="2736"/>
              <a:ext cx="144" cy="261"/>
            </a:xfrm>
            <a:prstGeom prst="downArrow">
              <a:avLst>
                <a:gd name="adj1" fmla="val 50000"/>
                <a:gd name="adj2" fmla="val 45313"/>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26" name="AutoShape 19"/>
            <p:cNvSpPr>
              <a:spLocks noChangeArrowheads="1"/>
            </p:cNvSpPr>
            <p:nvPr/>
          </p:nvSpPr>
          <p:spPr bwMode="auto">
            <a:xfrm>
              <a:off x="2544" y="3170"/>
              <a:ext cx="144" cy="261"/>
            </a:xfrm>
            <a:prstGeom prst="downArrow">
              <a:avLst>
                <a:gd name="adj1" fmla="val 50000"/>
                <a:gd name="adj2" fmla="val 45313"/>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27" name="Rectangle 20"/>
            <p:cNvSpPr>
              <a:spLocks noChangeArrowheads="1"/>
            </p:cNvSpPr>
            <p:nvPr/>
          </p:nvSpPr>
          <p:spPr bwMode="auto">
            <a:xfrm>
              <a:off x="2064" y="3431"/>
              <a:ext cx="1248" cy="217"/>
            </a:xfrm>
            <a:prstGeom prst="rect">
              <a:avLst/>
            </a:prstGeom>
            <a:noFill/>
            <a:ln w="28575">
              <a:solidFill>
                <a:schemeClr val="tx1"/>
              </a:solidFill>
              <a:miter lim="800000"/>
              <a:headEnd/>
              <a:tailEnd/>
            </a:ln>
          </p:spPr>
          <p:txBody>
            <a:bodyPr wrap="none" anchor="ctr"/>
            <a:lstStyle/>
            <a:p>
              <a:pPr algn="ctr"/>
              <a:r>
                <a:rPr kumimoji="1" lang="zh-CN" altLang="en-US" sz="2400" b="1">
                  <a:latin typeface="宋体" pitchFamily="2" charset="-122"/>
                </a:rPr>
                <a:t>装配/连接程序</a:t>
              </a:r>
            </a:p>
          </p:txBody>
        </p:sp>
        <p:sp>
          <p:nvSpPr>
            <p:cNvPr id="21528" name="AutoShape 21"/>
            <p:cNvSpPr>
              <a:spLocks noChangeArrowheads="1"/>
            </p:cNvSpPr>
            <p:nvPr/>
          </p:nvSpPr>
          <p:spPr bwMode="auto">
            <a:xfrm>
              <a:off x="2544" y="3648"/>
              <a:ext cx="144" cy="261"/>
            </a:xfrm>
            <a:prstGeom prst="downArrow">
              <a:avLst>
                <a:gd name="adj1" fmla="val 50000"/>
                <a:gd name="adj2" fmla="val 45313"/>
              </a:avLst>
            </a:prstGeom>
            <a:solidFill>
              <a:schemeClr val="tx1">
                <a:alpha val="50195"/>
              </a:schemeClr>
            </a:solidFill>
            <a:ln w="9525">
              <a:solidFill>
                <a:schemeClr val="tx1"/>
              </a:solidFill>
              <a:miter lim="800000"/>
              <a:headEnd/>
              <a:tailEnd/>
            </a:ln>
          </p:spPr>
          <p:txBody>
            <a:bodyPr vert="eaVert"/>
            <a:lstStyle/>
            <a:p>
              <a:endParaRPr lang="zh-CN" altLang="en-US"/>
            </a:p>
          </p:txBody>
        </p:sp>
        <p:sp>
          <p:nvSpPr>
            <p:cNvPr id="21529" name="Rectangle 22"/>
            <p:cNvSpPr>
              <a:spLocks noChangeArrowheads="1"/>
            </p:cNvSpPr>
            <p:nvPr/>
          </p:nvSpPr>
          <p:spPr bwMode="auto">
            <a:xfrm>
              <a:off x="2256" y="3888"/>
              <a:ext cx="720" cy="260"/>
            </a:xfrm>
            <a:prstGeom prst="rect">
              <a:avLst/>
            </a:prstGeom>
            <a:noFill/>
            <a:ln w="28575">
              <a:noFill/>
              <a:miter lim="800000"/>
              <a:headEnd/>
              <a:tailEnd/>
            </a:ln>
          </p:spPr>
          <p:txBody>
            <a:bodyPr wrap="none" anchor="ctr"/>
            <a:lstStyle/>
            <a:p>
              <a:pPr algn="ctr"/>
              <a:r>
                <a:rPr kumimoji="1" lang="zh-CN" altLang="en-US" sz="2400" b="1">
                  <a:latin typeface="宋体" pitchFamily="2" charset="-122"/>
                </a:rPr>
                <a:t>绝对机器代码</a:t>
              </a:r>
            </a:p>
          </p:txBody>
        </p:sp>
      </p:grpSp>
      <p:sp>
        <p:nvSpPr>
          <p:cNvPr id="25" name="TextBox 24"/>
          <p:cNvSpPr txBox="1"/>
          <p:nvPr/>
        </p:nvSpPr>
        <p:spPr>
          <a:xfrm>
            <a:off x="2928926" y="6072206"/>
            <a:ext cx="4000528" cy="369332"/>
          </a:xfrm>
          <a:prstGeom prst="rect">
            <a:avLst/>
          </a:prstGeom>
          <a:noFill/>
        </p:spPr>
        <p:txBody>
          <a:bodyPr wrap="square" rtlCol="0">
            <a:spAutoFit/>
          </a:bodyPr>
          <a:lstStyle/>
          <a:p>
            <a:r>
              <a:rPr kumimoji="1" lang="zh-CN" altLang="en-US" b="1" dirty="0" smtClean="0">
                <a:latin typeface="宋体" pitchFamily="2" charset="-122"/>
              </a:rPr>
              <a:t>图</a:t>
            </a:r>
            <a:r>
              <a:rPr kumimoji="1" lang="en-US" altLang="zh-CN" b="1" dirty="0" smtClean="0">
                <a:latin typeface="宋体" pitchFamily="2" charset="-122"/>
              </a:rPr>
              <a:t>1.2</a:t>
            </a:r>
            <a:r>
              <a:rPr kumimoji="1" lang="zh-CN" altLang="en-US" b="1" dirty="0" smtClean="0">
                <a:latin typeface="宋体" pitchFamily="2" charset="-122"/>
              </a:rPr>
              <a:t>高级语言程序的处理</a:t>
            </a:r>
            <a:r>
              <a:rPr kumimoji="1" lang="zh-CN" altLang="en-US" b="1" dirty="0" smtClean="0">
                <a:latin typeface="宋体" pitchFamily="2" charset="-122"/>
              </a:rPr>
              <a:t>过程</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1026"/>
          <p:cNvSpPr>
            <a:spLocks noGrp="1" noChangeArrowheads="1"/>
          </p:cNvSpPr>
          <p:nvPr>
            <p:ph type="title"/>
          </p:nvPr>
        </p:nvSpPr>
        <p:spPr>
          <a:xfrm>
            <a:off x="571472" y="285728"/>
            <a:ext cx="7772400" cy="763587"/>
          </a:xfrm>
        </p:spPr>
        <p:txBody>
          <a:bodyPr/>
          <a:lstStyle/>
          <a:p>
            <a:pPr eaLnBrk="1" hangingPunct="1"/>
            <a:r>
              <a:rPr lang="en-US" altLang="zh-CN" b="1" dirty="0" smtClean="0">
                <a:latin typeface="宋体" pitchFamily="2" charset="-122"/>
              </a:rPr>
              <a:t>1.2 </a:t>
            </a:r>
            <a:r>
              <a:rPr lang="zh-CN" altLang="en-US" b="1" dirty="0" smtClean="0">
                <a:latin typeface="宋体" pitchFamily="2" charset="-122"/>
              </a:rPr>
              <a:t>编译过程和编译程序的结构</a:t>
            </a:r>
          </a:p>
        </p:txBody>
      </p:sp>
      <p:sp>
        <p:nvSpPr>
          <p:cNvPr id="22530" name="日期占位符 3"/>
          <p:cNvSpPr>
            <a:spLocks noGrp="1"/>
          </p:cNvSpPr>
          <p:nvPr>
            <p:ph type="dt" sz="half" idx="10"/>
          </p:nvPr>
        </p:nvSpPr>
        <p:spPr>
          <a:noFill/>
        </p:spPr>
        <p:txBody>
          <a:bodyPr/>
          <a:lstStyle/>
          <a:p>
            <a:fld id="{E4EE5E7B-5886-49A1-89A7-6CBE77A66068}" type="datetime1">
              <a:rPr lang="zh-CN" altLang="en-US" smtClean="0"/>
              <a:t>2017/1/22</a:t>
            </a:fld>
            <a:endParaRPr lang="en-US" altLang="zh-CN" smtClean="0"/>
          </a:p>
        </p:txBody>
      </p:sp>
      <p:sp>
        <p:nvSpPr>
          <p:cNvPr id="2253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2532" name="灯片编号占位符 5"/>
          <p:cNvSpPr>
            <a:spLocks noGrp="1"/>
          </p:cNvSpPr>
          <p:nvPr>
            <p:ph type="sldNum" sz="quarter" idx="12"/>
          </p:nvPr>
        </p:nvSpPr>
        <p:spPr>
          <a:noFill/>
        </p:spPr>
        <p:txBody>
          <a:bodyPr/>
          <a:lstStyle/>
          <a:p>
            <a:fld id="{11D0CB1B-1918-4154-AE4E-92D8BB871C10}" type="slidenum">
              <a:rPr lang="zh-CN" altLang="en-US" smtClean="0"/>
              <a:pPr/>
              <a:t>17</a:t>
            </a:fld>
            <a:r>
              <a:rPr lang="en-US" altLang="zh-CN" dirty="0" smtClean="0"/>
              <a:t>/57</a:t>
            </a:r>
            <a:endParaRPr lang="en-US" altLang="zh-CN" dirty="0" smtClean="0"/>
          </a:p>
        </p:txBody>
      </p:sp>
      <p:sp>
        <p:nvSpPr>
          <p:cNvPr id="22534" name="Rectangle 1027"/>
          <p:cNvSpPr>
            <a:spLocks noGrp="1" noChangeArrowheads="1"/>
          </p:cNvSpPr>
          <p:nvPr>
            <p:ph sz="quarter" idx="1"/>
          </p:nvPr>
        </p:nvSpPr>
        <p:spPr>
          <a:xfrm>
            <a:off x="900113" y="1773238"/>
            <a:ext cx="7129462" cy="4114800"/>
          </a:xfrm>
        </p:spPr>
        <p:txBody>
          <a:bodyPr/>
          <a:lstStyle/>
          <a:p>
            <a:pPr eaLnBrk="1" hangingPunct="1">
              <a:buFont typeface="Wingdings" pitchFamily="2" charset="2"/>
              <a:buChar char="n"/>
            </a:pPr>
            <a:r>
              <a:rPr lang="zh-CN" altLang="en-US" b="1" smtClean="0">
                <a:latin typeface="宋体" pitchFamily="2" charset="-122"/>
              </a:rPr>
              <a:t>词法分析</a:t>
            </a:r>
          </a:p>
          <a:p>
            <a:pPr eaLnBrk="1" hangingPunct="1">
              <a:buFont typeface="Wingdings" pitchFamily="2" charset="2"/>
              <a:buChar char="n"/>
            </a:pPr>
            <a:r>
              <a:rPr lang="zh-CN" altLang="en-US" b="1" smtClean="0">
                <a:latin typeface="宋体" pitchFamily="2" charset="-122"/>
              </a:rPr>
              <a:t>语法分析</a:t>
            </a:r>
          </a:p>
          <a:p>
            <a:pPr eaLnBrk="1" hangingPunct="1">
              <a:buFont typeface="Wingdings" pitchFamily="2" charset="2"/>
              <a:buChar char="n"/>
            </a:pPr>
            <a:r>
              <a:rPr lang="zh-CN" altLang="en-US" b="1" smtClean="0">
                <a:latin typeface="宋体" pitchFamily="2" charset="-122"/>
              </a:rPr>
              <a:t>语义分析</a:t>
            </a:r>
          </a:p>
          <a:p>
            <a:pPr eaLnBrk="1" hangingPunct="1">
              <a:buFont typeface="Wingdings" pitchFamily="2" charset="2"/>
              <a:buChar char="n"/>
            </a:pPr>
            <a:r>
              <a:rPr lang="zh-CN" altLang="en-US" b="1" smtClean="0">
                <a:latin typeface="宋体" pitchFamily="2" charset="-122"/>
              </a:rPr>
              <a:t>中间代码生成</a:t>
            </a:r>
          </a:p>
          <a:p>
            <a:pPr eaLnBrk="1" hangingPunct="1">
              <a:buFont typeface="Wingdings" pitchFamily="2" charset="2"/>
              <a:buChar char="n"/>
            </a:pPr>
            <a:r>
              <a:rPr lang="zh-CN" altLang="en-US" b="1" smtClean="0">
                <a:latin typeface="宋体" pitchFamily="2" charset="-122"/>
              </a:rPr>
              <a:t>代码优化</a:t>
            </a:r>
          </a:p>
          <a:p>
            <a:pPr eaLnBrk="1" hangingPunct="1">
              <a:buFont typeface="Wingdings" pitchFamily="2" charset="2"/>
              <a:buChar char="n"/>
            </a:pPr>
            <a:r>
              <a:rPr lang="zh-CN" altLang="en-US" b="1" smtClean="0">
                <a:latin typeface="宋体" pitchFamily="2" charset="-122"/>
              </a:rPr>
              <a:t>目标代码生成</a:t>
            </a:r>
          </a:p>
        </p:txBody>
      </p:sp>
      <p:graphicFrame>
        <p:nvGraphicFramePr>
          <p:cNvPr id="7" name="图示 6"/>
          <p:cNvGraphicFramePr/>
          <p:nvPr>
            <p:extLst/>
          </p:nvPr>
        </p:nvGraphicFramePr>
        <p:xfrm>
          <a:off x="5715008" y="1285860"/>
          <a:ext cx="2428892" cy="47149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715008" y="6000768"/>
            <a:ext cx="2533066" cy="369332"/>
          </a:xfrm>
          <a:prstGeom prst="rect">
            <a:avLst/>
          </a:prstGeom>
          <a:noFill/>
        </p:spPr>
        <p:txBody>
          <a:bodyPr wrap="none" rtlCol="0">
            <a:spAutoFit/>
          </a:bodyPr>
          <a:lstStyle/>
          <a:p>
            <a:r>
              <a:rPr lang="zh-CN" altLang="en-US" b="1" dirty="0" smtClean="0"/>
              <a:t>图</a:t>
            </a:r>
            <a:r>
              <a:rPr lang="en-US" altLang="zh-CN" b="1" dirty="0" smtClean="0"/>
              <a:t>1.3 </a:t>
            </a:r>
            <a:r>
              <a:rPr lang="zh-CN" altLang="en-US" b="1" dirty="0" smtClean="0"/>
              <a:t>编译的各个阶段</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graphicEl>
                                              <a:dgm id="{A67D105E-CAD4-4439-8774-BBD117DD842A}"/>
                                            </p:graphicEl>
                                          </p:spTgt>
                                        </p:tgtEl>
                                        <p:attrNameLst>
                                          <p:attrName>style.visibility</p:attrName>
                                        </p:attrNameLst>
                                      </p:cBhvr>
                                      <p:to>
                                        <p:strVal val="visible"/>
                                      </p:to>
                                    </p:set>
                                    <p:animEffect transition="in" filter="fade">
                                      <p:cBhvr>
                                        <p:cTn id="7" dur="2000"/>
                                        <p:tgtEl>
                                          <p:spTgt spid="7">
                                            <p:graphicEl>
                                              <a:dgm id="{A67D105E-CAD4-4439-8774-BBD117DD842A}"/>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graphicEl>
                                              <a:dgm id="{3405C2EB-FAB7-4D75-B430-3A2C1F67743F}"/>
                                            </p:graphicEl>
                                          </p:spTgt>
                                        </p:tgtEl>
                                        <p:attrNameLst>
                                          <p:attrName>style.visibility</p:attrName>
                                        </p:attrNameLst>
                                      </p:cBhvr>
                                      <p:to>
                                        <p:strVal val="visible"/>
                                      </p:to>
                                    </p:set>
                                    <p:animEffect transition="in" filter="fade">
                                      <p:cBhvr>
                                        <p:cTn id="12" dur="2000"/>
                                        <p:tgtEl>
                                          <p:spTgt spid="7">
                                            <p:graphicEl>
                                              <a:dgm id="{3405C2EB-FAB7-4D75-B430-3A2C1F67743F}"/>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graphicEl>
                                              <a:dgm id="{CFD2066F-E7A3-4655-8645-BB0CA5ED71D1}"/>
                                            </p:graphicEl>
                                          </p:spTgt>
                                        </p:tgtEl>
                                        <p:attrNameLst>
                                          <p:attrName>style.visibility</p:attrName>
                                        </p:attrNameLst>
                                      </p:cBhvr>
                                      <p:to>
                                        <p:strVal val="visible"/>
                                      </p:to>
                                    </p:set>
                                    <p:animEffect transition="in" filter="fade">
                                      <p:cBhvr>
                                        <p:cTn id="15" dur="2000"/>
                                        <p:tgtEl>
                                          <p:spTgt spid="7">
                                            <p:graphicEl>
                                              <a:dgm id="{CFD2066F-E7A3-4655-8645-BB0CA5ED71D1}"/>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graphicEl>
                                              <a:dgm id="{4CAE1B5F-2740-4927-A6D6-88D8E2FFB249}"/>
                                            </p:graphicEl>
                                          </p:spTgt>
                                        </p:tgtEl>
                                        <p:attrNameLst>
                                          <p:attrName>style.visibility</p:attrName>
                                        </p:attrNameLst>
                                      </p:cBhvr>
                                      <p:to>
                                        <p:strVal val="visible"/>
                                      </p:to>
                                    </p:set>
                                    <p:animEffect transition="in" filter="fade">
                                      <p:cBhvr>
                                        <p:cTn id="20" dur="2000"/>
                                        <p:tgtEl>
                                          <p:spTgt spid="7">
                                            <p:graphicEl>
                                              <a:dgm id="{4CAE1B5F-2740-4927-A6D6-88D8E2FFB249}"/>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graphicEl>
                                              <a:dgm id="{074DB975-FB44-4D56-84C3-87D21E74BB89}"/>
                                            </p:graphicEl>
                                          </p:spTgt>
                                        </p:tgtEl>
                                        <p:attrNameLst>
                                          <p:attrName>style.visibility</p:attrName>
                                        </p:attrNameLst>
                                      </p:cBhvr>
                                      <p:to>
                                        <p:strVal val="visible"/>
                                      </p:to>
                                    </p:set>
                                    <p:animEffect transition="in" filter="fade">
                                      <p:cBhvr>
                                        <p:cTn id="23" dur="2000"/>
                                        <p:tgtEl>
                                          <p:spTgt spid="7">
                                            <p:graphicEl>
                                              <a:dgm id="{074DB975-FB44-4D56-84C3-87D21E74BB89}"/>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graphicEl>
                                              <a:dgm id="{2F7F782D-7A3D-45C9-8C20-E6BF95733023}"/>
                                            </p:graphicEl>
                                          </p:spTgt>
                                        </p:tgtEl>
                                        <p:attrNameLst>
                                          <p:attrName>style.visibility</p:attrName>
                                        </p:attrNameLst>
                                      </p:cBhvr>
                                      <p:to>
                                        <p:strVal val="visible"/>
                                      </p:to>
                                    </p:set>
                                    <p:animEffect transition="in" filter="fade">
                                      <p:cBhvr>
                                        <p:cTn id="28" dur="2000"/>
                                        <p:tgtEl>
                                          <p:spTgt spid="7">
                                            <p:graphicEl>
                                              <a:dgm id="{2F7F782D-7A3D-45C9-8C20-E6BF95733023}"/>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graphicEl>
                                              <a:dgm id="{317AD32A-D273-4247-8EE1-602BCD174A9E}"/>
                                            </p:graphicEl>
                                          </p:spTgt>
                                        </p:tgtEl>
                                        <p:attrNameLst>
                                          <p:attrName>style.visibility</p:attrName>
                                        </p:attrNameLst>
                                      </p:cBhvr>
                                      <p:to>
                                        <p:strVal val="visible"/>
                                      </p:to>
                                    </p:set>
                                    <p:animEffect transition="in" filter="fade">
                                      <p:cBhvr>
                                        <p:cTn id="31" dur="2000"/>
                                        <p:tgtEl>
                                          <p:spTgt spid="7">
                                            <p:graphicEl>
                                              <a:dgm id="{317AD32A-D273-4247-8EE1-602BCD174A9E}"/>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graphicEl>
                                              <a:dgm id="{AE79C62B-0E8B-4EDC-98FD-ACE94D2FADE9}"/>
                                            </p:graphicEl>
                                          </p:spTgt>
                                        </p:tgtEl>
                                        <p:attrNameLst>
                                          <p:attrName>style.visibility</p:attrName>
                                        </p:attrNameLst>
                                      </p:cBhvr>
                                      <p:to>
                                        <p:strVal val="visible"/>
                                      </p:to>
                                    </p:set>
                                    <p:animEffect transition="in" filter="fade">
                                      <p:cBhvr>
                                        <p:cTn id="36" dur="2000"/>
                                        <p:tgtEl>
                                          <p:spTgt spid="7">
                                            <p:graphicEl>
                                              <a:dgm id="{AE79C62B-0E8B-4EDC-98FD-ACE94D2FADE9}"/>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graphicEl>
                                              <a:dgm id="{F84586BF-9F22-48BD-8C5F-B8F8D9B53222}"/>
                                            </p:graphicEl>
                                          </p:spTgt>
                                        </p:tgtEl>
                                        <p:attrNameLst>
                                          <p:attrName>style.visibility</p:attrName>
                                        </p:attrNameLst>
                                      </p:cBhvr>
                                      <p:to>
                                        <p:strVal val="visible"/>
                                      </p:to>
                                    </p:set>
                                    <p:animEffect transition="in" filter="fade">
                                      <p:cBhvr>
                                        <p:cTn id="39" dur="2000"/>
                                        <p:tgtEl>
                                          <p:spTgt spid="7">
                                            <p:graphicEl>
                                              <a:dgm id="{F84586BF-9F22-48BD-8C5F-B8F8D9B5322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
                                            <p:graphicEl>
                                              <a:dgm id="{B95E2499-1BA9-4FDC-873D-6A1094E27391}"/>
                                            </p:graphicEl>
                                          </p:spTgt>
                                        </p:tgtEl>
                                        <p:attrNameLst>
                                          <p:attrName>style.visibility</p:attrName>
                                        </p:attrNameLst>
                                      </p:cBhvr>
                                      <p:to>
                                        <p:strVal val="visible"/>
                                      </p:to>
                                    </p:set>
                                    <p:animEffect transition="in" filter="fade">
                                      <p:cBhvr>
                                        <p:cTn id="44" dur="2000"/>
                                        <p:tgtEl>
                                          <p:spTgt spid="7">
                                            <p:graphicEl>
                                              <a:dgm id="{B95E2499-1BA9-4FDC-873D-6A1094E27391}"/>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
                                            <p:graphicEl>
                                              <a:dgm id="{F46DA271-A5D6-4B15-8052-B10C78F605B8}"/>
                                            </p:graphicEl>
                                          </p:spTgt>
                                        </p:tgtEl>
                                        <p:attrNameLst>
                                          <p:attrName>style.visibility</p:attrName>
                                        </p:attrNameLst>
                                      </p:cBhvr>
                                      <p:to>
                                        <p:strVal val="visible"/>
                                      </p:to>
                                    </p:set>
                                    <p:animEffect transition="in" filter="fade">
                                      <p:cBhvr>
                                        <p:cTn id="47" dur="2000"/>
                                        <p:tgtEl>
                                          <p:spTgt spid="7">
                                            <p:graphicEl>
                                              <a:dgm id="{F46DA271-A5D6-4B15-8052-B10C78F605B8}"/>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graphicEl>
                                              <a:dgm id="{03D3A681-29A9-425D-9BE5-FC0B7D94727C}"/>
                                            </p:graphicEl>
                                          </p:spTgt>
                                        </p:tgtEl>
                                        <p:attrNameLst>
                                          <p:attrName>style.visibility</p:attrName>
                                        </p:attrNameLst>
                                      </p:cBhvr>
                                      <p:to>
                                        <p:strVal val="visible"/>
                                      </p:to>
                                    </p:set>
                                    <p:animEffect transition="in" filter="fade">
                                      <p:cBhvr>
                                        <p:cTn id="52" dur="2000"/>
                                        <p:tgtEl>
                                          <p:spTgt spid="7">
                                            <p:graphicEl>
                                              <a:dgm id="{03D3A681-29A9-425D-9BE5-FC0B7D94727C}"/>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
                                            <p:graphicEl>
                                              <a:dgm id="{FF3799FC-FEEE-436F-BE1B-90BAE64A4A6E}"/>
                                            </p:graphicEl>
                                          </p:spTgt>
                                        </p:tgtEl>
                                        <p:attrNameLst>
                                          <p:attrName>style.visibility</p:attrName>
                                        </p:attrNameLst>
                                      </p:cBhvr>
                                      <p:to>
                                        <p:strVal val="visible"/>
                                      </p:to>
                                    </p:set>
                                    <p:animEffect transition="in" filter="fade">
                                      <p:cBhvr>
                                        <p:cTn id="55" dur="2000"/>
                                        <p:tgtEl>
                                          <p:spTgt spid="7">
                                            <p:graphicEl>
                                              <a:dgm id="{FF3799FC-FEEE-436F-BE1B-90BAE64A4A6E}"/>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7">
                                            <p:graphicEl>
                                              <a:dgm id="{A592261E-F124-4AC7-8ABF-394A209C2506}"/>
                                            </p:graphicEl>
                                          </p:spTgt>
                                        </p:tgtEl>
                                        <p:attrNameLst>
                                          <p:attrName>style.visibility</p:attrName>
                                        </p:attrNameLst>
                                      </p:cBhvr>
                                      <p:to>
                                        <p:strVal val="visible"/>
                                      </p:to>
                                    </p:set>
                                    <p:animEffect transition="in" filter="fade">
                                      <p:cBhvr>
                                        <p:cTn id="60" dur="2000"/>
                                        <p:tgtEl>
                                          <p:spTgt spid="7">
                                            <p:graphicEl>
                                              <a:dgm id="{A592261E-F124-4AC7-8ABF-394A209C2506}"/>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
                                            <p:graphicEl>
                                              <a:dgm id="{21D78335-5B5A-49F0-A781-3A4E1EDCCC70}"/>
                                            </p:graphicEl>
                                          </p:spTgt>
                                        </p:tgtEl>
                                        <p:attrNameLst>
                                          <p:attrName>style.visibility</p:attrName>
                                        </p:attrNameLst>
                                      </p:cBhvr>
                                      <p:to>
                                        <p:strVal val="visible"/>
                                      </p:to>
                                    </p:set>
                                    <p:animEffect transition="in" filter="fade">
                                      <p:cBhvr>
                                        <p:cTn id="63" dur="2000"/>
                                        <p:tgtEl>
                                          <p:spTgt spid="7">
                                            <p:graphicEl>
                                              <a:dgm id="{21D78335-5B5A-49F0-A781-3A4E1EDCCC7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a:xfrm>
            <a:off x="574675" y="285728"/>
            <a:ext cx="8001000" cy="787400"/>
          </a:xfrm>
        </p:spPr>
        <p:txBody>
          <a:bodyPr/>
          <a:lstStyle/>
          <a:p>
            <a:pPr eaLnBrk="1" hangingPunct="1"/>
            <a:r>
              <a:rPr lang="en-US" altLang="zh-CN" sz="3400" b="1" dirty="0" smtClean="0">
                <a:latin typeface="宋体" pitchFamily="2" charset="-122"/>
              </a:rPr>
              <a:t>1.</a:t>
            </a:r>
            <a:r>
              <a:rPr lang="zh-CN" altLang="en-US" sz="3400" b="1" dirty="0" smtClean="0">
                <a:latin typeface="宋体" pitchFamily="2" charset="-122"/>
              </a:rPr>
              <a:t>词法分析</a:t>
            </a:r>
            <a:r>
              <a:rPr lang="en-US" altLang="zh-CN" sz="3400" b="1" dirty="0" smtClean="0">
                <a:latin typeface="宋体" pitchFamily="2" charset="-122"/>
              </a:rPr>
              <a:t>—</a:t>
            </a:r>
            <a:r>
              <a:rPr lang="zh-CN" altLang="en-US" sz="3400" b="1" dirty="0" smtClean="0">
                <a:latin typeface="宋体" pitchFamily="2" charset="-122"/>
              </a:rPr>
              <a:t>第一步识别单词</a:t>
            </a:r>
          </a:p>
        </p:txBody>
      </p:sp>
      <p:sp>
        <p:nvSpPr>
          <p:cNvPr id="23554" name="日期占位符 3"/>
          <p:cNvSpPr>
            <a:spLocks noGrp="1"/>
          </p:cNvSpPr>
          <p:nvPr>
            <p:ph type="dt" sz="half" idx="10"/>
          </p:nvPr>
        </p:nvSpPr>
        <p:spPr>
          <a:noFill/>
        </p:spPr>
        <p:txBody>
          <a:bodyPr/>
          <a:lstStyle/>
          <a:p>
            <a:fld id="{C51504C0-BF80-4B93-996C-07413068D1A2}" type="datetime1">
              <a:rPr lang="zh-CN" altLang="en-US" smtClean="0"/>
              <a:t>2017/1/22</a:t>
            </a:fld>
            <a:endParaRPr lang="en-US" altLang="zh-CN" smtClean="0"/>
          </a:p>
        </p:txBody>
      </p:sp>
      <p:sp>
        <p:nvSpPr>
          <p:cNvPr id="2355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3556" name="灯片编号占位符 5"/>
          <p:cNvSpPr>
            <a:spLocks noGrp="1"/>
          </p:cNvSpPr>
          <p:nvPr>
            <p:ph type="sldNum" sz="quarter" idx="12"/>
          </p:nvPr>
        </p:nvSpPr>
        <p:spPr>
          <a:noFill/>
        </p:spPr>
        <p:txBody>
          <a:bodyPr/>
          <a:lstStyle/>
          <a:p>
            <a:fld id="{1779F8AA-3D58-44A4-A500-F2C3BA9EDC56}" type="slidenum">
              <a:rPr lang="zh-CN" altLang="en-US" smtClean="0"/>
              <a:pPr/>
              <a:t>18</a:t>
            </a:fld>
            <a:r>
              <a:rPr lang="en-US" altLang="zh-CN" dirty="0" smtClean="0"/>
              <a:t>/57</a:t>
            </a:r>
            <a:endParaRPr lang="en-US" altLang="zh-CN" dirty="0" smtClean="0"/>
          </a:p>
        </p:txBody>
      </p:sp>
      <p:sp>
        <p:nvSpPr>
          <p:cNvPr id="23558" name="Rectangle 3"/>
          <p:cNvSpPr>
            <a:spLocks noGrp="1" noChangeArrowheads="1"/>
          </p:cNvSpPr>
          <p:nvPr>
            <p:ph sz="quarter" idx="1"/>
          </p:nvPr>
        </p:nvSpPr>
        <p:spPr>
          <a:xfrm>
            <a:off x="468313" y="1773238"/>
            <a:ext cx="7829550" cy="4392612"/>
          </a:xfrm>
        </p:spPr>
        <p:txBody>
          <a:bodyPr/>
          <a:lstStyle/>
          <a:p>
            <a:pPr eaLnBrk="1" hangingPunct="1">
              <a:lnSpc>
                <a:spcPct val="90000"/>
              </a:lnSpc>
              <a:buFont typeface="Wingdings" pitchFamily="2" charset="2"/>
              <a:buNone/>
            </a:pPr>
            <a:r>
              <a:rPr lang="zh-CN" altLang="en-US" b="1" dirty="0" smtClean="0">
                <a:latin typeface="宋体" pitchFamily="2" charset="-122"/>
              </a:rPr>
              <a:t> 英文句子由单词构成  </a:t>
            </a:r>
          </a:p>
          <a:p>
            <a:pPr eaLnBrk="1" hangingPunct="1">
              <a:lnSpc>
                <a:spcPct val="90000"/>
              </a:lnSpc>
              <a:buFont typeface="Wingdings" pitchFamily="2" charset="2"/>
              <a:buNone/>
            </a:pPr>
            <a:r>
              <a:rPr lang="en-US" altLang="zh-CN" b="1" dirty="0" smtClean="0">
                <a:latin typeface="宋体" pitchFamily="2" charset="-122"/>
              </a:rPr>
              <a:t>  This line is a longer sentence.</a:t>
            </a:r>
            <a:endParaRPr lang="zh-CN" altLang="en-US" b="1" dirty="0" smtClean="0">
              <a:latin typeface="宋体" pitchFamily="2" charset="-122"/>
            </a:endParaRPr>
          </a:p>
          <a:p>
            <a:pPr eaLnBrk="1" hangingPunct="1">
              <a:lnSpc>
                <a:spcPct val="90000"/>
              </a:lnSpc>
            </a:pPr>
            <a:r>
              <a:rPr lang="zh-CN" altLang="en-US" b="1" dirty="0" smtClean="0">
                <a:latin typeface="宋体" pitchFamily="2" charset="-122"/>
              </a:rPr>
              <a:t>  句子开头的单词第一个字母要大写</a:t>
            </a:r>
          </a:p>
          <a:p>
            <a:pPr eaLnBrk="1" hangingPunct="1">
              <a:lnSpc>
                <a:spcPct val="90000"/>
              </a:lnSpc>
            </a:pPr>
            <a:r>
              <a:rPr lang="zh-CN" altLang="en-US" b="1" dirty="0" smtClean="0">
                <a:latin typeface="宋体" pitchFamily="2" charset="-122"/>
              </a:rPr>
              <a:t>  空格是单词分隔符</a:t>
            </a:r>
          </a:p>
          <a:p>
            <a:pPr eaLnBrk="1" hangingPunct="1">
              <a:lnSpc>
                <a:spcPct val="90000"/>
              </a:lnSpc>
            </a:pPr>
            <a:r>
              <a:rPr lang="zh-CN" altLang="en-US" b="1" dirty="0" smtClean="0">
                <a:latin typeface="宋体" pitchFamily="2" charset="-122"/>
              </a:rPr>
              <a:t>  句点是句子结尾 </a:t>
            </a:r>
          </a:p>
          <a:p>
            <a:pPr eaLnBrk="1" hangingPunct="1">
              <a:lnSpc>
                <a:spcPct val="90000"/>
              </a:lnSpc>
              <a:buFont typeface="Wingdings" pitchFamily="2" charset="2"/>
              <a:buNone/>
            </a:pPr>
            <a:endParaRPr lang="zh-CN" altLang="en-US" b="1" dirty="0" smtClean="0">
              <a:latin typeface="宋体" pitchFamily="2" charset="-122"/>
            </a:endParaRPr>
          </a:p>
          <a:p>
            <a:pPr eaLnBrk="1" hangingPunct="1">
              <a:lnSpc>
                <a:spcPct val="90000"/>
              </a:lnSpc>
              <a:buFont typeface="Wingdings" pitchFamily="2" charset="2"/>
              <a:buNone/>
            </a:pPr>
            <a:r>
              <a:rPr lang="en-US" altLang="zh-CN" b="1" dirty="0" smtClean="0">
                <a:latin typeface="宋体" pitchFamily="2" charset="-122"/>
              </a:rPr>
              <a:t>  </a:t>
            </a:r>
            <a:r>
              <a:rPr lang="en-US" altLang="zh-CN" b="1" dirty="0" err="1" smtClean="0">
                <a:latin typeface="宋体" pitchFamily="2" charset="-122"/>
              </a:rPr>
              <a:t>ist</a:t>
            </a:r>
            <a:r>
              <a:rPr lang="en-US" altLang="zh-CN" b="1" dirty="0" smtClean="0">
                <a:latin typeface="宋体" pitchFamily="2" charset="-122"/>
              </a:rPr>
              <a:t> his </a:t>
            </a:r>
            <a:r>
              <a:rPr lang="en-US" altLang="zh-CN" b="1" dirty="0" err="1" smtClean="0">
                <a:latin typeface="宋体" pitchFamily="2" charset="-122"/>
              </a:rPr>
              <a:t>linealo</a:t>
            </a:r>
            <a:r>
              <a:rPr lang="en-US" altLang="zh-CN" b="1" dirty="0" smtClean="0">
                <a:latin typeface="宋体" pitchFamily="2" charset="-122"/>
              </a:rPr>
              <a:t> </a:t>
            </a:r>
            <a:r>
              <a:rPr lang="en-US" altLang="zh-CN" b="1" dirty="0" err="1" smtClean="0">
                <a:latin typeface="宋体" pitchFamily="2" charset="-122"/>
              </a:rPr>
              <a:t>gerse</a:t>
            </a:r>
            <a:r>
              <a:rPr lang="en-US" altLang="zh-CN" b="1" dirty="0" smtClean="0">
                <a:latin typeface="宋体" pitchFamily="2" charset="-122"/>
              </a:rPr>
              <a:t> </a:t>
            </a:r>
            <a:r>
              <a:rPr lang="en-US" altLang="zh-CN" b="1" dirty="0" err="1" smtClean="0">
                <a:latin typeface="宋体" pitchFamily="2" charset="-122"/>
              </a:rPr>
              <a:t>nte</a:t>
            </a:r>
            <a:r>
              <a:rPr lang="en-US" altLang="zh-CN" b="1" dirty="0" smtClean="0">
                <a:latin typeface="宋体" pitchFamily="2" charset="-122"/>
              </a:rPr>
              <a:t> </a:t>
            </a:r>
            <a:r>
              <a:rPr lang="en-US" altLang="zh-CN" b="1" dirty="0" err="1" smtClean="0">
                <a:latin typeface="宋体" pitchFamily="2" charset="-122"/>
              </a:rPr>
              <a:t>nce</a:t>
            </a:r>
            <a:r>
              <a:rPr lang="en-US" altLang="zh-CN" b="1" dirty="0" smtClean="0">
                <a:latin typeface="宋体" pitchFamily="2" charset="-122"/>
              </a:rPr>
              <a:t>.</a:t>
            </a:r>
            <a:endParaRPr lang="zh-CN" altLang="en-US" b="1" dirty="0" smtClean="0">
              <a:latin typeface="宋体"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zh-CN" altLang="en-US" b="1" dirty="0" smtClean="0">
                <a:latin typeface="宋体" pitchFamily="2" charset="-122"/>
              </a:rPr>
              <a:t>词法分析</a:t>
            </a:r>
          </a:p>
        </p:txBody>
      </p:sp>
      <p:sp>
        <p:nvSpPr>
          <p:cNvPr id="24578" name="日期占位符 3"/>
          <p:cNvSpPr>
            <a:spLocks noGrp="1"/>
          </p:cNvSpPr>
          <p:nvPr>
            <p:ph type="dt" sz="half" idx="10"/>
          </p:nvPr>
        </p:nvSpPr>
        <p:spPr>
          <a:noFill/>
        </p:spPr>
        <p:txBody>
          <a:bodyPr/>
          <a:lstStyle/>
          <a:p>
            <a:fld id="{CAA52F95-0FD5-4609-BBBD-3F5DC32469C0}" type="datetime1">
              <a:rPr lang="zh-CN" altLang="en-US" smtClean="0"/>
              <a:t>2017/1/22</a:t>
            </a:fld>
            <a:endParaRPr lang="en-US" altLang="zh-CN" dirty="0" smtClean="0"/>
          </a:p>
        </p:txBody>
      </p:sp>
      <p:sp>
        <p:nvSpPr>
          <p:cNvPr id="2457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4580" name="灯片编号占位符 5"/>
          <p:cNvSpPr>
            <a:spLocks noGrp="1"/>
          </p:cNvSpPr>
          <p:nvPr>
            <p:ph type="sldNum" sz="quarter" idx="12"/>
          </p:nvPr>
        </p:nvSpPr>
        <p:spPr>
          <a:noFill/>
        </p:spPr>
        <p:txBody>
          <a:bodyPr/>
          <a:lstStyle/>
          <a:p>
            <a:fld id="{02D77FBB-15D4-46D7-BCC4-CFA5DD4AA404}" type="slidenum">
              <a:rPr lang="zh-CN" altLang="en-US" smtClean="0"/>
              <a:pPr/>
              <a:t>19</a:t>
            </a:fld>
            <a:r>
              <a:rPr lang="en-US" altLang="zh-CN" dirty="0" smtClean="0"/>
              <a:t>/57</a:t>
            </a:r>
            <a:endParaRPr lang="en-US" altLang="zh-CN" dirty="0" smtClean="0"/>
          </a:p>
        </p:txBody>
      </p:sp>
      <p:sp>
        <p:nvSpPr>
          <p:cNvPr id="24582" name="Rectangle 3"/>
          <p:cNvSpPr>
            <a:spLocks noGrp="1" noChangeArrowheads="1"/>
          </p:cNvSpPr>
          <p:nvPr>
            <p:ph sz="quarter" idx="1"/>
          </p:nvPr>
        </p:nvSpPr>
        <p:spPr>
          <a:xfrm>
            <a:off x="428597" y="1628775"/>
            <a:ext cx="8391876" cy="4392613"/>
          </a:xfrm>
        </p:spPr>
        <p:txBody>
          <a:bodyPr lIns="0" rIns="0"/>
          <a:lstStyle/>
          <a:p>
            <a:pPr marL="0" indent="720000" eaLnBrk="1" hangingPunct="1">
              <a:buFont typeface="Wingdings" pitchFamily="2" charset="2"/>
              <a:buNone/>
            </a:pPr>
            <a:r>
              <a:rPr lang="zh-CN" altLang="en-US" b="1" dirty="0" smtClean="0">
                <a:latin typeface="+mn-ea"/>
              </a:rPr>
              <a:t>从左至右扫描字符流的源程序、分解构成源程序的字符串，识别出(拼)一个个的单词（符号）。</a:t>
            </a:r>
            <a:endParaRPr lang="en-US" altLang="zh-CN" b="1" dirty="0" smtClean="0">
              <a:latin typeface="+mn-ea"/>
            </a:endParaRPr>
          </a:p>
          <a:p>
            <a:pPr marL="0" indent="720000" eaLnBrk="1" hangingPunct="1">
              <a:buFont typeface="Wingdings" pitchFamily="2" charset="2"/>
              <a:buNone/>
            </a:pPr>
            <a:r>
              <a:rPr lang="zh-CN" altLang="en-US" dirty="0" smtClean="0">
                <a:solidFill>
                  <a:srgbClr val="3333FF"/>
                </a:solidFill>
                <a:latin typeface="+mn-ea"/>
              </a:rPr>
              <a:t>单词</a:t>
            </a:r>
            <a:r>
              <a:rPr lang="zh-CN" altLang="en-US" dirty="0" smtClean="0">
                <a:latin typeface="+mn-ea"/>
              </a:rPr>
              <a:t>：</a:t>
            </a:r>
            <a:r>
              <a:rPr lang="zh-CN" altLang="en-US" b="1" dirty="0" smtClean="0">
                <a:latin typeface="+mn-ea"/>
              </a:rPr>
              <a:t>语言中具有独立意义的最基本结构，</a:t>
            </a:r>
            <a:r>
              <a:rPr lang="zh-CN" altLang="en-US" dirty="0" smtClean="0">
                <a:latin typeface="+mn-ea"/>
              </a:rPr>
              <a:t>逻辑上紧密相连的一组字符。多数</a:t>
            </a:r>
            <a:r>
              <a:rPr lang="zh-CN" altLang="en-US" b="1" dirty="0" smtClean="0">
                <a:latin typeface="+mn-ea"/>
              </a:rPr>
              <a:t>程序语言中，单词符号一般包括</a:t>
            </a:r>
            <a:r>
              <a:rPr lang="en-US" altLang="zh-CN" b="1" dirty="0" smtClean="0">
                <a:latin typeface="+mn-ea"/>
              </a:rPr>
              <a:t>:</a:t>
            </a:r>
            <a:r>
              <a:rPr lang="zh-CN" altLang="en-US" b="1" dirty="0" smtClean="0">
                <a:latin typeface="+mn-ea"/>
              </a:rPr>
              <a:t>各类型的常数、保留字、标识符、运算符、界符等等</a:t>
            </a:r>
            <a:r>
              <a:rPr lang="zh-CN" altLang="en-US" dirty="0" smtClean="0">
                <a:latin typeface="+mn-ea"/>
              </a:rPr>
              <a:t>。</a:t>
            </a:r>
            <a:endParaRPr lang="en-US" altLang="zh-CN" dirty="0" smtClean="0">
              <a:latin typeface="+mn-ea"/>
            </a:endParaRPr>
          </a:p>
          <a:p>
            <a:pPr marL="0" indent="720000" eaLnBrk="1" hangingPunct="1">
              <a:buNone/>
            </a:pPr>
            <a:r>
              <a:rPr lang="zh-CN" altLang="en-US" dirty="0" smtClean="0">
                <a:latin typeface="+mn-ea"/>
              </a:rPr>
              <a:t>词法分析除了识别出单词外，还需给出单词的类型。</a:t>
            </a:r>
            <a:endParaRPr lang="zh-CN" altLang="en-US" b="1" dirty="0" smtClean="0">
              <a:latin typeface="+mn-ea"/>
            </a:endParaRPr>
          </a:p>
          <a:p>
            <a:pPr eaLnBrk="1" hangingPunct="1">
              <a:buFont typeface="Wingdings" pitchFamily="2" charset="2"/>
              <a:buNone/>
            </a:pPr>
            <a:endParaRPr lang="en-US" altLang="zh-CN" b="1" dirty="0" smtClean="0">
              <a:solidFill>
                <a:srgbClr val="000099"/>
              </a:solidFill>
              <a:latin typeface="+mn-ea"/>
            </a:endParaRPr>
          </a:p>
          <a:p>
            <a:pPr eaLnBrk="1" hangingPunct="1">
              <a:buFont typeface="Wingdings" pitchFamily="2" charset="2"/>
              <a:buNone/>
            </a:pPr>
            <a:r>
              <a:rPr lang="en-US" altLang="zh-CN" b="1" dirty="0" err="1" smtClean="0">
                <a:solidFill>
                  <a:srgbClr val="000099"/>
                </a:solidFill>
                <a:latin typeface="+mn-ea"/>
              </a:rPr>
              <a:t>例如</a:t>
            </a:r>
            <a:r>
              <a:rPr lang="en-US" altLang="zh-CN" b="1" dirty="0" smtClean="0">
                <a:solidFill>
                  <a:srgbClr val="000099"/>
                </a:solidFill>
                <a:latin typeface="+mn-ea"/>
              </a:rPr>
              <a:t>  </a:t>
            </a:r>
            <a:r>
              <a:rPr lang="en-US" altLang="en-US" b="1" dirty="0" smtClean="0">
                <a:solidFill>
                  <a:srgbClr val="000099"/>
                </a:solidFill>
                <a:latin typeface="+mn-ea"/>
              </a:rPr>
              <a:t>double f = </a:t>
            </a:r>
            <a:r>
              <a:rPr lang="en-US" altLang="en-US" b="1" dirty="0" err="1" smtClean="0">
                <a:solidFill>
                  <a:srgbClr val="000099"/>
                </a:solidFill>
                <a:latin typeface="+mn-ea"/>
              </a:rPr>
              <a:t>sqrt</a:t>
            </a:r>
            <a:r>
              <a:rPr lang="en-US" altLang="en-US" b="1" dirty="0" smtClean="0">
                <a:solidFill>
                  <a:srgbClr val="000099"/>
                </a:solidFill>
                <a:latin typeface="+mn-ea"/>
              </a:rPr>
              <a:t>(-1);</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xfrm>
            <a:off x="663575" y="357166"/>
            <a:ext cx="7912100" cy="711200"/>
          </a:xfrm>
        </p:spPr>
        <p:txBody>
          <a:bodyPr/>
          <a:lstStyle/>
          <a:p>
            <a:pPr eaLnBrk="1" hangingPunct="1"/>
            <a:r>
              <a:rPr lang="zh-CN" altLang="en-US" sz="3400" b="1" dirty="0" smtClean="0">
                <a:latin typeface="宋体" pitchFamily="2" charset="-122"/>
              </a:rPr>
              <a:t>词法分析</a:t>
            </a:r>
            <a:endParaRPr lang="zh-CN" altLang="zh-CN" sz="3400" b="1" dirty="0" smtClean="0">
              <a:latin typeface="宋体" pitchFamily="2" charset="-122"/>
            </a:endParaRPr>
          </a:p>
        </p:txBody>
      </p:sp>
      <p:sp>
        <p:nvSpPr>
          <p:cNvPr id="26626" name="日期占位符 3"/>
          <p:cNvSpPr>
            <a:spLocks noGrp="1"/>
          </p:cNvSpPr>
          <p:nvPr>
            <p:ph type="dt" sz="half" idx="10"/>
          </p:nvPr>
        </p:nvSpPr>
        <p:spPr>
          <a:noFill/>
        </p:spPr>
        <p:txBody>
          <a:bodyPr/>
          <a:lstStyle/>
          <a:p>
            <a:fld id="{62383D81-7B41-4BB8-A119-2B4C6E62EA8D}" type="datetime1">
              <a:rPr lang="zh-CN" altLang="en-US" smtClean="0"/>
              <a:t>2017/1/22</a:t>
            </a:fld>
            <a:endParaRPr lang="en-US" altLang="zh-CN" smtClean="0"/>
          </a:p>
        </p:txBody>
      </p:sp>
      <p:sp>
        <p:nvSpPr>
          <p:cNvPr id="2662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6628" name="灯片编号占位符 5"/>
          <p:cNvSpPr>
            <a:spLocks noGrp="1"/>
          </p:cNvSpPr>
          <p:nvPr>
            <p:ph type="sldNum" sz="quarter" idx="12"/>
          </p:nvPr>
        </p:nvSpPr>
        <p:spPr>
          <a:noFill/>
        </p:spPr>
        <p:txBody>
          <a:bodyPr/>
          <a:lstStyle/>
          <a:p>
            <a:fld id="{11227457-FE00-47ED-B301-58E43A2FD962}" type="slidenum">
              <a:rPr lang="zh-CN" altLang="en-US" smtClean="0"/>
              <a:pPr/>
              <a:t>20</a:t>
            </a:fld>
            <a:r>
              <a:rPr lang="en-US" altLang="zh-CN" dirty="0" smtClean="0"/>
              <a:t>/57</a:t>
            </a:r>
            <a:endParaRPr lang="en-US" altLang="zh-CN" dirty="0" smtClean="0"/>
          </a:p>
        </p:txBody>
      </p:sp>
      <p:sp>
        <p:nvSpPr>
          <p:cNvPr id="26630" name="Rectangle 3"/>
          <p:cNvSpPr>
            <a:spLocks noGrp="1" noChangeArrowheads="1"/>
          </p:cNvSpPr>
          <p:nvPr>
            <p:ph sz="quarter" idx="1"/>
          </p:nvPr>
        </p:nvSpPr>
        <p:spPr>
          <a:xfrm>
            <a:off x="755650" y="1700213"/>
            <a:ext cx="7992814" cy="3600450"/>
          </a:xfrm>
        </p:spPr>
        <p:txBody>
          <a:bodyPr/>
          <a:lstStyle/>
          <a:p>
            <a:pPr eaLnBrk="1" hangingPunct="1">
              <a:lnSpc>
                <a:spcPct val="90000"/>
              </a:lnSpc>
            </a:pPr>
            <a:r>
              <a:rPr lang="zh-CN" altLang="en-US" b="1" dirty="0" smtClean="0">
                <a:latin typeface="宋体" pitchFamily="2" charset="-122"/>
              </a:rPr>
              <a:t>词法分析(</a:t>
            </a:r>
            <a:r>
              <a:rPr lang="en-US" altLang="zh-CN" b="1" dirty="0" smtClean="0">
                <a:latin typeface="宋体" pitchFamily="2" charset="-122"/>
              </a:rPr>
              <a:t>lexical analysis or scanning) </a:t>
            </a:r>
          </a:p>
          <a:p>
            <a:pPr eaLnBrk="1" hangingPunct="1">
              <a:lnSpc>
                <a:spcPct val="90000"/>
              </a:lnSpc>
            </a:pPr>
            <a:r>
              <a:rPr lang="zh-CN" altLang="en-US" b="1" dirty="0" smtClean="0">
                <a:latin typeface="宋体" pitchFamily="2" charset="-122"/>
              </a:rPr>
              <a:t>单词---</a:t>
            </a:r>
            <a:r>
              <a:rPr lang="en-US" altLang="zh-CN" b="1" dirty="0" smtClean="0">
                <a:latin typeface="宋体" pitchFamily="2" charset="-122"/>
              </a:rPr>
              <a:t>token</a:t>
            </a:r>
          </a:p>
          <a:p>
            <a:pPr eaLnBrk="1" hangingPunct="1">
              <a:lnSpc>
                <a:spcPct val="90000"/>
              </a:lnSpc>
            </a:pPr>
            <a:r>
              <a:rPr lang="zh-CN" altLang="en-US" b="1" dirty="0" smtClean="0">
                <a:latin typeface="宋体" pitchFamily="2" charset="-122"/>
              </a:rPr>
              <a:t>保留字---</a:t>
            </a:r>
            <a:r>
              <a:rPr lang="en-US" altLang="zh-CN" b="1" dirty="0" smtClean="0">
                <a:latin typeface="宋体" pitchFamily="2" charset="-122"/>
              </a:rPr>
              <a:t>reserved word</a:t>
            </a:r>
          </a:p>
          <a:p>
            <a:pPr eaLnBrk="1" hangingPunct="1">
              <a:lnSpc>
                <a:spcPct val="90000"/>
              </a:lnSpc>
            </a:pPr>
            <a:r>
              <a:rPr lang="zh-CN" altLang="en-US" b="1" dirty="0" smtClean="0">
                <a:latin typeface="宋体" pitchFamily="2" charset="-122"/>
              </a:rPr>
              <a:t>标识符 ---</a:t>
            </a:r>
            <a:r>
              <a:rPr lang="en-US" altLang="zh-CN" b="1" dirty="0" smtClean="0">
                <a:latin typeface="宋体" pitchFamily="2" charset="-122"/>
              </a:rPr>
              <a:t>identifier(user-defined name)</a:t>
            </a:r>
            <a:endParaRPr lang="zh-CN" altLang="en-US" b="1" dirty="0" smtClean="0">
              <a:latin typeface="宋体"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zh-CN" altLang="en-US" b="1" smtClean="0">
                <a:latin typeface="宋体" pitchFamily="2" charset="-122"/>
              </a:rPr>
              <a:t>例</a:t>
            </a:r>
          </a:p>
        </p:txBody>
      </p:sp>
      <p:sp>
        <p:nvSpPr>
          <p:cNvPr id="27650" name="日期占位符 3"/>
          <p:cNvSpPr>
            <a:spLocks noGrp="1"/>
          </p:cNvSpPr>
          <p:nvPr>
            <p:ph type="dt" sz="half" idx="10"/>
          </p:nvPr>
        </p:nvSpPr>
        <p:spPr>
          <a:noFill/>
        </p:spPr>
        <p:txBody>
          <a:bodyPr/>
          <a:lstStyle/>
          <a:p>
            <a:fld id="{E1DCD74A-A342-44FD-AFA4-B3574EB95F33}" type="datetime1">
              <a:rPr lang="zh-CN" altLang="en-US" smtClean="0"/>
              <a:t>2017/1/22</a:t>
            </a:fld>
            <a:endParaRPr lang="en-US" altLang="zh-CN" smtClean="0"/>
          </a:p>
        </p:txBody>
      </p:sp>
      <p:sp>
        <p:nvSpPr>
          <p:cNvPr id="2765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7652" name="灯片编号占位符 5"/>
          <p:cNvSpPr>
            <a:spLocks noGrp="1"/>
          </p:cNvSpPr>
          <p:nvPr>
            <p:ph type="sldNum" sz="quarter" idx="12"/>
          </p:nvPr>
        </p:nvSpPr>
        <p:spPr>
          <a:noFill/>
        </p:spPr>
        <p:txBody>
          <a:bodyPr/>
          <a:lstStyle/>
          <a:p>
            <a:fld id="{E262A65C-2983-40B0-BC8E-94AA5959D689}" type="slidenum">
              <a:rPr lang="zh-CN" altLang="en-US" smtClean="0"/>
              <a:pPr/>
              <a:t>21</a:t>
            </a:fld>
            <a:r>
              <a:rPr lang="en-US" altLang="zh-CN" dirty="0" smtClean="0"/>
              <a:t>/57</a:t>
            </a:r>
            <a:endParaRPr lang="en-US" altLang="zh-CN" dirty="0" smtClean="0"/>
          </a:p>
        </p:txBody>
      </p:sp>
      <p:sp>
        <p:nvSpPr>
          <p:cNvPr id="27654" name="Rectangle 3"/>
          <p:cNvSpPr>
            <a:spLocks noGrp="1" noChangeArrowheads="1"/>
          </p:cNvSpPr>
          <p:nvPr>
            <p:ph sz="quarter" idx="1"/>
          </p:nvPr>
        </p:nvSpPr>
        <p:spPr>
          <a:xfrm>
            <a:off x="611188" y="1770063"/>
            <a:ext cx="7829550" cy="4251325"/>
          </a:xfrm>
        </p:spPr>
        <p:txBody>
          <a:bodyPr/>
          <a:lstStyle/>
          <a:p>
            <a:pPr eaLnBrk="1" hangingPunct="1"/>
            <a:r>
              <a:rPr lang="zh-CN" altLang="en-US" b="1" dirty="0" smtClean="0">
                <a:latin typeface="宋体" pitchFamily="2" charset="-122"/>
              </a:rPr>
              <a:t>程序文本</a:t>
            </a:r>
            <a:r>
              <a:rPr lang="en-US" altLang="zh-CN" b="1" dirty="0" smtClean="0">
                <a:latin typeface="宋体" pitchFamily="2" charset="-122"/>
              </a:rPr>
              <a:t>If x =</a:t>
            </a:r>
            <a:r>
              <a:rPr lang="en-US" altLang="zh-CN" b="1" dirty="0" smtClean="0">
                <a:solidFill>
                  <a:srgbClr val="FF0000"/>
                </a:solidFill>
                <a:latin typeface="宋体" pitchFamily="2" charset="-122"/>
              </a:rPr>
              <a:t> </a:t>
            </a:r>
            <a:r>
              <a:rPr lang="en-US" altLang="zh-CN" b="1" dirty="0" smtClean="0">
                <a:latin typeface="宋体" pitchFamily="2" charset="-122"/>
              </a:rPr>
              <a:t>y then z := 1 else z := 2;</a:t>
            </a:r>
          </a:p>
          <a:p>
            <a:pPr eaLnBrk="1" hangingPunct="1">
              <a:buFont typeface="Wingdings" pitchFamily="2" charset="2"/>
              <a:buNone/>
            </a:pPr>
            <a:r>
              <a:rPr lang="zh-CN" altLang="en-US" b="1" dirty="0" smtClean="0">
                <a:latin typeface="宋体" pitchFamily="2" charset="-122"/>
              </a:rPr>
              <a:t>经词法分析，变成一个个单词</a:t>
            </a:r>
          </a:p>
          <a:p>
            <a:pPr eaLnBrk="1" hangingPunct="1"/>
            <a:r>
              <a:rPr lang="en-US" altLang="zh-CN" b="1" dirty="0" smtClean="0">
                <a:latin typeface="宋体" pitchFamily="2" charset="-122"/>
              </a:rPr>
              <a:t>if,  x,  =,  y,  then,  z,  </a:t>
            </a:r>
          </a:p>
          <a:p>
            <a:pPr eaLnBrk="1" hangingPunct="1"/>
            <a:r>
              <a:rPr lang="en-US" altLang="zh-CN" b="1" dirty="0" smtClean="0">
                <a:latin typeface="宋体" pitchFamily="2" charset="-122"/>
              </a:rPr>
              <a:t>:=,  1,    else, z, :=, 2, ;</a:t>
            </a:r>
          </a:p>
          <a:p>
            <a:pPr eaLnBrk="1" hangingPunct="1"/>
            <a:r>
              <a:rPr lang="zh-CN" altLang="en-US" b="1" dirty="0" smtClean="0">
                <a:latin typeface="宋体" pitchFamily="2" charset="-122"/>
              </a:rPr>
              <a:t>语言的单词符号是由词法规则所确定的。</a:t>
            </a:r>
            <a:r>
              <a:rPr lang="zh-CN" altLang="en-US" b="1" dirty="0" smtClean="0">
                <a:solidFill>
                  <a:srgbClr val="3333FF"/>
                </a:solidFill>
                <a:latin typeface="宋体" pitchFamily="2" charset="-122"/>
              </a:rPr>
              <a:t>词法规则</a:t>
            </a:r>
            <a:r>
              <a:rPr lang="zh-CN" altLang="en-US" b="1" dirty="0" smtClean="0">
                <a:latin typeface="宋体" pitchFamily="2" charset="-122"/>
              </a:rPr>
              <a:t>规定了字母表中哪样的字符串是一个单词符号。</a:t>
            </a:r>
            <a:endParaRPr lang="en-US" altLang="zh-CN" b="1" dirty="0" smtClean="0">
              <a:latin typeface="宋体" pitchFamily="2" charset="-122"/>
            </a:endParaRPr>
          </a:p>
          <a:p>
            <a:pPr eaLnBrk="1" hangingPunct="1"/>
            <a:endParaRPr lang="zh-CN" altLang="en-US" b="1" dirty="0" smtClean="0">
              <a:latin typeface="宋体"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a:xfrm>
            <a:off x="574675" y="214290"/>
            <a:ext cx="8001000" cy="900112"/>
          </a:xfrm>
          <a:noFill/>
          <a:ln>
            <a:solidFill>
              <a:srgbClr val="FF0000"/>
            </a:solidFill>
          </a:ln>
        </p:spPr>
        <p:txBody>
          <a:bodyPr/>
          <a:lstStyle/>
          <a:p>
            <a:pPr eaLnBrk="1" hangingPunct="1"/>
            <a:r>
              <a:rPr lang="zh-CN" altLang="en-US" sz="2500" b="1" smtClean="0">
                <a:latin typeface="宋体" pitchFamily="2" charset="-122"/>
              </a:rPr>
              <a:t>词法分析</a:t>
            </a:r>
            <a:br>
              <a:rPr lang="zh-CN" altLang="en-US" sz="2500" b="1" smtClean="0">
                <a:latin typeface="宋体" pitchFamily="2" charset="-122"/>
              </a:rPr>
            </a:br>
            <a:r>
              <a:rPr lang="en-US" altLang="en-US" sz="2500" b="1" smtClean="0">
                <a:latin typeface="宋体" pitchFamily="2" charset="-122"/>
              </a:rPr>
              <a:t>position  :=  initial  +  rate  *  60;</a:t>
            </a:r>
            <a:endParaRPr lang="zh-CN" altLang="en-US" sz="3400" b="1" smtClean="0">
              <a:latin typeface="宋体" pitchFamily="2" charset="-122"/>
            </a:endParaRPr>
          </a:p>
        </p:txBody>
      </p:sp>
      <p:sp>
        <p:nvSpPr>
          <p:cNvPr id="28674" name="日期占位符 3"/>
          <p:cNvSpPr>
            <a:spLocks noGrp="1"/>
          </p:cNvSpPr>
          <p:nvPr>
            <p:ph type="dt" sz="half" idx="10"/>
          </p:nvPr>
        </p:nvSpPr>
        <p:spPr>
          <a:noFill/>
        </p:spPr>
        <p:txBody>
          <a:bodyPr/>
          <a:lstStyle/>
          <a:p>
            <a:fld id="{C4621A21-BADC-42FA-8560-3E0616648C53}" type="datetime1">
              <a:rPr lang="zh-CN" altLang="en-US" smtClean="0"/>
              <a:t>2017/1/22</a:t>
            </a:fld>
            <a:endParaRPr lang="en-US" altLang="zh-CN" smtClean="0"/>
          </a:p>
        </p:txBody>
      </p:sp>
      <p:sp>
        <p:nvSpPr>
          <p:cNvPr id="2867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8676" name="灯片编号占位符 5"/>
          <p:cNvSpPr>
            <a:spLocks noGrp="1"/>
          </p:cNvSpPr>
          <p:nvPr>
            <p:ph type="sldNum" sz="quarter" idx="12"/>
          </p:nvPr>
        </p:nvSpPr>
        <p:spPr>
          <a:noFill/>
        </p:spPr>
        <p:txBody>
          <a:bodyPr/>
          <a:lstStyle/>
          <a:p>
            <a:fld id="{7E524D55-2B9F-458C-8274-12F7043A4659}" type="slidenum">
              <a:rPr lang="zh-CN" altLang="en-US" smtClean="0"/>
              <a:pPr/>
              <a:t>22</a:t>
            </a:fld>
            <a:r>
              <a:rPr lang="en-US" altLang="zh-CN" dirty="0" smtClean="0"/>
              <a:t>/57</a:t>
            </a:r>
            <a:endParaRPr lang="en-US" altLang="zh-CN" dirty="0" smtClean="0"/>
          </a:p>
        </p:txBody>
      </p:sp>
      <p:sp>
        <p:nvSpPr>
          <p:cNvPr id="28678" name="Rectangle 3"/>
          <p:cNvSpPr>
            <a:spLocks noGrp="1" noChangeArrowheads="1"/>
          </p:cNvSpPr>
          <p:nvPr>
            <p:ph sz="quarter" idx="1"/>
          </p:nvPr>
        </p:nvSpPr>
        <p:spPr>
          <a:xfrm>
            <a:off x="395288" y="1700213"/>
            <a:ext cx="7772400" cy="4176712"/>
          </a:xfrm>
        </p:spPr>
        <p:txBody>
          <a:bodyPr/>
          <a:lstStyle/>
          <a:p>
            <a:pPr lvl="1" eaLnBrk="1" hangingPunct="1">
              <a:lnSpc>
                <a:spcPct val="90000"/>
              </a:lnSpc>
              <a:buFont typeface="Wingdings" pitchFamily="2" charset="2"/>
              <a:buNone/>
            </a:pPr>
            <a:r>
              <a:rPr lang="zh-CN" altLang="en-US" b="1" smtClean="0">
                <a:latin typeface="宋体" pitchFamily="2" charset="-122"/>
              </a:rPr>
              <a:t>   单词类型		   单词值</a:t>
            </a:r>
          </a:p>
          <a:p>
            <a:pPr lvl="1" eaLnBrk="1" hangingPunct="1">
              <a:lnSpc>
                <a:spcPct val="90000"/>
              </a:lnSpc>
              <a:buFont typeface="Wingdings" pitchFamily="2" charset="2"/>
              <a:buNone/>
            </a:pPr>
            <a:r>
              <a:rPr lang="zh-CN" altLang="en-US" b="1" smtClean="0">
                <a:latin typeface="宋体" pitchFamily="2" charset="-122"/>
              </a:rPr>
              <a:t>  标识符1(</a:t>
            </a:r>
            <a:r>
              <a:rPr lang="en-US" altLang="zh-CN" b="1" smtClean="0">
                <a:latin typeface="宋体" pitchFamily="2" charset="-122"/>
              </a:rPr>
              <a:t>id1)	         </a:t>
            </a:r>
            <a:r>
              <a:rPr lang="en-US" altLang="en-US" b="1" smtClean="0">
                <a:latin typeface="宋体" pitchFamily="2" charset="-122"/>
              </a:rPr>
              <a:t>position</a:t>
            </a:r>
          </a:p>
          <a:p>
            <a:pPr lvl="1" eaLnBrk="1" hangingPunct="1">
              <a:lnSpc>
                <a:spcPct val="90000"/>
              </a:lnSpc>
              <a:buFont typeface="Wingdings" pitchFamily="2" charset="2"/>
              <a:buNone/>
            </a:pPr>
            <a:r>
              <a:rPr lang="zh-CN" altLang="en-US" b="1" smtClean="0">
                <a:latin typeface="宋体" pitchFamily="2" charset="-122"/>
              </a:rPr>
              <a:t>  算符(赋值)		    :=</a:t>
            </a:r>
          </a:p>
          <a:p>
            <a:pPr lvl="1" eaLnBrk="1" hangingPunct="1">
              <a:lnSpc>
                <a:spcPct val="90000"/>
              </a:lnSpc>
              <a:buFont typeface="Wingdings" pitchFamily="2" charset="2"/>
              <a:buNone/>
            </a:pPr>
            <a:r>
              <a:rPr lang="zh-CN" altLang="en-US" b="1" smtClean="0">
                <a:latin typeface="宋体" pitchFamily="2" charset="-122"/>
              </a:rPr>
              <a:t>  标识符2(</a:t>
            </a:r>
            <a:r>
              <a:rPr lang="en-US" altLang="zh-CN" b="1" smtClean="0">
                <a:latin typeface="宋体" pitchFamily="2" charset="-122"/>
              </a:rPr>
              <a:t>id2)	         </a:t>
            </a:r>
            <a:r>
              <a:rPr lang="en-US" altLang="en-US" b="1" smtClean="0">
                <a:latin typeface="宋体" pitchFamily="2" charset="-122"/>
              </a:rPr>
              <a:t>initial</a:t>
            </a:r>
          </a:p>
          <a:p>
            <a:pPr lvl="1" eaLnBrk="1" hangingPunct="1">
              <a:lnSpc>
                <a:spcPct val="90000"/>
              </a:lnSpc>
              <a:buFont typeface="Wingdings" pitchFamily="2" charset="2"/>
              <a:buNone/>
            </a:pPr>
            <a:r>
              <a:rPr lang="zh-CN" altLang="en-US" b="1" smtClean="0">
                <a:latin typeface="宋体" pitchFamily="2" charset="-122"/>
              </a:rPr>
              <a:t>  算符(加)		     +</a:t>
            </a:r>
          </a:p>
          <a:p>
            <a:pPr lvl="1" eaLnBrk="1" hangingPunct="1">
              <a:lnSpc>
                <a:spcPct val="90000"/>
              </a:lnSpc>
              <a:buFont typeface="Wingdings" pitchFamily="2" charset="2"/>
              <a:buNone/>
            </a:pPr>
            <a:r>
              <a:rPr lang="zh-CN" altLang="en-US" b="1" smtClean="0">
                <a:latin typeface="宋体" pitchFamily="2" charset="-122"/>
              </a:rPr>
              <a:t>  标识符3(</a:t>
            </a:r>
            <a:r>
              <a:rPr lang="en-US" altLang="zh-CN" b="1" smtClean="0">
                <a:latin typeface="宋体" pitchFamily="2" charset="-122"/>
              </a:rPr>
              <a:t>id3)	          </a:t>
            </a:r>
            <a:r>
              <a:rPr lang="en-US" altLang="en-US" b="1" smtClean="0">
                <a:latin typeface="宋体" pitchFamily="2" charset="-122"/>
              </a:rPr>
              <a:t>rate</a:t>
            </a:r>
          </a:p>
          <a:p>
            <a:pPr lvl="1" eaLnBrk="1" hangingPunct="1">
              <a:lnSpc>
                <a:spcPct val="90000"/>
              </a:lnSpc>
              <a:buFont typeface="Wingdings" pitchFamily="2" charset="2"/>
              <a:buNone/>
            </a:pPr>
            <a:r>
              <a:rPr lang="zh-CN" altLang="en-US" b="1" smtClean="0">
                <a:latin typeface="宋体" pitchFamily="2" charset="-122"/>
              </a:rPr>
              <a:t>  算符(乘)		     *</a:t>
            </a:r>
          </a:p>
          <a:p>
            <a:pPr lvl="1" eaLnBrk="1" hangingPunct="1">
              <a:lnSpc>
                <a:spcPct val="90000"/>
              </a:lnSpc>
              <a:buFont typeface="Wingdings" pitchFamily="2" charset="2"/>
              <a:buNone/>
            </a:pPr>
            <a:r>
              <a:rPr lang="zh-CN" altLang="en-US" b="1" smtClean="0">
                <a:latin typeface="宋体" pitchFamily="2" charset="-122"/>
              </a:rPr>
              <a:t>    整数			    60</a:t>
            </a:r>
          </a:p>
          <a:p>
            <a:pPr lvl="1" eaLnBrk="1" hangingPunct="1">
              <a:lnSpc>
                <a:spcPct val="90000"/>
              </a:lnSpc>
              <a:buFont typeface="Wingdings" pitchFamily="2" charset="2"/>
              <a:buNone/>
            </a:pPr>
            <a:r>
              <a:rPr lang="zh-CN" altLang="en-US" b="1" smtClean="0">
                <a:latin typeface="宋体" pitchFamily="2" charset="-122"/>
              </a:rPr>
              <a:t>    分号			     ；</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a:xfrm>
            <a:off x="539552" y="1357298"/>
            <a:ext cx="8136259" cy="1929396"/>
          </a:xfrm>
        </p:spPr>
        <p:txBody>
          <a:bodyPr>
            <a:noAutofit/>
          </a:bodyPr>
          <a:lstStyle/>
          <a:p>
            <a:pPr eaLnBrk="1" hangingPunct="1"/>
            <a:r>
              <a:rPr lang="zh-CN" altLang="en-US" sz="2800" b="1" dirty="0" smtClean="0">
                <a:solidFill>
                  <a:srgbClr val="3333FF"/>
                </a:solidFill>
                <a:latin typeface="宋体" pitchFamily="2" charset="-122"/>
              </a:rPr>
              <a:t>    功能</a:t>
            </a:r>
            <a:r>
              <a:rPr lang="zh-CN" altLang="en-US" sz="2800" b="1" dirty="0" smtClean="0">
                <a:solidFill>
                  <a:schemeClr val="tx1"/>
                </a:solidFill>
                <a:latin typeface="宋体" pitchFamily="2" charset="-122"/>
              </a:rPr>
              <a:t>:在词法分析的基础上将单词序列分解成各类语法短语，如“程序”、</a:t>
            </a:r>
            <a:r>
              <a:rPr lang="zh-CN" altLang="en-US" sz="2800" dirty="0" smtClean="0">
                <a:solidFill>
                  <a:schemeClr val="tx1"/>
                </a:solidFill>
                <a:latin typeface="宋体" pitchFamily="2" charset="-122"/>
              </a:rPr>
              <a:t>“语句”、“表达式”等。</a:t>
            </a:r>
            <a:r>
              <a:rPr lang="zh-CN" altLang="en-US" sz="2800" b="1" dirty="0" smtClean="0">
                <a:solidFill>
                  <a:schemeClr val="tx1"/>
                </a:solidFill>
                <a:latin typeface="宋体" pitchFamily="2" charset="-122"/>
              </a:rPr>
              <a:t>采用层次分析，依据源程序的语法规则把源程序的单词序列组成语法短语(表示成语法树)。</a:t>
            </a:r>
            <a:endParaRPr lang="en-US" altLang="en-US" sz="2800" b="1" dirty="0" smtClean="0">
              <a:solidFill>
                <a:schemeClr val="tx1"/>
              </a:solidFill>
              <a:latin typeface="宋体" pitchFamily="2" charset="-122"/>
            </a:endParaRPr>
          </a:p>
        </p:txBody>
      </p:sp>
      <p:sp>
        <p:nvSpPr>
          <p:cNvPr id="29698" name="日期占位符 3"/>
          <p:cNvSpPr>
            <a:spLocks noGrp="1"/>
          </p:cNvSpPr>
          <p:nvPr>
            <p:ph type="dt" sz="half" idx="10"/>
          </p:nvPr>
        </p:nvSpPr>
        <p:spPr>
          <a:noFill/>
        </p:spPr>
        <p:txBody>
          <a:bodyPr/>
          <a:lstStyle/>
          <a:p>
            <a:fld id="{63CE7F6C-50FB-443B-B43D-C331B4B75823}" type="datetime1">
              <a:rPr lang="zh-CN" altLang="en-US" smtClean="0"/>
              <a:t>2017/1/22</a:t>
            </a:fld>
            <a:endParaRPr lang="en-US" altLang="zh-CN" smtClean="0"/>
          </a:p>
        </p:txBody>
      </p:sp>
      <p:sp>
        <p:nvSpPr>
          <p:cNvPr id="2969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9700" name="灯片编号占位符 5"/>
          <p:cNvSpPr>
            <a:spLocks noGrp="1"/>
          </p:cNvSpPr>
          <p:nvPr>
            <p:ph type="sldNum" sz="quarter" idx="12"/>
          </p:nvPr>
        </p:nvSpPr>
        <p:spPr>
          <a:noFill/>
        </p:spPr>
        <p:txBody>
          <a:bodyPr/>
          <a:lstStyle/>
          <a:p>
            <a:fld id="{9F16F93C-C5B2-4B62-AFBA-203185BDC757}" type="slidenum">
              <a:rPr lang="zh-CN" altLang="en-US" smtClean="0"/>
              <a:pPr/>
              <a:t>23</a:t>
            </a:fld>
            <a:r>
              <a:rPr lang="en-US" altLang="zh-CN" dirty="0" smtClean="0"/>
              <a:t>/57</a:t>
            </a:r>
            <a:endParaRPr lang="en-US" altLang="zh-CN" dirty="0" smtClean="0"/>
          </a:p>
        </p:txBody>
      </p:sp>
      <p:sp>
        <p:nvSpPr>
          <p:cNvPr id="29702" name="Rectangle 3"/>
          <p:cNvSpPr>
            <a:spLocks noGrp="1" noChangeArrowheads="1"/>
          </p:cNvSpPr>
          <p:nvPr>
            <p:ph sz="quarter" idx="1"/>
          </p:nvPr>
        </p:nvSpPr>
        <p:spPr>
          <a:xfrm>
            <a:off x="755650" y="3717727"/>
            <a:ext cx="7629525" cy="1655489"/>
          </a:xfrm>
        </p:spPr>
        <p:txBody>
          <a:bodyPr/>
          <a:lstStyle/>
          <a:p>
            <a:pPr eaLnBrk="1" hangingPunct="1">
              <a:lnSpc>
                <a:spcPct val="90000"/>
              </a:lnSpc>
            </a:pPr>
            <a:r>
              <a:rPr lang="en-US" altLang="zh-CN" sz="2800" b="1" dirty="0" smtClean="0">
                <a:latin typeface="宋体" pitchFamily="2" charset="-122"/>
              </a:rPr>
              <a:t>也</a:t>
            </a:r>
            <a:r>
              <a:rPr lang="zh-CN" altLang="en-US" sz="2800" b="1" dirty="0" smtClean="0">
                <a:latin typeface="宋体" pitchFamily="2" charset="-122"/>
              </a:rPr>
              <a:t>称为</a:t>
            </a:r>
            <a:r>
              <a:rPr lang="en-US" altLang="en-US" sz="2800" b="1" dirty="0" smtClean="0">
                <a:latin typeface="宋体" pitchFamily="2" charset="-122"/>
              </a:rPr>
              <a:t> “parsing”</a:t>
            </a:r>
            <a:r>
              <a:rPr lang="zh-CN" altLang="en-US" sz="2800" b="1" dirty="0" smtClean="0">
                <a:latin typeface="宋体" pitchFamily="2" charset="-122"/>
              </a:rPr>
              <a:t>。</a:t>
            </a:r>
            <a:endParaRPr lang="en-US" altLang="en-US" sz="2800" b="1" dirty="0" smtClean="0">
              <a:latin typeface="宋体" pitchFamily="2" charset="-122"/>
            </a:endParaRPr>
          </a:p>
          <a:p>
            <a:pPr eaLnBrk="1" hangingPunct="1">
              <a:lnSpc>
                <a:spcPct val="90000"/>
              </a:lnSpc>
            </a:pPr>
            <a:r>
              <a:rPr lang="en-US" altLang="zh-CN" sz="2800" b="1" dirty="0" err="1" smtClean="0">
                <a:latin typeface="宋体" pitchFamily="2" charset="-122"/>
              </a:rPr>
              <a:t>使用</a:t>
            </a:r>
            <a:r>
              <a:rPr lang="zh-CN" altLang="en-US" sz="2800" b="1" dirty="0" smtClean="0">
                <a:latin typeface="宋体" pitchFamily="2" charset="-122"/>
              </a:rPr>
              <a:t>上下文无关文法。</a:t>
            </a:r>
            <a:endParaRPr lang="en-US" altLang="en-US" sz="2800" b="1" dirty="0" smtClean="0">
              <a:latin typeface="宋体" pitchFamily="2" charset="-122"/>
            </a:endParaRPr>
          </a:p>
          <a:p>
            <a:pPr eaLnBrk="1" hangingPunct="1">
              <a:lnSpc>
                <a:spcPct val="90000"/>
              </a:lnSpc>
            </a:pPr>
            <a:r>
              <a:rPr lang="en-US" altLang="zh-CN" sz="2800" b="1" dirty="0" err="1" smtClean="0">
                <a:latin typeface="宋体" pitchFamily="2" charset="-122"/>
              </a:rPr>
              <a:t>结构</a:t>
            </a:r>
            <a:r>
              <a:rPr lang="zh-CN" altLang="en-US" sz="2800" b="1" dirty="0" smtClean="0">
                <a:latin typeface="宋体" pitchFamily="2" charset="-122"/>
              </a:rPr>
              <a:t>上的合法性，可生成语法树或推导。</a:t>
            </a:r>
            <a:endParaRPr lang="en-US" altLang="en-US" sz="2800" b="1" dirty="0" smtClean="0">
              <a:latin typeface="宋体" pitchFamily="2" charset="-122"/>
            </a:endParaRPr>
          </a:p>
        </p:txBody>
      </p:sp>
      <p:sp>
        <p:nvSpPr>
          <p:cNvPr id="7" name="矩形 6"/>
          <p:cNvSpPr/>
          <p:nvPr/>
        </p:nvSpPr>
        <p:spPr>
          <a:xfrm>
            <a:off x="611560" y="428604"/>
            <a:ext cx="7032274" cy="646331"/>
          </a:xfrm>
          <a:prstGeom prst="rect">
            <a:avLst/>
          </a:prstGeom>
        </p:spPr>
        <p:txBody>
          <a:bodyPr wrap="square">
            <a:spAutoFit/>
          </a:bodyPr>
          <a:lstStyle/>
          <a:p>
            <a:r>
              <a:rPr lang="en-US" altLang="zh-CN" sz="3600" b="1" dirty="0" smtClean="0">
                <a:latin typeface="宋体" pitchFamily="2" charset="-122"/>
              </a:rPr>
              <a:t>2.语</a:t>
            </a:r>
            <a:r>
              <a:rPr lang="zh-CN" altLang="en-US" sz="3600" b="1" dirty="0" smtClean="0">
                <a:latin typeface="宋体" pitchFamily="2" charset="-122"/>
              </a:rPr>
              <a:t>法分析  </a:t>
            </a:r>
            <a:r>
              <a:rPr lang="en-US" altLang="en-US" sz="3600" b="1" dirty="0" smtClean="0">
                <a:latin typeface="宋体" pitchFamily="2" charset="-122"/>
              </a:rPr>
              <a:t>Syntax Analysis</a:t>
            </a:r>
            <a:endParaRPr lang="zh-CN" altLang="en-US" sz="36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en-US" altLang="zh-CN" b="1" smtClean="0">
                <a:latin typeface="宋体" pitchFamily="2" charset="-122"/>
              </a:rPr>
              <a:t>This</a:t>
            </a:r>
            <a:r>
              <a:rPr lang="zh-CN" altLang="en-US" b="1" smtClean="0">
                <a:latin typeface="宋体" pitchFamily="2" charset="-122"/>
              </a:rPr>
              <a:t> </a:t>
            </a:r>
            <a:r>
              <a:rPr lang="en-US" altLang="zh-CN" b="1" smtClean="0">
                <a:latin typeface="宋体" pitchFamily="2" charset="-122"/>
              </a:rPr>
              <a:t>line is a longer sentence</a:t>
            </a:r>
            <a:endParaRPr lang="zh-CN" altLang="en-US" b="1" smtClean="0">
              <a:solidFill>
                <a:srgbClr val="FF0000"/>
              </a:solidFill>
              <a:latin typeface="宋体" pitchFamily="2" charset="-122"/>
            </a:endParaRPr>
          </a:p>
        </p:txBody>
      </p:sp>
      <p:sp>
        <p:nvSpPr>
          <p:cNvPr id="1027" name="日期占位符 3"/>
          <p:cNvSpPr>
            <a:spLocks noGrp="1"/>
          </p:cNvSpPr>
          <p:nvPr>
            <p:ph type="dt" sz="half" idx="10"/>
          </p:nvPr>
        </p:nvSpPr>
        <p:spPr>
          <a:noFill/>
        </p:spPr>
        <p:txBody>
          <a:bodyPr/>
          <a:lstStyle/>
          <a:p>
            <a:fld id="{9F3A2BB5-3A15-4E60-B60D-A4B6CAFAB4C5}" type="datetime1">
              <a:rPr lang="zh-CN" altLang="en-US" smtClean="0"/>
              <a:t>2017/1/22</a:t>
            </a:fld>
            <a:endParaRPr lang="en-US" altLang="zh-CN" smtClean="0"/>
          </a:p>
        </p:txBody>
      </p:sp>
      <p:sp>
        <p:nvSpPr>
          <p:cNvPr id="1028"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1029" name="灯片编号占位符 5"/>
          <p:cNvSpPr>
            <a:spLocks noGrp="1"/>
          </p:cNvSpPr>
          <p:nvPr>
            <p:ph type="sldNum" sz="quarter" idx="12"/>
          </p:nvPr>
        </p:nvSpPr>
        <p:spPr>
          <a:noFill/>
        </p:spPr>
        <p:txBody>
          <a:bodyPr/>
          <a:lstStyle/>
          <a:p>
            <a:fld id="{7DE10144-3A75-4343-A9EC-A45F252935F1}" type="slidenum">
              <a:rPr lang="zh-CN" altLang="en-US" smtClean="0"/>
              <a:pPr/>
              <a:t>24</a:t>
            </a:fld>
            <a:r>
              <a:rPr lang="en-US" altLang="zh-CN" dirty="0" smtClean="0"/>
              <a:t>/57</a:t>
            </a:r>
            <a:endParaRPr lang="en-US" altLang="zh-CN" dirty="0" smtClean="0"/>
          </a:p>
        </p:txBody>
      </p:sp>
      <p:graphicFrame>
        <p:nvGraphicFramePr>
          <p:cNvPr id="1026" name="Object 5"/>
          <p:cNvGraphicFramePr>
            <a:graphicFrameLocks noChangeAspect="1"/>
          </p:cNvGraphicFramePr>
          <p:nvPr>
            <p:ph sz="quarter" idx="1"/>
          </p:nvPr>
        </p:nvGraphicFramePr>
        <p:xfrm>
          <a:off x="879475" y="2046288"/>
          <a:ext cx="7408863" cy="3632200"/>
        </p:xfrm>
        <a:graphic>
          <a:graphicData uri="http://schemas.openxmlformats.org/presentationml/2006/ole">
            <p:oleObj spid="_x0000_s1026" name="Visio" r:id="rId3" imgW="4456673" imgH="2185191" progId="Visio.Drawing.11">
              <p:embed/>
            </p:oleObj>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p:cNvSpPr>
            <a:spLocks noGrp="1" noChangeArrowheads="1"/>
          </p:cNvSpPr>
          <p:nvPr>
            <p:ph type="title"/>
          </p:nvPr>
        </p:nvSpPr>
        <p:spPr/>
        <p:txBody>
          <a:bodyPr/>
          <a:lstStyle/>
          <a:p>
            <a:pPr eaLnBrk="1" hangingPunct="1"/>
            <a:r>
              <a:rPr lang="zh-CN" altLang="en-US" b="1" smtClean="0"/>
              <a:t>分析程序成分</a:t>
            </a:r>
            <a:endParaRPr lang="zh-CN" altLang="en-US" b="1" smtClean="0">
              <a:solidFill>
                <a:srgbClr val="FF0000"/>
              </a:solidFill>
            </a:endParaRPr>
          </a:p>
        </p:txBody>
      </p:sp>
      <p:sp>
        <p:nvSpPr>
          <p:cNvPr id="2051" name="日期占位符 3"/>
          <p:cNvSpPr>
            <a:spLocks noGrp="1"/>
          </p:cNvSpPr>
          <p:nvPr>
            <p:ph type="dt" sz="half" idx="10"/>
          </p:nvPr>
        </p:nvSpPr>
        <p:spPr>
          <a:noFill/>
        </p:spPr>
        <p:txBody>
          <a:bodyPr/>
          <a:lstStyle/>
          <a:p>
            <a:fld id="{986BAA0D-E3DB-4CDE-BB41-01F50727C16C}" type="datetime1">
              <a:rPr lang="zh-CN" altLang="en-US" smtClean="0"/>
              <a:t>2017/1/22</a:t>
            </a:fld>
            <a:endParaRPr lang="en-US" altLang="zh-CN" smtClean="0"/>
          </a:p>
        </p:txBody>
      </p:sp>
      <p:sp>
        <p:nvSpPr>
          <p:cNvPr id="2052"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2053" name="灯片编号占位符 5"/>
          <p:cNvSpPr>
            <a:spLocks noGrp="1"/>
          </p:cNvSpPr>
          <p:nvPr>
            <p:ph type="sldNum" sz="quarter" idx="12"/>
          </p:nvPr>
        </p:nvSpPr>
        <p:spPr>
          <a:noFill/>
        </p:spPr>
        <p:txBody>
          <a:bodyPr/>
          <a:lstStyle/>
          <a:p>
            <a:fld id="{A0A242CA-B1B3-49BF-BA4F-69D11D6A5008}" type="slidenum">
              <a:rPr lang="zh-CN" altLang="en-US" smtClean="0"/>
              <a:pPr/>
              <a:t>25</a:t>
            </a:fld>
            <a:r>
              <a:rPr lang="en-US" altLang="zh-CN" dirty="0" smtClean="0"/>
              <a:t>/57</a:t>
            </a:r>
            <a:endParaRPr lang="en-US" altLang="zh-CN" dirty="0" smtClean="0"/>
          </a:p>
        </p:txBody>
      </p:sp>
      <p:graphicFrame>
        <p:nvGraphicFramePr>
          <p:cNvPr id="2050" name="Object 18"/>
          <p:cNvGraphicFramePr>
            <a:graphicFrameLocks noChangeAspect="1"/>
          </p:cNvGraphicFramePr>
          <p:nvPr>
            <p:ph sz="quarter" idx="1"/>
          </p:nvPr>
        </p:nvGraphicFramePr>
        <p:xfrm>
          <a:off x="1470025" y="2168525"/>
          <a:ext cx="6078538" cy="3632200"/>
        </p:xfrm>
        <a:graphic>
          <a:graphicData uri="http://schemas.openxmlformats.org/presentationml/2006/ole">
            <p:oleObj spid="_x0000_s2050" name="Visio" r:id="rId3" imgW="3656079" imgH="2185112" progId="Visio.Drawing.11">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zh-CN" altLang="en-US" b="1" smtClean="0">
                <a:latin typeface="宋体" pitchFamily="2" charset="-122"/>
              </a:rPr>
              <a:t>语法分析</a:t>
            </a:r>
          </a:p>
        </p:txBody>
      </p:sp>
      <p:sp>
        <p:nvSpPr>
          <p:cNvPr id="30722" name="日期占位符 3"/>
          <p:cNvSpPr>
            <a:spLocks noGrp="1"/>
          </p:cNvSpPr>
          <p:nvPr>
            <p:ph type="dt" sz="half" idx="10"/>
          </p:nvPr>
        </p:nvSpPr>
        <p:spPr>
          <a:noFill/>
        </p:spPr>
        <p:txBody>
          <a:bodyPr/>
          <a:lstStyle/>
          <a:p>
            <a:fld id="{7398E8A3-E199-476D-A8B0-87C4F8C79194}" type="datetime1">
              <a:rPr lang="zh-CN" altLang="en-US" smtClean="0"/>
              <a:t>2017/1/22</a:t>
            </a:fld>
            <a:endParaRPr lang="en-US" altLang="zh-CN" smtClean="0"/>
          </a:p>
        </p:txBody>
      </p:sp>
      <p:sp>
        <p:nvSpPr>
          <p:cNvPr id="3072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0724" name="灯片编号占位符 5"/>
          <p:cNvSpPr>
            <a:spLocks noGrp="1"/>
          </p:cNvSpPr>
          <p:nvPr>
            <p:ph type="sldNum" sz="quarter" idx="12"/>
          </p:nvPr>
        </p:nvSpPr>
        <p:spPr>
          <a:noFill/>
        </p:spPr>
        <p:txBody>
          <a:bodyPr/>
          <a:lstStyle/>
          <a:p>
            <a:fld id="{94D6CE6C-6852-4539-9558-DF77DF322A1B}" type="slidenum">
              <a:rPr lang="zh-CN" altLang="en-US" smtClean="0"/>
              <a:pPr/>
              <a:t>26</a:t>
            </a:fld>
            <a:r>
              <a:rPr lang="en-US" altLang="zh-CN" dirty="0" smtClean="0"/>
              <a:t>/57</a:t>
            </a:r>
            <a:endParaRPr lang="en-US" altLang="zh-CN" dirty="0" smtClean="0"/>
          </a:p>
        </p:txBody>
      </p:sp>
      <p:sp>
        <p:nvSpPr>
          <p:cNvPr id="30726" name="Rectangle 3"/>
          <p:cNvSpPr>
            <a:spLocks noGrp="1" noChangeArrowheads="1"/>
          </p:cNvSpPr>
          <p:nvPr>
            <p:ph sz="quarter" idx="1"/>
          </p:nvPr>
        </p:nvSpPr>
        <p:spPr>
          <a:xfrm>
            <a:off x="395288" y="1654175"/>
            <a:ext cx="8280400" cy="4438650"/>
          </a:xfrm>
        </p:spPr>
        <p:txBody>
          <a:bodyPr/>
          <a:lstStyle/>
          <a:p>
            <a:pPr eaLnBrk="1" hangingPunct="1"/>
            <a:r>
              <a:rPr lang="zh-CN" altLang="en-US" b="1" dirty="0" smtClean="0">
                <a:latin typeface="宋体" pitchFamily="2" charset="-122"/>
              </a:rPr>
              <a:t>又例：</a:t>
            </a:r>
            <a:r>
              <a:rPr lang="en-US" altLang="zh-CN" b="1" dirty="0" smtClean="0">
                <a:latin typeface="宋体" pitchFamily="2" charset="-122"/>
              </a:rPr>
              <a:t>sum</a:t>
            </a:r>
            <a:r>
              <a:rPr lang="en-US" altLang="en-US" b="1" dirty="0" smtClean="0">
                <a:latin typeface="宋体" pitchFamily="2" charset="-122"/>
              </a:rPr>
              <a:t>:= first + count * 10;</a:t>
            </a:r>
            <a:endParaRPr lang="zh-CN" altLang="en-US" b="1" dirty="0" smtClean="0">
              <a:latin typeface="宋体" pitchFamily="2" charset="-122"/>
            </a:endParaRPr>
          </a:p>
          <a:p>
            <a:pPr lvl="1" eaLnBrk="1" hangingPunct="1">
              <a:buFont typeface="Wingdings" pitchFamily="2" charset="2"/>
              <a:buNone/>
            </a:pPr>
            <a:r>
              <a:rPr lang="zh-CN" altLang="en-US" b="1" dirty="0" smtClean="0">
                <a:latin typeface="宋体" pitchFamily="2" charset="-122"/>
              </a:rPr>
              <a:t>（</a:t>
            </a:r>
            <a:r>
              <a:rPr lang="en-US" altLang="zh-CN" b="1" dirty="0" smtClean="0">
                <a:latin typeface="宋体" pitchFamily="2" charset="-122"/>
              </a:rPr>
              <a:t>Pascal</a:t>
            </a:r>
            <a:r>
              <a:rPr lang="zh-CN" altLang="en-US" b="1" dirty="0" smtClean="0">
                <a:latin typeface="宋体" pitchFamily="2" charset="-122"/>
              </a:rPr>
              <a:t>）规则</a:t>
            </a:r>
          </a:p>
          <a:p>
            <a:pPr lvl="1" eaLnBrk="1" hangingPunct="1">
              <a:buFont typeface="Wingdings" pitchFamily="2" charset="2"/>
              <a:buNone/>
            </a:pPr>
            <a:r>
              <a:rPr lang="zh-CN" altLang="zh-CN" b="1" dirty="0" smtClean="0">
                <a:latin typeface="宋体" pitchFamily="2" charset="-122"/>
              </a:rPr>
              <a:t> &lt;</a:t>
            </a:r>
            <a:r>
              <a:rPr lang="zh-CN" altLang="en-US" b="1" dirty="0" smtClean="0">
                <a:latin typeface="宋体" pitchFamily="2" charset="-122"/>
              </a:rPr>
              <a:t>赋值语句&gt;::=&lt;标识符&gt;“:=”&lt;表达式&gt;</a:t>
            </a:r>
          </a:p>
          <a:p>
            <a:pPr lvl="1" eaLnBrk="1" hangingPunct="1">
              <a:buFont typeface="Wingdings" pitchFamily="2" charset="2"/>
              <a:buNone/>
            </a:pPr>
            <a:r>
              <a:rPr lang="zh-CN" altLang="en-US" b="1" dirty="0" smtClean="0">
                <a:latin typeface="宋体" pitchFamily="2" charset="-122"/>
              </a:rPr>
              <a:t>      &lt;表达式&gt;::=&lt;表达式&gt;“+”&lt;表达式&gt;</a:t>
            </a:r>
          </a:p>
          <a:p>
            <a:pPr lvl="1" eaLnBrk="1" hangingPunct="1">
              <a:buFont typeface="Wingdings" pitchFamily="2" charset="2"/>
              <a:buNone/>
            </a:pPr>
            <a:r>
              <a:rPr lang="zh-CN" altLang="en-US" b="1" dirty="0" smtClean="0">
                <a:latin typeface="宋体" pitchFamily="2" charset="-122"/>
              </a:rPr>
              <a:t>      &lt;表达式&gt;::=&lt;表达式&gt;“*”&lt;表达式&gt;</a:t>
            </a:r>
          </a:p>
          <a:p>
            <a:pPr lvl="1" eaLnBrk="1" hangingPunct="1">
              <a:buFont typeface="Wingdings" pitchFamily="2" charset="2"/>
              <a:buNone/>
            </a:pPr>
            <a:r>
              <a:rPr lang="zh-CN" altLang="en-US" b="1" dirty="0" smtClean="0">
                <a:latin typeface="宋体" pitchFamily="2" charset="-122"/>
              </a:rPr>
              <a:t>      &lt;表达式&gt;::=“(”&lt;表达式&gt;“)”</a:t>
            </a:r>
          </a:p>
          <a:p>
            <a:pPr lvl="1" eaLnBrk="1" hangingPunct="1">
              <a:buFont typeface="Wingdings" pitchFamily="2" charset="2"/>
              <a:buNone/>
            </a:pPr>
            <a:r>
              <a:rPr lang="zh-CN" altLang="en-US" b="1" dirty="0" smtClean="0">
                <a:latin typeface="宋体" pitchFamily="2" charset="-122"/>
              </a:rPr>
              <a:t>      &lt;表达式&gt;::=&lt;标识符&gt;</a:t>
            </a:r>
          </a:p>
          <a:p>
            <a:pPr lvl="1" eaLnBrk="1" hangingPunct="1">
              <a:buFont typeface="Wingdings" pitchFamily="2" charset="2"/>
              <a:buNone/>
            </a:pPr>
            <a:r>
              <a:rPr lang="zh-CN" altLang="en-US" b="1" dirty="0" smtClean="0">
                <a:latin typeface="宋体" pitchFamily="2" charset="-122"/>
              </a:rPr>
              <a:t>      &lt;表达式&gt;::=&lt;整数&gt;</a:t>
            </a:r>
          </a:p>
          <a:p>
            <a:pPr lvl="1" eaLnBrk="1" hangingPunct="1">
              <a:buFont typeface="Wingdings" pitchFamily="2" charset="2"/>
              <a:buNone/>
            </a:pPr>
            <a:r>
              <a:rPr lang="zh-CN" altLang="en-US" b="1" dirty="0" smtClean="0">
                <a:latin typeface="宋体" pitchFamily="2" charset="-122"/>
              </a:rPr>
              <a:t>      &lt;表达式&gt;::=&lt;实数&gt;</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a:spLocks noGrp="1"/>
          </p:cNvSpPr>
          <p:nvPr>
            <p:ph type="dt" sz="half" idx="10"/>
          </p:nvPr>
        </p:nvSpPr>
        <p:spPr>
          <a:noFill/>
        </p:spPr>
        <p:txBody>
          <a:bodyPr/>
          <a:lstStyle/>
          <a:p>
            <a:fld id="{A9D030DC-E2B8-4C1C-A374-CBF5509B895A}" type="datetime1">
              <a:rPr lang="zh-CN" altLang="en-US" smtClean="0"/>
              <a:t>2017/1/22</a:t>
            </a:fld>
            <a:endParaRPr lang="en-US" altLang="zh-CN" smtClean="0"/>
          </a:p>
        </p:txBody>
      </p:sp>
      <p:sp>
        <p:nvSpPr>
          <p:cNvPr id="3174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1748" name="灯片编号占位符 5"/>
          <p:cNvSpPr>
            <a:spLocks noGrp="1"/>
          </p:cNvSpPr>
          <p:nvPr>
            <p:ph type="sldNum" sz="quarter" idx="12"/>
          </p:nvPr>
        </p:nvSpPr>
        <p:spPr>
          <a:noFill/>
        </p:spPr>
        <p:txBody>
          <a:bodyPr/>
          <a:lstStyle/>
          <a:p>
            <a:fld id="{EE059FCD-64DA-4A37-84FC-C113AB90633D}" type="slidenum">
              <a:rPr lang="zh-CN" altLang="en-US" smtClean="0"/>
              <a:pPr/>
              <a:t>27</a:t>
            </a:fld>
            <a:r>
              <a:rPr lang="en-US" altLang="zh-CN" dirty="0" smtClean="0"/>
              <a:t>/57</a:t>
            </a:r>
            <a:endParaRPr lang="en-US" altLang="zh-CN" dirty="0" smtClean="0"/>
          </a:p>
        </p:txBody>
      </p:sp>
      <p:sp>
        <p:nvSpPr>
          <p:cNvPr id="31750" name="Rectangle 3"/>
          <p:cNvSpPr>
            <a:spLocks noGrp="1" noChangeArrowheads="1"/>
          </p:cNvSpPr>
          <p:nvPr>
            <p:ph sz="quarter" idx="1"/>
          </p:nvPr>
        </p:nvSpPr>
        <p:spPr>
          <a:xfrm>
            <a:off x="1066800" y="533400"/>
            <a:ext cx="7772400" cy="87313"/>
          </a:xfrm>
        </p:spPr>
        <p:txBody>
          <a:bodyPr>
            <a:normAutofit fontScale="25000" lnSpcReduction="20000"/>
          </a:bodyPr>
          <a:lstStyle/>
          <a:p>
            <a:pPr eaLnBrk="1" hangingPunct="1">
              <a:lnSpc>
                <a:spcPct val="80000"/>
              </a:lnSpc>
              <a:buFont typeface="Wingdings" pitchFamily="2" charset="2"/>
              <a:buNone/>
            </a:pPr>
            <a:r>
              <a:rPr lang="zh-CN" altLang="en-US" sz="900" b="1" smtClean="0">
                <a:latin typeface="宋体" pitchFamily="2" charset="-122"/>
              </a:rPr>
              <a:t> </a:t>
            </a:r>
          </a:p>
        </p:txBody>
      </p:sp>
      <p:sp>
        <p:nvSpPr>
          <p:cNvPr id="31751" name="Text Box 30"/>
          <p:cNvSpPr txBox="1">
            <a:spLocks noChangeArrowheads="1"/>
          </p:cNvSpPr>
          <p:nvPr/>
        </p:nvSpPr>
        <p:spPr bwMode="auto">
          <a:xfrm>
            <a:off x="1546225" y="5589588"/>
            <a:ext cx="1736373" cy="400110"/>
          </a:xfrm>
          <a:prstGeom prst="rect">
            <a:avLst/>
          </a:prstGeom>
          <a:noFill/>
          <a:ln w="9525">
            <a:noFill/>
            <a:miter lim="800000"/>
            <a:headEnd/>
            <a:tailEnd/>
          </a:ln>
        </p:spPr>
        <p:txBody>
          <a:bodyPr wrap="none">
            <a:spAutoFit/>
          </a:bodyPr>
          <a:lstStyle/>
          <a:p>
            <a:pPr algn="ctr" eaLnBrk="0" hangingPunct="0">
              <a:spcBef>
                <a:spcPct val="50000"/>
              </a:spcBef>
            </a:pPr>
            <a:r>
              <a:rPr lang="zh-CN" altLang="en-US" sz="2000" b="1" dirty="0" smtClean="0">
                <a:latin typeface="宋体" pitchFamily="2" charset="-122"/>
              </a:rPr>
              <a:t>图</a:t>
            </a:r>
            <a:r>
              <a:rPr lang="en-US" altLang="zh-CN" sz="2000" b="1" dirty="0" smtClean="0">
                <a:latin typeface="宋体" pitchFamily="2" charset="-122"/>
              </a:rPr>
              <a:t>1.4 </a:t>
            </a:r>
            <a:r>
              <a:rPr lang="zh-CN" altLang="en-US" sz="2000" b="1" dirty="0" smtClean="0">
                <a:latin typeface="宋体" pitchFamily="2" charset="-122"/>
              </a:rPr>
              <a:t>语法</a:t>
            </a:r>
            <a:r>
              <a:rPr lang="zh-CN" altLang="en-US" sz="2000" b="1" dirty="0">
                <a:latin typeface="宋体" pitchFamily="2" charset="-122"/>
              </a:rPr>
              <a:t>树</a:t>
            </a:r>
          </a:p>
        </p:txBody>
      </p:sp>
      <p:grpSp>
        <p:nvGrpSpPr>
          <p:cNvPr id="31752" name="Group 39"/>
          <p:cNvGrpSpPr>
            <a:grpSpLocks/>
          </p:cNvGrpSpPr>
          <p:nvPr/>
        </p:nvGrpSpPr>
        <p:grpSpPr bwMode="auto">
          <a:xfrm>
            <a:off x="755650" y="1286545"/>
            <a:ext cx="7173936" cy="4928537"/>
            <a:chOff x="960" y="235"/>
            <a:chExt cx="4596" cy="3994"/>
          </a:xfrm>
        </p:grpSpPr>
        <p:sp>
          <p:nvSpPr>
            <p:cNvPr id="31754" name="Rectangle 4"/>
            <p:cNvSpPr>
              <a:spLocks noChangeArrowheads="1"/>
            </p:cNvSpPr>
            <p:nvPr/>
          </p:nvSpPr>
          <p:spPr bwMode="auto">
            <a:xfrm>
              <a:off x="1152" y="235"/>
              <a:ext cx="1296"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赋值语句</a:t>
              </a:r>
            </a:p>
          </p:txBody>
        </p:sp>
        <p:sp>
          <p:nvSpPr>
            <p:cNvPr id="31755" name="Rectangle 5"/>
            <p:cNvSpPr>
              <a:spLocks noChangeArrowheads="1"/>
            </p:cNvSpPr>
            <p:nvPr/>
          </p:nvSpPr>
          <p:spPr bwMode="auto">
            <a:xfrm>
              <a:off x="960" y="907"/>
              <a:ext cx="816" cy="288"/>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标识符</a:t>
              </a:r>
            </a:p>
          </p:txBody>
        </p:sp>
        <p:sp>
          <p:nvSpPr>
            <p:cNvPr id="31756" name="Rectangle 6"/>
            <p:cNvSpPr>
              <a:spLocks noChangeArrowheads="1"/>
            </p:cNvSpPr>
            <p:nvPr/>
          </p:nvSpPr>
          <p:spPr bwMode="auto">
            <a:xfrm>
              <a:off x="2304" y="907"/>
              <a:ext cx="864" cy="288"/>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表达式</a:t>
              </a:r>
            </a:p>
          </p:txBody>
        </p:sp>
        <p:sp>
          <p:nvSpPr>
            <p:cNvPr id="31757" name="Rectangle 7"/>
            <p:cNvSpPr>
              <a:spLocks noChangeArrowheads="1"/>
            </p:cNvSpPr>
            <p:nvPr/>
          </p:nvSpPr>
          <p:spPr bwMode="auto">
            <a:xfrm>
              <a:off x="2208" y="1675"/>
              <a:ext cx="816" cy="288"/>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表达式</a:t>
              </a:r>
            </a:p>
          </p:txBody>
        </p:sp>
        <p:sp>
          <p:nvSpPr>
            <p:cNvPr id="31758" name="Rectangle 8"/>
            <p:cNvSpPr>
              <a:spLocks noChangeArrowheads="1"/>
            </p:cNvSpPr>
            <p:nvPr/>
          </p:nvSpPr>
          <p:spPr bwMode="auto">
            <a:xfrm>
              <a:off x="3120" y="1675"/>
              <a:ext cx="336" cy="288"/>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a:t>
              </a:r>
            </a:p>
          </p:txBody>
        </p:sp>
        <p:sp>
          <p:nvSpPr>
            <p:cNvPr id="31759" name="Rectangle 9"/>
            <p:cNvSpPr>
              <a:spLocks noChangeArrowheads="1"/>
            </p:cNvSpPr>
            <p:nvPr/>
          </p:nvSpPr>
          <p:spPr bwMode="auto">
            <a:xfrm>
              <a:off x="3216" y="2539"/>
              <a:ext cx="720" cy="288"/>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表达式</a:t>
              </a:r>
            </a:p>
          </p:txBody>
        </p:sp>
        <p:sp>
          <p:nvSpPr>
            <p:cNvPr id="31760" name="Rectangle 10"/>
            <p:cNvSpPr>
              <a:spLocks noChangeArrowheads="1"/>
            </p:cNvSpPr>
            <p:nvPr/>
          </p:nvSpPr>
          <p:spPr bwMode="auto">
            <a:xfrm>
              <a:off x="4608" y="2539"/>
              <a:ext cx="768" cy="288"/>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表达式</a:t>
              </a:r>
            </a:p>
          </p:txBody>
        </p:sp>
        <p:sp>
          <p:nvSpPr>
            <p:cNvPr id="31761" name="Rectangle 11"/>
            <p:cNvSpPr>
              <a:spLocks noChangeArrowheads="1"/>
            </p:cNvSpPr>
            <p:nvPr/>
          </p:nvSpPr>
          <p:spPr bwMode="auto">
            <a:xfrm>
              <a:off x="3216" y="3403"/>
              <a:ext cx="768" cy="288"/>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标识符</a:t>
              </a:r>
            </a:p>
          </p:txBody>
        </p:sp>
        <p:sp>
          <p:nvSpPr>
            <p:cNvPr id="31762" name="Rectangle 12"/>
            <p:cNvSpPr>
              <a:spLocks noChangeArrowheads="1"/>
            </p:cNvSpPr>
            <p:nvPr/>
          </p:nvSpPr>
          <p:spPr bwMode="auto">
            <a:xfrm>
              <a:off x="4752" y="3403"/>
              <a:ext cx="720" cy="288"/>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整数</a:t>
              </a:r>
            </a:p>
          </p:txBody>
        </p:sp>
        <p:sp>
          <p:nvSpPr>
            <p:cNvPr id="31763" name="Rectangle 13"/>
            <p:cNvSpPr>
              <a:spLocks noChangeArrowheads="1"/>
            </p:cNvSpPr>
            <p:nvPr/>
          </p:nvSpPr>
          <p:spPr bwMode="auto">
            <a:xfrm>
              <a:off x="2256" y="2491"/>
              <a:ext cx="768" cy="336"/>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标识符</a:t>
              </a:r>
            </a:p>
          </p:txBody>
        </p:sp>
        <p:sp>
          <p:nvSpPr>
            <p:cNvPr id="31764" name="Rectangle 14"/>
            <p:cNvSpPr>
              <a:spLocks noChangeArrowheads="1"/>
            </p:cNvSpPr>
            <p:nvPr/>
          </p:nvSpPr>
          <p:spPr bwMode="auto">
            <a:xfrm>
              <a:off x="1872" y="907"/>
              <a:ext cx="336" cy="288"/>
            </a:xfrm>
            <a:prstGeom prst="rect">
              <a:avLst/>
            </a:prstGeom>
            <a:solidFill>
              <a:schemeClr val="bg1"/>
            </a:solidFill>
            <a:ln w="28575">
              <a:solidFill>
                <a:schemeClr val="bg1"/>
              </a:solidFill>
              <a:miter lim="800000"/>
              <a:headEnd/>
              <a:tailEnd/>
            </a:ln>
          </p:spPr>
          <p:txBody>
            <a:bodyPr wrap="none" anchor="ctr"/>
            <a:lstStyle/>
            <a:p>
              <a:pPr algn="ctr"/>
              <a:r>
                <a:rPr lang="zh-CN" altLang="en-US" sz="2400" b="1">
                  <a:latin typeface="宋体" pitchFamily="2" charset="-122"/>
                </a:rPr>
                <a:t>:=</a:t>
              </a:r>
            </a:p>
          </p:txBody>
        </p:sp>
        <p:sp>
          <p:nvSpPr>
            <p:cNvPr id="31765" name="Rectangle 15"/>
            <p:cNvSpPr>
              <a:spLocks noChangeArrowheads="1"/>
            </p:cNvSpPr>
            <p:nvPr/>
          </p:nvSpPr>
          <p:spPr bwMode="auto">
            <a:xfrm>
              <a:off x="3552" y="1675"/>
              <a:ext cx="864" cy="288"/>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宋体" pitchFamily="2" charset="-122"/>
                </a:rPr>
                <a:t>表达式</a:t>
              </a:r>
            </a:p>
          </p:txBody>
        </p:sp>
        <p:sp>
          <p:nvSpPr>
            <p:cNvPr id="31766" name="Rectangle 16"/>
            <p:cNvSpPr>
              <a:spLocks noChangeArrowheads="1"/>
            </p:cNvSpPr>
            <p:nvPr/>
          </p:nvSpPr>
          <p:spPr bwMode="auto">
            <a:xfrm>
              <a:off x="4128" y="2539"/>
              <a:ext cx="288" cy="288"/>
            </a:xfrm>
            <a:prstGeom prst="rect">
              <a:avLst/>
            </a:prstGeom>
            <a:solidFill>
              <a:schemeClr val="bg1"/>
            </a:solidFill>
            <a:ln w="28575">
              <a:solidFill>
                <a:schemeClr val="bg1"/>
              </a:solidFill>
              <a:miter lim="800000"/>
              <a:headEnd/>
              <a:tailEnd/>
            </a:ln>
          </p:spPr>
          <p:txBody>
            <a:bodyPr wrap="none" anchor="ctr"/>
            <a:lstStyle/>
            <a:p>
              <a:pPr algn="ctr"/>
              <a:r>
                <a:rPr kumimoji="1" lang="zh-CN" altLang="en-US" sz="2400" b="1">
                  <a:latin typeface="宋体" pitchFamily="2" charset="-122"/>
                </a:rPr>
                <a:t>*</a:t>
              </a:r>
            </a:p>
          </p:txBody>
        </p:sp>
        <p:sp>
          <p:nvSpPr>
            <p:cNvPr id="31767" name="Line 17"/>
            <p:cNvSpPr>
              <a:spLocks noChangeShapeType="1"/>
            </p:cNvSpPr>
            <p:nvPr/>
          </p:nvSpPr>
          <p:spPr bwMode="auto">
            <a:xfrm>
              <a:off x="2592" y="1963"/>
              <a:ext cx="0" cy="528"/>
            </a:xfrm>
            <a:prstGeom prst="line">
              <a:avLst/>
            </a:prstGeom>
            <a:noFill/>
            <a:ln w="28575">
              <a:solidFill>
                <a:schemeClr val="tx1"/>
              </a:solidFill>
              <a:round/>
              <a:headEnd/>
              <a:tailEnd/>
            </a:ln>
          </p:spPr>
          <p:txBody>
            <a:bodyPr wrap="none" anchor="ctr"/>
            <a:lstStyle/>
            <a:p>
              <a:endParaRPr lang="zh-CN" altLang="en-US"/>
            </a:p>
          </p:txBody>
        </p:sp>
        <p:sp>
          <p:nvSpPr>
            <p:cNvPr id="31768" name="Line 18"/>
            <p:cNvSpPr>
              <a:spLocks noChangeShapeType="1"/>
            </p:cNvSpPr>
            <p:nvPr/>
          </p:nvSpPr>
          <p:spPr bwMode="auto">
            <a:xfrm>
              <a:off x="3600" y="2875"/>
              <a:ext cx="0" cy="528"/>
            </a:xfrm>
            <a:prstGeom prst="line">
              <a:avLst/>
            </a:prstGeom>
            <a:noFill/>
            <a:ln w="28575">
              <a:solidFill>
                <a:schemeClr val="tx1"/>
              </a:solidFill>
              <a:round/>
              <a:headEnd/>
              <a:tailEnd/>
            </a:ln>
          </p:spPr>
          <p:txBody>
            <a:bodyPr wrap="none" anchor="ctr"/>
            <a:lstStyle/>
            <a:p>
              <a:endParaRPr lang="zh-CN" altLang="en-US"/>
            </a:p>
          </p:txBody>
        </p:sp>
        <p:sp>
          <p:nvSpPr>
            <p:cNvPr id="31769" name="Line 19"/>
            <p:cNvSpPr>
              <a:spLocks noChangeShapeType="1"/>
            </p:cNvSpPr>
            <p:nvPr/>
          </p:nvSpPr>
          <p:spPr bwMode="auto">
            <a:xfrm>
              <a:off x="5136" y="2875"/>
              <a:ext cx="0" cy="528"/>
            </a:xfrm>
            <a:prstGeom prst="line">
              <a:avLst/>
            </a:prstGeom>
            <a:noFill/>
            <a:ln w="28575">
              <a:solidFill>
                <a:schemeClr val="tx1"/>
              </a:solidFill>
              <a:round/>
              <a:headEnd/>
              <a:tailEnd/>
            </a:ln>
          </p:spPr>
          <p:txBody>
            <a:bodyPr wrap="none" anchor="ctr"/>
            <a:lstStyle/>
            <a:p>
              <a:endParaRPr lang="zh-CN" altLang="en-US"/>
            </a:p>
          </p:txBody>
        </p:sp>
        <p:sp>
          <p:nvSpPr>
            <p:cNvPr id="31770" name="Line 20"/>
            <p:cNvSpPr>
              <a:spLocks noChangeShapeType="1"/>
            </p:cNvSpPr>
            <p:nvPr/>
          </p:nvSpPr>
          <p:spPr bwMode="auto">
            <a:xfrm>
              <a:off x="2016" y="571"/>
              <a:ext cx="0" cy="336"/>
            </a:xfrm>
            <a:prstGeom prst="line">
              <a:avLst/>
            </a:prstGeom>
            <a:noFill/>
            <a:ln w="28575">
              <a:solidFill>
                <a:schemeClr val="tx1"/>
              </a:solidFill>
              <a:round/>
              <a:headEnd/>
              <a:tailEnd/>
            </a:ln>
          </p:spPr>
          <p:txBody>
            <a:bodyPr wrap="none" anchor="ctr"/>
            <a:lstStyle/>
            <a:p>
              <a:endParaRPr lang="zh-CN" altLang="en-US"/>
            </a:p>
          </p:txBody>
        </p:sp>
        <p:sp>
          <p:nvSpPr>
            <p:cNvPr id="31771" name="Line 21"/>
            <p:cNvSpPr>
              <a:spLocks noChangeShapeType="1"/>
            </p:cNvSpPr>
            <p:nvPr/>
          </p:nvSpPr>
          <p:spPr bwMode="auto">
            <a:xfrm flipH="1">
              <a:off x="2448" y="1195"/>
              <a:ext cx="144" cy="432"/>
            </a:xfrm>
            <a:prstGeom prst="line">
              <a:avLst/>
            </a:prstGeom>
            <a:noFill/>
            <a:ln w="28575">
              <a:solidFill>
                <a:schemeClr val="tx1"/>
              </a:solidFill>
              <a:round/>
              <a:headEnd/>
              <a:tailEnd/>
            </a:ln>
          </p:spPr>
          <p:txBody>
            <a:bodyPr wrap="none" anchor="ctr"/>
            <a:lstStyle/>
            <a:p>
              <a:endParaRPr lang="zh-CN" altLang="en-US"/>
            </a:p>
          </p:txBody>
        </p:sp>
        <p:sp>
          <p:nvSpPr>
            <p:cNvPr id="31772" name="Line 22"/>
            <p:cNvSpPr>
              <a:spLocks noChangeShapeType="1"/>
            </p:cNvSpPr>
            <p:nvPr/>
          </p:nvSpPr>
          <p:spPr bwMode="auto">
            <a:xfrm>
              <a:off x="2784" y="1195"/>
              <a:ext cx="432" cy="432"/>
            </a:xfrm>
            <a:prstGeom prst="line">
              <a:avLst/>
            </a:prstGeom>
            <a:noFill/>
            <a:ln w="28575">
              <a:solidFill>
                <a:schemeClr val="tx1"/>
              </a:solidFill>
              <a:round/>
              <a:headEnd/>
              <a:tailEnd/>
            </a:ln>
          </p:spPr>
          <p:txBody>
            <a:bodyPr wrap="none" anchor="ctr"/>
            <a:lstStyle/>
            <a:p>
              <a:endParaRPr lang="zh-CN" altLang="en-US"/>
            </a:p>
          </p:txBody>
        </p:sp>
        <p:sp>
          <p:nvSpPr>
            <p:cNvPr id="31773" name="Line 23"/>
            <p:cNvSpPr>
              <a:spLocks noChangeShapeType="1"/>
            </p:cNvSpPr>
            <p:nvPr/>
          </p:nvSpPr>
          <p:spPr bwMode="auto">
            <a:xfrm>
              <a:off x="3072" y="1195"/>
              <a:ext cx="864" cy="480"/>
            </a:xfrm>
            <a:prstGeom prst="line">
              <a:avLst/>
            </a:prstGeom>
            <a:noFill/>
            <a:ln w="28575">
              <a:solidFill>
                <a:schemeClr val="tx1"/>
              </a:solidFill>
              <a:round/>
              <a:headEnd/>
              <a:tailEnd/>
            </a:ln>
          </p:spPr>
          <p:txBody>
            <a:bodyPr wrap="none" anchor="ctr"/>
            <a:lstStyle/>
            <a:p>
              <a:endParaRPr lang="zh-CN" altLang="en-US"/>
            </a:p>
          </p:txBody>
        </p:sp>
        <p:sp>
          <p:nvSpPr>
            <p:cNvPr id="31774" name="Line 24"/>
            <p:cNvSpPr>
              <a:spLocks noChangeShapeType="1"/>
            </p:cNvSpPr>
            <p:nvPr/>
          </p:nvSpPr>
          <p:spPr bwMode="auto">
            <a:xfrm flipH="1">
              <a:off x="3552" y="1963"/>
              <a:ext cx="432" cy="576"/>
            </a:xfrm>
            <a:prstGeom prst="line">
              <a:avLst/>
            </a:prstGeom>
            <a:noFill/>
            <a:ln w="28575">
              <a:solidFill>
                <a:schemeClr val="tx1"/>
              </a:solidFill>
              <a:round/>
              <a:headEnd/>
              <a:tailEnd/>
            </a:ln>
          </p:spPr>
          <p:txBody>
            <a:bodyPr wrap="none" anchor="ctr"/>
            <a:lstStyle/>
            <a:p>
              <a:endParaRPr lang="zh-CN" altLang="en-US"/>
            </a:p>
          </p:txBody>
        </p:sp>
        <p:sp>
          <p:nvSpPr>
            <p:cNvPr id="31775" name="Line 25"/>
            <p:cNvSpPr>
              <a:spLocks noChangeShapeType="1"/>
            </p:cNvSpPr>
            <p:nvPr/>
          </p:nvSpPr>
          <p:spPr bwMode="auto">
            <a:xfrm>
              <a:off x="4128" y="1963"/>
              <a:ext cx="96" cy="576"/>
            </a:xfrm>
            <a:prstGeom prst="line">
              <a:avLst/>
            </a:prstGeom>
            <a:noFill/>
            <a:ln w="28575">
              <a:solidFill>
                <a:schemeClr val="tx1"/>
              </a:solidFill>
              <a:round/>
              <a:headEnd/>
              <a:tailEnd/>
            </a:ln>
          </p:spPr>
          <p:txBody>
            <a:bodyPr wrap="none" anchor="ctr"/>
            <a:lstStyle/>
            <a:p>
              <a:endParaRPr lang="zh-CN" altLang="en-US"/>
            </a:p>
          </p:txBody>
        </p:sp>
        <p:sp>
          <p:nvSpPr>
            <p:cNvPr id="31776" name="Line 26"/>
            <p:cNvSpPr>
              <a:spLocks noChangeShapeType="1"/>
            </p:cNvSpPr>
            <p:nvPr/>
          </p:nvSpPr>
          <p:spPr bwMode="auto">
            <a:xfrm>
              <a:off x="4320" y="1963"/>
              <a:ext cx="624" cy="576"/>
            </a:xfrm>
            <a:prstGeom prst="line">
              <a:avLst/>
            </a:prstGeom>
            <a:noFill/>
            <a:ln w="28575">
              <a:solidFill>
                <a:schemeClr val="tx1"/>
              </a:solidFill>
              <a:round/>
              <a:headEnd/>
              <a:tailEnd/>
            </a:ln>
          </p:spPr>
          <p:txBody>
            <a:bodyPr wrap="none" anchor="ctr"/>
            <a:lstStyle/>
            <a:p>
              <a:endParaRPr lang="zh-CN" altLang="en-US"/>
            </a:p>
          </p:txBody>
        </p:sp>
        <p:sp>
          <p:nvSpPr>
            <p:cNvPr id="31777" name="Line 27"/>
            <p:cNvSpPr>
              <a:spLocks noChangeShapeType="1"/>
            </p:cNvSpPr>
            <p:nvPr/>
          </p:nvSpPr>
          <p:spPr bwMode="auto">
            <a:xfrm>
              <a:off x="1488" y="715"/>
              <a:ext cx="0" cy="0"/>
            </a:xfrm>
            <a:prstGeom prst="line">
              <a:avLst/>
            </a:prstGeom>
            <a:noFill/>
            <a:ln w="9525">
              <a:solidFill>
                <a:schemeClr val="tx1"/>
              </a:solidFill>
              <a:round/>
              <a:headEnd/>
              <a:tailEnd/>
            </a:ln>
          </p:spPr>
          <p:txBody>
            <a:bodyPr wrap="none" anchor="ctr"/>
            <a:lstStyle/>
            <a:p>
              <a:endParaRPr lang="zh-CN" altLang="en-US"/>
            </a:p>
          </p:txBody>
        </p:sp>
        <p:sp>
          <p:nvSpPr>
            <p:cNvPr id="31778" name="Line 28"/>
            <p:cNvSpPr>
              <a:spLocks noChangeShapeType="1"/>
            </p:cNvSpPr>
            <p:nvPr/>
          </p:nvSpPr>
          <p:spPr bwMode="auto">
            <a:xfrm>
              <a:off x="2256" y="523"/>
              <a:ext cx="432" cy="432"/>
            </a:xfrm>
            <a:prstGeom prst="line">
              <a:avLst/>
            </a:prstGeom>
            <a:noFill/>
            <a:ln w="28575">
              <a:solidFill>
                <a:schemeClr val="tx1"/>
              </a:solidFill>
              <a:round/>
              <a:headEnd/>
              <a:tailEnd/>
            </a:ln>
          </p:spPr>
          <p:txBody>
            <a:bodyPr wrap="none" anchor="ctr"/>
            <a:lstStyle/>
            <a:p>
              <a:endParaRPr lang="zh-CN" altLang="en-US"/>
            </a:p>
          </p:txBody>
        </p:sp>
        <p:sp>
          <p:nvSpPr>
            <p:cNvPr id="31779" name="Line 29"/>
            <p:cNvSpPr>
              <a:spLocks noChangeShapeType="1"/>
            </p:cNvSpPr>
            <p:nvPr/>
          </p:nvSpPr>
          <p:spPr bwMode="auto">
            <a:xfrm flipH="1">
              <a:off x="1392" y="571"/>
              <a:ext cx="144" cy="432"/>
            </a:xfrm>
            <a:prstGeom prst="line">
              <a:avLst/>
            </a:prstGeom>
            <a:noFill/>
            <a:ln w="28575">
              <a:solidFill>
                <a:schemeClr val="tx1"/>
              </a:solidFill>
              <a:round/>
              <a:headEnd/>
              <a:tailEnd/>
            </a:ln>
          </p:spPr>
          <p:txBody>
            <a:bodyPr wrap="none" anchor="ctr"/>
            <a:lstStyle/>
            <a:p>
              <a:endParaRPr lang="zh-CN" altLang="en-US"/>
            </a:p>
          </p:txBody>
        </p:sp>
        <p:sp>
          <p:nvSpPr>
            <p:cNvPr id="31780" name="Rectangle 31"/>
            <p:cNvSpPr>
              <a:spLocks noChangeArrowheads="1"/>
            </p:cNvSpPr>
            <p:nvPr/>
          </p:nvSpPr>
          <p:spPr bwMode="auto">
            <a:xfrm>
              <a:off x="975" y="1419"/>
              <a:ext cx="816" cy="288"/>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dirty="0" smtClean="0">
                  <a:latin typeface="宋体" pitchFamily="2" charset="-122"/>
                </a:rPr>
                <a:t>sum</a:t>
              </a:r>
              <a:endParaRPr kumimoji="1" lang="zh-CN" altLang="en-US" sz="2400" b="1" dirty="0">
                <a:latin typeface="宋体" pitchFamily="2" charset="-122"/>
              </a:endParaRPr>
            </a:p>
          </p:txBody>
        </p:sp>
        <p:sp>
          <p:nvSpPr>
            <p:cNvPr id="31781" name="Rectangle 32"/>
            <p:cNvSpPr>
              <a:spLocks noChangeArrowheads="1"/>
            </p:cNvSpPr>
            <p:nvPr/>
          </p:nvSpPr>
          <p:spPr bwMode="auto">
            <a:xfrm>
              <a:off x="2200" y="3006"/>
              <a:ext cx="816" cy="288"/>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dirty="0" smtClean="0">
                  <a:latin typeface="宋体" pitchFamily="2" charset="-122"/>
                </a:rPr>
                <a:t>first</a:t>
              </a:r>
              <a:endParaRPr kumimoji="1" lang="zh-CN" altLang="en-US" sz="2400" b="1" dirty="0">
                <a:latin typeface="宋体" pitchFamily="2" charset="-122"/>
              </a:endParaRPr>
            </a:p>
          </p:txBody>
        </p:sp>
        <p:sp>
          <p:nvSpPr>
            <p:cNvPr id="31782" name="Rectangle 33"/>
            <p:cNvSpPr>
              <a:spLocks noChangeArrowheads="1"/>
            </p:cNvSpPr>
            <p:nvPr/>
          </p:nvSpPr>
          <p:spPr bwMode="auto">
            <a:xfrm>
              <a:off x="3198" y="3941"/>
              <a:ext cx="816" cy="288"/>
            </a:xfrm>
            <a:prstGeom prst="rect">
              <a:avLst/>
            </a:prstGeom>
            <a:solidFill>
              <a:schemeClr val="bg1"/>
            </a:solidFill>
            <a:ln w="28575">
              <a:solidFill>
                <a:schemeClr val="bg1"/>
              </a:solidFill>
              <a:miter lim="800000"/>
              <a:headEnd/>
              <a:tailEnd/>
            </a:ln>
          </p:spPr>
          <p:txBody>
            <a:bodyPr wrap="none" anchor="ctr"/>
            <a:lstStyle/>
            <a:p>
              <a:pPr algn="ctr"/>
              <a:r>
                <a:rPr kumimoji="1" lang="en-US" altLang="en-US" sz="2400" b="1" dirty="0" smtClean="0">
                  <a:latin typeface="宋体" pitchFamily="2" charset="-122"/>
                </a:rPr>
                <a:t>count</a:t>
              </a:r>
              <a:endParaRPr kumimoji="1" lang="zh-CN" altLang="en-US" sz="2400" b="1" dirty="0">
                <a:latin typeface="宋体" pitchFamily="2" charset="-122"/>
              </a:endParaRPr>
            </a:p>
          </p:txBody>
        </p:sp>
        <p:sp>
          <p:nvSpPr>
            <p:cNvPr id="31783" name="Rectangle 34"/>
            <p:cNvSpPr>
              <a:spLocks noChangeArrowheads="1"/>
            </p:cNvSpPr>
            <p:nvPr/>
          </p:nvSpPr>
          <p:spPr bwMode="auto">
            <a:xfrm>
              <a:off x="4740" y="3941"/>
              <a:ext cx="816" cy="288"/>
            </a:xfrm>
            <a:prstGeom prst="rect">
              <a:avLst/>
            </a:prstGeom>
            <a:solidFill>
              <a:schemeClr val="bg1"/>
            </a:solidFill>
            <a:ln w="28575">
              <a:solidFill>
                <a:schemeClr val="bg1"/>
              </a:solidFill>
              <a:miter lim="800000"/>
              <a:headEnd/>
              <a:tailEnd/>
            </a:ln>
          </p:spPr>
          <p:txBody>
            <a:bodyPr wrap="none" anchor="ctr"/>
            <a:lstStyle/>
            <a:p>
              <a:pPr algn="ctr"/>
              <a:r>
                <a:rPr kumimoji="1" lang="en-US" altLang="zh-CN" sz="2400" b="1" dirty="0" smtClean="0">
                  <a:latin typeface="宋体" pitchFamily="2" charset="-122"/>
                </a:rPr>
                <a:t>10</a:t>
              </a:r>
              <a:endParaRPr kumimoji="1" lang="zh-CN" altLang="en-US" sz="2400" b="1" dirty="0">
                <a:latin typeface="宋体" pitchFamily="2" charset="-122"/>
              </a:endParaRPr>
            </a:p>
          </p:txBody>
        </p:sp>
        <p:sp>
          <p:nvSpPr>
            <p:cNvPr id="31784" name="Line 35"/>
            <p:cNvSpPr>
              <a:spLocks noChangeShapeType="1"/>
            </p:cNvSpPr>
            <p:nvPr/>
          </p:nvSpPr>
          <p:spPr bwMode="auto">
            <a:xfrm>
              <a:off x="1338" y="1162"/>
              <a:ext cx="7" cy="32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31785" name="Line 36"/>
            <p:cNvSpPr>
              <a:spLocks noChangeShapeType="1"/>
            </p:cNvSpPr>
            <p:nvPr/>
          </p:nvSpPr>
          <p:spPr bwMode="auto">
            <a:xfrm>
              <a:off x="2608" y="2747"/>
              <a:ext cx="7" cy="32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31786" name="Line 37"/>
            <p:cNvSpPr>
              <a:spLocks noChangeShapeType="1"/>
            </p:cNvSpPr>
            <p:nvPr/>
          </p:nvSpPr>
          <p:spPr bwMode="auto">
            <a:xfrm>
              <a:off x="3606" y="3657"/>
              <a:ext cx="7" cy="32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31787" name="Line 38"/>
            <p:cNvSpPr>
              <a:spLocks noChangeShapeType="1"/>
            </p:cNvSpPr>
            <p:nvPr/>
          </p:nvSpPr>
          <p:spPr bwMode="auto">
            <a:xfrm>
              <a:off x="5103" y="3657"/>
              <a:ext cx="7" cy="320"/>
            </a:xfrm>
            <a:prstGeom prst="line">
              <a:avLst/>
            </a:prstGeom>
            <a:noFill/>
            <a:ln w="19050">
              <a:solidFill>
                <a:schemeClr val="tx1"/>
              </a:solidFill>
              <a:round/>
              <a:headEnd/>
              <a:tailEnd type="triangle" w="med" len="med"/>
            </a:ln>
          </p:spPr>
          <p:txBody>
            <a:bodyPr wrap="none" anchor="ctr"/>
            <a:lstStyle/>
            <a:p>
              <a:endParaRPr lang="zh-CN" altLang="en-US"/>
            </a:p>
          </p:txBody>
        </p:sp>
      </p:grpSp>
      <p:sp>
        <p:nvSpPr>
          <p:cNvPr id="31753" name="Text Box 40"/>
          <p:cNvSpPr txBox="1">
            <a:spLocks noChangeArrowheads="1"/>
          </p:cNvSpPr>
          <p:nvPr/>
        </p:nvSpPr>
        <p:spPr bwMode="auto">
          <a:xfrm>
            <a:off x="4656070" y="1252823"/>
            <a:ext cx="3916458" cy="461665"/>
          </a:xfrm>
          <a:prstGeom prst="rect">
            <a:avLst/>
          </a:prstGeom>
          <a:noFill/>
          <a:ln w="9525">
            <a:solidFill>
              <a:srgbClr val="FF0000"/>
            </a:solidFill>
            <a:miter lim="800000"/>
            <a:headEnd/>
            <a:tailEnd/>
          </a:ln>
        </p:spPr>
        <p:txBody>
          <a:bodyPr wrap="none">
            <a:spAutoFit/>
          </a:bodyPr>
          <a:lstStyle/>
          <a:p>
            <a:pPr algn="ctr" eaLnBrk="0" hangingPunct="0">
              <a:spcBef>
                <a:spcPct val="50000"/>
              </a:spcBef>
            </a:pPr>
            <a:r>
              <a:rPr lang="en-US" altLang="zh-CN" sz="2400" b="1" dirty="0" smtClean="0">
                <a:latin typeface="宋体" pitchFamily="2" charset="-122"/>
              </a:rPr>
              <a:t>sum</a:t>
            </a:r>
            <a:r>
              <a:rPr lang="en-US" altLang="en-US" sz="2400" b="1" dirty="0" smtClean="0">
                <a:latin typeface="宋体" pitchFamily="2" charset="-122"/>
              </a:rPr>
              <a:t>:= first + count * 10</a:t>
            </a:r>
            <a:endParaRPr kumimoji="1" lang="zh-CN" altLang="en-US" sz="2400" b="1" dirty="0">
              <a:latin typeface="宋体"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zh-CN" b="1" smtClean="0">
                <a:latin typeface="宋体" pitchFamily="2" charset="-122"/>
              </a:rPr>
              <a:t>id1:=id2+id3*N	</a:t>
            </a:r>
          </a:p>
        </p:txBody>
      </p:sp>
      <p:sp>
        <p:nvSpPr>
          <p:cNvPr id="32770" name="日期占位符 3"/>
          <p:cNvSpPr>
            <a:spLocks noGrp="1"/>
          </p:cNvSpPr>
          <p:nvPr>
            <p:ph type="dt" sz="half" idx="10"/>
          </p:nvPr>
        </p:nvSpPr>
        <p:spPr>
          <a:noFill/>
        </p:spPr>
        <p:txBody>
          <a:bodyPr/>
          <a:lstStyle/>
          <a:p>
            <a:fld id="{9A67F94F-566C-42F3-B978-0DA480B94239}" type="datetime1">
              <a:rPr lang="zh-CN" altLang="en-US" smtClean="0"/>
              <a:t>2017/1/22</a:t>
            </a:fld>
            <a:endParaRPr lang="en-US" altLang="zh-CN" smtClean="0"/>
          </a:p>
        </p:txBody>
      </p:sp>
      <p:sp>
        <p:nvSpPr>
          <p:cNvPr id="3277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2772" name="灯片编号占位符 5"/>
          <p:cNvSpPr>
            <a:spLocks noGrp="1"/>
          </p:cNvSpPr>
          <p:nvPr>
            <p:ph type="sldNum" sz="quarter" idx="12"/>
          </p:nvPr>
        </p:nvSpPr>
        <p:spPr>
          <a:noFill/>
        </p:spPr>
        <p:txBody>
          <a:bodyPr/>
          <a:lstStyle/>
          <a:p>
            <a:fld id="{83CD7621-2300-4D8F-80C9-6CCC6A5D6B9E}" type="slidenum">
              <a:rPr lang="zh-CN" altLang="en-US" smtClean="0"/>
              <a:pPr/>
              <a:t>28</a:t>
            </a:fld>
            <a:r>
              <a:rPr lang="en-US" altLang="zh-CN" dirty="0" smtClean="0"/>
              <a:t>/57</a:t>
            </a:r>
            <a:endParaRPr lang="en-US" altLang="zh-CN" dirty="0" smtClean="0"/>
          </a:p>
        </p:txBody>
      </p:sp>
      <p:grpSp>
        <p:nvGrpSpPr>
          <p:cNvPr id="32774" name="Group 19"/>
          <p:cNvGrpSpPr>
            <a:grpSpLocks/>
          </p:cNvGrpSpPr>
          <p:nvPr/>
        </p:nvGrpSpPr>
        <p:grpSpPr bwMode="auto">
          <a:xfrm>
            <a:off x="755650" y="1855788"/>
            <a:ext cx="7488238" cy="3190875"/>
            <a:chOff x="793" y="1026"/>
            <a:chExt cx="4717" cy="2010"/>
          </a:xfrm>
        </p:grpSpPr>
        <p:sp>
          <p:nvSpPr>
            <p:cNvPr id="32777" name="Text Box 4"/>
            <p:cNvSpPr txBox="1">
              <a:spLocks noChangeArrowheads="1"/>
            </p:cNvSpPr>
            <p:nvPr/>
          </p:nvSpPr>
          <p:spPr bwMode="auto">
            <a:xfrm>
              <a:off x="2006" y="1026"/>
              <a:ext cx="422" cy="330"/>
            </a:xfrm>
            <a:prstGeom prst="rect">
              <a:avLst/>
            </a:prstGeom>
            <a:noFill/>
            <a:ln w="28575">
              <a:noFill/>
              <a:miter lim="800000"/>
              <a:headEnd/>
              <a:tailEnd/>
            </a:ln>
          </p:spPr>
          <p:txBody>
            <a:bodyPr>
              <a:spAutoFit/>
            </a:bodyPr>
            <a:lstStyle/>
            <a:p>
              <a:pPr>
                <a:spcBef>
                  <a:spcPct val="50000"/>
                </a:spcBef>
              </a:pPr>
              <a:r>
                <a:rPr kumimoji="1" lang="zh-CN" altLang="en-US" sz="2800" b="1">
                  <a:latin typeface="宋体" pitchFamily="2" charset="-122"/>
                </a:rPr>
                <a:t>:=</a:t>
              </a:r>
            </a:p>
          </p:txBody>
        </p:sp>
        <p:sp>
          <p:nvSpPr>
            <p:cNvPr id="32778" name="Text Box 5"/>
            <p:cNvSpPr txBox="1">
              <a:spLocks noChangeArrowheads="1"/>
            </p:cNvSpPr>
            <p:nvPr/>
          </p:nvSpPr>
          <p:spPr bwMode="auto">
            <a:xfrm>
              <a:off x="2850" y="1602"/>
              <a:ext cx="422" cy="330"/>
            </a:xfrm>
            <a:prstGeom prst="rect">
              <a:avLst/>
            </a:prstGeom>
            <a:noFill/>
            <a:ln w="28575">
              <a:noFill/>
              <a:miter lim="800000"/>
              <a:headEnd/>
              <a:tailEnd/>
            </a:ln>
          </p:spPr>
          <p:txBody>
            <a:bodyPr>
              <a:spAutoFit/>
            </a:bodyPr>
            <a:lstStyle/>
            <a:p>
              <a:pPr>
                <a:spcBef>
                  <a:spcPct val="50000"/>
                </a:spcBef>
              </a:pPr>
              <a:r>
                <a:rPr kumimoji="1" lang="zh-CN" altLang="en-US" sz="2800" b="1">
                  <a:latin typeface="宋体" pitchFamily="2" charset="-122"/>
                </a:rPr>
                <a:t>+</a:t>
              </a:r>
            </a:p>
          </p:txBody>
        </p:sp>
        <p:sp>
          <p:nvSpPr>
            <p:cNvPr id="32779" name="Text Box 6"/>
            <p:cNvSpPr txBox="1">
              <a:spLocks noChangeArrowheads="1"/>
            </p:cNvSpPr>
            <p:nvPr/>
          </p:nvSpPr>
          <p:spPr bwMode="auto">
            <a:xfrm>
              <a:off x="4694" y="2706"/>
              <a:ext cx="816" cy="330"/>
            </a:xfrm>
            <a:prstGeom prst="rect">
              <a:avLst/>
            </a:prstGeom>
            <a:noFill/>
            <a:ln w="28575">
              <a:noFill/>
              <a:miter lim="800000"/>
              <a:headEnd/>
              <a:tailEnd/>
            </a:ln>
          </p:spPr>
          <p:txBody>
            <a:bodyPr wrap="square">
              <a:spAutoFit/>
            </a:bodyPr>
            <a:lstStyle/>
            <a:p>
              <a:pPr>
                <a:spcBef>
                  <a:spcPct val="50000"/>
                </a:spcBef>
              </a:pPr>
              <a:r>
                <a:rPr kumimoji="1" lang="en-US" altLang="zh-CN" sz="2800" b="1" dirty="0">
                  <a:latin typeface="宋体" pitchFamily="2" charset="-122"/>
                </a:rPr>
                <a:t>N </a:t>
              </a:r>
              <a:r>
                <a:rPr kumimoji="1" lang="en-US" altLang="zh-CN" sz="2800" b="1" dirty="0" smtClean="0">
                  <a:latin typeface="宋体" pitchFamily="2" charset="-122"/>
                </a:rPr>
                <a:t>(10)</a:t>
              </a:r>
              <a:endParaRPr kumimoji="1" lang="en-US" altLang="zh-CN" sz="2800" b="1" dirty="0">
                <a:latin typeface="宋体" pitchFamily="2" charset="-122"/>
              </a:endParaRPr>
            </a:p>
          </p:txBody>
        </p:sp>
        <p:sp>
          <p:nvSpPr>
            <p:cNvPr id="32780" name="Text Box 7"/>
            <p:cNvSpPr txBox="1">
              <a:spLocks noChangeArrowheads="1"/>
            </p:cNvSpPr>
            <p:nvPr/>
          </p:nvSpPr>
          <p:spPr bwMode="auto">
            <a:xfrm>
              <a:off x="3799" y="2178"/>
              <a:ext cx="422" cy="330"/>
            </a:xfrm>
            <a:prstGeom prst="rect">
              <a:avLst/>
            </a:prstGeom>
            <a:noFill/>
            <a:ln w="28575">
              <a:noFill/>
              <a:miter lim="800000"/>
              <a:headEnd/>
              <a:tailEnd/>
            </a:ln>
          </p:spPr>
          <p:txBody>
            <a:bodyPr>
              <a:spAutoFit/>
            </a:bodyPr>
            <a:lstStyle/>
            <a:p>
              <a:pPr>
                <a:spcBef>
                  <a:spcPct val="50000"/>
                </a:spcBef>
              </a:pPr>
              <a:r>
                <a:rPr kumimoji="1" lang="zh-CN" altLang="en-US" sz="2800" b="1">
                  <a:latin typeface="宋体" pitchFamily="2" charset="-122"/>
                </a:rPr>
                <a:t>*</a:t>
              </a:r>
            </a:p>
          </p:txBody>
        </p:sp>
        <p:sp>
          <p:nvSpPr>
            <p:cNvPr id="32781" name="Text Box 8"/>
            <p:cNvSpPr txBox="1">
              <a:spLocks noChangeArrowheads="1"/>
            </p:cNvSpPr>
            <p:nvPr/>
          </p:nvSpPr>
          <p:spPr bwMode="auto">
            <a:xfrm>
              <a:off x="793" y="1602"/>
              <a:ext cx="1055" cy="330"/>
            </a:xfrm>
            <a:prstGeom prst="rect">
              <a:avLst/>
            </a:prstGeom>
            <a:noFill/>
            <a:ln w="28575">
              <a:noFill/>
              <a:miter lim="800000"/>
              <a:headEnd/>
              <a:tailEnd/>
            </a:ln>
          </p:spPr>
          <p:txBody>
            <a:bodyPr>
              <a:spAutoFit/>
            </a:bodyPr>
            <a:lstStyle/>
            <a:p>
              <a:pPr>
                <a:spcBef>
                  <a:spcPct val="50000"/>
                </a:spcBef>
              </a:pPr>
              <a:r>
                <a:rPr kumimoji="1" lang="en-US" altLang="zh-CN" sz="2800" b="1" dirty="0" smtClean="0">
                  <a:latin typeface="宋体" pitchFamily="2" charset="-122"/>
                </a:rPr>
                <a:t>Id1(sum)</a:t>
              </a:r>
              <a:endParaRPr kumimoji="1" lang="en-US" altLang="zh-CN" sz="2800" b="1" dirty="0">
                <a:latin typeface="宋体" pitchFamily="2" charset="-122"/>
              </a:endParaRPr>
            </a:p>
          </p:txBody>
        </p:sp>
        <p:sp>
          <p:nvSpPr>
            <p:cNvPr id="32782" name="Text Box 9"/>
            <p:cNvSpPr txBox="1">
              <a:spLocks noChangeArrowheads="1"/>
            </p:cNvSpPr>
            <p:nvPr/>
          </p:nvSpPr>
          <p:spPr bwMode="auto">
            <a:xfrm>
              <a:off x="1473" y="2130"/>
              <a:ext cx="1406" cy="330"/>
            </a:xfrm>
            <a:prstGeom prst="rect">
              <a:avLst/>
            </a:prstGeom>
            <a:noFill/>
            <a:ln w="28575">
              <a:noFill/>
              <a:miter lim="800000"/>
              <a:headEnd/>
              <a:tailEnd/>
            </a:ln>
          </p:spPr>
          <p:txBody>
            <a:bodyPr wrap="square">
              <a:spAutoFit/>
            </a:bodyPr>
            <a:lstStyle/>
            <a:p>
              <a:pPr>
                <a:spcBef>
                  <a:spcPct val="50000"/>
                </a:spcBef>
              </a:pPr>
              <a:r>
                <a:rPr kumimoji="1" lang="en-US" altLang="zh-CN" sz="2800" b="1" dirty="0">
                  <a:latin typeface="宋体" pitchFamily="2" charset="-122"/>
                </a:rPr>
                <a:t>id2 </a:t>
              </a:r>
              <a:r>
                <a:rPr kumimoji="1" lang="en-US" altLang="zh-CN" sz="2800" b="1" dirty="0" smtClean="0">
                  <a:latin typeface="宋体" pitchFamily="2" charset="-122"/>
                </a:rPr>
                <a:t>(first)</a:t>
              </a:r>
              <a:endParaRPr kumimoji="1" lang="en-US" altLang="zh-CN" sz="2800" b="1" dirty="0">
                <a:latin typeface="宋体" pitchFamily="2" charset="-122"/>
              </a:endParaRPr>
            </a:p>
          </p:txBody>
        </p:sp>
        <p:sp>
          <p:nvSpPr>
            <p:cNvPr id="32783" name="Text Box 10"/>
            <p:cNvSpPr txBox="1">
              <a:spLocks noChangeArrowheads="1"/>
            </p:cNvSpPr>
            <p:nvPr/>
          </p:nvSpPr>
          <p:spPr bwMode="auto">
            <a:xfrm>
              <a:off x="2426" y="2706"/>
              <a:ext cx="1270" cy="330"/>
            </a:xfrm>
            <a:prstGeom prst="rect">
              <a:avLst/>
            </a:prstGeom>
            <a:noFill/>
            <a:ln w="28575">
              <a:noFill/>
              <a:miter lim="800000"/>
              <a:headEnd/>
              <a:tailEnd/>
            </a:ln>
          </p:spPr>
          <p:txBody>
            <a:bodyPr wrap="square">
              <a:spAutoFit/>
            </a:bodyPr>
            <a:lstStyle/>
            <a:p>
              <a:pPr>
                <a:spcBef>
                  <a:spcPct val="50000"/>
                </a:spcBef>
              </a:pPr>
              <a:r>
                <a:rPr kumimoji="1" lang="en-US" altLang="zh-CN" sz="2800" b="1" dirty="0">
                  <a:latin typeface="宋体" pitchFamily="2" charset="-122"/>
                </a:rPr>
                <a:t>id3 </a:t>
              </a:r>
              <a:r>
                <a:rPr kumimoji="1" lang="en-US" altLang="zh-CN" sz="2800" b="1" dirty="0" smtClean="0">
                  <a:latin typeface="宋体" pitchFamily="2" charset="-122"/>
                </a:rPr>
                <a:t>(count)</a:t>
              </a:r>
              <a:endParaRPr kumimoji="1" lang="en-US" altLang="zh-CN" sz="2800" b="1" dirty="0">
                <a:latin typeface="宋体" pitchFamily="2" charset="-122"/>
              </a:endParaRPr>
            </a:p>
          </p:txBody>
        </p:sp>
        <p:sp>
          <p:nvSpPr>
            <p:cNvPr id="32784" name="Line 11"/>
            <p:cNvSpPr>
              <a:spLocks noChangeShapeType="1"/>
            </p:cNvSpPr>
            <p:nvPr/>
          </p:nvSpPr>
          <p:spPr bwMode="auto">
            <a:xfrm flipV="1">
              <a:off x="1426" y="1314"/>
              <a:ext cx="633" cy="336"/>
            </a:xfrm>
            <a:prstGeom prst="line">
              <a:avLst/>
            </a:prstGeom>
            <a:noFill/>
            <a:ln w="28575">
              <a:solidFill>
                <a:schemeClr val="tx1"/>
              </a:solidFill>
              <a:round/>
              <a:headEnd/>
              <a:tailEnd/>
            </a:ln>
          </p:spPr>
          <p:txBody>
            <a:bodyPr wrap="none" anchor="ctr"/>
            <a:lstStyle/>
            <a:p>
              <a:endParaRPr lang="zh-CN" altLang="en-US" sz="2800"/>
            </a:p>
          </p:txBody>
        </p:sp>
        <p:sp>
          <p:nvSpPr>
            <p:cNvPr id="32785" name="Line 12"/>
            <p:cNvSpPr>
              <a:spLocks noChangeShapeType="1"/>
            </p:cNvSpPr>
            <p:nvPr/>
          </p:nvSpPr>
          <p:spPr bwMode="auto">
            <a:xfrm>
              <a:off x="2323" y="1314"/>
              <a:ext cx="527" cy="336"/>
            </a:xfrm>
            <a:prstGeom prst="line">
              <a:avLst/>
            </a:prstGeom>
            <a:noFill/>
            <a:ln w="28575">
              <a:solidFill>
                <a:schemeClr val="tx1"/>
              </a:solidFill>
              <a:round/>
              <a:headEnd/>
              <a:tailEnd/>
            </a:ln>
          </p:spPr>
          <p:txBody>
            <a:bodyPr wrap="none" anchor="ctr"/>
            <a:lstStyle/>
            <a:p>
              <a:endParaRPr lang="zh-CN" altLang="en-US" sz="2800"/>
            </a:p>
          </p:txBody>
        </p:sp>
        <p:sp>
          <p:nvSpPr>
            <p:cNvPr id="32786" name="Line 13"/>
            <p:cNvSpPr>
              <a:spLocks noChangeShapeType="1"/>
            </p:cNvSpPr>
            <p:nvPr/>
          </p:nvSpPr>
          <p:spPr bwMode="auto">
            <a:xfrm flipH="1">
              <a:off x="2164" y="1794"/>
              <a:ext cx="686" cy="384"/>
            </a:xfrm>
            <a:prstGeom prst="line">
              <a:avLst/>
            </a:prstGeom>
            <a:noFill/>
            <a:ln w="28575">
              <a:solidFill>
                <a:schemeClr val="tx1"/>
              </a:solidFill>
              <a:round/>
              <a:headEnd/>
              <a:tailEnd/>
            </a:ln>
          </p:spPr>
          <p:txBody>
            <a:bodyPr wrap="none" anchor="ctr"/>
            <a:lstStyle/>
            <a:p>
              <a:endParaRPr lang="zh-CN" altLang="en-US" sz="2800"/>
            </a:p>
          </p:txBody>
        </p:sp>
        <p:sp>
          <p:nvSpPr>
            <p:cNvPr id="32787" name="Line 14"/>
            <p:cNvSpPr>
              <a:spLocks noChangeShapeType="1"/>
            </p:cNvSpPr>
            <p:nvPr/>
          </p:nvSpPr>
          <p:spPr bwMode="auto">
            <a:xfrm>
              <a:off x="3114" y="1794"/>
              <a:ext cx="685" cy="432"/>
            </a:xfrm>
            <a:prstGeom prst="line">
              <a:avLst/>
            </a:prstGeom>
            <a:noFill/>
            <a:ln w="28575">
              <a:solidFill>
                <a:schemeClr val="tx1"/>
              </a:solidFill>
              <a:round/>
              <a:headEnd/>
              <a:tailEnd/>
            </a:ln>
          </p:spPr>
          <p:txBody>
            <a:bodyPr wrap="none" anchor="ctr"/>
            <a:lstStyle/>
            <a:p>
              <a:endParaRPr lang="zh-CN" altLang="en-US" sz="2800"/>
            </a:p>
          </p:txBody>
        </p:sp>
        <p:sp>
          <p:nvSpPr>
            <p:cNvPr id="32788" name="Line 15"/>
            <p:cNvSpPr>
              <a:spLocks noChangeShapeType="1"/>
            </p:cNvSpPr>
            <p:nvPr/>
          </p:nvSpPr>
          <p:spPr bwMode="auto">
            <a:xfrm>
              <a:off x="4063" y="2370"/>
              <a:ext cx="897" cy="432"/>
            </a:xfrm>
            <a:prstGeom prst="line">
              <a:avLst/>
            </a:prstGeom>
            <a:noFill/>
            <a:ln w="28575">
              <a:solidFill>
                <a:schemeClr val="tx1"/>
              </a:solidFill>
              <a:round/>
              <a:headEnd/>
              <a:tailEnd/>
            </a:ln>
          </p:spPr>
          <p:txBody>
            <a:bodyPr wrap="none" anchor="ctr"/>
            <a:lstStyle/>
            <a:p>
              <a:endParaRPr lang="zh-CN" altLang="en-US" sz="2800"/>
            </a:p>
          </p:txBody>
        </p:sp>
        <p:sp>
          <p:nvSpPr>
            <p:cNvPr id="32789" name="Line 16"/>
            <p:cNvSpPr>
              <a:spLocks noChangeShapeType="1"/>
            </p:cNvSpPr>
            <p:nvPr/>
          </p:nvSpPr>
          <p:spPr bwMode="auto">
            <a:xfrm flipH="1">
              <a:off x="3166" y="2370"/>
              <a:ext cx="633" cy="432"/>
            </a:xfrm>
            <a:prstGeom prst="line">
              <a:avLst/>
            </a:prstGeom>
            <a:noFill/>
            <a:ln w="28575">
              <a:solidFill>
                <a:schemeClr val="tx1"/>
              </a:solidFill>
              <a:round/>
              <a:headEnd/>
              <a:tailEnd/>
            </a:ln>
          </p:spPr>
          <p:txBody>
            <a:bodyPr wrap="none" anchor="ctr"/>
            <a:lstStyle/>
            <a:p>
              <a:endParaRPr lang="zh-CN" altLang="en-US" sz="2800"/>
            </a:p>
          </p:txBody>
        </p:sp>
      </p:grpSp>
      <p:sp>
        <p:nvSpPr>
          <p:cNvPr id="32775" name="Text Box 17"/>
          <p:cNvSpPr txBox="1">
            <a:spLocks noChangeArrowheads="1"/>
          </p:cNvSpPr>
          <p:nvPr/>
        </p:nvSpPr>
        <p:spPr bwMode="auto">
          <a:xfrm>
            <a:off x="3057525" y="5589588"/>
            <a:ext cx="1103313" cy="457200"/>
          </a:xfrm>
          <a:prstGeom prst="rect">
            <a:avLst/>
          </a:prstGeom>
          <a:noFill/>
          <a:ln w="9525">
            <a:noFill/>
            <a:miter lim="800000"/>
            <a:headEnd/>
            <a:tailEnd/>
          </a:ln>
        </p:spPr>
        <p:txBody>
          <a:bodyPr wrap="none">
            <a:spAutoFit/>
          </a:bodyPr>
          <a:lstStyle/>
          <a:p>
            <a:pPr algn="ctr" eaLnBrk="0" hangingPunct="0">
              <a:spcBef>
                <a:spcPct val="50000"/>
              </a:spcBef>
            </a:pPr>
            <a:r>
              <a:rPr lang="zh-CN" altLang="en-US" sz="2400" b="1">
                <a:latin typeface="宋体" pitchFamily="2" charset="-122"/>
              </a:rPr>
              <a:t>语法树</a:t>
            </a:r>
          </a:p>
        </p:txBody>
      </p:sp>
      <p:sp>
        <p:nvSpPr>
          <p:cNvPr id="32776" name="Text Box 18"/>
          <p:cNvSpPr txBox="1">
            <a:spLocks noChangeArrowheads="1"/>
          </p:cNvSpPr>
          <p:nvPr/>
        </p:nvSpPr>
        <p:spPr bwMode="auto">
          <a:xfrm>
            <a:off x="4499992" y="1700808"/>
            <a:ext cx="3916458" cy="461665"/>
          </a:xfrm>
          <a:prstGeom prst="rect">
            <a:avLst/>
          </a:prstGeom>
          <a:noFill/>
          <a:ln w="9525">
            <a:solidFill>
              <a:srgbClr val="FF0000"/>
            </a:solidFill>
            <a:miter lim="800000"/>
            <a:headEnd/>
            <a:tailEnd/>
          </a:ln>
        </p:spPr>
        <p:txBody>
          <a:bodyPr wrap="none">
            <a:spAutoFit/>
          </a:bodyPr>
          <a:lstStyle/>
          <a:p>
            <a:pPr algn="ctr" eaLnBrk="0" hangingPunct="0">
              <a:spcBef>
                <a:spcPct val="50000"/>
              </a:spcBef>
            </a:pPr>
            <a:r>
              <a:rPr lang="en-US" altLang="zh-CN" sz="2400" b="1" dirty="0" smtClean="0">
                <a:latin typeface="宋体" pitchFamily="2" charset="-122"/>
              </a:rPr>
              <a:t>sum</a:t>
            </a:r>
            <a:r>
              <a:rPr lang="en-US" altLang="en-US" sz="2400" b="1" dirty="0" smtClean="0">
                <a:latin typeface="宋体" pitchFamily="2" charset="-122"/>
              </a:rPr>
              <a:t>:= first + count * 10</a:t>
            </a:r>
            <a:endParaRPr kumimoji="1" lang="zh-CN" altLang="en-US" sz="2400" b="1" dirty="0">
              <a:latin typeface="宋体" pitchFamily="2"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en-US" altLang="zh-CN" b="1" dirty="0" smtClean="0"/>
              <a:t>3.</a:t>
            </a:r>
            <a:r>
              <a:rPr lang="zh-CN" altLang="en-US" b="1" dirty="0" smtClean="0"/>
              <a:t>语义分析</a:t>
            </a:r>
            <a:endParaRPr lang="zh-CN" altLang="en-US" b="1" dirty="0" smtClean="0"/>
          </a:p>
        </p:txBody>
      </p:sp>
      <p:sp>
        <p:nvSpPr>
          <p:cNvPr id="33794" name="日期占位符 3"/>
          <p:cNvSpPr>
            <a:spLocks noGrp="1"/>
          </p:cNvSpPr>
          <p:nvPr>
            <p:ph type="dt" sz="half" idx="10"/>
          </p:nvPr>
        </p:nvSpPr>
        <p:spPr>
          <a:noFill/>
        </p:spPr>
        <p:txBody>
          <a:bodyPr/>
          <a:lstStyle/>
          <a:p>
            <a:fld id="{A058ABD0-0A7C-4DD9-899F-C20418D9446F}" type="datetime1">
              <a:rPr lang="zh-CN" altLang="en-US" smtClean="0"/>
              <a:t>2017/1/22</a:t>
            </a:fld>
            <a:endParaRPr lang="en-US" altLang="zh-CN" smtClean="0"/>
          </a:p>
        </p:txBody>
      </p:sp>
      <p:sp>
        <p:nvSpPr>
          <p:cNvPr id="3379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3796" name="灯片编号占位符 5"/>
          <p:cNvSpPr>
            <a:spLocks noGrp="1"/>
          </p:cNvSpPr>
          <p:nvPr>
            <p:ph type="sldNum" sz="quarter" idx="12"/>
          </p:nvPr>
        </p:nvSpPr>
        <p:spPr>
          <a:noFill/>
        </p:spPr>
        <p:txBody>
          <a:bodyPr/>
          <a:lstStyle/>
          <a:p>
            <a:fld id="{B77A72CE-A275-416D-BBCE-8DAD70B7EB80}" type="slidenum">
              <a:rPr lang="zh-CN" altLang="en-US" smtClean="0"/>
              <a:pPr/>
              <a:t>29</a:t>
            </a:fld>
            <a:r>
              <a:rPr lang="en-US" altLang="zh-CN" dirty="0" smtClean="0"/>
              <a:t>/57</a:t>
            </a:r>
            <a:endParaRPr lang="en-US" altLang="zh-CN" dirty="0" smtClean="0"/>
          </a:p>
        </p:txBody>
      </p:sp>
      <p:sp>
        <p:nvSpPr>
          <p:cNvPr id="33798" name="Rectangle 3"/>
          <p:cNvSpPr>
            <a:spLocks noGrp="1" noChangeArrowheads="1"/>
          </p:cNvSpPr>
          <p:nvPr>
            <p:ph sz="quarter" idx="1"/>
          </p:nvPr>
        </p:nvSpPr>
        <p:spPr>
          <a:xfrm>
            <a:off x="566738" y="1752600"/>
            <a:ext cx="8001000" cy="1890714"/>
          </a:xfrm>
        </p:spPr>
        <p:txBody>
          <a:bodyPr/>
          <a:lstStyle/>
          <a:p>
            <a:pPr eaLnBrk="1" hangingPunct="1"/>
            <a:r>
              <a:rPr lang="zh-CN" altLang="en-US" b="1" dirty="0" smtClean="0">
                <a:solidFill>
                  <a:srgbClr val="3333FF"/>
                </a:solidFill>
              </a:rPr>
              <a:t>作用：</a:t>
            </a:r>
            <a:r>
              <a:rPr lang="zh-CN" altLang="en-US" b="1" dirty="0" smtClean="0"/>
              <a:t>审查源程序有无语义错误，为代码生成阶段收集类型信息。</a:t>
            </a:r>
          </a:p>
          <a:p>
            <a:pPr eaLnBrk="1" hangingPunct="1"/>
            <a:r>
              <a:rPr lang="zh-CN" altLang="en-US" dirty="0" smtClean="0"/>
              <a:t>进一步分析语法结构正确的程序是否符合源程序的上下文约束、运算相容性等规定。</a:t>
            </a:r>
            <a:endParaRPr lang="en-US" altLang="zh-CN" dirty="0" smtClean="0"/>
          </a:p>
          <a:p>
            <a:pPr eaLnBrk="1" hangingPunct="1"/>
            <a:endParaRPr lang="zh-CN" altLang="en-US" b="1" dirty="0" smtClean="0"/>
          </a:p>
        </p:txBody>
      </p:sp>
      <p:sp>
        <p:nvSpPr>
          <p:cNvPr id="7" name="Rectangle 3"/>
          <p:cNvSpPr txBox="1">
            <a:spLocks noChangeArrowheads="1"/>
          </p:cNvSpPr>
          <p:nvPr/>
        </p:nvSpPr>
        <p:spPr bwMode="auto">
          <a:xfrm>
            <a:off x="1011266" y="3767157"/>
            <a:ext cx="7632700" cy="2376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itchFamily="2" charset="2"/>
              <a:buNone/>
              <a:tabLst/>
              <a:defRPr/>
            </a:pPr>
            <a:r>
              <a:rPr kumimoji="0" lang="zh-CN" altLang="en-US" sz="2600" b="1" i="0" u="none" strike="noStrike" kern="0" cap="none" spc="0" normalizeH="0" baseline="0" noProof="0" smtClean="0">
                <a:ln>
                  <a:noFill/>
                </a:ln>
                <a:solidFill>
                  <a:schemeClr val="tx1"/>
                </a:solidFill>
                <a:effectLst/>
                <a:uLnTx/>
                <a:uFillTx/>
                <a:latin typeface="+mn-lt"/>
                <a:ea typeface="+mn-ea"/>
                <a:cs typeface="+mn-cs"/>
              </a:rPr>
              <a:t>审查静态语义</a:t>
            </a:r>
          </a:p>
          <a:p>
            <a:pPr marL="908050" marR="0" lvl="1" indent="-436563" algn="l" defTabSz="914400" rtl="0" eaLnBrk="1" fontAlgn="base" latinLnBrk="0" hangingPunct="1">
              <a:lnSpc>
                <a:spcPct val="80000"/>
              </a:lnSpc>
              <a:spcBef>
                <a:spcPct val="20000"/>
              </a:spcBef>
              <a:spcAft>
                <a:spcPct val="0"/>
              </a:spcAft>
              <a:buClr>
                <a:schemeClr val="accent2"/>
              </a:buClr>
              <a:buSzTx/>
              <a:buFont typeface="Wingdings" pitchFamily="2" charset="2"/>
              <a:buChar char="n"/>
              <a:tabLst/>
              <a:defRPr/>
            </a:pPr>
            <a:r>
              <a:rPr kumimoji="0" lang="zh-CN" altLang="en-US" sz="2800" b="1" i="0" u="none" strike="noStrike" kern="0" cap="none" spc="0" normalizeH="0" baseline="0" noProof="0" smtClean="0">
                <a:ln>
                  <a:noFill/>
                </a:ln>
                <a:solidFill>
                  <a:schemeClr val="tx1"/>
                </a:solidFill>
                <a:effectLst/>
                <a:uLnTx/>
                <a:uFillTx/>
                <a:latin typeface="+mn-lt"/>
                <a:ea typeface="+mn-ea"/>
              </a:rPr>
              <a:t>使用的变量声明了吗？</a:t>
            </a:r>
          </a:p>
          <a:p>
            <a:pPr marL="908050" marR="0" lvl="1" indent="-436563" algn="l" defTabSz="914400" rtl="0" eaLnBrk="1" fontAlgn="base" latinLnBrk="0" hangingPunct="1">
              <a:lnSpc>
                <a:spcPct val="80000"/>
              </a:lnSpc>
              <a:spcBef>
                <a:spcPct val="20000"/>
              </a:spcBef>
              <a:spcAft>
                <a:spcPct val="0"/>
              </a:spcAft>
              <a:buClr>
                <a:schemeClr val="accent2"/>
              </a:buClr>
              <a:buSzTx/>
              <a:buFont typeface="Wingdings" pitchFamily="2" charset="2"/>
              <a:buChar char="n"/>
              <a:tabLst/>
              <a:defRPr/>
            </a:pPr>
            <a:r>
              <a:rPr kumimoji="0" lang="zh-CN" altLang="en-US" sz="2800" b="1" i="0" u="none" strike="noStrike" kern="0" cap="none" spc="0" normalizeH="0" baseline="0" noProof="0" smtClean="0">
                <a:ln>
                  <a:noFill/>
                </a:ln>
                <a:solidFill>
                  <a:schemeClr val="tx1"/>
                </a:solidFill>
                <a:effectLst/>
                <a:uLnTx/>
                <a:uFillTx/>
                <a:latin typeface="+mn-lt"/>
                <a:ea typeface="+mn-ea"/>
              </a:rPr>
              <a:t>允许操作的运算对象吗？</a:t>
            </a:r>
          </a:p>
          <a:p>
            <a:pPr marL="908050" marR="0" lvl="1" indent="-436563" algn="l" defTabSz="914400" rtl="0" eaLnBrk="1" fontAlgn="base" latinLnBrk="0" hangingPunct="1">
              <a:lnSpc>
                <a:spcPct val="80000"/>
              </a:lnSpc>
              <a:spcBef>
                <a:spcPct val="20000"/>
              </a:spcBef>
              <a:spcAft>
                <a:spcPct val="0"/>
              </a:spcAft>
              <a:buClr>
                <a:schemeClr val="accent2"/>
              </a:buClr>
              <a:buSzTx/>
              <a:buFont typeface="Wingdings" pitchFamily="2" charset="2"/>
              <a:buChar char="n"/>
              <a:tabLst/>
              <a:defRPr/>
            </a:pPr>
            <a:r>
              <a:rPr kumimoji="0" lang="zh-CN" altLang="en-US" sz="2800" b="1" i="0" u="none" strike="noStrike" kern="0" cap="none" spc="0" normalizeH="0" baseline="0" noProof="0" smtClean="0">
                <a:ln>
                  <a:noFill/>
                </a:ln>
                <a:solidFill>
                  <a:schemeClr val="tx1"/>
                </a:solidFill>
                <a:effectLst/>
                <a:uLnTx/>
                <a:uFillTx/>
                <a:latin typeface="+mn-lt"/>
                <a:ea typeface="+mn-ea"/>
              </a:rPr>
              <a:t>类型正确吗？</a:t>
            </a:r>
          </a:p>
          <a:p>
            <a:pPr marL="908050" marR="0" lvl="1" indent="-436563" algn="l" defTabSz="914400" rtl="0" eaLnBrk="1" fontAlgn="base" latinLnBrk="0" hangingPunct="1">
              <a:lnSpc>
                <a:spcPct val="80000"/>
              </a:lnSpc>
              <a:spcBef>
                <a:spcPct val="20000"/>
              </a:spcBef>
              <a:spcAft>
                <a:spcPct val="0"/>
              </a:spcAft>
              <a:buClr>
                <a:schemeClr val="accent2"/>
              </a:buClr>
              <a:buSzTx/>
              <a:buFont typeface="Wingdings" pitchFamily="2" charset="2"/>
              <a:buChar char="n"/>
              <a:tabLst/>
              <a:defRPr/>
            </a:pPr>
            <a:r>
              <a:rPr kumimoji="0" lang="en-US" altLang="zh-CN" sz="2800" b="1" i="0" u="none" strike="noStrike" kern="0" cap="none" spc="0" normalizeH="0" baseline="0" noProof="0" smtClean="0">
                <a:ln>
                  <a:noFill/>
                </a:ln>
                <a:solidFill>
                  <a:schemeClr val="tx1"/>
                </a:solidFill>
                <a:effectLst/>
                <a:uLnTx/>
                <a:uFillTx/>
                <a:latin typeface="宋体" pitchFamily="2" charset="-122"/>
                <a:ea typeface="+mn-ea"/>
              </a:rPr>
              <a:t>…</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zh-CN" altLang="en-US" dirty="0" smtClean="0"/>
              <a:t>语义分析</a:t>
            </a:r>
            <a:r>
              <a:rPr lang="en-US" altLang="zh-CN" dirty="0" smtClean="0"/>
              <a:t>(</a:t>
            </a:r>
            <a:r>
              <a:rPr lang="zh-CN" altLang="en-US" dirty="0" smtClean="0"/>
              <a:t>处理）</a:t>
            </a:r>
          </a:p>
        </p:txBody>
      </p:sp>
      <p:sp>
        <p:nvSpPr>
          <p:cNvPr id="37890" name="日期占位符 3"/>
          <p:cNvSpPr>
            <a:spLocks noGrp="1"/>
          </p:cNvSpPr>
          <p:nvPr>
            <p:ph type="dt" sz="half" idx="10"/>
          </p:nvPr>
        </p:nvSpPr>
        <p:spPr>
          <a:noFill/>
        </p:spPr>
        <p:txBody>
          <a:bodyPr/>
          <a:lstStyle/>
          <a:p>
            <a:fld id="{DB64EAB1-D0A9-46ED-998F-486B551E89CB}" type="datetime1">
              <a:rPr lang="zh-CN" altLang="en-US" smtClean="0"/>
              <a:t>2017/1/22</a:t>
            </a:fld>
            <a:endParaRPr lang="en-US" altLang="zh-CN" dirty="0" smtClean="0"/>
          </a:p>
        </p:txBody>
      </p:sp>
      <p:sp>
        <p:nvSpPr>
          <p:cNvPr id="3789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7892" name="灯片编号占位符 5"/>
          <p:cNvSpPr>
            <a:spLocks noGrp="1"/>
          </p:cNvSpPr>
          <p:nvPr>
            <p:ph type="sldNum" sz="quarter" idx="12"/>
          </p:nvPr>
        </p:nvSpPr>
        <p:spPr>
          <a:noFill/>
        </p:spPr>
        <p:txBody>
          <a:bodyPr/>
          <a:lstStyle/>
          <a:p>
            <a:fld id="{039903B0-CF1F-4920-8CB1-A240286F3EBE}" type="slidenum">
              <a:rPr lang="zh-CN" altLang="en-US" smtClean="0"/>
              <a:pPr/>
              <a:t>30</a:t>
            </a:fld>
            <a:r>
              <a:rPr lang="en-US" altLang="zh-CN" dirty="0" smtClean="0"/>
              <a:t>/57</a:t>
            </a:r>
            <a:endParaRPr lang="en-US" altLang="zh-CN" dirty="0" smtClean="0"/>
          </a:p>
        </p:txBody>
      </p:sp>
      <p:grpSp>
        <p:nvGrpSpPr>
          <p:cNvPr id="37894" name="Group 3"/>
          <p:cNvGrpSpPr>
            <a:grpSpLocks/>
          </p:cNvGrpSpPr>
          <p:nvPr/>
        </p:nvGrpSpPr>
        <p:grpSpPr bwMode="auto">
          <a:xfrm>
            <a:off x="2228880" y="1538303"/>
            <a:ext cx="6629400" cy="4105275"/>
            <a:chOff x="912" y="1200"/>
            <a:chExt cx="4176" cy="2586"/>
          </a:xfrm>
        </p:grpSpPr>
        <p:sp>
          <p:nvSpPr>
            <p:cNvPr id="37896" name="Text Box 4"/>
            <p:cNvSpPr txBox="1">
              <a:spLocks noChangeArrowheads="1"/>
            </p:cNvSpPr>
            <p:nvPr/>
          </p:nvSpPr>
          <p:spPr bwMode="auto">
            <a:xfrm>
              <a:off x="4416" y="3456"/>
              <a:ext cx="384" cy="330"/>
            </a:xfrm>
            <a:prstGeom prst="rect">
              <a:avLst/>
            </a:prstGeom>
            <a:noFill/>
            <a:ln w="28575">
              <a:noFill/>
              <a:miter lim="800000"/>
              <a:headEnd/>
              <a:tailEnd/>
            </a:ln>
          </p:spPr>
          <p:txBody>
            <a:bodyPr>
              <a:spAutoFit/>
            </a:bodyPr>
            <a:lstStyle/>
            <a:p>
              <a:pPr>
                <a:spcBef>
                  <a:spcPct val="50000"/>
                </a:spcBef>
              </a:pPr>
              <a:r>
                <a:rPr kumimoji="1" lang="en-US" altLang="zh-CN" sz="2800" dirty="0" smtClean="0">
                  <a:latin typeface="Times New Roman" pitchFamily="18" charset="0"/>
                </a:rPr>
                <a:t>1</a:t>
              </a:r>
              <a:r>
                <a:rPr kumimoji="1" lang="zh-CN" altLang="en-US" sz="2800" dirty="0" smtClean="0">
                  <a:latin typeface="Times New Roman" pitchFamily="18" charset="0"/>
                </a:rPr>
                <a:t>0</a:t>
              </a:r>
              <a:endParaRPr kumimoji="1" lang="zh-CN" altLang="en-US" sz="2800" dirty="0">
                <a:latin typeface="Times New Roman" pitchFamily="18" charset="0"/>
              </a:endParaRPr>
            </a:p>
          </p:txBody>
        </p:sp>
        <p:sp>
          <p:nvSpPr>
            <p:cNvPr id="37897" name="Text Box 5"/>
            <p:cNvSpPr txBox="1">
              <a:spLocks noChangeArrowheads="1"/>
            </p:cNvSpPr>
            <p:nvPr/>
          </p:nvSpPr>
          <p:spPr bwMode="auto">
            <a:xfrm>
              <a:off x="2016" y="1200"/>
              <a:ext cx="407" cy="330"/>
            </a:xfrm>
            <a:prstGeom prst="rect">
              <a:avLst/>
            </a:prstGeom>
            <a:noFill/>
            <a:ln w="28575">
              <a:noFill/>
              <a:miter lim="800000"/>
              <a:headEnd/>
              <a:tailEnd/>
            </a:ln>
          </p:spPr>
          <p:txBody>
            <a:bodyPr>
              <a:spAutoFit/>
            </a:bodyPr>
            <a:lstStyle/>
            <a:p>
              <a:pPr>
                <a:spcBef>
                  <a:spcPct val="50000"/>
                </a:spcBef>
              </a:pPr>
              <a:r>
                <a:rPr kumimoji="1" lang="zh-CN" altLang="en-US" sz="2800">
                  <a:latin typeface="Times New Roman" pitchFamily="18" charset="0"/>
                </a:rPr>
                <a:t>:=</a:t>
              </a:r>
            </a:p>
          </p:txBody>
        </p:sp>
        <p:sp>
          <p:nvSpPr>
            <p:cNvPr id="37898" name="Text Box 6"/>
            <p:cNvSpPr txBox="1">
              <a:spLocks noChangeArrowheads="1"/>
            </p:cNvSpPr>
            <p:nvPr/>
          </p:nvSpPr>
          <p:spPr bwMode="auto">
            <a:xfrm>
              <a:off x="2784" y="1776"/>
              <a:ext cx="407" cy="330"/>
            </a:xfrm>
            <a:prstGeom prst="rect">
              <a:avLst/>
            </a:prstGeom>
            <a:noFill/>
            <a:ln w="28575">
              <a:noFill/>
              <a:miter lim="800000"/>
              <a:headEnd/>
              <a:tailEnd/>
            </a:ln>
          </p:spPr>
          <p:txBody>
            <a:bodyPr>
              <a:spAutoFit/>
            </a:bodyPr>
            <a:lstStyle/>
            <a:p>
              <a:pPr>
                <a:spcBef>
                  <a:spcPct val="50000"/>
                </a:spcBef>
              </a:pPr>
              <a:r>
                <a:rPr kumimoji="1" lang="zh-CN" altLang="en-US" sz="2800" dirty="0">
                  <a:latin typeface="Times New Roman" pitchFamily="18" charset="0"/>
                </a:rPr>
                <a:t>+</a:t>
              </a:r>
            </a:p>
          </p:txBody>
        </p:sp>
        <p:sp>
          <p:nvSpPr>
            <p:cNvPr id="37899" name="Text Box 7"/>
            <p:cNvSpPr txBox="1">
              <a:spLocks noChangeArrowheads="1"/>
            </p:cNvSpPr>
            <p:nvPr/>
          </p:nvSpPr>
          <p:spPr bwMode="auto">
            <a:xfrm>
              <a:off x="3648" y="2352"/>
              <a:ext cx="407" cy="330"/>
            </a:xfrm>
            <a:prstGeom prst="rect">
              <a:avLst/>
            </a:prstGeom>
            <a:noFill/>
            <a:ln w="28575">
              <a:noFill/>
              <a:miter lim="800000"/>
              <a:headEnd/>
              <a:tailEnd/>
            </a:ln>
          </p:spPr>
          <p:txBody>
            <a:bodyPr>
              <a:spAutoFit/>
            </a:bodyPr>
            <a:lstStyle/>
            <a:p>
              <a:pPr>
                <a:spcBef>
                  <a:spcPct val="50000"/>
                </a:spcBef>
              </a:pPr>
              <a:r>
                <a:rPr kumimoji="1" lang="zh-CN" altLang="en-US" sz="2800">
                  <a:latin typeface="Times New Roman" pitchFamily="18" charset="0"/>
                </a:rPr>
                <a:t>*</a:t>
              </a:r>
            </a:p>
          </p:txBody>
        </p:sp>
        <p:sp>
          <p:nvSpPr>
            <p:cNvPr id="37900" name="Text Box 8"/>
            <p:cNvSpPr txBox="1">
              <a:spLocks noChangeArrowheads="1"/>
            </p:cNvSpPr>
            <p:nvPr/>
          </p:nvSpPr>
          <p:spPr bwMode="auto">
            <a:xfrm>
              <a:off x="912" y="1776"/>
              <a:ext cx="1016" cy="330"/>
            </a:xfrm>
            <a:prstGeom prst="rect">
              <a:avLst/>
            </a:prstGeom>
            <a:noFill/>
            <a:ln w="28575">
              <a:noFill/>
              <a:miter lim="800000"/>
              <a:headEnd/>
              <a:tailEnd/>
            </a:ln>
          </p:spPr>
          <p:txBody>
            <a:bodyPr>
              <a:spAutoFit/>
            </a:bodyPr>
            <a:lstStyle/>
            <a:p>
              <a:pPr>
                <a:spcBef>
                  <a:spcPct val="50000"/>
                </a:spcBef>
              </a:pPr>
              <a:r>
                <a:rPr kumimoji="1" lang="en-US" altLang="zh-CN" sz="2800" dirty="0">
                  <a:latin typeface="Times New Roman" pitchFamily="18" charset="0"/>
                </a:rPr>
                <a:t>Id1 </a:t>
              </a:r>
              <a:r>
                <a:rPr kumimoji="1" lang="en-US" altLang="zh-CN" sz="2800" dirty="0" smtClean="0">
                  <a:latin typeface="Times New Roman" pitchFamily="18" charset="0"/>
                </a:rPr>
                <a:t>(sum)</a:t>
              </a:r>
              <a:endParaRPr kumimoji="1" lang="en-US" altLang="zh-CN" sz="2800" dirty="0">
                <a:latin typeface="Times New Roman" pitchFamily="18" charset="0"/>
              </a:endParaRPr>
            </a:p>
          </p:txBody>
        </p:sp>
        <p:sp>
          <p:nvSpPr>
            <p:cNvPr id="37901" name="Text Box 9"/>
            <p:cNvSpPr txBox="1">
              <a:spLocks noChangeArrowheads="1"/>
            </p:cNvSpPr>
            <p:nvPr/>
          </p:nvSpPr>
          <p:spPr bwMode="auto">
            <a:xfrm>
              <a:off x="1728" y="2304"/>
              <a:ext cx="973" cy="330"/>
            </a:xfrm>
            <a:prstGeom prst="rect">
              <a:avLst/>
            </a:prstGeom>
            <a:noFill/>
            <a:ln w="28575">
              <a:noFill/>
              <a:miter lim="800000"/>
              <a:headEnd/>
              <a:tailEnd/>
            </a:ln>
          </p:spPr>
          <p:txBody>
            <a:bodyPr wrap="square">
              <a:spAutoFit/>
            </a:bodyPr>
            <a:lstStyle/>
            <a:p>
              <a:pPr>
                <a:spcBef>
                  <a:spcPct val="50000"/>
                </a:spcBef>
              </a:pPr>
              <a:r>
                <a:rPr kumimoji="1" lang="en-US" altLang="zh-CN" sz="2800" dirty="0">
                  <a:latin typeface="Times New Roman" pitchFamily="18" charset="0"/>
                </a:rPr>
                <a:t>Id2 </a:t>
              </a:r>
              <a:r>
                <a:rPr kumimoji="1" lang="en-US" altLang="zh-CN" sz="2800" dirty="0" smtClean="0">
                  <a:latin typeface="Times New Roman" pitchFamily="18" charset="0"/>
                </a:rPr>
                <a:t>(first)</a:t>
              </a:r>
              <a:endParaRPr kumimoji="1" lang="en-US" altLang="zh-CN" sz="2800" dirty="0">
                <a:latin typeface="Times New Roman" pitchFamily="18" charset="0"/>
              </a:endParaRPr>
            </a:p>
          </p:txBody>
        </p:sp>
        <p:sp>
          <p:nvSpPr>
            <p:cNvPr id="37902" name="Text Box 10"/>
            <p:cNvSpPr txBox="1">
              <a:spLocks noChangeArrowheads="1"/>
            </p:cNvSpPr>
            <p:nvPr/>
          </p:nvSpPr>
          <p:spPr bwMode="auto">
            <a:xfrm>
              <a:off x="2520" y="2880"/>
              <a:ext cx="1043" cy="330"/>
            </a:xfrm>
            <a:prstGeom prst="rect">
              <a:avLst/>
            </a:prstGeom>
            <a:noFill/>
            <a:ln w="28575">
              <a:noFill/>
              <a:miter lim="800000"/>
              <a:headEnd/>
              <a:tailEnd/>
            </a:ln>
          </p:spPr>
          <p:txBody>
            <a:bodyPr wrap="square">
              <a:spAutoFit/>
            </a:bodyPr>
            <a:lstStyle/>
            <a:p>
              <a:pPr>
                <a:spcBef>
                  <a:spcPct val="50000"/>
                </a:spcBef>
              </a:pPr>
              <a:r>
                <a:rPr kumimoji="1" lang="en-US" altLang="zh-CN" sz="2800" dirty="0">
                  <a:latin typeface="Times New Roman" pitchFamily="18" charset="0"/>
                </a:rPr>
                <a:t>Id3 </a:t>
              </a:r>
              <a:r>
                <a:rPr kumimoji="1" lang="en-US" altLang="zh-CN" sz="2800" dirty="0" smtClean="0">
                  <a:latin typeface="Times New Roman" pitchFamily="18" charset="0"/>
                </a:rPr>
                <a:t>(count)</a:t>
              </a:r>
              <a:endParaRPr kumimoji="1" lang="en-US" altLang="zh-CN" sz="2800" dirty="0">
                <a:latin typeface="Times New Roman" pitchFamily="18" charset="0"/>
              </a:endParaRPr>
            </a:p>
          </p:txBody>
        </p:sp>
        <p:sp>
          <p:nvSpPr>
            <p:cNvPr id="37903" name="Line 11"/>
            <p:cNvSpPr>
              <a:spLocks noChangeShapeType="1"/>
            </p:cNvSpPr>
            <p:nvPr/>
          </p:nvSpPr>
          <p:spPr bwMode="auto">
            <a:xfrm flipV="1">
              <a:off x="1488" y="1488"/>
              <a:ext cx="610" cy="336"/>
            </a:xfrm>
            <a:prstGeom prst="line">
              <a:avLst/>
            </a:prstGeom>
            <a:noFill/>
            <a:ln w="28575">
              <a:solidFill>
                <a:schemeClr val="tx1"/>
              </a:solidFill>
              <a:round/>
              <a:headEnd/>
              <a:tailEnd/>
            </a:ln>
          </p:spPr>
          <p:txBody>
            <a:bodyPr wrap="none" anchor="ctr"/>
            <a:lstStyle/>
            <a:p>
              <a:endParaRPr lang="zh-CN" altLang="en-US" sz="2800"/>
            </a:p>
          </p:txBody>
        </p:sp>
        <p:sp>
          <p:nvSpPr>
            <p:cNvPr id="37904" name="Line 12"/>
            <p:cNvSpPr>
              <a:spLocks noChangeShapeType="1"/>
            </p:cNvSpPr>
            <p:nvPr/>
          </p:nvSpPr>
          <p:spPr bwMode="auto">
            <a:xfrm>
              <a:off x="2304" y="1488"/>
              <a:ext cx="508" cy="336"/>
            </a:xfrm>
            <a:prstGeom prst="line">
              <a:avLst/>
            </a:prstGeom>
            <a:noFill/>
            <a:ln w="28575">
              <a:solidFill>
                <a:schemeClr val="tx1"/>
              </a:solidFill>
              <a:round/>
              <a:headEnd/>
              <a:tailEnd/>
            </a:ln>
          </p:spPr>
          <p:txBody>
            <a:bodyPr wrap="none" anchor="ctr"/>
            <a:lstStyle/>
            <a:p>
              <a:endParaRPr lang="zh-CN" altLang="en-US" sz="2800"/>
            </a:p>
          </p:txBody>
        </p:sp>
        <p:sp>
          <p:nvSpPr>
            <p:cNvPr id="37905" name="Line 13"/>
            <p:cNvSpPr>
              <a:spLocks noChangeShapeType="1"/>
            </p:cNvSpPr>
            <p:nvPr/>
          </p:nvSpPr>
          <p:spPr bwMode="auto">
            <a:xfrm flipH="1">
              <a:off x="2160" y="1968"/>
              <a:ext cx="661" cy="384"/>
            </a:xfrm>
            <a:prstGeom prst="line">
              <a:avLst/>
            </a:prstGeom>
            <a:noFill/>
            <a:ln w="28575">
              <a:solidFill>
                <a:schemeClr val="tx1"/>
              </a:solidFill>
              <a:round/>
              <a:headEnd/>
              <a:tailEnd/>
            </a:ln>
          </p:spPr>
          <p:txBody>
            <a:bodyPr wrap="none" anchor="ctr"/>
            <a:lstStyle/>
            <a:p>
              <a:endParaRPr lang="zh-CN" altLang="en-US" sz="2800"/>
            </a:p>
          </p:txBody>
        </p:sp>
        <p:sp>
          <p:nvSpPr>
            <p:cNvPr id="37906" name="Line 14"/>
            <p:cNvSpPr>
              <a:spLocks noChangeShapeType="1"/>
            </p:cNvSpPr>
            <p:nvPr/>
          </p:nvSpPr>
          <p:spPr bwMode="auto">
            <a:xfrm>
              <a:off x="3024" y="1968"/>
              <a:ext cx="661" cy="432"/>
            </a:xfrm>
            <a:prstGeom prst="line">
              <a:avLst/>
            </a:prstGeom>
            <a:noFill/>
            <a:ln w="28575">
              <a:solidFill>
                <a:schemeClr val="tx1"/>
              </a:solidFill>
              <a:round/>
              <a:headEnd/>
              <a:tailEnd/>
            </a:ln>
          </p:spPr>
          <p:txBody>
            <a:bodyPr wrap="none" anchor="ctr"/>
            <a:lstStyle/>
            <a:p>
              <a:endParaRPr lang="zh-CN" altLang="en-US" sz="2800"/>
            </a:p>
          </p:txBody>
        </p:sp>
        <p:sp>
          <p:nvSpPr>
            <p:cNvPr id="37907" name="Line 15"/>
            <p:cNvSpPr>
              <a:spLocks noChangeShapeType="1"/>
            </p:cNvSpPr>
            <p:nvPr/>
          </p:nvSpPr>
          <p:spPr bwMode="auto">
            <a:xfrm>
              <a:off x="3888" y="2544"/>
              <a:ext cx="610" cy="384"/>
            </a:xfrm>
            <a:prstGeom prst="line">
              <a:avLst/>
            </a:prstGeom>
            <a:noFill/>
            <a:ln w="28575">
              <a:solidFill>
                <a:schemeClr val="tx1"/>
              </a:solidFill>
              <a:round/>
              <a:headEnd/>
              <a:tailEnd/>
            </a:ln>
          </p:spPr>
          <p:txBody>
            <a:bodyPr wrap="none" anchor="ctr"/>
            <a:lstStyle/>
            <a:p>
              <a:endParaRPr lang="zh-CN" altLang="en-US" sz="2800"/>
            </a:p>
          </p:txBody>
        </p:sp>
        <p:sp>
          <p:nvSpPr>
            <p:cNvPr id="37908" name="Line 16"/>
            <p:cNvSpPr>
              <a:spLocks noChangeShapeType="1"/>
            </p:cNvSpPr>
            <p:nvPr/>
          </p:nvSpPr>
          <p:spPr bwMode="auto">
            <a:xfrm flipH="1">
              <a:off x="3072" y="2544"/>
              <a:ext cx="610" cy="432"/>
            </a:xfrm>
            <a:prstGeom prst="line">
              <a:avLst/>
            </a:prstGeom>
            <a:noFill/>
            <a:ln w="28575">
              <a:solidFill>
                <a:schemeClr val="tx1"/>
              </a:solidFill>
              <a:round/>
              <a:headEnd/>
              <a:tailEnd/>
            </a:ln>
          </p:spPr>
          <p:txBody>
            <a:bodyPr wrap="none" anchor="ctr"/>
            <a:lstStyle/>
            <a:p>
              <a:endParaRPr lang="zh-CN" altLang="en-US" sz="2800"/>
            </a:p>
          </p:txBody>
        </p:sp>
        <p:sp>
          <p:nvSpPr>
            <p:cNvPr id="37909" name="Text Box 17"/>
            <p:cNvSpPr txBox="1">
              <a:spLocks noChangeArrowheads="1"/>
            </p:cNvSpPr>
            <p:nvPr/>
          </p:nvSpPr>
          <p:spPr bwMode="auto">
            <a:xfrm>
              <a:off x="4080" y="2880"/>
              <a:ext cx="1008" cy="330"/>
            </a:xfrm>
            <a:prstGeom prst="rect">
              <a:avLst/>
            </a:prstGeom>
            <a:noFill/>
            <a:ln w="28575">
              <a:noFill/>
              <a:miter lim="800000"/>
              <a:headEnd/>
              <a:tailEnd/>
            </a:ln>
          </p:spPr>
          <p:txBody>
            <a:bodyPr>
              <a:spAutoFit/>
            </a:bodyPr>
            <a:lstStyle/>
            <a:p>
              <a:pPr>
                <a:spcBef>
                  <a:spcPct val="50000"/>
                </a:spcBef>
              </a:pPr>
              <a:r>
                <a:rPr kumimoji="1" lang="en-US" altLang="en-US" sz="2800" dirty="0" err="1">
                  <a:latin typeface="Times New Roman" pitchFamily="18" charset="0"/>
                </a:rPr>
                <a:t>inttoreal</a:t>
              </a:r>
              <a:endParaRPr kumimoji="1" lang="en-US" altLang="zh-CN" sz="2800" dirty="0">
                <a:latin typeface="Times New Roman" pitchFamily="18" charset="0"/>
              </a:endParaRPr>
            </a:p>
          </p:txBody>
        </p:sp>
        <p:sp>
          <p:nvSpPr>
            <p:cNvPr id="37910" name="Line 18"/>
            <p:cNvSpPr>
              <a:spLocks noChangeShapeType="1"/>
            </p:cNvSpPr>
            <p:nvPr/>
          </p:nvSpPr>
          <p:spPr bwMode="auto">
            <a:xfrm>
              <a:off x="4560" y="3216"/>
              <a:ext cx="1" cy="288"/>
            </a:xfrm>
            <a:prstGeom prst="line">
              <a:avLst/>
            </a:prstGeom>
            <a:noFill/>
            <a:ln w="28575">
              <a:solidFill>
                <a:schemeClr val="tx1"/>
              </a:solidFill>
              <a:round/>
              <a:headEnd/>
              <a:tailEnd/>
            </a:ln>
          </p:spPr>
          <p:txBody>
            <a:bodyPr wrap="none" anchor="ctr"/>
            <a:lstStyle/>
            <a:p>
              <a:endParaRPr lang="zh-CN" altLang="en-US" sz="2800"/>
            </a:p>
          </p:txBody>
        </p:sp>
      </p:grpSp>
      <p:sp>
        <p:nvSpPr>
          <p:cNvPr id="37895" name="Text Box 19"/>
          <p:cNvSpPr txBox="1">
            <a:spLocks noChangeArrowheads="1"/>
          </p:cNvSpPr>
          <p:nvPr/>
        </p:nvSpPr>
        <p:spPr bwMode="auto">
          <a:xfrm>
            <a:off x="5084699" y="1714488"/>
            <a:ext cx="3916457" cy="461665"/>
          </a:xfrm>
          <a:prstGeom prst="rect">
            <a:avLst/>
          </a:prstGeom>
          <a:noFill/>
          <a:ln w="9525">
            <a:solidFill>
              <a:srgbClr val="FF0000"/>
            </a:solidFill>
            <a:miter lim="800000"/>
            <a:headEnd/>
            <a:tailEnd/>
          </a:ln>
        </p:spPr>
        <p:txBody>
          <a:bodyPr wrap="none">
            <a:spAutoFit/>
          </a:bodyPr>
          <a:lstStyle/>
          <a:p>
            <a:pPr algn="ctr" eaLnBrk="0" hangingPunct="0">
              <a:spcBef>
                <a:spcPct val="50000"/>
              </a:spcBef>
            </a:pPr>
            <a:r>
              <a:rPr lang="en-US" altLang="zh-CN" sz="2400" b="1" dirty="0" smtClean="0">
                <a:latin typeface="宋体" pitchFamily="2" charset="-122"/>
              </a:rPr>
              <a:t>sum</a:t>
            </a:r>
            <a:r>
              <a:rPr lang="en-US" altLang="en-US" sz="2400" b="1" dirty="0" smtClean="0">
                <a:latin typeface="宋体" pitchFamily="2" charset="-122"/>
              </a:rPr>
              <a:t>:= first + count * 10</a:t>
            </a:r>
            <a:endParaRPr kumimoji="1" lang="zh-CN" altLang="en-US" sz="2400" b="1" dirty="0">
              <a:latin typeface="宋体" pitchFamily="2" charset="-122"/>
            </a:endParaRPr>
          </a:p>
        </p:txBody>
      </p:sp>
      <p:sp>
        <p:nvSpPr>
          <p:cNvPr id="23" name="Text Box 19"/>
          <p:cNvSpPr txBox="1">
            <a:spLocks noChangeArrowheads="1"/>
          </p:cNvSpPr>
          <p:nvPr/>
        </p:nvSpPr>
        <p:spPr bwMode="auto">
          <a:xfrm>
            <a:off x="71438" y="5312647"/>
            <a:ext cx="7286644" cy="830997"/>
          </a:xfrm>
          <a:prstGeom prst="rect">
            <a:avLst/>
          </a:prstGeom>
          <a:noFill/>
          <a:ln w="9525">
            <a:solidFill>
              <a:srgbClr val="FF0000"/>
            </a:solidFill>
            <a:miter lim="800000"/>
            <a:headEnd/>
            <a:tailEnd/>
          </a:ln>
        </p:spPr>
        <p:txBody>
          <a:bodyPr wrap="square">
            <a:spAutoFit/>
          </a:bodyPr>
          <a:lstStyle/>
          <a:p>
            <a:pPr algn="ctr" eaLnBrk="0" hangingPunct="0">
              <a:spcBef>
                <a:spcPct val="50000"/>
              </a:spcBef>
            </a:pPr>
            <a:r>
              <a:rPr kumimoji="1" lang="zh-CN" altLang="en-US" sz="2400" b="1" dirty="0" smtClean="0">
                <a:latin typeface="宋体" pitchFamily="2" charset="-122"/>
              </a:rPr>
              <a:t>运算对象强制转换：如果</a:t>
            </a:r>
            <a:r>
              <a:rPr kumimoji="1" lang="en-US" altLang="zh-CN" sz="2400" b="1" dirty="0" smtClean="0">
                <a:latin typeface="宋体" pitchFamily="2" charset="-122"/>
              </a:rPr>
              <a:t>count</a:t>
            </a:r>
            <a:r>
              <a:rPr kumimoji="1" lang="zh-CN" altLang="en-US" sz="2400" b="1" dirty="0" smtClean="0">
                <a:latin typeface="宋体" pitchFamily="2" charset="-122"/>
              </a:rPr>
              <a:t>是实型，则语义分析后，会增加一个语义处理结点，将整数</a:t>
            </a:r>
            <a:r>
              <a:rPr kumimoji="1" lang="en-US" altLang="zh-CN" sz="2400" b="1" dirty="0" smtClean="0">
                <a:latin typeface="宋体" pitchFamily="2" charset="-122"/>
              </a:rPr>
              <a:t>10</a:t>
            </a:r>
            <a:r>
              <a:rPr kumimoji="1" lang="zh-CN" altLang="en-US" sz="2400" b="1" dirty="0" smtClean="0">
                <a:latin typeface="宋体" pitchFamily="2" charset="-122"/>
              </a:rPr>
              <a:t>变成实型。</a:t>
            </a:r>
            <a:endParaRPr kumimoji="1" lang="zh-CN" altLang="en-US" sz="2400" b="1" dirty="0">
              <a:latin typeface="宋体" pitchFamily="2"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a:xfrm>
            <a:off x="574675" y="428604"/>
            <a:ext cx="8001000" cy="696913"/>
          </a:xfrm>
        </p:spPr>
        <p:txBody>
          <a:bodyPr/>
          <a:lstStyle/>
          <a:p>
            <a:pPr eaLnBrk="1" hangingPunct="1"/>
            <a:r>
              <a:rPr lang="en-US" altLang="zh-CN" sz="3200" b="1" dirty="0" smtClean="0">
                <a:latin typeface="宋体" pitchFamily="2" charset="-122"/>
              </a:rPr>
              <a:t>4.</a:t>
            </a:r>
            <a:r>
              <a:rPr lang="zh-CN" altLang="en-US" sz="3200" b="1" dirty="0" smtClean="0">
                <a:latin typeface="宋体" pitchFamily="2" charset="-122"/>
              </a:rPr>
              <a:t>中间代码</a:t>
            </a:r>
            <a:r>
              <a:rPr lang="zh-CN" altLang="en-US" sz="3200" b="1" dirty="0" smtClean="0">
                <a:latin typeface="宋体" pitchFamily="2" charset="-122"/>
              </a:rPr>
              <a:t>（中间表示）生成</a:t>
            </a:r>
            <a:r>
              <a:rPr lang="en-US" altLang="zh-CN" sz="3200" b="1" dirty="0" smtClean="0">
                <a:latin typeface="宋体" pitchFamily="2" charset="-122"/>
              </a:rPr>
              <a:t>(</a:t>
            </a:r>
            <a:r>
              <a:rPr lang="zh-CN" altLang="en-US" sz="3200" b="1" dirty="0" smtClean="0">
                <a:latin typeface="宋体" pitchFamily="2" charset="-122"/>
              </a:rPr>
              <a:t>翻译）</a:t>
            </a:r>
          </a:p>
        </p:txBody>
      </p:sp>
      <p:sp>
        <p:nvSpPr>
          <p:cNvPr id="38914" name="日期占位符 3"/>
          <p:cNvSpPr>
            <a:spLocks noGrp="1"/>
          </p:cNvSpPr>
          <p:nvPr>
            <p:ph type="dt" sz="half" idx="10"/>
          </p:nvPr>
        </p:nvSpPr>
        <p:spPr>
          <a:noFill/>
        </p:spPr>
        <p:txBody>
          <a:bodyPr/>
          <a:lstStyle/>
          <a:p>
            <a:fld id="{0254F3C3-2468-4BD4-8DA1-89828C761749}" type="datetime1">
              <a:rPr lang="zh-CN" altLang="en-US" smtClean="0"/>
              <a:t>2017/1/22</a:t>
            </a:fld>
            <a:endParaRPr lang="en-US" altLang="zh-CN" smtClean="0"/>
          </a:p>
        </p:txBody>
      </p:sp>
      <p:sp>
        <p:nvSpPr>
          <p:cNvPr id="3891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38916" name="灯片编号占位符 5"/>
          <p:cNvSpPr>
            <a:spLocks noGrp="1"/>
          </p:cNvSpPr>
          <p:nvPr>
            <p:ph type="sldNum" sz="quarter" idx="12"/>
          </p:nvPr>
        </p:nvSpPr>
        <p:spPr>
          <a:noFill/>
        </p:spPr>
        <p:txBody>
          <a:bodyPr/>
          <a:lstStyle/>
          <a:p>
            <a:fld id="{96DF186A-C5C8-412F-AC6C-EE866F69C9D2}" type="slidenum">
              <a:rPr lang="zh-CN" altLang="en-US" smtClean="0"/>
              <a:pPr/>
              <a:t>31</a:t>
            </a:fld>
            <a:r>
              <a:rPr lang="en-US" altLang="zh-CN" dirty="0" smtClean="0"/>
              <a:t>/57</a:t>
            </a:r>
            <a:endParaRPr lang="en-US" altLang="zh-CN" dirty="0" smtClean="0"/>
          </a:p>
        </p:txBody>
      </p:sp>
      <p:sp>
        <p:nvSpPr>
          <p:cNvPr id="38918" name="Rectangle 3"/>
          <p:cNvSpPr>
            <a:spLocks noGrp="1" noChangeArrowheads="1"/>
          </p:cNvSpPr>
          <p:nvPr>
            <p:ph sz="quarter" idx="1"/>
          </p:nvPr>
        </p:nvSpPr>
        <p:spPr>
          <a:xfrm>
            <a:off x="611188" y="1844675"/>
            <a:ext cx="7772400" cy="4105275"/>
          </a:xfrm>
        </p:spPr>
        <p:txBody>
          <a:bodyPr/>
          <a:lstStyle/>
          <a:p>
            <a:pPr eaLnBrk="1" hangingPunct="1">
              <a:buFont typeface="Wingdings" pitchFamily="2" charset="2"/>
              <a:buNone/>
            </a:pPr>
            <a:r>
              <a:rPr lang="zh-CN" altLang="en-US" b="1" dirty="0" smtClean="0">
                <a:solidFill>
                  <a:srgbClr val="3333FF"/>
                </a:solidFill>
                <a:latin typeface="宋体" pitchFamily="2" charset="-122"/>
              </a:rPr>
              <a:t>中间代码</a:t>
            </a:r>
            <a:r>
              <a:rPr lang="zh-CN" altLang="en-US" b="1" dirty="0" smtClean="0">
                <a:latin typeface="宋体" pitchFamily="2" charset="-122"/>
              </a:rPr>
              <a:t>是一种结构简单、含义明确的记号系统，可设计为多种形式。</a:t>
            </a:r>
          </a:p>
          <a:p>
            <a:pPr eaLnBrk="1" hangingPunct="1">
              <a:buFont typeface="Wingdings" pitchFamily="2" charset="2"/>
              <a:buNone/>
            </a:pPr>
            <a:r>
              <a:rPr lang="zh-CN" altLang="en-US" b="1" dirty="0" smtClean="0">
                <a:solidFill>
                  <a:srgbClr val="3333FF"/>
                </a:solidFill>
                <a:latin typeface="宋体" pitchFamily="2" charset="-122"/>
              </a:rPr>
              <a:t>设计原则：</a:t>
            </a:r>
            <a:r>
              <a:rPr lang="en-US" altLang="zh-CN" b="1" dirty="0" smtClean="0">
                <a:latin typeface="宋体" pitchFamily="2" charset="-122"/>
              </a:rPr>
              <a:t>1</a:t>
            </a:r>
            <a:r>
              <a:rPr lang="zh-CN" altLang="en-US" b="1" dirty="0" smtClean="0">
                <a:latin typeface="宋体" pitchFamily="2" charset="-122"/>
              </a:rPr>
              <a:t>）容易生成；</a:t>
            </a:r>
          </a:p>
          <a:p>
            <a:pPr eaLnBrk="1" hangingPunct="1">
              <a:buFont typeface="Wingdings" pitchFamily="2" charset="2"/>
              <a:buNone/>
            </a:pPr>
            <a:r>
              <a:rPr lang="en-US" altLang="zh-CN" b="1" dirty="0" smtClean="0">
                <a:latin typeface="宋体" pitchFamily="2" charset="-122"/>
              </a:rPr>
              <a:t>          2</a:t>
            </a:r>
            <a:r>
              <a:rPr lang="zh-CN" altLang="en-US" b="1" dirty="0" smtClean="0">
                <a:latin typeface="宋体" pitchFamily="2" charset="-122"/>
              </a:rPr>
              <a:t>）容易被翻译成目标代码</a:t>
            </a:r>
          </a:p>
          <a:p>
            <a:pPr eaLnBrk="1" hangingPunct="1">
              <a:buFont typeface="Wingdings" pitchFamily="2" charset="2"/>
              <a:buNone/>
            </a:pPr>
            <a:r>
              <a:rPr lang="zh-CN" altLang="en-US" b="1" dirty="0" smtClean="0">
                <a:latin typeface="宋体" pitchFamily="2" charset="-122"/>
              </a:rPr>
              <a:t>  源程序的内部(中间)常用</a:t>
            </a:r>
            <a:r>
              <a:rPr lang="zh-CN" altLang="en-US" b="1" dirty="0" smtClean="0">
                <a:solidFill>
                  <a:srgbClr val="3333FF"/>
                </a:solidFill>
                <a:latin typeface="宋体" pitchFamily="2" charset="-122"/>
              </a:rPr>
              <a:t>表示方法</a:t>
            </a:r>
            <a:r>
              <a:rPr lang="zh-CN" altLang="en-US" b="1" dirty="0" smtClean="0">
                <a:latin typeface="宋体" pitchFamily="2" charset="-122"/>
              </a:rPr>
              <a:t>：</a:t>
            </a:r>
          </a:p>
          <a:p>
            <a:pPr lvl="1" eaLnBrk="1" hangingPunct="1">
              <a:buFont typeface="Wingdings" pitchFamily="2" charset="2"/>
              <a:buNone/>
            </a:pPr>
            <a:r>
              <a:rPr lang="zh-CN" altLang="en-US" b="1" dirty="0" smtClean="0">
                <a:latin typeface="宋体" pitchFamily="2" charset="-122"/>
              </a:rPr>
              <a:t>三元式、四元式、</a:t>
            </a:r>
            <a:r>
              <a:rPr lang="en-US" altLang="en-US" b="1" dirty="0" smtClean="0">
                <a:latin typeface="宋体" pitchFamily="2" charset="-122"/>
              </a:rPr>
              <a:t>P-</a:t>
            </a:r>
            <a:r>
              <a:rPr lang="en-US" altLang="en-US" b="1" dirty="0" err="1" smtClean="0">
                <a:latin typeface="宋体" pitchFamily="2" charset="-122"/>
              </a:rPr>
              <a:t>Code</a:t>
            </a:r>
            <a:r>
              <a:rPr lang="en-US" altLang="zh-CN" b="1" dirty="0" err="1" smtClean="0">
                <a:latin typeface="宋体" pitchFamily="2" charset="-122"/>
              </a:rPr>
              <a:t>、C</a:t>
            </a:r>
            <a:r>
              <a:rPr lang="en-US" altLang="zh-CN" b="1" dirty="0" smtClean="0">
                <a:latin typeface="宋体" pitchFamily="2" charset="-122"/>
              </a:rPr>
              <a:t>-</a:t>
            </a:r>
            <a:r>
              <a:rPr lang="en-US" altLang="zh-CN" b="1" dirty="0" err="1" smtClean="0">
                <a:latin typeface="宋体" pitchFamily="2" charset="-122"/>
              </a:rPr>
              <a:t>Code、U</a:t>
            </a:r>
            <a:r>
              <a:rPr lang="en-US" altLang="zh-CN" b="1" dirty="0" smtClean="0">
                <a:latin typeface="宋体" pitchFamily="2" charset="-122"/>
              </a:rPr>
              <a:t>-</a:t>
            </a:r>
            <a:r>
              <a:rPr lang="en-US" altLang="zh-CN" b="1" dirty="0" err="1" smtClean="0">
                <a:latin typeface="宋体" pitchFamily="2" charset="-122"/>
              </a:rPr>
              <a:t>Code、bytecode</a:t>
            </a:r>
            <a:endParaRPr lang="en-US" altLang="zh-CN" b="1" dirty="0" smtClean="0">
              <a:latin typeface="宋体"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539750" y="357166"/>
            <a:ext cx="8001000" cy="792163"/>
          </a:xfrm>
          <a:noFill/>
          <a:ln w="9525">
            <a:noFill/>
            <a:miter lim="800000"/>
            <a:headEnd/>
            <a:tailEnd/>
          </a:ln>
        </p:spPr>
        <p:txBody>
          <a:bodyPr vert="horz" wrap="square" lIns="91440" tIns="45720" rIns="91440" bIns="45720" numCol="1" anchor="b" anchorCtr="0" compatLnSpc="1">
            <a:prstTxWarp prst="textNoShape">
              <a:avLst/>
            </a:prstTxWarp>
          </a:bodyPr>
          <a:lstStyle/>
          <a:p>
            <a:pPr eaLnBrk="1" hangingPunct="1"/>
            <a:r>
              <a:rPr lang="zh-CN" altLang="en-US" sz="3200" dirty="0" smtClean="0">
                <a:latin typeface="宋体" pitchFamily="2" charset="-122"/>
              </a:rPr>
              <a:t>四元式的形式</a:t>
            </a:r>
          </a:p>
        </p:txBody>
      </p:sp>
      <p:sp>
        <p:nvSpPr>
          <p:cNvPr id="39938" name="日期占位符 3"/>
          <p:cNvSpPr>
            <a:spLocks noGrp="1"/>
          </p:cNvSpPr>
          <p:nvPr>
            <p:ph type="dt" sz="half" idx="10"/>
          </p:nvPr>
        </p:nvSpPr>
        <p:spPr>
          <a:noFill/>
        </p:spPr>
        <p:txBody>
          <a:bodyPr/>
          <a:lstStyle/>
          <a:p>
            <a:fld id="{0EC0D266-02B2-4974-ACA4-91E39C3A445C}" type="datetime1">
              <a:rPr lang="zh-CN" altLang="en-US" smtClean="0"/>
              <a:t>2017/1/22</a:t>
            </a:fld>
            <a:endParaRPr lang="en-US" altLang="zh-CN" smtClean="0"/>
          </a:p>
        </p:txBody>
      </p:sp>
      <p:sp>
        <p:nvSpPr>
          <p:cNvPr id="39939" name="页脚占位符 4"/>
          <p:cNvSpPr>
            <a:spLocks noGrp="1"/>
          </p:cNvSpPr>
          <p:nvPr>
            <p:ph type="ftr" sz="quarter" idx="11"/>
          </p:nvPr>
        </p:nvSpPr>
        <p:spPr>
          <a:noFill/>
        </p:spPr>
        <p:txBody>
          <a:bodyPr/>
          <a:lstStyle/>
          <a:p>
            <a:r>
              <a:rPr lang="zh-CN" altLang="en-US" dirty="0" smtClean="0"/>
              <a:t>第一章：引论</a:t>
            </a:r>
            <a:endParaRPr lang="en-US" altLang="zh-CN" dirty="0" smtClean="0"/>
          </a:p>
        </p:txBody>
      </p:sp>
      <p:sp>
        <p:nvSpPr>
          <p:cNvPr id="39940" name="灯片编号占位符 5"/>
          <p:cNvSpPr>
            <a:spLocks noGrp="1"/>
          </p:cNvSpPr>
          <p:nvPr>
            <p:ph type="sldNum" sz="quarter" idx="12"/>
          </p:nvPr>
        </p:nvSpPr>
        <p:spPr>
          <a:noFill/>
        </p:spPr>
        <p:txBody>
          <a:bodyPr/>
          <a:lstStyle/>
          <a:p>
            <a:fld id="{02DC1937-CE66-458E-88BF-D0578B6BBD2E}" type="slidenum">
              <a:rPr lang="zh-CN" altLang="en-US" smtClean="0"/>
              <a:pPr/>
              <a:t>32</a:t>
            </a:fld>
            <a:r>
              <a:rPr lang="en-US" altLang="zh-CN" dirty="0" smtClean="0"/>
              <a:t>/57</a:t>
            </a:r>
            <a:endParaRPr lang="en-US" altLang="zh-CN" dirty="0" smtClean="0"/>
          </a:p>
        </p:txBody>
      </p:sp>
      <p:sp>
        <p:nvSpPr>
          <p:cNvPr id="39942" name="Text Box 3"/>
          <p:cNvSpPr txBox="1">
            <a:spLocks noChangeArrowheads="1"/>
          </p:cNvSpPr>
          <p:nvPr/>
        </p:nvSpPr>
        <p:spPr bwMode="auto">
          <a:xfrm>
            <a:off x="395288" y="1770063"/>
            <a:ext cx="8497887" cy="4322762"/>
          </a:xfrm>
          <a:prstGeom prst="rect">
            <a:avLst/>
          </a:prstGeom>
          <a:noFill/>
          <a:ln w="28575">
            <a:noFill/>
            <a:miter lim="800000"/>
            <a:headEnd/>
            <a:tailEnd/>
          </a:ln>
        </p:spPr>
        <p:txBody>
          <a:bodyPr>
            <a:spAutoFit/>
          </a:bodyPr>
          <a:lstStyle/>
          <a:p>
            <a:pPr lvl="1" eaLnBrk="0" hangingPunct="0">
              <a:lnSpc>
                <a:spcPct val="80000"/>
              </a:lnSpc>
              <a:spcBef>
                <a:spcPct val="50000"/>
              </a:spcBef>
            </a:pPr>
            <a:r>
              <a:rPr kumimoji="1" lang="zh-CN" altLang="en-US" sz="2800" b="1" dirty="0">
                <a:latin typeface="宋体" pitchFamily="2" charset="-122"/>
              </a:rPr>
              <a:t>格式</a:t>
            </a:r>
            <a:r>
              <a:rPr kumimoji="1" lang="en-US" altLang="zh-CN" sz="2800" b="1" dirty="0">
                <a:latin typeface="宋体" pitchFamily="2" charset="-122"/>
                <a:sym typeface="Wingdings" pitchFamily="2" charset="2"/>
              </a:rPr>
              <a:t>:(</a:t>
            </a:r>
            <a:r>
              <a:rPr kumimoji="1" lang="zh-CN" altLang="en-US" sz="2800" b="1" dirty="0">
                <a:latin typeface="宋体" pitchFamily="2" charset="-122"/>
                <a:sym typeface="Wingdings" pitchFamily="2" charset="2"/>
              </a:rPr>
              <a:t>运算符</a:t>
            </a:r>
            <a:r>
              <a:rPr kumimoji="1" lang="en-US" altLang="zh-CN" sz="2800" b="1" dirty="0">
                <a:latin typeface="宋体" pitchFamily="2" charset="-122"/>
                <a:sym typeface="Wingdings" pitchFamily="2" charset="2"/>
              </a:rPr>
              <a:t>,</a:t>
            </a:r>
            <a:r>
              <a:rPr kumimoji="1" lang="zh-CN" altLang="en-US" sz="2800" b="1" dirty="0">
                <a:latin typeface="宋体" pitchFamily="2" charset="-122"/>
                <a:sym typeface="Wingdings" pitchFamily="2" charset="2"/>
              </a:rPr>
              <a:t>运算对象</a:t>
            </a:r>
            <a:r>
              <a:rPr kumimoji="1" lang="en-US" altLang="zh-CN" sz="2800" b="1" dirty="0">
                <a:latin typeface="宋体" pitchFamily="2" charset="-122"/>
                <a:sym typeface="Wingdings" pitchFamily="2" charset="2"/>
              </a:rPr>
              <a:t>1,</a:t>
            </a:r>
            <a:r>
              <a:rPr kumimoji="1" lang="zh-CN" altLang="en-US" sz="2800" b="1" dirty="0">
                <a:latin typeface="宋体" pitchFamily="2" charset="-122"/>
                <a:sym typeface="Wingdings" pitchFamily="2" charset="2"/>
              </a:rPr>
              <a:t>运算对象</a:t>
            </a:r>
            <a:r>
              <a:rPr kumimoji="1" lang="en-US" altLang="zh-CN" sz="2800" b="1" dirty="0">
                <a:latin typeface="宋体" pitchFamily="2" charset="-122"/>
                <a:sym typeface="Wingdings" pitchFamily="2" charset="2"/>
              </a:rPr>
              <a:t>2,</a:t>
            </a:r>
            <a:r>
              <a:rPr kumimoji="1" lang="zh-CN" altLang="en-US" sz="2800" b="1" dirty="0">
                <a:latin typeface="宋体" pitchFamily="2" charset="-122"/>
                <a:sym typeface="Wingdings" pitchFamily="2" charset="2"/>
              </a:rPr>
              <a:t>结果</a:t>
            </a:r>
            <a:r>
              <a:rPr kumimoji="1" lang="en-US" altLang="zh-CN" sz="2800" b="1" dirty="0">
                <a:latin typeface="宋体" pitchFamily="2" charset="-122"/>
                <a:sym typeface="Wingdings" pitchFamily="2" charset="2"/>
              </a:rPr>
              <a:t>)</a:t>
            </a:r>
          </a:p>
          <a:p>
            <a:pPr lvl="1" eaLnBrk="0" hangingPunct="0">
              <a:lnSpc>
                <a:spcPct val="80000"/>
              </a:lnSpc>
              <a:spcBef>
                <a:spcPct val="50000"/>
              </a:spcBef>
            </a:pPr>
            <a:r>
              <a:rPr kumimoji="1" lang="zh-CN" altLang="en-US" sz="2800" b="1" dirty="0">
                <a:latin typeface="宋体" pitchFamily="2" charset="-122"/>
              </a:rPr>
              <a:t>例</a:t>
            </a:r>
            <a:r>
              <a:rPr kumimoji="1" lang="en-US" altLang="zh-CN" sz="2800" b="1" dirty="0">
                <a:latin typeface="宋体" pitchFamily="2" charset="-122"/>
              </a:rPr>
              <a:t>1: (*  id3  t1   t2)</a:t>
            </a:r>
          </a:p>
          <a:p>
            <a:pPr lvl="1" eaLnBrk="0" hangingPunct="0">
              <a:lnSpc>
                <a:spcPct val="80000"/>
              </a:lnSpc>
              <a:spcBef>
                <a:spcPct val="50000"/>
              </a:spcBef>
            </a:pPr>
            <a:r>
              <a:rPr kumimoji="1" lang="en-US" altLang="zh-CN" sz="2800" b="1" dirty="0">
                <a:latin typeface="宋体" pitchFamily="2" charset="-122"/>
              </a:rPr>
              <a:t>     t2 = id3 * t1</a:t>
            </a:r>
          </a:p>
          <a:p>
            <a:pPr>
              <a:lnSpc>
                <a:spcPct val="80000"/>
              </a:lnSpc>
              <a:spcBef>
                <a:spcPct val="50000"/>
              </a:spcBef>
            </a:pPr>
            <a:r>
              <a:rPr kumimoji="1" lang="zh-CN" altLang="en-US" sz="2800" b="1" dirty="0">
                <a:latin typeface="宋体" pitchFamily="2" charset="-122"/>
              </a:rPr>
              <a:t>   例</a:t>
            </a:r>
            <a:r>
              <a:rPr kumimoji="1" lang="en-US" altLang="zh-CN" sz="2800" b="1" dirty="0">
                <a:latin typeface="宋体" pitchFamily="2" charset="-122"/>
              </a:rPr>
              <a:t>2</a:t>
            </a:r>
            <a:r>
              <a:rPr kumimoji="1" lang="zh-CN" altLang="en-US" sz="2800" b="1" dirty="0">
                <a:latin typeface="宋体" pitchFamily="2" charset="-122"/>
              </a:rPr>
              <a:t>：</a:t>
            </a:r>
            <a:r>
              <a:rPr kumimoji="1" lang="en-US" altLang="zh-CN" sz="2800" b="1" dirty="0">
                <a:latin typeface="宋体" pitchFamily="2" charset="-122"/>
              </a:rPr>
              <a:t>id1:= id2 + id3 * </a:t>
            </a:r>
            <a:r>
              <a:rPr kumimoji="1" lang="en-US" altLang="zh-CN" sz="2800" b="1" dirty="0" smtClean="0">
                <a:latin typeface="宋体" pitchFamily="2" charset="-122"/>
              </a:rPr>
              <a:t>10</a:t>
            </a:r>
            <a:endParaRPr kumimoji="1" lang="en-US" altLang="zh-CN" sz="2800" b="1" dirty="0">
              <a:latin typeface="宋体" pitchFamily="2" charset="-122"/>
            </a:endParaRPr>
          </a:p>
          <a:p>
            <a:pPr>
              <a:lnSpc>
                <a:spcPct val="80000"/>
              </a:lnSpc>
              <a:spcBef>
                <a:spcPct val="50000"/>
              </a:spcBef>
            </a:pPr>
            <a:r>
              <a:rPr kumimoji="1" lang="zh-CN" altLang="en-US" sz="2800" b="1" dirty="0">
                <a:latin typeface="宋体" pitchFamily="2" charset="-122"/>
              </a:rPr>
              <a:t>      (1)	(</a:t>
            </a:r>
            <a:r>
              <a:rPr kumimoji="1" lang="en-US" altLang="zh-CN" sz="2800" b="1" dirty="0" err="1">
                <a:latin typeface="宋体" pitchFamily="2" charset="-122"/>
              </a:rPr>
              <a:t>inttoreal</a:t>
            </a:r>
            <a:r>
              <a:rPr kumimoji="1" lang="en-US" altLang="zh-CN" sz="2800" b="1" dirty="0">
                <a:latin typeface="宋体" pitchFamily="2" charset="-122"/>
              </a:rPr>
              <a:t>, </a:t>
            </a:r>
            <a:r>
              <a:rPr kumimoji="1" lang="en-US" altLang="zh-CN" sz="2800" b="1" dirty="0" smtClean="0">
                <a:latin typeface="宋体" pitchFamily="2" charset="-122"/>
              </a:rPr>
              <a:t>10</a:t>
            </a:r>
            <a:r>
              <a:rPr kumimoji="1" lang="en-US" altLang="zh-CN" sz="2800" b="1" dirty="0">
                <a:latin typeface="宋体" pitchFamily="2" charset="-122"/>
              </a:rPr>
              <a:t>	</a:t>
            </a:r>
            <a:r>
              <a:rPr kumimoji="1" lang="en-US" altLang="zh-CN" sz="2800" b="1" dirty="0" smtClean="0">
                <a:latin typeface="宋体" pitchFamily="2" charset="-122"/>
              </a:rPr>
              <a:t>  -</a:t>
            </a:r>
            <a:r>
              <a:rPr kumimoji="1" lang="en-US" altLang="zh-CN" sz="2800" b="1" dirty="0">
                <a:latin typeface="宋体" pitchFamily="2" charset="-122"/>
              </a:rPr>
              <a:t>	</a:t>
            </a:r>
            <a:r>
              <a:rPr kumimoji="1" lang="en-US" altLang="zh-CN" sz="2800" b="1" dirty="0" smtClean="0">
                <a:latin typeface="宋体" pitchFamily="2" charset="-122"/>
              </a:rPr>
              <a:t> t1)</a:t>
            </a:r>
            <a:endParaRPr kumimoji="1" lang="en-US" altLang="zh-CN" sz="2800" b="1" dirty="0">
              <a:latin typeface="宋体" pitchFamily="2" charset="-122"/>
            </a:endParaRPr>
          </a:p>
          <a:p>
            <a:pPr>
              <a:lnSpc>
                <a:spcPct val="80000"/>
              </a:lnSpc>
              <a:spcBef>
                <a:spcPct val="50000"/>
              </a:spcBef>
            </a:pPr>
            <a:r>
              <a:rPr kumimoji="1" lang="zh-CN" altLang="en-US" sz="2800" b="1" dirty="0">
                <a:latin typeface="宋体" pitchFamily="2" charset="-122"/>
              </a:rPr>
              <a:t>      (2)	(*	</a:t>
            </a:r>
            <a:r>
              <a:rPr kumimoji="1" lang="en-US" altLang="zh-CN" sz="2800" b="1" dirty="0">
                <a:latin typeface="宋体" pitchFamily="2" charset="-122"/>
              </a:rPr>
              <a:t>,	</a:t>
            </a:r>
            <a:r>
              <a:rPr kumimoji="1" lang="en-US" altLang="zh-CN" sz="2800" b="1" dirty="0" smtClean="0">
                <a:latin typeface="宋体" pitchFamily="2" charset="-122"/>
              </a:rPr>
              <a:t>  id3  t1</a:t>
            </a:r>
            <a:r>
              <a:rPr kumimoji="1" lang="en-US" altLang="zh-CN" sz="2800" b="1" dirty="0">
                <a:latin typeface="宋体" pitchFamily="2" charset="-122"/>
              </a:rPr>
              <a:t>	</a:t>
            </a:r>
            <a:r>
              <a:rPr kumimoji="1" lang="en-US" altLang="zh-CN" sz="2800" b="1" dirty="0" smtClean="0">
                <a:latin typeface="宋体" pitchFamily="2" charset="-122"/>
              </a:rPr>
              <a:t> t2)</a:t>
            </a:r>
            <a:endParaRPr kumimoji="1" lang="en-US" altLang="zh-CN" sz="2800" b="1" dirty="0">
              <a:latin typeface="宋体" pitchFamily="2" charset="-122"/>
            </a:endParaRPr>
          </a:p>
          <a:p>
            <a:pPr>
              <a:lnSpc>
                <a:spcPct val="80000"/>
              </a:lnSpc>
              <a:spcBef>
                <a:spcPct val="50000"/>
              </a:spcBef>
            </a:pPr>
            <a:r>
              <a:rPr kumimoji="1" lang="zh-CN" altLang="en-US" sz="2800" b="1" dirty="0">
                <a:latin typeface="宋体" pitchFamily="2" charset="-122"/>
              </a:rPr>
              <a:t>      (3)	(+	</a:t>
            </a:r>
            <a:r>
              <a:rPr kumimoji="1" lang="en-US" altLang="zh-CN" sz="2800" b="1" dirty="0">
                <a:latin typeface="宋体" pitchFamily="2" charset="-122"/>
              </a:rPr>
              <a:t>,	</a:t>
            </a:r>
            <a:r>
              <a:rPr kumimoji="1" lang="en-US" altLang="zh-CN" sz="2800" b="1" dirty="0" smtClean="0">
                <a:latin typeface="宋体" pitchFamily="2" charset="-122"/>
              </a:rPr>
              <a:t>  id2</a:t>
            </a:r>
            <a:r>
              <a:rPr kumimoji="1" lang="en-US" altLang="zh-CN" sz="2800" b="1" dirty="0">
                <a:latin typeface="宋体" pitchFamily="2" charset="-122"/>
              </a:rPr>
              <a:t>	</a:t>
            </a:r>
            <a:r>
              <a:rPr kumimoji="1" lang="en-US" altLang="zh-CN" sz="2800" b="1" dirty="0" smtClean="0">
                <a:latin typeface="宋体" pitchFamily="2" charset="-122"/>
              </a:rPr>
              <a:t>  t2</a:t>
            </a:r>
            <a:r>
              <a:rPr kumimoji="1" lang="en-US" altLang="zh-CN" sz="2800" b="1" dirty="0">
                <a:latin typeface="宋体" pitchFamily="2" charset="-122"/>
              </a:rPr>
              <a:t>	</a:t>
            </a:r>
            <a:r>
              <a:rPr kumimoji="1" lang="en-US" altLang="zh-CN" sz="2800" b="1" dirty="0" smtClean="0">
                <a:latin typeface="宋体" pitchFamily="2" charset="-122"/>
              </a:rPr>
              <a:t> t3)</a:t>
            </a:r>
            <a:endParaRPr kumimoji="1" lang="en-US" altLang="zh-CN" sz="2800" b="1" dirty="0">
              <a:latin typeface="宋体" pitchFamily="2" charset="-122"/>
            </a:endParaRPr>
          </a:p>
          <a:p>
            <a:pPr>
              <a:lnSpc>
                <a:spcPct val="80000"/>
              </a:lnSpc>
              <a:spcBef>
                <a:spcPct val="50000"/>
              </a:spcBef>
            </a:pPr>
            <a:r>
              <a:rPr kumimoji="1" lang="zh-CN" altLang="en-US" sz="2800" b="1" dirty="0">
                <a:latin typeface="宋体" pitchFamily="2" charset="-122"/>
              </a:rPr>
              <a:t>      (4)	(:=	</a:t>
            </a:r>
            <a:r>
              <a:rPr kumimoji="1" lang="en-US" altLang="zh-CN" sz="2800" b="1" dirty="0">
                <a:latin typeface="宋体" pitchFamily="2" charset="-122"/>
              </a:rPr>
              <a:t>,	</a:t>
            </a:r>
            <a:r>
              <a:rPr kumimoji="1" lang="en-US" altLang="zh-CN" sz="2800" b="1" dirty="0" smtClean="0">
                <a:latin typeface="宋体" pitchFamily="2" charset="-122"/>
              </a:rPr>
              <a:t>  t3</a:t>
            </a:r>
            <a:r>
              <a:rPr kumimoji="1" lang="en-US" altLang="zh-CN" sz="2800" b="1" dirty="0">
                <a:latin typeface="宋体" pitchFamily="2" charset="-122"/>
              </a:rPr>
              <a:t>	</a:t>
            </a:r>
            <a:r>
              <a:rPr kumimoji="1" lang="en-US" altLang="zh-CN" sz="2800" b="1" dirty="0" smtClean="0">
                <a:latin typeface="宋体" pitchFamily="2" charset="-122"/>
              </a:rPr>
              <a:t>  -</a:t>
            </a:r>
            <a:r>
              <a:rPr kumimoji="1" lang="en-US" altLang="zh-CN" sz="2800" b="1" dirty="0">
                <a:latin typeface="宋体" pitchFamily="2" charset="-122"/>
              </a:rPr>
              <a:t>	</a:t>
            </a:r>
            <a:r>
              <a:rPr kumimoji="1" lang="en-US" altLang="zh-CN" sz="2800" b="1" dirty="0" smtClean="0">
                <a:latin typeface="宋体" pitchFamily="2" charset="-122"/>
              </a:rPr>
              <a:t> id1)</a:t>
            </a:r>
            <a:endParaRPr kumimoji="1" lang="zh-CN" altLang="zh-CN" sz="2800" b="1" dirty="0">
              <a:latin typeface="宋体"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a:xfrm>
            <a:off x="574675" y="285728"/>
            <a:ext cx="7656513" cy="801688"/>
          </a:xfrm>
        </p:spPr>
        <p:txBody>
          <a:bodyPr/>
          <a:lstStyle/>
          <a:p>
            <a:pPr eaLnBrk="1" hangingPunct="1"/>
            <a:r>
              <a:rPr lang="en-US" altLang="zh-CN" b="1" dirty="0" smtClean="0"/>
              <a:t>5.</a:t>
            </a:r>
            <a:r>
              <a:rPr lang="zh-CN" altLang="en-US" b="1" dirty="0" smtClean="0"/>
              <a:t>代码优化</a:t>
            </a:r>
            <a:endParaRPr lang="zh-CN" altLang="en-US" b="1" dirty="0" smtClean="0"/>
          </a:p>
        </p:txBody>
      </p:sp>
      <p:sp>
        <p:nvSpPr>
          <p:cNvPr id="44034" name="日期占位符 3"/>
          <p:cNvSpPr>
            <a:spLocks noGrp="1"/>
          </p:cNvSpPr>
          <p:nvPr>
            <p:ph type="dt" sz="half" idx="10"/>
          </p:nvPr>
        </p:nvSpPr>
        <p:spPr>
          <a:noFill/>
        </p:spPr>
        <p:txBody>
          <a:bodyPr/>
          <a:lstStyle/>
          <a:p>
            <a:fld id="{F6C783EE-A70E-416D-B9D5-8C1E5F1BC726}" type="datetime1">
              <a:rPr lang="zh-CN" altLang="en-US" smtClean="0"/>
              <a:t>2017/1/22</a:t>
            </a:fld>
            <a:endParaRPr lang="en-US" altLang="zh-CN" smtClean="0"/>
          </a:p>
        </p:txBody>
      </p:sp>
      <p:sp>
        <p:nvSpPr>
          <p:cNvPr id="4403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44036" name="灯片编号占位符 5"/>
          <p:cNvSpPr>
            <a:spLocks noGrp="1"/>
          </p:cNvSpPr>
          <p:nvPr>
            <p:ph type="sldNum" sz="quarter" idx="12"/>
          </p:nvPr>
        </p:nvSpPr>
        <p:spPr>
          <a:noFill/>
        </p:spPr>
        <p:txBody>
          <a:bodyPr/>
          <a:lstStyle/>
          <a:p>
            <a:fld id="{FE11215B-2CAC-4051-A405-8254501DA65C}" type="slidenum">
              <a:rPr lang="zh-CN" altLang="en-US" smtClean="0"/>
              <a:pPr/>
              <a:t>33</a:t>
            </a:fld>
            <a:r>
              <a:rPr lang="en-US" altLang="zh-CN" dirty="0" smtClean="0"/>
              <a:t>/57</a:t>
            </a:r>
            <a:endParaRPr lang="en-US" altLang="zh-CN" dirty="0" smtClean="0"/>
          </a:p>
        </p:txBody>
      </p:sp>
      <p:sp>
        <p:nvSpPr>
          <p:cNvPr id="44038" name="Text Box 3"/>
          <p:cNvSpPr txBox="1">
            <a:spLocks noChangeArrowheads="1"/>
          </p:cNvSpPr>
          <p:nvPr/>
        </p:nvSpPr>
        <p:spPr bwMode="auto">
          <a:xfrm>
            <a:off x="755650" y="1730375"/>
            <a:ext cx="7315200" cy="4339650"/>
          </a:xfrm>
          <a:prstGeom prst="rect">
            <a:avLst/>
          </a:prstGeom>
          <a:noFill/>
          <a:ln w="28575">
            <a:noFill/>
            <a:miter lim="800000"/>
            <a:headEnd/>
            <a:tailEnd/>
          </a:ln>
        </p:spPr>
        <p:txBody>
          <a:bodyPr>
            <a:spAutoFit/>
          </a:bodyPr>
          <a:lstStyle/>
          <a:p>
            <a:pPr>
              <a:spcBef>
                <a:spcPct val="50000"/>
              </a:spcBef>
            </a:pPr>
            <a:r>
              <a:rPr kumimoji="1" lang="zh-CN" altLang="en-US" sz="2400" b="1" dirty="0">
                <a:latin typeface="Times New Roman" pitchFamily="18" charset="0"/>
              </a:rPr>
              <a:t>	</a:t>
            </a:r>
            <a:r>
              <a:rPr kumimoji="1" lang="en-US" altLang="zh-CN" sz="2400" b="1" dirty="0">
                <a:latin typeface="Times New Roman" pitchFamily="18" charset="0"/>
              </a:rPr>
              <a:t>id1:= id2 + id3 * </a:t>
            </a:r>
            <a:r>
              <a:rPr kumimoji="1" lang="en-US" altLang="zh-CN" sz="2400" b="1" dirty="0" smtClean="0">
                <a:latin typeface="Times New Roman" pitchFamily="18" charset="0"/>
              </a:rPr>
              <a:t>10</a:t>
            </a:r>
            <a:endParaRPr kumimoji="1" lang="en-US" altLang="zh-CN" sz="2400" b="1" dirty="0">
              <a:latin typeface="Times New Roman" pitchFamily="18" charset="0"/>
            </a:endParaRPr>
          </a:p>
          <a:p>
            <a:pPr>
              <a:spcBef>
                <a:spcPct val="50000"/>
              </a:spcBef>
            </a:pPr>
            <a:r>
              <a:rPr kumimoji="1" lang="zh-CN" altLang="en-US" sz="2400" b="1" dirty="0">
                <a:latin typeface="Times New Roman" pitchFamily="18" charset="0"/>
              </a:rPr>
              <a:t>(1)	(</a:t>
            </a:r>
            <a:r>
              <a:rPr kumimoji="1" lang="en-US" altLang="zh-CN" sz="2400" b="1" dirty="0" err="1">
                <a:solidFill>
                  <a:srgbClr val="3333FF"/>
                </a:solidFill>
                <a:latin typeface="Times New Roman" pitchFamily="18" charset="0"/>
              </a:rPr>
              <a:t>inttoreal</a:t>
            </a:r>
            <a:r>
              <a:rPr kumimoji="1" lang="en-US" altLang="zh-CN" sz="2400" b="1" dirty="0">
                <a:solidFill>
                  <a:srgbClr val="3333FF"/>
                </a:solidFill>
                <a:latin typeface="Times New Roman" pitchFamily="18" charset="0"/>
              </a:rPr>
              <a:t>	</a:t>
            </a:r>
            <a:r>
              <a:rPr kumimoji="1" lang="en-US" altLang="zh-CN" sz="2400" b="1" dirty="0" smtClean="0">
                <a:solidFill>
                  <a:srgbClr val="3333FF"/>
                </a:solidFill>
                <a:latin typeface="Times New Roman" pitchFamily="18" charset="0"/>
              </a:rPr>
              <a:t>10</a:t>
            </a:r>
            <a:r>
              <a:rPr kumimoji="1" lang="en-US" altLang="zh-CN" sz="2400" b="1" dirty="0">
                <a:solidFill>
                  <a:srgbClr val="3333FF"/>
                </a:solidFill>
                <a:latin typeface="Times New Roman" pitchFamily="18" charset="0"/>
              </a:rPr>
              <a:t>	-	t1	</a:t>
            </a:r>
            <a:r>
              <a:rPr kumimoji="1" lang="en-US" altLang="zh-CN" sz="2400" b="1" dirty="0">
                <a:latin typeface="Times New Roman" pitchFamily="18" charset="0"/>
              </a:rPr>
              <a:t>)</a:t>
            </a:r>
          </a:p>
          <a:p>
            <a:pPr>
              <a:spcBef>
                <a:spcPct val="50000"/>
              </a:spcBef>
            </a:pPr>
            <a:r>
              <a:rPr kumimoji="1" lang="zh-CN" altLang="en-US" sz="2400" b="1" dirty="0">
                <a:latin typeface="Times New Roman" pitchFamily="18" charset="0"/>
              </a:rPr>
              <a:t>(2)	(    *	            </a:t>
            </a:r>
            <a:r>
              <a:rPr kumimoji="1" lang="en-US" altLang="zh-CN" sz="2400" b="1" dirty="0">
                <a:latin typeface="Times New Roman" pitchFamily="18" charset="0"/>
              </a:rPr>
              <a:t>id3	t1	t2	)</a:t>
            </a:r>
          </a:p>
          <a:p>
            <a:pPr>
              <a:spcBef>
                <a:spcPct val="50000"/>
              </a:spcBef>
            </a:pPr>
            <a:r>
              <a:rPr kumimoji="1" lang="zh-CN" altLang="en-US" sz="2400" b="1" dirty="0">
                <a:latin typeface="Times New Roman" pitchFamily="18" charset="0"/>
              </a:rPr>
              <a:t>(3)	(    +	</a:t>
            </a:r>
            <a:r>
              <a:rPr kumimoji="1" lang="en-US" altLang="zh-CN" sz="2400" b="1" dirty="0">
                <a:latin typeface="Times New Roman" pitchFamily="18" charset="0"/>
              </a:rPr>
              <a:t>	id2	t2	t3	)</a:t>
            </a:r>
          </a:p>
          <a:p>
            <a:pPr>
              <a:spcBef>
                <a:spcPct val="50000"/>
              </a:spcBef>
            </a:pPr>
            <a:r>
              <a:rPr kumimoji="1" lang="zh-CN" altLang="en-US" sz="2400" b="1" dirty="0">
                <a:latin typeface="Times New Roman" pitchFamily="18" charset="0"/>
              </a:rPr>
              <a:t>(4)	(   </a:t>
            </a:r>
            <a:r>
              <a:rPr kumimoji="1" lang="zh-CN" altLang="en-US" sz="2400" b="1" dirty="0">
                <a:solidFill>
                  <a:srgbClr val="3333FF"/>
                </a:solidFill>
                <a:latin typeface="Times New Roman" pitchFamily="18" charset="0"/>
              </a:rPr>
              <a:t> :=	</a:t>
            </a:r>
            <a:r>
              <a:rPr kumimoji="1" lang="en-US" altLang="zh-CN" sz="2400" b="1" dirty="0">
                <a:solidFill>
                  <a:srgbClr val="3333FF"/>
                </a:solidFill>
                <a:latin typeface="Times New Roman" pitchFamily="18" charset="0"/>
              </a:rPr>
              <a:t>	t3	-	id1	</a:t>
            </a:r>
            <a:r>
              <a:rPr kumimoji="1" lang="en-US" altLang="zh-CN" sz="2400" b="1" dirty="0">
                <a:latin typeface="Times New Roman" pitchFamily="18" charset="0"/>
              </a:rPr>
              <a:t>)</a:t>
            </a:r>
          </a:p>
          <a:p>
            <a:pPr>
              <a:spcBef>
                <a:spcPct val="50000"/>
              </a:spcBef>
            </a:pPr>
            <a:r>
              <a:rPr kumimoji="1" lang="zh-CN" altLang="zh-CN" sz="2400" b="1" dirty="0">
                <a:latin typeface="Times New Roman" pitchFamily="18" charset="0"/>
                <a:sym typeface="Symbol" pitchFamily="18" charset="2"/>
              </a:rPr>
              <a:t>           变换 </a:t>
            </a:r>
            <a:endParaRPr kumimoji="1" lang="zh-CN" altLang="zh-CN" sz="2400" b="1" dirty="0">
              <a:latin typeface="Times New Roman" pitchFamily="18" charset="0"/>
            </a:endParaRPr>
          </a:p>
          <a:p>
            <a:pPr>
              <a:spcBef>
                <a:spcPct val="50000"/>
              </a:spcBef>
            </a:pPr>
            <a:r>
              <a:rPr kumimoji="1" lang="zh-CN" altLang="en-US" sz="2400" b="1" dirty="0">
                <a:latin typeface="Times New Roman" pitchFamily="18" charset="0"/>
              </a:rPr>
              <a:t>           （1） (    *	</a:t>
            </a:r>
            <a:r>
              <a:rPr kumimoji="1" lang="en-US" altLang="zh-CN" sz="2400" b="1" dirty="0">
                <a:latin typeface="Times New Roman" pitchFamily="18" charset="0"/>
              </a:rPr>
              <a:t>id3	</a:t>
            </a:r>
            <a:r>
              <a:rPr kumimoji="1" lang="en-US" altLang="zh-CN" sz="2400" b="1" dirty="0" smtClean="0">
                <a:latin typeface="Times New Roman" pitchFamily="18" charset="0"/>
              </a:rPr>
              <a:t>10.0</a:t>
            </a:r>
            <a:r>
              <a:rPr kumimoji="1" lang="en-US" altLang="zh-CN" sz="2400" b="1" dirty="0">
                <a:latin typeface="Times New Roman" pitchFamily="18" charset="0"/>
              </a:rPr>
              <a:t>	t1	)</a:t>
            </a:r>
          </a:p>
          <a:p>
            <a:pPr>
              <a:spcBef>
                <a:spcPct val="50000"/>
              </a:spcBef>
            </a:pPr>
            <a:r>
              <a:rPr kumimoji="1" lang="zh-CN" altLang="en-US" sz="2400" b="1" dirty="0">
                <a:latin typeface="Times New Roman" pitchFamily="18" charset="0"/>
              </a:rPr>
              <a:t>            ( 2）（   +	 </a:t>
            </a:r>
            <a:r>
              <a:rPr kumimoji="1" lang="en-US" altLang="zh-CN" sz="2400" b="1" dirty="0">
                <a:latin typeface="Times New Roman" pitchFamily="18" charset="0"/>
              </a:rPr>
              <a:t>id2 	t1	id1	)</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ChangeArrowheads="1"/>
          </p:cNvSpPr>
          <p:nvPr>
            <p:ph type="title"/>
          </p:nvPr>
        </p:nvSpPr>
        <p:spPr/>
        <p:txBody>
          <a:bodyPr/>
          <a:lstStyle/>
          <a:p>
            <a:pPr eaLnBrk="1" hangingPunct="1"/>
            <a:r>
              <a:rPr lang="en-US" altLang="zh-CN" b="1" dirty="0" smtClean="0"/>
              <a:t>6.</a:t>
            </a:r>
            <a:r>
              <a:rPr lang="zh-CN" altLang="en-US" b="1" dirty="0" smtClean="0"/>
              <a:t>目标代码</a:t>
            </a:r>
            <a:r>
              <a:rPr lang="zh-CN" altLang="en-US" b="1" dirty="0" smtClean="0"/>
              <a:t>生成</a:t>
            </a:r>
          </a:p>
        </p:txBody>
      </p:sp>
      <p:sp>
        <p:nvSpPr>
          <p:cNvPr id="46082" name="日期占位符 3"/>
          <p:cNvSpPr>
            <a:spLocks noGrp="1"/>
          </p:cNvSpPr>
          <p:nvPr>
            <p:ph type="dt" sz="half" idx="10"/>
          </p:nvPr>
        </p:nvSpPr>
        <p:spPr>
          <a:noFill/>
        </p:spPr>
        <p:txBody>
          <a:bodyPr/>
          <a:lstStyle/>
          <a:p>
            <a:fld id="{1AD95719-17F3-47AE-8627-E6DDE639A2EE}" type="datetime1">
              <a:rPr lang="zh-CN" altLang="en-US" smtClean="0"/>
              <a:t>2017/1/22</a:t>
            </a:fld>
            <a:endParaRPr lang="en-US" altLang="zh-CN" smtClean="0"/>
          </a:p>
        </p:txBody>
      </p:sp>
      <p:sp>
        <p:nvSpPr>
          <p:cNvPr id="4608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46084" name="灯片编号占位符 5"/>
          <p:cNvSpPr>
            <a:spLocks noGrp="1"/>
          </p:cNvSpPr>
          <p:nvPr>
            <p:ph type="sldNum" sz="quarter" idx="12"/>
          </p:nvPr>
        </p:nvSpPr>
        <p:spPr>
          <a:noFill/>
        </p:spPr>
        <p:txBody>
          <a:bodyPr/>
          <a:lstStyle/>
          <a:p>
            <a:fld id="{B6C8C13B-BF56-49E7-86F5-DCE62DA97FA8}" type="slidenum">
              <a:rPr lang="zh-CN" altLang="en-US" smtClean="0"/>
              <a:pPr/>
              <a:t>34</a:t>
            </a:fld>
            <a:r>
              <a:rPr lang="en-US" altLang="zh-CN" dirty="0" smtClean="0"/>
              <a:t>/57</a:t>
            </a:r>
            <a:endParaRPr lang="en-US" altLang="zh-CN" dirty="0" smtClean="0"/>
          </a:p>
        </p:txBody>
      </p:sp>
      <p:sp>
        <p:nvSpPr>
          <p:cNvPr id="46086" name="Text Box 3"/>
          <p:cNvSpPr txBox="1">
            <a:spLocks noChangeArrowheads="1"/>
          </p:cNvSpPr>
          <p:nvPr/>
        </p:nvSpPr>
        <p:spPr bwMode="auto">
          <a:xfrm>
            <a:off x="1855440" y="2331800"/>
            <a:ext cx="4876800" cy="1015663"/>
          </a:xfrm>
          <a:prstGeom prst="rect">
            <a:avLst/>
          </a:prstGeom>
          <a:noFill/>
          <a:ln w="28575">
            <a:noFill/>
            <a:miter lim="800000"/>
            <a:headEnd/>
            <a:tailEnd/>
          </a:ln>
        </p:spPr>
        <p:txBody>
          <a:bodyPr>
            <a:spAutoFit/>
          </a:bodyPr>
          <a:lstStyle/>
          <a:p>
            <a:pPr>
              <a:spcBef>
                <a:spcPct val="50000"/>
              </a:spcBef>
            </a:pPr>
            <a:r>
              <a:rPr kumimoji="1" lang="zh-CN" altLang="en-US" sz="2400" b="1" dirty="0">
                <a:latin typeface="Times New Roman" pitchFamily="18" charset="0"/>
              </a:rPr>
              <a:t>(*	</a:t>
            </a:r>
            <a:r>
              <a:rPr kumimoji="1" lang="zh-CN" altLang="zh-CN" sz="2400" b="1" dirty="0">
                <a:latin typeface="Times New Roman" pitchFamily="18" charset="0"/>
              </a:rPr>
              <a:t>,	</a:t>
            </a:r>
            <a:r>
              <a:rPr kumimoji="1" lang="en-US" altLang="zh-CN" sz="2400" b="1" dirty="0">
                <a:latin typeface="Times New Roman" pitchFamily="18" charset="0"/>
              </a:rPr>
              <a:t>id3	</a:t>
            </a:r>
            <a:r>
              <a:rPr kumimoji="1" lang="en-US" altLang="zh-CN" sz="2400" b="1" dirty="0" smtClean="0">
                <a:latin typeface="Times New Roman" pitchFamily="18" charset="0"/>
              </a:rPr>
              <a:t>10.0</a:t>
            </a:r>
            <a:r>
              <a:rPr kumimoji="1" lang="en-US" altLang="zh-CN" sz="2400" b="1" dirty="0">
                <a:latin typeface="Times New Roman" pitchFamily="18" charset="0"/>
              </a:rPr>
              <a:t>	t1	)</a:t>
            </a:r>
          </a:p>
          <a:p>
            <a:pPr>
              <a:spcBef>
                <a:spcPct val="50000"/>
              </a:spcBef>
            </a:pPr>
            <a:r>
              <a:rPr kumimoji="1" lang="zh-CN" altLang="en-US" sz="2400" b="1" dirty="0">
                <a:latin typeface="Times New Roman" pitchFamily="18" charset="0"/>
              </a:rPr>
              <a:t>(+	</a:t>
            </a:r>
            <a:r>
              <a:rPr kumimoji="1" lang="en-US" altLang="zh-CN" sz="2400" b="1" dirty="0">
                <a:latin typeface="Times New Roman" pitchFamily="18" charset="0"/>
              </a:rPr>
              <a:t>,	id2	t1	id1	)</a:t>
            </a:r>
          </a:p>
        </p:txBody>
      </p:sp>
      <p:sp>
        <p:nvSpPr>
          <p:cNvPr id="46087" name="Text Box 4"/>
          <p:cNvSpPr txBox="1">
            <a:spLocks noChangeArrowheads="1"/>
          </p:cNvSpPr>
          <p:nvPr/>
        </p:nvSpPr>
        <p:spPr bwMode="auto">
          <a:xfrm>
            <a:off x="2388840" y="4313000"/>
            <a:ext cx="3505200" cy="1780296"/>
          </a:xfrm>
          <a:prstGeom prst="rect">
            <a:avLst/>
          </a:prstGeom>
          <a:noFill/>
          <a:ln w="28575">
            <a:noFill/>
            <a:miter lim="800000"/>
            <a:headEnd/>
            <a:tailEnd/>
          </a:ln>
        </p:spPr>
        <p:txBody>
          <a:bodyPr>
            <a:spAutoFit/>
          </a:bodyPr>
          <a:lstStyle/>
          <a:p>
            <a:pPr>
              <a:lnSpc>
                <a:spcPct val="50000"/>
              </a:lnSpc>
              <a:spcBef>
                <a:spcPct val="50000"/>
              </a:spcBef>
            </a:pPr>
            <a:r>
              <a:rPr kumimoji="1" lang="en-US" altLang="en-US" sz="2400" b="1" dirty="0" err="1" smtClean="0">
                <a:latin typeface="Times New Roman" pitchFamily="18" charset="0"/>
              </a:rPr>
              <a:t>mov</a:t>
            </a:r>
            <a:r>
              <a:rPr kumimoji="1" lang="en-US" altLang="en-US" sz="2400" b="1" dirty="0">
                <a:latin typeface="Times New Roman" pitchFamily="18" charset="0"/>
              </a:rPr>
              <a:t>	id3,R2</a:t>
            </a:r>
          </a:p>
          <a:p>
            <a:pPr>
              <a:lnSpc>
                <a:spcPct val="50000"/>
              </a:lnSpc>
              <a:spcBef>
                <a:spcPct val="50000"/>
              </a:spcBef>
            </a:pPr>
            <a:r>
              <a:rPr kumimoji="1" lang="en-US" altLang="en-US" sz="2400" b="1" dirty="0" err="1" smtClean="0">
                <a:latin typeface="Times New Roman" pitchFamily="18" charset="0"/>
              </a:rPr>
              <a:t>mul</a:t>
            </a:r>
            <a:r>
              <a:rPr kumimoji="1" lang="en-US" altLang="en-US" sz="2400" b="1" dirty="0">
                <a:latin typeface="Times New Roman" pitchFamily="18" charset="0"/>
              </a:rPr>
              <a:t>	</a:t>
            </a:r>
            <a:r>
              <a:rPr kumimoji="1" lang="en-US" altLang="en-US" sz="2400" b="1" dirty="0" smtClean="0">
                <a:latin typeface="Times New Roman" pitchFamily="18" charset="0"/>
              </a:rPr>
              <a:t>#10.0,R2</a:t>
            </a:r>
            <a:endParaRPr kumimoji="1" lang="en-US" altLang="en-US" sz="2400" b="1" dirty="0">
              <a:latin typeface="Times New Roman" pitchFamily="18" charset="0"/>
            </a:endParaRPr>
          </a:p>
          <a:p>
            <a:pPr>
              <a:lnSpc>
                <a:spcPct val="50000"/>
              </a:lnSpc>
              <a:spcBef>
                <a:spcPct val="50000"/>
              </a:spcBef>
            </a:pPr>
            <a:r>
              <a:rPr kumimoji="1" lang="en-US" altLang="en-US" sz="2400" b="1" dirty="0" err="1" smtClean="0">
                <a:latin typeface="Times New Roman" pitchFamily="18" charset="0"/>
              </a:rPr>
              <a:t>mov</a:t>
            </a:r>
            <a:r>
              <a:rPr kumimoji="1" lang="en-US" altLang="en-US" sz="2400" b="1" dirty="0">
                <a:latin typeface="Times New Roman" pitchFamily="18" charset="0"/>
              </a:rPr>
              <a:t>	id2,R1</a:t>
            </a:r>
          </a:p>
          <a:p>
            <a:pPr>
              <a:lnSpc>
                <a:spcPct val="50000"/>
              </a:lnSpc>
              <a:spcBef>
                <a:spcPct val="50000"/>
              </a:spcBef>
            </a:pPr>
            <a:r>
              <a:rPr kumimoji="1" lang="en-US" altLang="en-US" sz="2400" b="1" dirty="0" smtClean="0">
                <a:latin typeface="Times New Roman" pitchFamily="18" charset="0"/>
              </a:rPr>
              <a:t>add</a:t>
            </a:r>
            <a:r>
              <a:rPr kumimoji="1" lang="en-US" altLang="en-US" sz="2400" b="1" dirty="0">
                <a:latin typeface="Times New Roman" pitchFamily="18" charset="0"/>
              </a:rPr>
              <a:t>	R2,R1</a:t>
            </a:r>
          </a:p>
          <a:p>
            <a:pPr>
              <a:lnSpc>
                <a:spcPct val="50000"/>
              </a:lnSpc>
              <a:spcBef>
                <a:spcPct val="50000"/>
              </a:spcBef>
            </a:pPr>
            <a:r>
              <a:rPr kumimoji="1" lang="en-US" altLang="en-US" sz="2400" b="1" dirty="0" err="1" smtClean="0">
                <a:latin typeface="Times New Roman" pitchFamily="18" charset="0"/>
              </a:rPr>
              <a:t>mov</a:t>
            </a:r>
            <a:r>
              <a:rPr kumimoji="1" lang="en-US" altLang="en-US" sz="2400" b="1" dirty="0">
                <a:latin typeface="Times New Roman" pitchFamily="18" charset="0"/>
              </a:rPr>
              <a:t>	R1,id1</a:t>
            </a:r>
            <a:endParaRPr kumimoji="1" lang="en-US" altLang="zh-CN" sz="2400" b="1" dirty="0">
              <a:latin typeface="Times New Roman" pitchFamily="18" charset="0"/>
            </a:endParaRPr>
          </a:p>
        </p:txBody>
      </p:sp>
      <p:sp>
        <p:nvSpPr>
          <p:cNvPr id="46088" name="Line 5"/>
          <p:cNvSpPr>
            <a:spLocks noChangeShapeType="1"/>
          </p:cNvSpPr>
          <p:nvPr/>
        </p:nvSpPr>
        <p:spPr bwMode="auto">
          <a:xfrm>
            <a:off x="3455640" y="3398600"/>
            <a:ext cx="0" cy="83820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9" name="Rectangle 2"/>
          <p:cNvSpPr txBox="1">
            <a:spLocks noChangeArrowheads="1"/>
          </p:cNvSpPr>
          <p:nvPr/>
        </p:nvSpPr>
        <p:spPr bwMode="auto">
          <a:xfrm>
            <a:off x="611560" y="1700808"/>
            <a:ext cx="7772400" cy="48235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0" cap="none" spc="0" normalizeH="0" baseline="0" noProof="0" dirty="0" smtClean="0">
                <a:ln>
                  <a:noFill/>
                </a:ln>
                <a:solidFill>
                  <a:srgbClr val="3333FF"/>
                </a:solidFill>
                <a:effectLst/>
                <a:uLnTx/>
                <a:uFillTx/>
                <a:latin typeface="+mn-ea"/>
                <a:ea typeface="+mn-ea"/>
                <a:cs typeface="+mj-cs"/>
              </a:rPr>
              <a:t>任务</a:t>
            </a:r>
            <a:r>
              <a:rPr kumimoji="0" lang="zh-CN" altLang="en-US" sz="2600" b="1" i="0" u="none" strike="noStrike" kern="0" cap="none" spc="0" normalizeH="0" baseline="0" noProof="0" dirty="0" smtClean="0">
                <a:ln>
                  <a:noFill/>
                </a:ln>
                <a:solidFill>
                  <a:schemeClr val="tx2"/>
                </a:solidFill>
                <a:effectLst/>
                <a:uLnTx/>
                <a:uFillTx/>
                <a:latin typeface="+mn-ea"/>
                <a:ea typeface="+mn-ea"/>
                <a:cs typeface="+mj-cs"/>
              </a:rPr>
              <a:t>：把中间代码变换成目标机汇编和机器指令。</a:t>
            </a:r>
            <a:endParaRPr kumimoji="0" lang="en-US" altLang="en-US" sz="2600" b="1" i="0" u="none" strike="noStrike" kern="0" cap="none" spc="0" normalizeH="0" baseline="0" noProof="0" dirty="0" smtClean="0">
              <a:ln>
                <a:noFill/>
              </a:ln>
              <a:solidFill>
                <a:schemeClr val="tx2"/>
              </a:solidFill>
              <a:effectLst/>
              <a:uLnTx/>
              <a:uFillTx/>
              <a:latin typeface="+mn-ea"/>
              <a:ea typeface="+mn-ea"/>
              <a:cs typeface="+mj-cs"/>
            </a:endParaRPr>
          </a:p>
        </p:txBody>
      </p:sp>
      <p:sp>
        <p:nvSpPr>
          <p:cNvPr id="10" name="Rectangle 2"/>
          <p:cNvSpPr txBox="1">
            <a:spLocks noChangeArrowheads="1"/>
          </p:cNvSpPr>
          <p:nvPr/>
        </p:nvSpPr>
        <p:spPr bwMode="auto">
          <a:xfrm>
            <a:off x="611560" y="2276872"/>
            <a:ext cx="1080120" cy="48235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0" cap="none" spc="0" normalizeH="0" baseline="0" noProof="0" dirty="0" smtClean="0">
                <a:ln>
                  <a:noFill/>
                </a:ln>
                <a:solidFill>
                  <a:srgbClr val="3333FF"/>
                </a:solidFill>
                <a:effectLst/>
                <a:uLnTx/>
                <a:uFillTx/>
                <a:latin typeface="+mn-ea"/>
                <a:ea typeface="+mn-ea"/>
                <a:cs typeface="+mj-cs"/>
              </a:rPr>
              <a:t>例如</a:t>
            </a:r>
            <a:r>
              <a:rPr kumimoji="0" lang="zh-CN" altLang="en-US" sz="2600" b="1" i="0" u="none" strike="noStrike" kern="0" cap="none" spc="0" normalizeH="0" baseline="0" noProof="0" dirty="0" smtClean="0">
                <a:ln>
                  <a:noFill/>
                </a:ln>
                <a:solidFill>
                  <a:schemeClr val="tx2"/>
                </a:solidFill>
                <a:effectLst/>
                <a:uLnTx/>
                <a:uFillTx/>
                <a:latin typeface="+mn-ea"/>
                <a:ea typeface="+mn-ea"/>
                <a:cs typeface="+mj-cs"/>
              </a:rPr>
              <a:t>：</a:t>
            </a:r>
            <a:endParaRPr kumimoji="0" lang="en-US" altLang="en-US" sz="2600" b="1" i="0" u="none" strike="noStrike" kern="0" cap="none" spc="0" normalizeH="0" baseline="0" noProof="0" dirty="0" smtClean="0">
              <a:ln>
                <a:noFill/>
              </a:ln>
              <a:solidFill>
                <a:schemeClr val="tx2"/>
              </a:solidFill>
              <a:effectLst/>
              <a:uLnTx/>
              <a:uFillTx/>
              <a:latin typeface="+mn-ea"/>
              <a:ea typeface="+mn-ea"/>
              <a:cs typeface="+mj-cs"/>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ChangeArrowheads="1"/>
          </p:cNvSpPr>
          <p:nvPr>
            <p:ph type="title"/>
          </p:nvPr>
        </p:nvSpPr>
        <p:spPr>
          <a:xfrm>
            <a:off x="642910" y="285728"/>
            <a:ext cx="7988300" cy="814406"/>
          </a:xfrm>
        </p:spPr>
        <p:txBody>
          <a:bodyPr/>
          <a:lstStyle/>
          <a:p>
            <a:pPr eaLnBrk="1" hangingPunct="1"/>
            <a:r>
              <a:rPr lang="en-US" altLang="zh-CN" b="1" dirty="0" smtClean="0">
                <a:latin typeface="宋体" pitchFamily="2" charset="-122"/>
              </a:rPr>
              <a:t>1.2.2</a:t>
            </a:r>
            <a:r>
              <a:rPr lang="zh-CN" altLang="en-US" b="1" dirty="0" smtClean="0">
                <a:latin typeface="宋体" pitchFamily="2" charset="-122"/>
              </a:rPr>
              <a:t>编译程序结构</a:t>
            </a:r>
            <a:endParaRPr lang="en-US" altLang="zh-CN" b="1" dirty="0" smtClean="0">
              <a:latin typeface="宋体" pitchFamily="2" charset="-122"/>
            </a:endParaRPr>
          </a:p>
        </p:txBody>
      </p:sp>
      <p:sp>
        <p:nvSpPr>
          <p:cNvPr id="49154" name="日期占位符 3"/>
          <p:cNvSpPr>
            <a:spLocks noGrp="1"/>
          </p:cNvSpPr>
          <p:nvPr>
            <p:ph type="dt" sz="half" idx="10"/>
          </p:nvPr>
        </p:nvSpPr>
        <p:spPr>
          <a:noFill/>
        </p:spPr>
        <p:txBody>
          <a:bodyPr/>
          <a:lstStyle/>
          <a:p>
            <a:fld id="{8F9E4C56-D0AF-4E10-9BF0-F4A34A3C9168}" type="datetime1">
              <a:rPr lang="zh-CN" altLang="en-US" smtClean="0"/>
              <a:t>2017/1/22</a:t>
            </a:fld>
            <a:endParaRPr lang="en-US" altLang="zh-CN" smtClean="0"/>
          </a:p>
        </p:txBody>
      </p:sp>
      <p:sp>
        <p:nvSpPr>
          <p:cNvPr id="4915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49156" name="灯片编号占位符 5"/>
          <p:cNvSpPr>
            <a:spLocks noGrp="1"/>
          </p:cNvSpPr>
          <p:nvPr>
            <p:ph type="sldNum" sz="quarter" idx="12"/>
          </p:nvPr>
        </p:nvSpPr>
        <p:spPr>
          <a:noFill/>
        </p:spPr>
        <p:txBody>
          <a:bodyPr/>
          <a:lstStyle/>
          <a:p>
            <a:fld id="{81DBB34D-2B43-4091-97E8-44DCCD54D67A}" type="slidenum">
              <a:rPr lang="zh-CN" altLang="en-US" smtClean="0"/>
              <a:pPr/>
              <a:t>35</a:t>
            </a:fld>
            <a:r>
              <a:rPr lang="en-US" altLang="zh-CN" dirty="0" smtClean="0"/>
              <a:t>/57</a:t>
            </a:r>
            <a:endParaRPr lang="en-US" altLang="zh-CN" dirty="0" smtClean="0"/>
          </a:p>
        </p:txBody>
      </p:sp>
      <p:sp>
        <p:nvSpPr>
          <p:cNvPr id="49158" name="Rectangle 3"/>
          <p:cNvSpPr>
            <a:spLocks noGrp="1" noChangeArrowheads="1"/>
          </p:cNvSpPr>
          <p:nvPr>
            <p:ph sz="quarter" idx="1"/>
          </p:nvPr>
        </p:nvSpPr>
        <p:spPr>
          <a:xfrm>
            <a:off x="1042988" y="1500174"/>
            <a:ext cx="6859587" cy="4665676"/>
          </a:xfrm>
        </p:spPr>
        <p:txBody>
          <a:bodyPr/>
          <a:lstStyle/>
          <a:p>
            <a:pPr eaLnBrk="1" hangingPunct="1">
              <a:lnSpc>
                <a:spcPct val="120000"/>
              </a:lnSpc>
            </a:pPr>
            <a:r>
              <a:rPr lang="zh-CN" altLang="en-US" b="1" dirty="0" smtClean="0">
                <a:latin typeface="宋体" pitchFamily="2" charset="-122"/>
              </a:rPr>
              <a:t>词法分析程序</a:t>
            </a:r>
          </a:p>
          <a:p>
            <a:pPr eaLnBrk="1" hangingPunct="1">
              <a:lnSpc>
                <a:spcPct val="120000"/>
              </a:lnSpc>
            </a:pPr>
            <a:r>
              <a:rPr lang="zh-CN" altLang="en-US" b="1" dirty="0" smtClean="0">
                <a:latin typeface="宋体" pitchFamily="2" charset="-122"/>
              </a:rPr>
              <a:t>语法分析程序</a:t>
            </a:r>
          </a:p>
          <a:p>
            <a:pPr eaLnBrk="1" hangingPunct="1">
              <a:lnSpc>
                <a:spcPct val="120000"/>
              </a:lnSpc>
            </a:pPr>
            <a:r>
              <a:rPr lang="zh-CN" altLang="en-US" b="1" dirty="0" smtClean="0">
                <a:latin typeface="宋体" pitchFamily="2" charset="-122"/>
              </a:rPr>
              <a:t>语义分析程序</a:t>
            </a:r>
          </a:p>
          <a:p>
            <a:pPr eaLnBrk="1" hangingPunct="1">
              <a:lnSpc>
                <a:spcPct val="120000"/>
              </a:lnSpc>
            </a:pPr>
            <a:r>
              <a:rPr lang="zh-CN" altLang="en-US" b="1" dirty="0" smtClean="0">
                <a:latin typeface="宋体" pitchFamily="2" charset="-122"/>
              </a:rPr>
              <a:t>中间代码生成程序</a:t>
            </a:r>
          </a:p>
          <a:p>
            <a:pPr eaLnBrk="1" hangingPunct="1">
              <a:lnSpc>
                <a:spcPct val="120000"/>
              </a:lnSpc>
            </a:pPr>
            <a:r>
              <a:rPr lang="zh-CN" altLang="en-US" b="1" dirty="0" smtClean="0">
                <a:latin typeface="宋体" pitchFamily="2" charset="-122"/>
              </a:rPr>
              <a:t>代码优化程序</a:t>
            </a:r>
          </a:p>
          <a:p>
            <a:pPr eaLnBrk="1" hangingPunct="1">
              <a:lnSpc>
                <a:spcPct val="120000"/>
              </a:lnSpc>
            </a:pPr>
            <a:r>
              <a:rPr lang="zh-CN" altLang="en-US" b="1" dirty="0" smtClean="0">
                <a:latin typeface="宋体" pitchFamily="2" charset="-122"/>
              </a:rPr>
              <a:t>目标代码生成程序</a:t>
            </a:r>
          </a:p>
          <a:p>
            <a:pPr eaLnBrk="1" hangingPunct="1">
              <a:lnSpc>
                <a:spcPct val="120000"/>
              </a:lnSpc>
            </a:pPr>
            <a:r>
              <a:rPr lang="zh-CN" altLang="en-US" b="1" dirty="0" smtClean="0">
                <a:latin typeface="宋体" pitchFamily="2" charset="-122"/>
              </a:rPr>
              <a:t>符号表管理程序</a:t>
            </a:r>
          </a:p>
          <a:p>
            <a:pPr eaLnBrk="1" hangingPunct="1">
              <a:lnSpc>
                <a:spcPct val="120000"/>
              </a:lnSpc>
            </a:pPr>
            <a:r>
              <a:rPr lang="zh-CN" altLang="en-US" b="1" dirty="0" smtClean="0">
                <a:latin typeface="宋体" pitchFamily="2" charset="-122"/>
              </a:rPr>
              <a:t>出错处理程序</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p:cNvSpPr>
            <a:spLocks noGrp="1"/>
          </p:cNvSpPr>
          <p:nvPr>
            <p:ph type="title"/>
          </p:nvPr>
        </p:nvSpPr>
        <p:spPr/>
        <p:txBody>
          <a:bodyPr/>
          <a:lstStyle/>
          <a:p>
            <a:endParaRPr lang="zh-CN" altLang="en-US"/>
          </a:p>
        </p:txBody>
      </p:sp>
      <p:sp>
        <p:nvSpPr>
          <p:cNvPr id="50178" name="日期占位符 1"/>
          <p:cNvSpPr>
            <a:spLocks noGrp="1"/>
          </p:cNvSpPr>
          <p:nvPr>
            <p:ph type="dt" sz="half" idx="10"/>
          </p:nvPr>
        </p:nvSpPr>
        <p:spPr>
          <a:noFill/>
        </p:spPr>
        <p:txBody>
          <a:bodyPr/>
          <a:lstStyle/>
          <a:p>
            <a:fld id="{979DC726-7DB5-4C3E-90CA-4432F8DBA8EE}" type="datetime1">
              <a:rPr lang="zh-CN" altLang="en-US" smtClean="0"/>
              <a:t>2017/1/22</a:t>
            </a:fld>
            <a:endParaRPr lang="en-US" altLang="zh-CN" smtClean="0"/>
          </a:p>
        </p:txBody>
      </p:sp>
      <p:sp>
        <p:nvSpPr>
          <p:cNvPr id="50179" name="页脚占位符 2"/>
          <p:cNvSpPr>
            <a:spLocks noGrp="1"/>
          </p:cNvSpPr>
          <p:nvPr>
            <p:ph type="ftr" sz="quarter" idx="11"/>
          </p:nvPr>
        </p:nvSpPr>
        <p:spPr>
          <a:noFill/>
        </p:spPr>
        <p:txBody>
          <a:bodyPr/>
          <a:lstStyle/>
          <a:p>
            <a:r>
              <a:rPr lang="zh-CN" altLang="en-US" smtClean="0"/>
              <a:t>第一章：引论</a:t>
            </a:r>
            <a:endParaRPr lang="en-US" altLang="zh-CN" smtClean="0"/>
          </a:p>
        </p:txBody>
      </p:sp>
      <p:sp>
        <p:nvSpPr>
          <p:cNvPr id="50180" name="灯片编号占位符 3"/>
          <p:cNvSpPr>
            <a:spLocks noGrp="1"/>
          </p:cNvSpPr>
          <p:nvPr>
            <p:ph type="sldNum" sz="quarter" idx="12"/>
          </p:nvPr>
        </p:nvSpPr>
        <p:spPr>
          <a:noFill/>
        </p:spPr>
        <p:txBody>
          <a:bodyPr/>
          <a:lstStyle/>
          <a:p>
            <a:fld id="{77A99EDB-3CC6-4010-848C-F55373F4C071}" type="slidenum">
              <a:rPr lang="zh-CN" altLang="en-US" smtClean="0"/>
              <a:pPr/>
              <a:t>36</a:t>
            </a:fld>
            <a:r>
              <a:rPr lang="en-US" altLang="zh-CN" dirty="0" smtClean="0"/>
              <a:t>/57</a:t>
            </a:r>
            <a:endParaRPr lang="en-US" altLang="zh-CN" dirty="0" smtClean="0"/>
          </a:p>
        </p:txBody>
      </p:sp>
      <p:sp>
        <p:nvSpPr>
          <p:cNvPr id="33" name="内容占位符 32"/>
          <p:cNvSpPr>
            <a:spLocks noGrp="1"/>
          </p:cNvSpPr>
          <p:nvPr>
            <p:ph sz="quarter" idx="1"/>
          </p:nvPr>
        </p:nvSpPr>
        <p:spPr/>
        <p:txBody>
          <a:bodyPr/>
          <a:lstStyle/>
          <a:p>
            <a:endParaRPr lang="zh-CN" altLang="en-US"/>
          </a:p>
        </p:txBody>
      </p:sp>
      <p:sp>
        <p:nvSpPr>
          <p:cNvPr id="50181" name="Rectangle 2"/>
          <p:cNvSpPr>
            <a:spLocks noChangeArrowheads="1"/>
          </p:cNvSpPr>
          <p:nvPr/>
        </p:nvSpPr>
        <p:spPr bwMode="auto">
          <a:xfrm>
            <a:off x="7205642" y="962004"/>
            <a:ext cx="533400" cy="4267200"/>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出</a:t>
            </a:r>
          </a:p>
          <a:p>
            <a:pPr algn="ctr"/>
            <a:r>
              <a:rPr kumimoji="1" lang="zh-CN" altLang="en-US" sz="2400" b="1">
                <a:latin typeface="Times New Roman" pitchFamily="18" charset="0"/>
              </a:rPr>
              <a:t>错</a:t>
            </a:r>
          </a:p>
          <a:p>
            <a:pPr algn="ctr"/>
            <a:r>
              <a:rPr kumimoji="1" lang="zh-CN" altLang="en-US" sz="2400" b="1">
                <a:latin typeface="Times New Roman" pitchFamily="18" charset="0"/>
              </a:rPr>
              <a:t>处</a:t>
            </a:r>
          </a:p>
          <a:p>
            <a:pPr algn="ctr"/>
            <a:r>
              <a:rPr kumimoji="1" lang="zh-CN" altLang="en-US" sz="2400" b="1">
                <a:latin typeface="Times New Roman" pitchFamily="18" charset="0"/>
              </a:rPr>
              <a:t>理</a:t>
            </a:r>
          </a:p>
          <a:p>
            <a:pPr algn="ctr"/>
            <a:r>
              <a:rPr kumimoji="1" lang="zh-CN" altLang="en-US" sz="2400" b="1">
                <a:latin typeface="Times New Roman" pitchFamily="18" charset="0"/>
              </a:rPr>
              <a:t>程</a:t>
            </a:r>
          </a:p>
          <a:p>
            <a:pPr algn="ctr"/>
            <a:r>
              <a:rPr kumimoji="1" lang="zh-CN" altLang="en-US" sz="2400" b="1">
                <a:latin typeface="Times New Roman" pitchFamily="18" charset="0"/>
              </a:rPr>
              <a:t>序</a:t>
            </a:r>
          </a:p>
        </p:txBody>
      </p:sp>
      <p:grpSp>
        <p:nvGrpSpPr>
          <p:cNvPr id="2" name="Group 3"/>
          <p:cNvGrpSpPr>
            <a:grpSpLocks/>
          </p:cNvGrpSpPr>
          <p:nvPr/>
        </p:nvGrpSpPr>
        <p:grpSpPr bwMode="auto">
          <a:xfrm>
            <a:off x="2176442" y="1343004"/>
            <a:ext cx="5029200" cy="1066800"/>
            <a:chOff x="1536" y="1104"/>
            <a:chExt cx="3168" cy="672"/>
          </a:xfrm>
        </p:grpSpPr>
        <p:sp>
          <p:nvSpPr>
            <p:cNvPr id="50204" name="Rectangle 4"/>
            <p:cNvSpPr>
              <a:spLocks noChangeArrowheads="1"/>
            </p:cNvSpPr>
            <p:nvPr/>
          </p:nvSpPr>
          <p:spPr bwMode="auto">
            <a:xfrm>
              <a:off x="2208" y="1104"/>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语法分析程序</a:t>
              </a:r>
            </a:p>
          </p:txBody>
        </p:sp>
        <p:sp>
          <p:nvSpPr>
            <p:cNvPr id="50205" name="Line 5"/>
            <p:cNvSpPr>
              <a:spLocks noChangeShapeType="1"/>
            </p:cNvSpPr>
            <p:nvPr/>
          </p:nvSpPr>
          <p:spPr bwMode="auto">
            <a:xfrm flipH="1">
              <a:off x="1536" y="1296"/>
              <a:ext cx="672" cy="432"/>
            </a:xfrm>
            <a:prstGeom prst="line">
              <a:avLst/>
            </a:prstGeom>
            <a:noFill/>
            <a:ln w="28575">
              <a:solidFill>
                <a:schemeClr val="tx1"/>
              </a:solidFill>
              <a:round/>
              <a:headEnd/>
              <a:tailEnd/>
            </a:ln>
          </p:spPr>
          <p:txBody>
            <a:bodyPr wrap="none" anchor="ctr"/>
            <a:lstStyle/>
            <a:p>
              <a:endParaRPr lang="zh-CN" altLang="en-US" b="1"/>
            </a:p>
          </p:txBody>
        </p:sp>
        <p:sp>
          <p:nvSpPr>
            <p:cNvPr id="50206" name="Line 6"/>
            <p:cNvSpPr>
              <a:spLocks noChangeShapeType="1"/>
            </p:cNvSpPr>
            <p:nvPr/>
          </p:nvSpPr>
          <p:spPr bwMode="auto">
            <a:xfrm flipH="1" flipV="1">
              <a:off x="4032" y="1248"/>
              <a:ext cx="672" cy="528"/>
            </a:xfrm>
            <a:prstGeom prst="line">
              <a:avLst/>
            </a:prstGeom>
            <a:noFill/>
            <a:ln w="28575">
              <a:solidFill>
                <a:schemeClr val="tx1"/>
              </a:solidFill>
              <a:round/>
              <a:headEnd/>
              <a:tailEnd/>
            </a:ln>
          </p:spPr>
          <p:txBody>
            <a:bodyPr wrap="none" anchor="ctr"/>
            <a:lstStyle/>
            <a:p>
              <a:endParaRPr lang="zh-CN" altLang="en-US" b="1"/>
            </a:p>
          </p:txBody>
        </p:sp>
      </p:grpSp>
      <p:grpSp>
        <p:nvGrpSpPr>
          <p:cNvPr id="3" name="Group 7"/>
          <p:cNvGrpSpPr>
            <a:grpSpLocks/>
          </p:cNvGrpSpPr>
          <p:nvPr/>
        </p:nvGrpSpPr>
        <p:grpSpPr bwMode="auto">
          <a:xfrm>
            <a:off x="2176442" y="2257404"/>
            <a:ext cx="5029200" cy="533400"/>
            <a:chOff x="1536" y="1680"/>
            <a:chExt cx="3168" cy="336"/>
          </a:xfrm>
        </p:grpSpPr>
        <p:sp>
          <p:nvSpPr>
            <p:cNvPr id="50201" name="Rectangle 8"/>
            <p:cNvSpPr>
              <a:spLocks noChangeArrowheads="1"/>
            </p:cNvSpPr>
            <p:nvPr/>
          </p:nvSpPr>
          <p:spPr bwMode="auto">
            <a:xfrm>
              <a:off x="2208" y="1680"/>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dirty="0">
                  <a:latin typeface="Times New Roman" pitchFamily="18" charset="0"/>
                </a:rPr>
                <a:t>语义分析程序</a:t>
              </a:r>
            </a:p>
          </p:txBody>
        </p:sp>
        <p:sp>
          <p:nvSpPr>
            <p:cNvPr id="50202" name="Line 9"/>
            <p:cNvSpPr>
              <a:spLocks noChangeShapeType="1"/>
            </p:cNvSpPr>
            <p:nvPr/>
          </p:nvSpPr>
          <p:spPr bwMode="auto">
            <a:xfrm flipH="1">
              <a:off x="1536" y="1824"/>
              <a:ext cx="672" cy="192"/>
            </a:xfrm>
            <a:prstGeom prst="line">
              <a:avLst/>
            </a:prstGeom>
            <a:noFill/>
            <a:ln w="28575">
              <a:solidFill>
                <a:schemeClr val="tx1"/>
              </a:solidFill>
              <a:round/>
              <a:headEnd/>
              <a:tailEnd/>
            </a:ln>
          </p:spPr>
          <p:txBody>
            <a:bodyPr wrap="none" anchor="ctr"/>
            <a:lstStyle/>
            <a:p>
              <a:endParaRPr lang="zh-CN" altLang="en-US" b="1"/>
            </a:p>
          </p:txBody>
        </p:sp>
        <p:sp>
          <p:nvSpPr>
            <p:cNvPr id="50203" name="Line 10"/>
            <p:cNvSpPr>
              <a:spLocks noChangeShapeType="1"/>
            </p:cNvSpPr>
            <p:nvPr/>
          </p:nvSpPr>
          <p:spPr bwMode="auto">
            <a:xfrm flipH="1" flipV="1">
              <a:off x="4032" y="1824"/>
              <a:ext cx="672" cy="144"/>
            </a:xfrm>
            <a:prstGeom prst="line">
              <a:avLst/>
            </a:prstGeom>
            <a:noFill/>
            <a:ln w="28575">
              <a:solidFill>
                <a:schemeClr val="tx1"/>
              </a:solidFill>
              <a:round/>
              <a:headEnd/>
              <a:tailEnd/>
            </a:ln>
          </p:spPr>
          <p:txBody>
            <a:bodyPr wrap="none" anchor="ctr"/>
            <a:lstStyle/>
            <a:p>
              <a:endParaRPr lang="zh-CN" altLang="en-US" b="1"/>
            </a:p>
          </p:txBody>
        </p:sp>
      </p:grpSp>
      <p:grpSp>
        <p:nvGrpSpPr>
          <p:cNvPr id="4" name="Group 11"/>
          <p:cNvGrpSpPr>
            <a:grpSpLocks/>
          </p:cNvGrpSpPr>
          <p:nvPr/>
        </p:nvGrpSpPr>
        <p:grpSpPr bwMode="auto">
          <a:xfrm>
            <a:off x="2176442" y="4086204"/>
            <a:ext cx="5029200" cy="1524000"/>
            <a:chOff x="1536" y="2832"/>
            <a:chExt cx="3168" cy="960"/>
          </a:xfrm>
        </p:grpSpPr>
        <p:sp>
          <p:nvSpPr>
            <p:cNvPr id="50198" name="Rectangle 12"/>
            <p:cNvSpPr>
              <a:spLocks noChangeArrowheads="1"/>
            </p:cNvSpPr>
            <p:nvPr/>
          </p:nvSpPr>
          <p:spPr bwMode="auto">
            <a:xfrm>
              <a:off x="2208" y="3456"/>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目标代码生成程序</a:t>
              </a:r>
            </a:p>
          </p:txBody>
        </p:sp>
        <p:sp>
          <p:nvSpPr>
            <p:cNvPr id="50199" name="Line 13"/>
            <p:cNvSpPr>
              <a:spLocks noChangeShapeType="1"/>
            </p:cNvSpPr>
            <p:nvPr/>
          </p:nvSpPr>
          <p:spPr bwMode="auto">
            <a:xfrm flipH="1" flipV="1">
              <a:off x="1536" y="2832"/>
              <a:ext cx="672" cy="816"/>
            </a:xfrm>
            <a:prstGeom prst="line">
              <a:avLst/>
            </a:prstGeom>
            <a:noFill/>
            <a:ln w="28575">
              <a:solidFill>
                <a:schemeClr val="tx1"/>
              </a:solidFill>
              <a:round/>
              <a:headEnd/>
              <a:tailEnd/>
            </a:ln>
          </p:spPr>
          <p:txBody>
            <a:bodyPr wrap="none" anchor="ctr"/>
            <a:lstStyle/>
            <a:p>
              <a:endParaRPr lang="zh-CN" altLang="en-US" b="1"/>
            </a:p>
          </p:txBody>
        </p:sp>
        <p:sp>
          <p:nvSpPr>
            <p:cNvPr id="50200" name="Line 14"/>
            <p:cNvSpPr>
              <a:spLocks noChangeShapeType="1"/>
            </p:cNvSpPr>
            <p:nvPr/>
          </p:nvSpPr>
          <p:spPr bwMode="auto">
            <a:xfrm flipH="1">
              <a:off x="4032" y="2928"/>
              <a:ext cx="672" cy="720"/>
            </a:xfrm>
            <a:prstGeom prst="line">
              <a:avLst/>
            </a:prstGeom>
            <a:noFill/>
            <a:ln w="28575">
              <a:solidFill>
                <a:schemeClr val="tx1"/>
              </a:solidFill>
              <a:round/>
              <a:headEnd/>
              <a:tailEnd/>
            </a:ln>
          </p:spPr>
          <p:txBody>
            <a:bodyPr wrap="none" anchor="ctr"/>
            <a:lstStyle/>
            <a:p>
              <a:endParaRPr lang="zh-CN" altLang="en-US" b="1"/>
            </a:p>
          </p:txBody>
        </p:sp>
      </p:grpSp>
      <p:grpSp>
        <p:nvGrpSpPr>
          <p:cNvPr id="5" name="Group 15"/>
          <p:cNvGrpSpPr>
            <a:grpSpLocks/>
          </p:cNvGrpSpPr>
          <p:nvPr/>
        </p:nvGrpSpPr>
        <p:grpSpPr bwMode="auto">
          <a:xfrm>
            <a:off x="2176442" y="428604"/>
            <a:ext cx="5029200" cy="1524000"/>
            <a:chOff x="1536" y="528"/>
            <a:chExt cx="3168" cy="960"/>
          </a:xfrm>
        </p:grpSpPr>
        <p:sp>
          <p:nvSpPr>
            <p:cNvPr id="50195" name="Rectangle 16"/>
            <p:cNvSpPr>
              <a:spLocks noChangeArrowheads="1"/>
            </p:cNvSpPr>
            <p:nvPr/>
          </p:nvSpPr>
          <p:spPr bwMode="auto">
            <a:xfrm>
              <a:off x="2208" y="528"/>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词法分析程序</a:t>
              </a:r>
            </a:p>
          </p:txBody>
        </p:sp>
        <p:sp>
          <p:nvSpPr>
            <p:cNvPr id="50196" name="Line 17"/>
            <p:cNvSpPr>
              <a:spLocks noChangeShapeType="1"/>
            </p:cNvSpPr>
            <p:nvPr/>
          </p:nvSpPr>
          <p:spPr bwMode="auto">
            <a:xfrm flipH="1">
              <a:off x="1536" y="672"/>
              <a:ext cx="672" cy="720"/>
            </a:xfrm>
            <a:prstGeom prst="line">
              <a:avLst/>
            </a:prstGeom>
            <a:noFill/>
            <a:ln w="28575">
              <a:solidFill>
                <a:schemeClr val="tx1"/>
              </a:solidFill>
              <a:round/>
              <a:headEnd/>
              <a:tailEnd/>
            </a:ln>
          </p:spPr>
          <p:txBody>
            <a:bodyPr wrap="none" anchor="ctr"/>
            <a:lstStyle/>
            <a:p>
              <a:endParaRPr lang="zh-CN" altLang="en-US" b="1"/>
            </a:p>
          </p:txBody>
        </p:sp>
        <p:sp>
          <p:nvSpPr>
            <p:cNvPr id="50197" name="Line 18"/>
            <p:cNvSpPr>
              <a:spLocks noChangeShapeType="1"/>
            </p:cNvSpPr>
            <p:nvPr/>
          </p:nvSpPr>
          <p:spPr bwMode="auto">
            <a:xfrm flipH="1" flipV="1">
              <a:off x="4032" y="672"/>
              <a:ext cx="672" cy="816"/>
            </a:xfrm>
            <a:prstGeom prst="line">
              <a:avLst/>
            </a:prstGeom>
            <a:noFill/>
            <a:ln w="28575">
              <a:solidFill>
                <a:schemeClr val="tx1"/>
              </a:solidFill>
              <a:round/>
              <a:headEnd/>
              <a:tailEnd/>
            </a:ln>
          </p:spPr>
          <p:txBody>
            <a:bodyPr wrap="none" anchor="ctr"/>
            <a:lstStyle/>
            <a:p>
              <a:endParaRPr lang="zh-CN" altLang="en-US" b="1"/>
            </a:p>
          </p:txBody>
        </p:sp>
      </p:grpSp>
      <p:grpSp>
        <p:nvGrpSpPr>
          <p:cNvPr id="6" name="Group 19"/>
          <p:cNvGrpSpPr>
            <a:grpSpLocks/>
          </p:cNvGrpSpPr>
          <p:nvPr/>
        </p:nvGrpSpPr>
        <p:grpSpPr bwMode="auto">
          <a:xfrm>
            <a:off x="2176442" y="3095604"/>
            <a:ext cx="5029200" cy="609600"/>
            <a:chOff x="1536" y="2208"/>
            <a:chExt cx="3168" cy="384"/>
          </a:xfrm>
        </p:grpSpPr>
        <p:sp>
          <p:nvSpPr>
            <p:cNvPr id="50192" name="Rectangle 20"/>
            <p:cNvSpPr>
              <a:spLocks noChangeArrowheads="1"/>
            </p:cNvSpPr>
            <p:nvPr/>
          </p:nvSpPr>
          <p:spPr bwMode="auto">
            <a:xfrm>
              <a:off x="2208" y="2256"/>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dirty="0">
                  <a:latin typeface="Times New Roman" pitchFamily="18" charset="0"/>
                </a:rPr>
                <a:t>中间代码生成程序</a:t>
              </a:r>
            </a:p>
          </p:txBody>
        </p:sp>
        <p:sp>
          <p:nvSpPr>
            <p:cNvPr id="50193" name="Line 21"/>
            <p:cNvSpPr>
              <a:spLocks noChangeShapeType="1"/>
            </p:cNvSpPr>
            <p:nvPr/>
          </p:nvSpPr>
          <p:spPr bwMode="auto">
            <a:xfrm flipH="1" flipV="1">
              <a:off x="1536" y="2256"/>
              <a:ext cx="672" cy="144"/>
            </a:xfrm>
            <a:prstGeom prst="line">
              <a:avLst/>
            </a:prstGeom>
            <a:noFill/>
            <a:ln w="28575">
              <a:solidFill>
                <a:schemeClr val="tx1"/>
              </a:solidFill>
              <a:round/>
              <a:headEnd/>
              <a:tailEnd/>
            </a:ln>
          </p:spPr>
          <p:txBody>
            <a:bodyPr wrap="none" anchor="ctr"/>
            <a:lstStyle/>
            <a:p>
              <a:endParaRPr lang="zh-CN" altLang="en-US" b="1"/>
            </a:p>
          </p:txBody>
        </p:sp>
        <p:sp>
          <p:nvSpPr>
            <p:cNvPr id="50194" name="Line 22"/>
            <p:cNvSpPr>
              <a:spLocks noChangeShapeType="1"/>
            </p:cNvSpPr>
            <p:nvPr/>
          </p:nvSpPr>
          <p:spPr bwMode="auto">
            <a:xfrm flipH="1">
              <a:off x="4032" y="2208"/>
              <a:ext cx="672" cy="192"/>
            </a:xfrm>
            <a:prstGeom prst="line">
              <a:avLst/>
            </a:prstGeom>
            <a:noFill/>
            <a:ln w="28575">
              <a:solidFill>
                <a:schemeClr val="tx1"/>
              </a:solidFill>
              <a:round/>
              <a:headEnd/>
              <a:tailEnd/>
            </a:ln>
          </p:spPr>
          <p:txBody>
            <a:bodyPr wrap="none" anchor="ctr"/>
            <a:lstStyle/>
            <a:p>
              <a:endParaRPr lang="zh-CN" altLang="en-US" b="1"/>
            </a:p>
          </p:txBody>
        </p:sp>
      </p:grpSp>
      <p:grpSp>
        <p:nvGrpSpPr>
          <p:cNvPr id="7" name="Group 23"/>
          <p:cNvGrpSpPr>
            <a:grpSpLocks/>
          </p:cNvGrpSpPr>
          <p:nvPr/>
        </p:nvGrpSpPr>
        <p:grpSpPr bwMode="auto">
          <a:xfrm>
            <a:off x="2176442" y="3629004"/>
            <a:ext cx="5029200" cy="1066800"/>
            <a:chOff x="1536" y="2544"/>
            <a:chExt cx="3168" cy="672"/>
          </a:xfrm>
        </p:grpSpPr>
        <p:sp>
          <p:nvSpPr>
            <p:cNvPr id="50189" name="Rectangle 24"/>
            <p:cNvSpPr>
              <a:spLocks noChangeArrowheads="1"/>
            </p:cNvSpPr>
            <p:nvPr/>
          </p:nvSpPr>
          <p:spPr bwMode="auto">
            <a:xfrm>
              <a:off x="2208" y="2880"/>
              <a:ext cx="1824" cy="336"/>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代码优化程序</a:t>
              </a:r>
            </a:p>
          </p:txBody>
        </p:sp>
        <p:sp>
          <p:nvSpPr>
            <p:cNvPr id="50190" name="Line 25"/>
            <p:cNvSpPr>
              <a:spLocks noChangeShapeType="1"/>
            </p:cNvSpPr>
            <p:nvPr/>
          </p:nvSpPr>
          <p:spPr bwMode="auto">
            <a:xfrm flipH="1" flipV="1">
              <a:off x="1536" y="2544"/>
              <a:ext cx="672" cy="528"/>
            </a:xfrm>
            <a:prstGeom prst="line">
              <a:avLst/>
            </a:prstGeom>
            <a:noFill/>
            <a:ln w="28575">
              <a:solidFill>
                <a:schemeClr val="tx1"/>
              </a:solidFill>
              <a:round/>
              <a:headEnd/>
              <a:tailEnd/>
            </a:ln>
          </p:spPr>
          <p:txBody>
            <a:bodyPr wrap="none" anchor="ctr"/>
            <a:lstStyle/>
            <a:p>
              <a:endParaRPr lang="zh-CN" altLang="en-US" b="1"/>
            </a:p>
          </p:txBody>
        </p:sp>
        <p:sp>
          <p:nvSpPr>
            <p:cNvPr id="50191" name="Line 26"/>
            <p:cNvSpPr>
              <a:spLocks noChangeShapeType="1"/>
            </p:cNvSpPr>
            <p:nvPr/>
          </p:nvSpPr>
          <p:spPr bwMode="auto">
            <a:xfrm flipH="1">
              <a:off x="4032" y="2640"/>
              <a:ext cx="672" cy="432"/>
            </a:xfrm>
            <a:prstGeom prst="line">
              <a:avLst/>
            </a:prstGeom>
            <a:noFill/>
            <a:ln w="28575">
              <a:solidFill>
                <a:schemeClr val="tx1"/>
              </a:solidFill>
              <a:round/>
              <a:headEnd/>
              <a:tailEnd/>
            </a:ln>
          </p:spPr>
          <p:txBody>
            <a:bodyPr wrap="none" anchor="ctr"/>
            <a:lstStyle/>
            <a:p>
              <a:endParaRPr lang="zh-CN" altLang="en-US" b="1"/>
            </a:p>
          </p:txBody>
        </p:sp>
      </p:grpSp>
      <p:sp>
        <p:nvSpPr>
          <p:cNvPr id="50188" name="Rectangle 27"/>
          <p:cNvSpPr>
            <a:spLocks noChangeArrowheads="1"/>
          </p:cNvSpPr>
          <p:nvPr/>
        </p:nvSpPr>
        <p:spPr bwMode="auto">
          <a:xfrm>
            <a:off x="1643042" y="962004"/>
            <a:ext cx="533400" cy="4267200"/>
          </a:xfrm>
          <a:prstGeom prst="rect">
            <a:avLst/>
          </a:prstGeom>
          <a:solidFill>
            <a:schemeClr val="bg1"/>
          </a:solidFill>
          <a:ln w="28575">
            <a:solidFill>
              <a:schemeClr val="tx1"/>
            </a:solidFill>
            <a:miter lim="800000"/>
            <a:headEnd/>
            <a:tailEnd/>
          </a:ln>
        </p:spPr>
        <p:txBody>
          <a:bodyPr wrap="none" anchor="ctr"/>
          <a:lstStyle/>
          <a:p>
            <a:pPr algn="ctr"/>
            <a:r>
              <a:rPr kumimoji="1" lang="zh-CN" altLang="en-US" sz="2400" b="1">
                <a:latin typeface="Times New Roman" pitchFamily="18" charset="0"/>
              </a:rPr>
              <a:t>表</a:t>
            </a:r>
          </a:p>
          <a:p>
            <a:pPr algn="ctr"/>
            <a:r>
              <a:rPr kumimoji="1" lang="zh-CN" altLang="en-US" sz="2400" b="1">
                <a:latin typeface="Times New Roman" pitchFamily="18" charset="0"/>
              </a:rPr>
              <a:t>格</a:t>
            </a:r>
          </a:p>
          <a:p>
            <a:pPr algn="ctr"/>
            <a:r>
              <a:rPr kumimoji="1" lang="zh-CN" altLang="en-US" sz="2400" b="1">
                <a:latin typeface="Times New Roman" pitchFamily="18" charset="0"/>
              </a:rPr>
              <a:t>管</a:t>
            </a:r>
          </a:p>
          <a:p>
            <a:pPr algn="ctr"/>
            <a:r>
              <a:rPr kumimoji="1" lang="zh-CN" altLang="en-US" sz="2400" b="1">
                <a:latin typeface="Times New Roman" pitchFamily="18" charset="0"/>
              </a:rPr>
              <a:t>理</a:t>
            </a:r>
          </a:p>
          <a:p>
            <a:pPr algn="ctr"/>
            <a:r>
              <a:rPr kumimoji="1" lang="zh-CN" altLang="en-US" sz="2400" b="1">
                <a:latin typeface="Times New Roman" pitchFamily="18" charset="0"/>
              </a:rPr>
              <a:t>程</a:t>
            </a:r>
          </a:p>
          <a:p>
            <a:pPr algn="ctr"/>
            <a:r>
              <a:rPr kumimoji="1" lang="zh-CN" altLang="en-US" sz="2400" b="1">
                <a:latin typeface="Times New Roman" pitchFamily="18" charset="0"/>
              </a:rPr>
              <a:t>序</a:t>
            </a:r>
          </a:p>
        </p:txBody>
      </p:sp>
      <p:sp>
        <p:nvSpPr>
          <p:cNvPr id="31" name="TextBox 30"/>
          <p:cNvSpPr txBox="1"/>
          <p:nvPr/>
        </p:nvSpPr>
        <p:spPr>
          <a:xfrm>
            <a:off x="3071753" y="5845750"/>
            <a:ext cx="2929007" cy="369332"/>
          </a:xfrm>
          <a:prstGeom prst="rect">
            <a:avLst/>
          </a:prstGeom>
          <a:noFill/>
        </p:spPr>
        <p:txBody>
          <a:bodyPr wrap="none" rtlCol="0">
            <a:spAutoFit/>
          </a:bodyPr>
          <a:lstStyle/>
          <a:p>
            <a:r>
              <a:rPr lang="zh-CN" altLang="en-US" b="1" dirty="0" smtClean="0"/>
              <a:t>图</a:t>
            </a:r>
            <a:r>
              <a:rPr lang="en-US" altLang="zh-CN" b="1" dirty="0" smtClean="0"/>
              <a:t>1.10 </a:t>
            </a:r>
            <a:r>
              <a:rPr lang="zh-CN" altLang="en-US" b="1" dirty="0" smtClean="0"/>
              <a:t>编译程序结构框图</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1+#ppt_w/2"/>
                                          </p:val>
                                        </p:tav>
                                        <p:tav tm="100000">
                                          <p:val>
                                            <p:strVal val="#ppt_x"/>
                                          </p:val>
                                        </p:tav>
                                      </p:tavLst>
                                    </p:anim>
                                    <p:anim calcmode="lin" valueType="num">
                                      <p:cBhvr additive="base">
                                        <p:cTn id="3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p:txBody>
          <a:bodyPr/>
          <a:lstStyle/>
          <a:p>
            <a:pPr eaLnBrk="1" hangingPunct="1"/>
            <a:r>
              <a:rPr lang="zh-CN" altLang="en-US" b="1" smtClean="0">
                <a:latin typeface="宋体" pitchFamily="2" charset="-122"/>
              </a:rPr>
              <a:t>符号表</a:t>
            </a:r>
          </a:p>
        </p:txBody>
      </p:sp>
      <p:sp>
        <p:nvSpPr>
          <p:cNvPr id="51202" name="日期占位符 3"/>
          <p:cNvSpPr>
            <a:spLocks noGrp="1"/>
          </p:cNvSpPr>
          <p:nvPr>
            <p:ph type="dt" sz="half" idx="10"/>
          </p:nvPr>
        </p:nvSpPr>
        <p:spPr>
          <a:noFill/>
        </p:spPr>
        <p:txBody>
          <a:bodyPr/>
          <a:lstStyle/>
          <a:p>
            <a:fld id="{DD3B6D60-4601-4968-8453-E88E58AB3CB5}" type="datetime1">
              <a:rPr lang="zh-CN" altLang="en-US" smtClean="0"/>
              <a:t>2017/1/22</a:t>
            </a:fld>
            <a:endParaRPr lang="en-US" altLang="zh-CN" smtClean="0"/>
          </a:p>
        </p:txBody>
      </p:sp>
      <p:sp>
        <p:nvSpPr>
          <p:cNvPr id="5120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1204" name="灯片编号占位符 5"/>
          <p:cNvSpPr>
            <a:spLocks noGrp="1"/>
          </p:cNvSpPr>
          <p:nvPr>
            <p:ph type="sldNum" sz="quarter" idx="12"/>
          </p:nvPr>
        </p:nvSpPr>
        <p:spPr>
          <a:noFill/>
        </p:spPr>
        <p:txBody>
          <a:bodyPr/>
          <a:lstStyle/>
          <a:p>
            <a:fld id="{59B828FB-6A78-4B54-8D97-D4194347196B}" type="slidenum">
              <a:rPr lang="zh-CN" altLang="en-US" smtClean="0"/>
              <a:pPr/>
              <a:t>37</a:t>
            </a:fld>
            <a:r>
              <a:rPr lang="en-US" altLang="zh-CN" dirty="0" smtClean="0"/>
              <a:t>/57</a:t>
            </a:r>
            <a:endParaRPr lang="en-US" altLang="zh-CN" dirty="0" smtClean="0"/>
          </a:p>
        </p:txBody>
      </p:sp>
      <p:sp>
        <p:nvSpPr>
          <p:cNvPr id="51206" name="Rectangle 3"/>
          <p:cNvSpPr>
            <a:spLocks noGrp="1" noChangeArrowheads="1"/>
          </p:cNvSpPr>
          <p:nvPr>
            <p:ph sz="quarter" idx="1"/>
          </p:nvPr>
        </p:nvSpPr>
        <p:spPr>
          <a:xfrm>
            <a:off x="611188" y="1612900"/>
            <a:ext cx="7483475" cy="1600200"/>
          </a:xfrm>
        </p:spPr>
        <p:txBody>
          <a:bodyPr/>
          <a:lstStyle/>
          <a:p>
            <a:pPr eaLnBrk="1" hangingPunct="1"/>
            <a:r>
              <a:rPr lang="zh-CN" altLang="en-US" sz="2800" b="1" smtClean="0">
                <a:latin typeface="宋体" pitchFamily="2" charset="-122"/>
              </a:rPr>
              <a:t>记录源程序中使用的名字</a:t>
            </a:r>
          </a:p>
          <a:p>
            <a:pPr eaLnBrk="1" hangingPunct="1"/>
            <a:r>
              <a:rPr lang="zh-CN" altLang="en-US" sz="2800" b="1" smtClean="0">
                <a:latin typeface="宋体" pitchFamily="2" charset="-122"/>
              </a:rPr>
              <a:t>收集每个名字的各种属性信息</a:t>
            </a:r>
          </a:p>
          <a:p>
            <a:pPr lvl="1" eaLnBrk="1" hangingPunct="1"/>
            <a:r>
              <a:rPr lang="zh-CN" altLang="en-US" b="1" smtClean="0">
                <a:latin typeface="宋体" pitchFamily="2" charset="-122"/>
              </a:rPr>
              <a:t>类型、作用域、分配存储信息</a:t>
            </a:r>
          </a:p>
        </p:txBody>
      </p:sp>
      <p:sp>
        <p:nvSpPr>
          <p:cNvPr id="51207" name="Text Box 4"/>
          <p:cNvSpPr txBox="1">
            <a:spLocks noChangeArrowheads="1"/>
          </p:cNvSpPr>
          <p:nvPr/>
        </p:nvSpPr>
        <p:spPr bwMode="auto">
          <a:xfrm>
            <a:off x="971600" y="3140968"/>
            <a:ext cx="7848872" cy="2388346"/>
          </a:xfrm>
          <a:prstGeom prst="rect">
            <a:avLst/>
          </a:prstGeom>
          <a:noFill/>
          <a:ln w="28575">
            <a:noFill/>
            <a:miter lim="800000"/>
            <a:headEnd/>
            <a:tailEnd/>
          </a:ln>
        </p:spPr>
        <p:txBody>
          <a:bodyPr wrap="square">
            <a:spAutoFit/>
          </a:bodyPr>
          <a:lstStyle/>
          <a:p>
            <a:pPr>
              <a:lnSpc>
                <a:spcPct val="80000"/>
              </a:lnSpc>
              <a:spcBef>
                <a:spcPct val="50000"/>
              </a:spcBef>
            </a:pPr>
            <a:r>
              <a:rPr kumimoji="1" lang="en-US" altLang="zh-CN" sz="2400" b="1" dirty="0">
                <a:latin typeface="宋体" pitchFamily="2" charset="-122"/>
              </a:rPr>
              <a:t>name:  I  </a:t>
            </a:r>
          </a:p>
          <a:p>
            <a:pPr>
              <a:lnSpc>
                <a:spcPct val="80000"/>
              </a:lnSpc>
              <a:spcBef>
                <a:spcPct val="50000"/>
              </a:spcBef>
            </a:pPr>
            <a:r>
              <a:rPr kumimoji="1" lang="en-US" altLang="zh-CN" sz="2400" b="1" dirty="0">
                <a:latin typeface="宋体" pitchFamily="2" charset="-122"/>
              </a:rPr>
              <a:t>     </a:t>
            </a:r>
            <a:r>
              <a:rPr kumimoji="1" lang="en-US" altLang="zh-CN" sz="2400" b="1" dirty="0" smtClean="0">
                <a:latin typeface="宋体" pitchFamily="2" charset="-122"/>
              </a:rPr>
              <a:t>kind</a:t>
            </a:r>
            <a:r>
              <a:rPr kumimoji="1" lang="zh-CN" altLang="en-US" sz="2400" b="1" dirty="0">
                <a:latin typeface="宋体" pitchFamily="2" charset="-122"/>
              </a:rPr>
              <a:t>：常量  </a:t>
            </a:r>
            <a:r>
              <a:rPr kumimoji="1" lang="en-US" altLang="zh-CN" sz="2400" b="1" dirty="0">
                <a:latin typeface="宋体" pitchFamily="2" charset="-122"/>
              </a:rPr>
              <a:t>value</a:t>
            </a:r>
            <a:r>
              <a:rPr kumimoji="1" lang="zh-CN" altLang="en-US" sz="2400" b="1" dirty="0">
                <a:latin typeface="宋体" pitchFamily="2" charset="-122"/>
              </a:rPr>
              <a:t>：35</a:t>
            </a:r>
          </a:p>
          <a:p>
            <a:pPr>
              <a:lnSpc>
                <a:spcPct val="80000"/>
              </a:lnSpc>
              <a:spcBef>
                <a:spcPct val="50000"/>
              </a:spcBef>
            </a:pPr>
            <a:r>
              <a:rPr kumimoji="1" lang="en-US" altLang="zh-CN" sz="2400" b="1" dirty="0" err="1">
                <a:latin typeface="宋体" pitchFamily="2" charset="-122"/>
              </a:rPr>
              <a:t>name:object</a:t>
            </a:r>
            <a:r>
              <a:rPr kumimoji="1" lang="en-US" altLang="zh-CN" sz="2400" b="1" dirty="0">
                <a:latin typeface="宋体" pitchFamily="2" charset="-122"/>
              </a:rPr>
              <a:t>  </a:t>
            </a:r>
          </a:p>
          <a:p>
            <a:pPr>
              <a:lnSpc>
                <a:spcPct val="80000"/>
              </a:lnSpc>
              <a:spcBef>
                <a:spcPct val="50000"/>
              </a:spcBef>
            </a:pPr>
            <a:r>
              <a:rPr kumimoji="1" lang="en-US" altLang="zh-CN" sz="2400" b="1" dirty="0">
                <a:latin typeface="宋体" pitchFamily="2" charset="-122"/>
              </a:rPr>
              <a:t> </a:t>
            </a:r>
            <a:r>
              <a:rPr kumimoji="1" lang="en-US" altLang="zh-CN" sz="2400" b="1" dirty="0" smtClean="0">
                <a:latin typeface="宋体" pitchFamily="2" charset="-122"/>
              </a:rPr>
              <a:t>    kind</a:t>
            </a:r>
            <a:r>
              <a:rPr kumimoji="1" lang="zh-CN" altLang="en-US" sz="2400" b="1" dirty="0">
                <a:latin typeface="宋体" pitchFamily="2" charset="-122"/>
              </a:rPr>
              <a:t>：变量   </a:t>
            </a:r>
            <a:r>
              <a:rPr kumimoji="1" lang="en-US" altLang="zh-CN" sz="2400" b="1" dirty="0">
                <a:latin typeface="宋体" pitchFamily="2" charset="-122"/>
              </a:rPr>
              <a:t>type</a:t>
            </a:r>
            <a:r>
              <a:rPr kumimoji="1" lang="zh-CN" altLang="en-US" sz="2400" b="1" dirty="0">
                <a:latin typeface="宋体" pitchFamily="2" charset="-122"/>
              </a:rPr>
              <a:t>：实    </a:t>
            </a:r>
            <a:r>
              <a:rPr kumimoji="1" lang="en-US" altLang="zh-CN" sz="2400" b="1" dirty="0">
                <a:latin typeface="宋体" pitchFamily="2" charset="-122"/>
              </a:rPr>
              <a:t>level</a:t>
            </a:r>
            <a:r>
              <a:rPr kumimoji="1" lang="zh-CN" altLang="en-US" sz="2400" b="1" dirty="0">
                <a:latin typeface="宋体" pitchFamily="2" charset="-122"/>
              </a:rPr>
              <a:t>：2  </a:t>
            </a:r>
            <a:r>
              <a:rPr kumimoji="1" lang="en-US" altLang="zh-CN" sz="2400" b="1" dirty="0" smtClean="0">
                <a:latin typeface="宋体" pitchFamily="2" charset="-122"/>
              </a:rPr>
              <a:t>add</a:t>
            </a:r>
            <a:r>
              <a:rPr kumimoji="1" lang="en-US" altLang="zh-CN" sz="2400" b="1" dirty="0">
                <a:latin typeface="宋体" pitchFamily="2" charset="-122"/>
              </a:rPr>
              <a:t>: </a:t>
            </a:r>
            <a:r>
              <a:rPr kumimoji="1" lang="en-US" altLang="zh-CN" sz="2400" b="1" dirty="0" err="1">
                <a:latin typeface="宋体" pitchFamily="2" charset="-122"/>
              </a:rPr>
              <a:t>dx</a:t>
            </a:r>
            <a:endParaRPr kumimoji="1" lang="en-US" altLang="zh-CN" sz="2400" b="1" dirty="0">
              <a:latin typeface="宋体" pitchFamily="2" charset="-122"/>
            </a:endParaRPr>
          </a:p>
          <a:p>
            <a:pPr>
              <a:lnSpc>
                <a:spcPct val="80000"/>
              </a:lnSpc>
              <a:spcBef>
                <a:spcPct val="50000"/>
              </a:spcBef>
            </a:pPr>
            <a:r>
              <a:rPr kumimoji="1" lang="zh-CN" altLang="en-US" sz="2800" b="1" dirty="0">
                <a:solidFill>
                  <a:schemeClr val="tx2"/>
                </a:solidFill>
                <a:latin typeface="宋体" pitchFamily="2" charset="-122"/>
              </a:rPr>
              <a:t>符号表管理</a:t>
            </a:r>
            <a:r>
              <a:rPr kumimoji="1" lang="en-US" altLang="zh-CN" sz="2800" b="1" dirty="0">
                <a:solidFill>
                  <a:schemeClr val="tx2"/>
                </a:solidFill>
                <a:latin typeface="宋体" pitchFamily="2" charset="-122"/>
              </a:rPr>
              <a:t>(</a:t>
            </a:r>
            <a:r>
              <a:rPr kumimoji="1" lang="zh-CN" altLang="en-US" sz="2800" b="1" dirty="0">
                <a:solidFill>
                  <a:schemeClr val="tx2"/>
                </a:solidFill>
                <a:latin typeface="宋体" pitchFamily="2" charset="-122"/>
              </a:rPr>
              <a:t>登录，查找</a:t>
            </a:r>
            <a:r>
              <a:rPr kumimoji="1" lang="zh-CN" altLang="en-US" sz="2800" b="1" dirty="0" smtClean="0">
                <a:solidFill>
                  <a:schemeClr val="tx2"/>
                </a:solidFill>
                <a:latin typeface="宋体" pitchFamily="2" charset="-122"/>
              </a:rPr>
              <a:t>）</a:t>
            </a:r>
            <a:endParaRPr kumimoji="1" lang="zh-CN" altLang="en-US" sz="2800" b="1" dirty="0">
              <a:solidFill>
                <a:schemeClr val="tx2"/>
              </a:solidFill>
              <a:latin typeface="宋体" pitchFamily="2"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p:cNvSpPr>
            <a:spLocks noGrp="1" noChangeArrowheads="1"/>
          </p:cNvSpPr>
          <p:nvPr>
            <p:ph type="title"/>
          </p:nvPr>
        </p:nvSpPr>
        <p:spPr/>
        <p:txBody>
          <a:bodyPr/>
          <a:lstStyle/>
          <a:p>
            <a:pPr eaLnBrk="1" hangingPunct="1"/>
            <a:r>
              <a:rPr lang="zh-CN" altLang="en-US" b="1" smtClean="0">
                <a:latin typeface="宋体" pitchFamily="2" charset="-122"/>
              </a:rPr>
              <a:t>出错处理(</a:t>
            </a:r>
            <a:r>
              <a:rPr lang="en-US" altLang="zh-CN" b="1" smtClean="0">
                <a:latin typeface="宋体" pitchFamily="2" charset="-122"/>
              </a:rPr>
              <a:t>error handling</a:t>
            </a:r>
            <a:r>
              <a:rPr lang="zh-CN" altLang="en-US" b="1" smtClean="0">
                <a:latin typeface="宋体" pitchFamily="2" charset="-122"/>
              </a:rPr>
              <a:t> ）	</a:t>
            </a:r>
          </a:p>
        </p:txBody>
      </p:sp>
      <p:sp>
        <p:nvSpPr>
          <p:cNvPr id="52226" name="日期占位符 3"/>
          <p:cNvSpPr>
            <a:spLocks noGrp="1"/>
          </p:cNvSpPr>
          <p:nvPr>
            <p:ph type="dt" sz="half" idx="10"/>
          </p:nvPr>
        </p:nvSpPr>
        <p:spPr>
          <a:noFill/>
        </p:spPr>
        <p:txBody>
          <a:bodyPr/>
          <a:lstStyle/>
          <a:p>
            <a:fld id="{D3D02FC4-13F5-4A33-BEA4-C866B7F4296D}" type="datetime1">
              <a:rPr lang="zh-CN" altLang="en-US" smtClean="0"/>
              <a:t>2017/1/22</a:t>
            </a:fld>
            <a:endParaRPr lang="en-US" altLang="zh-CN" smtClean="0"/>
          </a:p>
        </p:txBody>
      </p:sp>
      <p:sp>
        <p:nvSpPr>
          <p:cNvPr id="5222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2228" name="灯片编号占位符 5"/>
          <p:cNvSpPr>
            <a:spLocks noGrp="1"/>
          </p:cNvSpPr>
          <p:nvPr>
            <p:ph type="sldNum" sz="quarter" idx="12"/>
          </p:nvPr>
        </p:nvSpPr>
        <p:spPr>
          <a:noFill/>
        </p:spPr>
        <p:txBody>
          <a:bodyPr/>
          <a:lstStyle/>
          <a:p>
            <a:fld id="{713A2933-C9B5-4533-BC04-3C27A1EACAE3}" type="slidenum">
              <a:rPr lang="zh-CN" altLang="en-US" smtClean="0"/>
              <a:pPr/>
              <a:t>38</a:t>
            </a:fld>
            <a:r>
              <a:rPr lang="en-US" altLang="zh-CN" dirty="0" smtClean="0"/>
              <a:t>/57</a:t>
            </a:r>
            <a:endParaRPr lang="en-US" altLang="zh-CN" dirty="0" smtClean="0"/>
          </a:p>
        </p:txBody>
      </p:sp>
      <p:sp>
        <p:nvSpPr>
          <p:cNvPr id="52230" name="Rectangle 3"/>
          <p:cNvSpPr>
            <a:spLocks noGrp="1" noChangeArrowheads="1"/>
          </p:cNvSpPr>
          <p:nvPr>
            <p:ph sz="quarter" idx="1"/>
          </p:nvPr>
        </p:nvSpPr>
        <p:spPr/>
        <p:txBody>
          <a:bodyPr/>
          <a:lstStyle/>
          <a:p>
            <a:pPr eaLnBrk="1" hangingPunct="1">
              <a:buFont typeface="Wingdings" pitchFamily="2" charset="2"/>
              <a:buNone/>
            </a:pPr>
            <a:r>
              <a:rPr lang="zh-CN" altLang="en-US" b="1" smtClean="0">
                <a:latin typeface="宋体" pitchFamily="2" charset="-122"/>
              </a:rPr>
              <a:t>检查错误、报告出错信息、排错、恢复编译工作</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ChangeArrowheads="1"/>
          </p:cNvSpPr>
          <p:nvPr>
            <p:ph type="title"/>
          </p:nvPr>
        </p:nvSpPr>
        <p:spPr>
          <a:xfrm>
            <a:off x="684213" y="352409"/>
            <a:ext cx="7613650" cy="719137"/>
          </a:xfrm>
        </p:spPr>
        <p:txBody>
          <a:bodyPr/>
          <a:lstStyle/>
          <a:p>
            <a:pPr eaLnBrk="1" hangingPunct="1"/>
            <a:r>
              <a:rPr lang="en-US" altLang="zh-CN" sz="3200" b="1" dirty="0" smtClean="0">
                <a:latin typeface="宋体" pitchFamily="2" charset="-122"/>
              </a:rPr>
              <a:t>1.2.3</a:t>
            </a:r>
            <a:r>
              <a:rPr lang="zh-CN" altLang="en-US" sz="3200" b="1" dirty="0" smtClean="0">
                <a:latin typeface="宋体" pitchFamily="2" charset="-122"/>
              </a:rPr>
              <a:t>编译</a:t>
            </a:r>
            <a:r>
              <a:rPr lang="zh-CN" altLang="en-US" sz="3200" dirty="0" smtClean="0">
                <a:latin typeface="宋体" pitchFamily="2" charset="-122"/>
              </a:rPr>
              <a:t>阶段的组合</a:t>
            </a:r>
            <a:endParaRPr lang="zh-CN" altLang="en-US" sz="3200" b="1" dirty="0" smtClean="0">
              <a:latin typeface="宋体" pitchFamily="2" charset="-122"/>
            </a:endParaRPr>
          </a:p>
        </p:txBody>
      </p:sp>
      <p:sp>
        <p:nvSpPr>
          <p:cNvPr id="47106" name="日期占位符 3"/>
          <p:cNvSpPr>
            <a:spLocks noGrp="1"/>
          </p:cNvSpPr>
          <p:nvPr>
            <p:ph type="dt" sz="half" idx="10"/>
          </p:nvPr>
        </p:nvSpPr>
        <p:spPr>
          <a:noFill/>
        </p:spPr>
        <p:txBody>
          <a:bodyPr/>
          <a:lstStyle/>
          <a:p>
            <a:fld id="{5B95E835-9586-407B-9A76-E82DDF5BAC50}" type="datetime1">
              <a:rPr lang="zh-CN" altLang="en-US" smtClean="0"/>
              <a:t>2017/1/22</a:t>
            </a:fld>
            <a:endParaRPr lang="en-US" altLang="zh-CN" smtClean="0"/>
          </a:p>
        </p:txBody>
      </p:sp>
      <p:sp>
        <p:nvSpPr>
          <p:cNvPr id="4710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47108" name="灯片编号占位符 5"/>
          <p:cNvSpPr>
            <a:spLocks noGrp="1"/>
          </p:cNvSpPr>
          <p:nvPr>
            <p:ph type="sldNum" sz="quarter" idx="12"/>
          </p:nvPr>
        </p:nvSpPr>
        <p:spPr>
          <a:noFill/>
        </p:spPr>
        <p:txBody>
          <a:bodyPr/>
          <a:lstStyle/>
          <a:p>
            <a:fld id="{E720805B-32DE-4703-B352-F98D77908090}" type="slidenum">
              <a:rPr lang="zh-CN" altLang="en-US" smtClean="0"/>
              <a:pPr/>
              <a:t>39</a:t>
            </a:fld>
            <a:r>
              <a:rPr lang="en-US" altLang="zh-CN" dirty="0" smtClean="0"/>
              <a:t>/57</a:t>
            </a:r>
            <a:endParaRPr lang="en-US" altLang="zh-CN" dirty="0" smtClean="0"/>
          </a:p>
        </p:txBody>
      </p:sp>
      <p:sp>
        <p:nvSpPr>
          <p:cNvPr id="47110" name="Rectangle 3"/>
          <p:cNvSpPr>
            <a:spLocks noGrp="1" noChangeArrowheads="1"/>
          </p:cNvSpPr>
          <p:nvPr>
            <p:ph sz="quarter" idx="1"/>
          </p:nvPr>
        </p:nvSpPr>
        <p:spPr>
          <a:xfrm>
            <a:off x="611188" y="1357298"/>
            <a:ext cx="8137276" cy="4464521"/>
          </a:xfrm>
        </p:spPr>
        <p:txBody>
          <a:bodyPr/>
          <a:lstStyle/>
          <a:p>
            <a:pPr eaLnBrk="1" hangingPunct="1">
              <a:lnSpc>
                <a:spcPct val="80000"/>
              </a:lnSpc>
            </a:pPr>
            <a:r>
              <a:rPr lang="zh-CN" altLang="en-US" sz="2400" b="1" dirty="0" smtClean="0">
                <a:latin typeface="+mn-ea"/>
              </a:rPr>
              <a:t>分析</a:t>
            </a:r>
            <a:r>
              <a:rPr lang="en-US" altLang="zh-CN" sz="2400" b="1" dirty="0" smtClean="0">
                <a:latin typeface="+mn-ea"/>
              </a:rPr>
              <a:t>(analysis)</a:t>
            </a:r>
            <a:r>
              <a:rPr lang="zh-CN" altLang="en-US" sz="2400" b="1" dirty="0" smtClean="0">
                <a:latin typeface="+mn-ea"/>
              </a:rPr>
              <a:t>和综合(</a:t>
            </a:r>
            <a:r>
              <a:rPr lang="en-US" altLang="zh-CN" sz="2400" b="1" dirty="0" smtClean="0">
                <a:latin typeface="+mn-ea"/>
              </a:rPr>
              <a:t>synthesis)</a:t>
            </a:r>
          </a:p>
          <a:p>
            <a:pPr lvl="1" eaLnBrk="1" hangingPunct="1">
              <a:lnSpc>
                <a:spcPct val="80000"/>
              </a:lnSpc>
            </a:pPr>
            <a:r>
              <a:rPr lang="zh-CN" altLang="en-US" sz="2400" b="1" dirty="0" smtClean="0">
                <a:latin typeface="+mn-ea"/>
              </a:rPr>
              <a:t>源程序的分析</a:t>
            </a:r>
          </a:p>
          <a:p>
            <a:pPr lvl="2" eaLnBrk="1" hangingPunct="1">
              <a:lnSpc>
                <a:spcPct val="80000"/>
              </a:lnSpc>
            </a:pPr>
            <a:r>
              <a:rPr lang="zh-CN" altLang="en-US" sz="2400" b="1" dirty="0" smtClean="0">
                <a:latin typeface="+mn-ea"/>
              </a:rPr>
              <a:t>线性分析</a:t>
            </a:r>
          </a:p>
          <a:p>
            <a:pPr lvl="2" eaLnBrk="1" hangingPunct="1">
              <a:lnSpc>
                <a:spcPct val="80000"/>
              </a:lnSpc>
            </a:pPr>
            <a:r>
              <a:rPr lang="zh-CN" altLang="en-US" sz="2400" b="1" dirty="0" smtClean="0">
                <a:latin typeface="+mn-ea"/>
              </a:rPr>
              <a:t>层次分析</a:t>
            </a:r>
          </a:p>
          <a:p>
            <a:pPr lvl="2" eaLnBrk="1" hangingPunct="1">
              <a:lnSpc>
                <a:spcPct val="80000"/>
              </a:lnSpc>
            </a:pPr>
            <a:r>
              <a:rPr lang="zh-CN" altLang="en-US" sz="2400" b="1" dirty="0" smtClean="0">
                <a:latin typeface="+mn-ea"/>
              </a:rPr>
              <a:t>语义分析</a:t>
            </a:r>
          </a:p>
          <a:p>
            <a:pPr lvl="1" eaLnBrk="1" hangingPunct="1">
              <a:lnSpc>
                <a:spcPct val="80000"/>
              </a:lnSpc>
            </a:pPr>
            <a:r>
              <a:rPr lang="zh-CN" altLang="en-US" sz="2400" b="1" dirty="0" smtClean="0">
                <a:latin typeface="+mn-ea"/>
              </a:rPr>
              <a:t>目标程序的综合</a:t>
            </a:r>
          </a:p>
          <a:p>
            <a:pPr eaLnBrk="1" hangingPunct="1">
              <a:lnSpc>
                <a:spcPct val="80000"/>
              </a:lnSpc>
            </a:pPr>
            <a:r>
              <a:rPr lang="zh-CN" altLang="en-US" sz="2400" b="1" dirty="0" smtClean="0">
                <a:latin typeface="+mn-ea"/>
              </a:rPr>
              <a:t>编译阶段的划分</a:t>
            </a:r>
            <a:r>
              <a:rPr lang="zh-CN" altLang="en-US" sz="2400" dirty="0" smtClean="0">
                <a:latin typeface="+mn-ea"/>
              </a:rPr>
              <a:t>：</a:t>
            </a:r>
            <a:r>
              <a:rPr lang="zh-CN" altLang="en-US" sz="2400" b="1" dirty="0" smtClean="0">
                <a:latin typeface="+mn-ea"/>
              </a:rPr>
              <a:t>前端和后端</a:t>
            </a:r>
          </a:p>
          <a:p>
            <a:pPr eaLnBrk="1" hangingPunct="1">
              <a:lnSpc>
                <a:spcPct val="80000"/>
              </a:lnSpc>
              <a:buFont typeface="Wingdings" pitchFamily="2" charset="2"/>
              <a:buNone/>
            </a:pPr>
            <a:r>
              <a:rPr lang="zh-CN" altLang="en-US" sz="2400" b="1" dirty="0" smtClean="0">
                <a:latin typeface="+mn-ea"/>
              </a:rPr>
              <a:t>    </a:t>
            </a:r>
            <a:r>
              <a:rPr lang="en-US" altLang="zh-CN" sz="2400" b="1" dirty="0" smtClean="0">
                <a:latin typeface="+mn-ea"/>
              </a:rPr>
              <a:t>— </a:t>
            </a:r>
            <a:r>
              <a:rPr lang="zh-CN" altLang="en-US" sz="2400" b="1" dirty="0" smtClean="0">
                <a:latin typeface="+mn-ea"/>
              </a:rPr>
              <a:t>编译的前端</a:t>
            </a:r>
          </a:p>
          <a:p>
            <a:pPr eaLnBrk="1" hangingPunct="1">
              <a:lnSpc>
                <a:spcPct val="80000"/>
              </a:lnSpc>
              <a:buFont typeface="Wingdings" pitchFamily="2" charset="2"/>
              <a:buNone/>
            </a:pPr>
            <a:r>
              <a:rPr lang="zh-CN" altLang="en-US" sz="2400" b="1" dirty="0" smtClean="0">
                <a:latin typeface="+mn-ea"/>
              </a:rPr>
              <a:t>       与源语言有关但与目标机无关的那些部分组成</a:t>
            </a:r>
          </a:p>
          <a:p>
            <a:pPr eaLnBrk="1" hangingPunct="1">
              <a:lnSpc>
                <a:spcPct val="80000"/>
              </a:lnSpc>
              <a:buFont typeface="Wingdings" pitchFamily="2" charset="2"/>
              <a:buNone/>
            </a:pPr>
            <a:r>
              <a:rPr lang="zh-CN" altLang="en-US" sz="2400" b="1" dirty="0" smtClean="0">
                <a:latin typeface="+mn-ea"/>
              </a:rPr>
              <a:t>    </a:t>
            </a:r>
            <a:r>
              <a:rPr lang="en-US" altLang="zh-CN" sz="2400" b="1" dirty="0" smtClean="0">
                <a:latin typeface="+mn-ea"/>
              </a:rPr>
              <a:t>— </a:t>
            </a:r>
            <a:r>
              <a:rPr lang="zh-CN" altLang="en-US" sz="2400" b="1" dirty="0" smtClean="0">
                <a:latin typeface="+mn-ea"/>
              </a:rPr>
              <a:t>编译的后端</a:t>
            </a:r>
          </a:p>
          <a:p>
            <a:pPr eaLnBrk="1" hangingPunct="1">
              <a:lnSpc>
                <a:spcPct val="80000"/>
              </a:lnSpc>
              <a:buFont typeface="Wingdings" pitchFamily="2" charset="2"/>
              <a:buNone/>
            </a:pPr>
            <a:r>
              <a:rPr lang="zh-CN" altLang="en-US" sz="2400" b="1" dirty="0" smtClean="0">
                <a:latin typeface="+mn-ea"/>
              </a:rPr>
              <a:t>       与目标机有关的那些部分组成</a:t>
            </a:r>
          </a:p>
          <a:p>
            <a:pPr eaLnBrk="1" hangingPunct="1">
              <a:lnSpc>
                <a:spcPct val="80000"/>
              </a:lnSpc>
            </a:pPr>
            <a:r>
              <a:rPr lang="zh-CN" altLang="en-US" sz="2400" b="1" dirty="0" smtClean="0">
                <a:latin typeface="+mn-ea"/>
              </a:rPr>
              <a:t>遍（趟）从头到尾扫描源程序（各种形式）一遍(</a:t>
            </a:r>
            <a:r>
              <a:rPr lang="en-US" altLang="zh-CN" sz="2400" b="1" dirty="0" smtClean="0">
                <a:latin typeface="+mn-ea"/>
              </a:rPr>
              <a:t>pass)</a:t>
            </a:r>
            <a:endParaRPr lang="zh-CN" altLang="zh-CN" sz="2400" b="1" dirty="0" smtClean="0">
              <a:latin typeface="+mn-ea"/>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a:spLocks noGrp="1"/>
          </p:cNvSpPr>
          <p:nvPr>
            <p:ph type="dt" sz="half" idx="10"/>
          </p:nvPr>
        </p:nvSpPr>
        <p:spPr>
          <a:noFill/>
        </p:spPr>
        <p:txBody>
          <a:bodyPr/>
          <a:lstStyle/>
          <a:p>
            <a:fld id="{D3B58A0F-24D0-4078-82A5-45D11D1006FA}" type="datetime1">
              <a:rPr lang="zh-CN" altLang="en-US" smtClean="0"/>
              <a:t>2017/1/22</a:t>
            </a:fld>
            <a:endParaRPr lang="en-US" altLang="zh-CN" smtClean="0"/>
          </a:p>
        </p:txBody>
      </p:sp>
      <p:sp>
        <p:nvSpPr>
          <p:cNvPr id="4813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48132" name="灯片编号占位符 5"/>
          <p:cNvSpPr>
            <a:spLocks noGrp="1"/>
          </p:cNvSpPr>
          <p:nvPr>
            <p:ph type="sldNum" sz="quarter" idx="12"/>
          </p:nvPr>
        </p:nvSpPr>
        <p:spPr>
          <a:noFill/>
        </p:spPr>
        <p:txBody>
          <a:bodyPr/>
          <a:lstStyle/>
          <a:p>
            <a:fld id="{FDB6EF4A-5BF8-4232-B7C3-FA0280A0F223}" type="slidenum">
              <a:rPr lang="zh-CN" altLang="en-US" smtClean="0"/>
              <a:pPr/>
              <a:t>40</a:t>
            </a:fld>
            <a:r>
              <a:rPr lang="en-US" altLang="zh-CN" dirty="0" smtClean="0"/>
              <a:t>/57</a:t>
            </a:r>
            <a:endParaRPr lang="en-US" altLang="zh-CN" dirty="0" smtClean="0"/>
          </a:p>
        </p:txBody>
      </p:sp>
      <p:pic>
        <p:nvPicPr>
          <p:cNvPr id="48134" name="Picture 3"/>
          <p:cNvPicPr>
            <a:picLocks noGrp="1" noChangeAspect="1" noChangeArrowheads="1"/>
          </p:cNvPicPr>
          <p:nvPr>
            <p:ph sz="quarter" idx="1"/>
          </p:nvPr>
        </p:nvPicPr>
        <p:blipFill>
          <a:blip r:embed="rId2"/>
          <a:srcRect/>
          <a:stretch>
            <a:fillRect/>
          </a:stretch>
        </p:blipFill>
        <p:spPr>
          <a:xfrm>
            <a:off x="500034" y="404813"/>
            <a:ext cx="8118475" cy="6048375"/>
          </a:xfr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2"/>
          <p:cNvSpPr>
            <a:spLocks noGrp="1" noChangeArrowheads="1"/>
          </p:cNvSpPr>
          <p:nvPr>
            <p:ph type="title"/>
          </p:nvPr>
        </p:nvSpPr>
        <p:spPr>
          <a:xfrm>
            <a:off x="611188" y="71414"/>
            <a:ext cx="7613650" cy="1008063"/>
          </a:xfrm>
        </p:spPr>
        <p:txBody>
          <a:bodyPr/>
          <a:lstStyle/>
          <a:p>
            <a:pPr eaLnBrk="1" hangingPunct="1"/>
            <a:r>
              <a:rPr lang="en-US" altLang="zh-CN" b="1" dirty="0" smtClean="0">
                <a:latin typeface="宋体" pitchFamily="2" charset="-122"/>
              </a:rPr>
              <a:t>1.3</a:t>
            </a:r>
            <a:r>
              <a:rPr lang="zh-CN" altLang="en-US" b="1" dirty="0" smtClean="0">
                <a:latin typeface="宋体" pitchFamily="2" charset="-122"/>
              </a:rPr>
              <a:t>解释程序和一些软件工具</a:t>
            </a:r>
          </a:p>
        </p:txBody>
      </p:sp>
      <p:sp>
        <p:nvSpPr>
          <p:cNvPr id="53250" name="日期占位符 3"/>
          <p:cNvSpPr>
            <a:spLocks noGrp="1"/>
          </p:cNvSpPr>
          <p:nvPr>
            <p:ph type="dt" sz="half" idx="10"/>
          </p:nvPr>
        </p:nvSpPr>
        <p:spPr>
          <a:noFill/>
        </p:spPr>
        <p:txBody>
          <a:bodyPr/>
          <a:lstStyle/>
          <a:p>
            <a:fld id="{D3F8FFBD-2E64-44B7-BC4B-17D90E18987A}" type="datetime1">
              <a:rPr lang="zh-CN" altLang="en-US" smtClean="0"/>
              <a:t>2017/1/22</a:t>
            </a:fld>
            <a:endParaRPr lang="en-US" altLang="zh-CN" smtClean="0"/>
          </a:p>
        </p:txBody>
      </p:sp>
      <p:sp>
        <p:nvSpPr>
          <p:cNvPr id="5325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3252" name="灯片编号占位符 5"/>
          <p:cNvSpPr>
            <a:spLocks noGrp="1"/>
          </p:cNvSpPr>
          <p:nvPr>
            <p:ph type="sldNum" sz="quarter" idx="12"/>
          </p:nvPr>
        </p:nvSpPr>
        <p:spPr>
          <a:noFill/>
        </p:spPr>
        <p:txBody>
          <a:bodyPr/>
          <a:lstStyle/>
          <a:p>
            <a:fld id="{FDA5A58B-42F7-4E3F-BEC6-4C05542F19B9}" type="slidenum">
              <a:rPr lang="zh-CN" altLang="en-US" smtClean="0"/>
              <a:pPr/>
              <a:t>41</a:t>
            </a:fld>
            <a:r>
              <a:rPr lang="en-US" altLang="zh-CN" dirty="0" smtClean="0"/>
              <a:t>/57</a:t>
            </a:r>
            <a:endParaRPr lang="en-US" altLang="zh-CN" dirty="0" smtClean="0"/>
          </a:p>
        </p:txBody>
      </p:sp>
      <p:sp>
        <p:nvSpPr>
          <p:cNvPr id="53254" name="Rectangle 3"/>
          <p:cNvSpPr>
            <a:spLocks noGrp="1" noChangeArrowheads="1"/>
          </p:cNvSpPr>
          <p:nvPr>
            <p:ph sz="quarter" idx="1"/>
          </p:nvPr>
        </p:nvSpPr>
        <p:spPr>
          <a:xfrm>
            <a:off x="755650" y="1500174"/>
            <a:ext cx="7772400" cy="1712926"/>
          </a:xfrm>
        </p:spPr>
        <p:txBody>
          <a:bodyPr>
            <a:normAutofit/>
          </a:bodyPr>
          <a:lstStyle/>
          <a:p>
            <a:pPr eaLnBrk="1" hangingPunct="1">
              <a:lnSpc>
                <a:spcPct val="90000"/>
              </a:lnSpc>
              <a:buFont typeface="Wingdings" pitchFamily="2" charset="2"/>
              <a:buNone/>
            </a:pPr>
            <a:r>
              <a:rPr lang="zh-CN" altLang="en-US" sz="2800" b="1" dirty="0" smtClean="0">
                <a:latin typeface="+mn-ea"/>
              </a:rPr>
              <a:t>主要的途径有两个：通过</a:t>
            </a:r>
            <a:r>
              <a:rPr lang="zh-CN" altLang="en-US" sz="2800" b="1" dirty="0" smtClean="0">
                <a:solidFill>
                  <a:srgbClr val="3333FF"/>
                </a:solidFill>
                <a:latin typeface="+mn-ea"/>
              </a:rPr>
              <a:t>编译程序</a:t>
            </a:r>
            <a:r>
              <a:rPr lang="zh-CN" altLang="en-US" sz="2800" b="1" dirty="0" smtClean="0">
                <a:latin typeface="+mn-ea"/>
              </a:rPr>
              <a:t>和</a:t>
            </a:r>
            <a:r>
              <a:rPr lang="zh-CN" altLang="en-US" sz="2800" b="1" dirty="0" smtClean="0">
                <a:solidFill>
                  <a:srgbClr val="3333FF"/>
                </a:solidFill>
                <a:latin typeface="+mn-ea"/>
              </a:rPr>
              <a:t>解释程序</a:t>
            </a:r>
          </a:p>
          <a:p>
            <a:pPr>
              <a:lnSpc>
                <a:spcPct val="110000"/>
              </a:lnSpc>
              <a:spcBef>
                <a:spcPct val="50000"/>
              </a:spcBef>
              <a:buClrTx/>
              <a:buFontTx/>
              <a:buNone/>
            </a:pPr>
            <a:r>
              <a:rPr kumimoji="1" lang="zh-CN" altLang="en-US" sz="2800" b="1" dirty="0" smtClean="0">
                <a:latin typeface="+mn-ea"/>
              </a:rPr>
              <a:t>有些语言基本通过解释程序</a:t>
            </a:r>
            <a:r>
              <a:rPr kumimoji="1" lang="en-US" altLang="zh-CN" sz="2800" b="1" dirty="0" smtClean="0">
                <a:latin typeface="+mn-ea"/>
              </a:rPr>
              <a:t>Java</a:t>
            </a:r>
            <a:r>
              <a:rPr kumimoji="1" lang="zh-CN" altLang="en-US" sz="2800" b="1" dirty="0" smtClean="0">
                <a:latin typeface="+mn-ea"/>
              </a:rPr>
              <a:t>的</a:t>
            </a:r>
            <a:r>
              <a:rPr kumimoji="1" lang="en-US" altLang="zh-CN" sz="2800" b="1" dirty="0" err="1" smtClean="0">
                <a:latin typeface="+mn-ea"/>
              </a:rPr>
              <a:t>Bytecode</a:t>
            </a:r>
            <a:r>
              <a:rPr kumimoji="1" lang="zh-CN" altLang="en-US" sz="2800" b="1" dirty="0" smtClean="0">
                <a:latin typeface="+mn-ea"/>
              </a:rPr>
              <a:t>有些环境同时提供编译程序和解释系统</a:t>
            </a:r>
            <a:r>
              <a:rPr kumimoji="1" lang="en-US" altLang="zh-CN" sz="2800" b="1" dirty="0" smtClean="0">
                <a:latin typeface="+mn-ea"/>
              </a:rPr>
              <a:t> Lisp</a:t>
            </a:r>
            <a:endParaRPr lang="zh-CN" altLang="en-US" sz="2800" b="1" dirty="0" smtClean="0">
              <a:latin typeface="+mn-ea"/>
            </a:endParaRPr>
          </a:p>
        </p:txBody>
      </p:sp>
      <p:sp>
        <p:nvSpPr>
          <p:cNvPr id="53255" name="Text Box 4"/>
          <p:cNvSpPr txBox="1">
            <a:spLocks noChangeArrowheads="1"/>
          </p:cNvSpPr>
          <p:nvPr/>
        </p:nvSpPr>
        <p:spPr bwMode="auto">
          <a:xfrm>
            <a:off x="3705225" y="3702050"/>
            <a:ext cx="1573213" cy="466725"/>
          </a:xfrm>
          <a:prstGeom prst="rect">
            <a:avLst/>
          </a:prstGeom>
          <a:noFill/>
          <a:ln w="9525">
            <a:solidFill>
              <a:schemeClr val="tx1"/>
            </a:solidFill>
            <a:miter lim="800000"/>
            <a:headEnd/>
            <a:tailEnd/>
          </a:ln>
        </p:spPr>
        <p:txBody>
          <a:bodyPr wrap="none">
            <a:spAutoFit/>
          </a:bodyPr>
          <a:lstStyle/>
          <a:p>
            <a:pPr>
              <a:spcBef>
                <a:spcPct val="50000"/>
              </a:spcBef>
            </a:pPr>
            <a:r>
              <a:rPr kumimoji="1" lang="zh-CN" altLang="en-US" sz="2400" b="1">
                <a:latin typeface="宋体" pitchFamily="2" charset="-122"/>
              </a:rPr>
              <a:t> 编译程序</a:t>
            </a:r>
          </a:p>
        </p:txBody>
      </p:sp>
      <p:sp>
        <p:nvSpPr>
          <p:cNvPr id="53256" name="Oval 5"/>
          <p:cNvSpPr>
            <a:spLocks noChangeArrowheads="1"/>
          </p:cNvSpPr>
          <p:nvPr/>
        </p:nvSpPr>
        <p:spPr bwMode="auto">
          <a:xfrm>
            <a:off x="5649913" y="3362325"/>
            <a:ext cx="1981200" cy="1219200"/>
          </a:xfrm>
          <a:prstGeom prst="ellipse">
            <a:avLst/>
          </a:prstGeom>
          <a:noFill/>
          <a:ln w="9525">
            <a:solidFill>
              <a:schemeClr val="tx1"/>
            </a:solidFill>
            <a:round/>
            <a:headEnd/>
            <a:tailEnd/>
          </a:ln>
        </p:spPr>
        <p:txBody>
          <a:bodyPr wrap="none" anchor="ctr"/>
          <a:lstStyle/>
          <a:p>
            <a:endParaRPr lang="zh-CN" altLang="en-US"/>
          </a:p>
        </p:txBody>
      </p:sp>
      <p:sp>
        <p:nvSpPr>
          <p:cNvPr id="53257" name="Rectangle 6"/>
          <p:cNvSpPr>
            <a:spLocks noChangeArrowheads="1"/>
          </p:cNvSpPr>
          <p:nvPr/>
        </p:nvSpPr>
        <p:spPr bwMode="auto">
          <a:xfrm>
            <a:off x="5645150" y="3722688"/>
            <a:ext cx="2022475" cy="457200"/>
          </a:xfrm>
          <a:prstGeom prst="rect">
            <a:avLst/>
          </a:prstGeom>
          <a:noFill/>
          <a:ln w="9525">
            <a:noFill/>
            <a:miter lim="800000"/>
            <a:headEnd/>
            <a:tailEnd/>
          </a:ln>
        </p:spPr>
        <p:txBody>
          <a:bodyPr wrap="none">
            <a:spAutoFit/>
          </a:bodyPr>
          <a:lstStyle/>
          <a:p>
            <a:pPr algn="ctr" eaLnBrk="0" hangingPunct="0">
              <a:spcBef>
                <a:spcPct val="50000"/>
              </a:spcBef>
            </a:pPr>
            <a:r>
              <a:rPr kumimoji="1" lang="zh-CN" altLang="en-US" sz="2400" b="1">
                <a:latin typeface="宋体" pitchFamily="2" charset="-122"/>
              </a:rPr>
              <a:t>低级语言程序</a:t>
            </a:r>
          </a:p>
        </p:txBody>
      </p:sp>
      <p:sp>
        <p:nvSpPr>
          <p:cNvPr id="53258" name="Oval 7"/>
          <p:cNvSpPr>
            <a:spLocks noChangeArrowheads="1"/>
          </p:cNvSpPr>
          <p:nvPr/>
        </p:nvSpPr>
        <p:spPr bwMode="auto">
          <a:xfrm>
            <a:off x="1185863" y="3362325"/>
            <a:ext cx="1981200" cy="1219200"/>
          </a:xfrm>
          <a:prstGeom prst="ellipse">
            <a:avLst/>
          </a:prstGeom>
          <a:noFill/>
          <a:ln w="9525">
            <a:solidFill>
              <a:schemeClr val="tx1"/>
            </a:solidFill>
            <a:round/>
            <a:headEnd/>
            <a:tailEnd/>
          </a:ln>
        </p:spPr>
        <p:txBody>
          <a:bodyPr wrap="none" anchor="ctr"/>
          <a:lstStyle/>
          <a:p>
            <a:endParaRPr lang="zh-CN" altLang="en-US"/>
          </a:p>
        </p:txBody>
      </p:sp>
      <p:sp>
        <p:nvSpPr>
          <p:cNvPr id="53259" name="Rectangle 8"/>
          <p:cNvSpPr>
            <a:spLocks noChangeArrowheads="1"/>
          </p:cNvSpPr>
          <p:nvPr/>
        </p:nvSpPr>
        <p:spPr bwMode="auto">
          <a:xfrm>
            <a:off x="1109663" y="3795713"/>
            <a:ext cx="2022475" cy="457200"/>
          </a:xfrm>
          <a:prstGeom prst="rect">
            <a:avLst/>
          </a:prstGeom>
          <a:noFill/>
          <a:ln w="9525">
            <a:noFill/>
            <a:miter lim="800000"/>
            <a:headEnd/>
            <a:tailEnd/>
          </a:ln>
        </p:spPr>
        <p:txBody>
          <a:bodyPr wrap="none">
            <a:spAutoFit/>
          </a:bodyPr>
          <a:lstStyle/>
          <a:p>
            <a:pPr algn="ctr" eaLnBrk="0" hangingPunct="0">
              <a:spcBef>
                <a:spcPct val="50000"/>
              </a:spcBef>
            </a:pPr>
            <a:r>
              <a:rPr kumimoji="1" lang="zh-CN" altLang="en-US" sz="2400" b="1">
                <a:latin typeface="宋体" pitchFamily="2" charset="-122"/>
              </a:rPr>
              <a:t>高级语言程序</a:t>
            </a:r>
          </a:p>
        </p:txBody>
      </p:sp>
      <p:sp>
        <p:nvSpPr>
          <p:cNvPr id="53260" name="Line 9"/>
          <p:cNvSpPr>
            <a:spLocks noChangeShapeType="1"/>
          </p:cNvSpPr>
          <p:nvPr/>
        </p:nvSpPr>
        <p:spPr bwMode="auto">
          <a:xfrm>
            <a:off x="3171825" y="3938588"/>
            <a:ext cx="533400" cy="0"/>
          </a:xfrm>
          <a:prstGeom prst="line">
            <a:avLst/>
          </a:prstGeom>
          <a:noFill/>
          <a:ln w="9525">
            <a:solidFill>
              <a:schemeClr val="tx1"/>
            </a:solidFill>
            <a:round/>
            <a:headEnd/>
            <a:tailEnd type="triangle" w="med" len="med"/>
          </a:ln>
        </p:spPr>
        <p:txBody>
          <a:bodyPr/>
          <a:lstStyle/>
          <a:p>
            <a:endParaRPr lang="zh-CN" altLang="en-US"/>
          </a:p>
        </p:txBody>
      </p:sp>
      <p:sp>
        <p:nvSpPr>
          <p:cNvPr id="53261" name="Line 10"/>
          <p:cNvSpPr>
            <a:spLocks noChangeShapeType="1"/>
          </p:cNvSpPr>
          <p:nvPr/>
        </p:nvSpPr>
        <p:spPr bwMode="auto">
          <a:xfrm>
            <a:off x="5187950" y="3998913"/>
            <a:ext cx="461963" cy="6350"/>
          </a:xfrm>
          <a:prstGeom prst="line">
            <a:avLst/>
          </a:prstGeom>
          <a:noFill/>
          <a:ln w="9525">
            <a:solidFill>
              <a:schemeClr val="tx1"/>
            </a:solidFill>
            <a:round/>
            <a:headEnd/>
            <a:tailEnd type="triangle" w="med" len="med"/>
          </a:ln>
        </p:spPr>
        <p:txBody>
          <a:bodyPr/>
          <a:lstStyle/>
          <a:p>
            <a:endParaRPr lang="zh-CN" altLang="en-US"/>
          </a:p>
        </p:txBody>
      </p:sp>
      <p:sp>
        <p:nvSpPr>
          <p:cNvPr id="53262" name="Oval 11"/>
          <p:cNvSpPr>
            <a:spLocks noChangeArrowheads="1"/>
          </p:cNvSpPr>
          <p:nvPr/>
        </p:nvSpPr>
        <p:spPr bwMode="auto">
          <a:xfrm>
            <a:off x="1133475" y="4941888"/>
            <a:ext cx="1981200" cy="1219200"/>
          </a:xfrm>
          <a:prstGeom prst="ellipse">
            <a:avLst/>
          </a:prstGeom>
          <a:noFill/>
          <a:ln w="9525">
            <a:solidFill>
              <a:schemeClr val="tx1"/>
            </a:solidFill>
            <a:round/>
            <a:headEnd/>
            <a:tailEnd/>
          </a:ln>
        </p:spPr>
        <p:txBody>
          <a:bodyPr wrap="none" anchor="ctr"/>
          <a:lstStyle/>
          <a:p>
            <a:endParaRPr lang="zh-CN" altLang="en-US"/>
          </a:p>
        </p:txBody>
      </p:sp>
      <p:sp>
        <p:nvSpPr>
          <p:cNvPr id="53263" name="Rectangle 12"/>
          <p:cNvSpPr>
            <a:spLocks noChangeArrowheads="1"/>
          </p:cNvSpPr>
          <p:nvPr/>
        </p:nvSpPr>
        <p:spPr bwMode="auto">
          <a:xfrm>
            <a:off x="1055688" y="5229225"/>
            <a:ext cx="2022475" cy="457200"/>
          </a:xfrm>
          <a:prstGeom prst="rect">
            <a:avLst/>
          </a:prstGeom>
          <a:noFill/>
          <a:ln w="9525">
            <a:noFill/>
            <a:miter lim="800000"/>
            <a:headEnd/>
            <a:tailEnd/>
          </a:ln>
        </p:spPr>
        <p:txBody>
          <a:bodyPr wrap="none">
            <a:spAutoFit/>
          </a:bodyPr>
          <a:lstStyle/>
          <a:p>
            <a:pPr algn="ctr" eaLnBrk="0" hangingPunct="0">
              <a:spcBef>
                <a:spcPct val="50000"/>
              </a:spcBef>
            </a:pPr>
            <a:r>
              <a:rPr kumimoji="1" lang="zh-CN" altLang="en-US" sz="2400" b="1">
                <a:latin typeface="宋体" pitchFamily="2" charset="-122"/>
              </a:rPr>
              <a:t>高级语言程序</a:t>
            </a:r>
          </a:p>
        </p:txBody>
      </p:sp>
      <p:sp>
        <p:nvSpPr>
          <p:cNvPr id="53264" name="Line 13"/>
          <p:cNvSpPr>
            <a:spLocks noChangeShapeType="1"/>
          </p:cNvSpPr>
          <p:nvPr/>
        </p:nvSpPr>
        <p:spPr bwMode="auto">
          <a:xfrm>
            <a:off x="3149600" y="5516563"/>
            <a:ext cx="677863" cy="0"/>
          </a:xfrm>
          <a:prstGeom prst="line">
            <a:avLst/>
          </a:prstGeom>
          <a:noFill/>
          <a:ln w="9525">
            <a:solidFill>
              <a:schemeClr val="tx1"/>
            </a:solidFill>
            <a:round/>
            <a:headEnd/>
            <a:tailEnd type="triangle" w="med" len="med"/>
          </a:ln>
        </p:spPr>
        <p:txBody>
          <a:bodyPr/>
          <a:lstStyle/>
          <a:p>
            <a:endParaRPr lang="zh-CN" altLang="en-US"/>
          </a:p>
        </p:txBody>
      </p:sp>
      <p:sp>
        <p:nvSpPr>
          <p:cNvPr id="53265" name="Text Box 14"/>
          <p:cNvSpPr txBox="1">
            <a:spLocks noChangeArrowheads="1"/>
          </p:cNvSpPr>
          <p:nvPr/>
        </p:nvSpPr>
        <p:spPr bwMode="auto">
          <a:xfrm>
            <a:off x="3797300" y="5280025"/>
            <a:ext cx="1573213" cy="466725"/>
          </a:xfrm>
          <a:prstGeom prst="rect">
            <a:avLst/>
          </a:prstGeom>
          <a:noFill/>
          <a:ln w="9525">
            <a:solidFill>
              <a:schemeClr val="tx1"/>
            </a:solidFill>
            <a:miter lim="800000"/>
            <a:headEnd/>
            <a:tailEnd/>
          </a:ln>
        </p:spPr>
        <p:txBody>
          <a:bodyPr wrap="none">
            <a:spAutoFit/>
          </a:bodyPr>
          <a:lstStyle/>
          <a:p>
            <a:pPr>
              <a:spcBef>
                <a:spcPct val="50000"/>
              </a:spcBef>
            </a:pPr>
            <a:r>
              <a:rPr kumimoji="1" lang="zh-CN" altLang="en-US" sz="2400" b="1">
                <a:latin typeface="宋体" pitchFamily="2" charset="-122"/>
              </a:rPr>
              <a:t> 解释程序</a:t>
            </a:r>
          </a:p>
        </p:txBody>
      </p:sp>
      <p:sp>
        <p:nvSpPr>
          <p:cNvPr id="53266" name="Line 15"/>
          <p:cNvSpPr>
            <a:spLocks noChangeShapeType="1"/>
          </p:cNvSpPr>
          <p:nvPr/>
        </p:nvSpPr>
        <p:spPr bwMode="auto">
          <a:xfrm>
            <a:off x="5310188" y="5516563"/>
            <a:ext cx="533400" cy="0"/>
          </a:xfrm>
          <a:prstGeom prst="line">
            <a:avLst/>
          </a:prstGeom>
          <a:noFill/>
          <a:ln w="9525">
            <a:solidFill>
              <a:schemeClr val="tx1"/>
            </a:solidFill>
            <a:round/>
            <a:headEnd/>
            <a:tailEnd type="triangle" w="med" len="med"/>
          </a:ln>
        </p:spPr>
        <p:txBody>
          <a:bodyPr/>
          <a:lstStyle/>
          <a:p>
            <a:endParaRPr lang="zh-CN" altLang="en-US"/>
          </a:p>
        </p:txBody>
      </p:sp>
      <p:sp>
        <p:nvSpPr>
          <p:cNvPr id="53267" name="Rectangle 16"/>
          <p:cNvSpPr>
            <a:spLocks noChangeArrowheads="1"/>
          </p:cNvSpPr>
          <p:nvPr/>
        </p:nvSpPr>
        <p:spPr bwMode="auto">
          <a:xfrm>
            <a:off x="5940425" y="5300663"/>
            <a:ext cx="1419225" cy="466725"/>
          </a:xfrm>
          <a:prstGeom prst="rect">
            <a:avLst/>
          </a:prstGeom>
          <a:noFill/>
          <a:ln w="9525">
            <a:solidFill>
              <a:schemeClr val="tx1"/>
            </a:solidFill>
            <a:miter lim="800000"/>
            <a:headEnd/>
            <a:tailEnd/>
          </a:ln>
        </p:spPr>
        <p:txBody>
          <a:bodyPr wrap="none">
            <a:spAutoFit/>
          </a:bodyPr>
          <a:lstStyle/>
          <a:p>
            <a:pPr algn="ctr" eaLnBrk="0" hangingPunct="0">
              <a:spcBef>
                <a:spcPct val="50000"/>
              </a:spcBef>
            </a:pPr>
            <a:r>
              <a:rPr kumimoji="1" lang="zh-CN" altLang="en-US" sz="2400" b="1">
                <a:latin typeface="宋体" pitchFamily="2" charset="-122"/>
              </a:rPr>
              <a:t>计算结果</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p:cNvSpPr>
            <a:spLocks noGrp="1" noChangeArrowheads="1"/>
          </p:cNvSpPr>
          <p:nvPr>
            <p:ph type="title"/>
          </p:nvPr>
        </p:nvSpPr>
        <p:spPr/>
        <p:txBody>
          <a:bodyPr/>
          <a:lstStyle/>
          <a:p>
            <a:pPr eaLnBrk="1" hangingPunct="1"/>
            <a:r>
              <a:rPr lang="zh-CN" altLang="en-US" sz="3400" b="1" dirty="0" smtClean="0"/>
              <a:t>编译程序和解释系统</a:t>
            </a:r>
          </a:p>
        </p:txBody>
      </p:sp>
      <p:sp>
        <p:nvSpPr>
          <p:cNvPr id="54274" name="日期占位符 3"/>
          <p:cNvSpPr>
            <a:spLocks noGrp="1"/>
          </p:cNvSpPr>
          <p:nvPr>
            <p:ph type="dt" sz="half" idx="10"/>
          </p:nvPr>
        </p:nvSpPr>
        <p:spPr>
          <a:noFill/>
        </p:spPr>
        <p:txBody>
          <a:bodyPr/>
          <a:lstStyle/>
          <a:p>
            <a:fld id="{7FB786E0-722C-4E81-894B-479C01393B74}" type="datetime1">
              <a:rPr lang="zh-CN" altLang="en-US" smtClean="0"/>
              <a:t>2017/1/22</a:t>
            </a:fld>
            <a:endParaRPr lang="en-US" altLang="zh-CN" smtClean="0"/>
          </a:p>
        </p:txBody>
      </p:sp>
      <p:sp>
        <p:nvSpPr>
          <p:cNvPr id="5427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4276" name="灯片编号占位符 5"/>
          <p:cNvSpPr>
            <a:spLocks noGrp="1"/>
          </p:cNvSpPr>
          <p:nvPr>
            <p:ph type="sldNum" sz="quarter" idx="12"/>
          </p:nvPr>
        </p:nvSpPr>
        <p:spPr>
          <a:noFill/>
        </p:spPr>
        <p:txBody>
          <a:bodyPr/>
          <a:lstStyle/>
          <a:p>
            <a:fld id="{B977052D-5B9E-439F-83D9-BB07D14E29A7}" type="slidenum">
              <a:rPr lang="zh-CN" altLang="en-US" smtClean="0"/>
              <a:pPr/>
              <a:t>42</a:t>
            </a:fld>
            <a:r>
              <a:rPr lang="en-US" altLang="zh-CN" dirty="0" smtClean="0"/>
              <a:t>/57</a:t>
            </a:r>
            <a:endParaRPr lang="en-US" altLang="zh-CN" dirty="0" smtClean="0"/>
          </a:p>
        </p:txBody>
      </p:sp>
      <p:sp>
        <p:nvSpPr>
          <p:cNvPr id="54278" name="Rectangle 3"/>
          <p:cNvSpPr>
            <a:spLocks noGrp="1" noChangeArrowheads="1"/>
          </p:cNvSpPr>
          <p:nvPr>
            <p:ph sz="quarter" idx="1"/>
          </p:nvPr>
        </p:nvSpPr>
        <p:spPr>
          <a:xfrm>
            <a:off x="1187450" y="1700213"/>
            <a:ext cx="7561263" cy="4249737"/>
          </a:xfrm>
        </p:spPr>
        <p:txBody>
          <a:bodyPr/>
          <a:lstStyle/>
          <a:p>
            <a:pPr eaLnBrk="1" hangingPunct="1">
              <a:lnSpc>
                <a:spcPct val="80000"/>
              </a:lnSpc>
              <a:buFont typeface="Wingdings" pitchFamily="2" charset="2"/>
              <a:buNone/>
            </a:pPr>
            <a:endParaRPr lang="zh-CN" altLang="en-US" sz="1900" b="1" dirty="0" smtClean="0"/>
          </a:p>
          <a:p>
            <a:pPr eaLnBrk="1" hangingPunct="1">
              <a:lnSpc>
                <a:spcPct val="80000"/>
              </a:lnSpc>
              <a:buFont typeface="Wingdings" pitchFamily="2" charset="2"/>
              <a:buNone/>
            </a:pPr>
            <a:r>
              <a:rPr lang="zh-CN" altLang="en-US" sz="1900" b="1" dirty="0" smtClean="0"/>
              <a:t>如对源程序：</a:t>
            </a:r>
            <a:r>
              <a:rPr lang="zh-CN" altLang="en-US" sz="1900" b="1" dirty="0" smtClean="0">
                <a:latin typeface="Arial" pitchFamily="34" charset="0"/>
              </a:rPr>
              <a:t>…</a:t>
            </a:r>
            <a:r>
              <a:rPr lang="zh-CN" altLang="en-US" sz="1900" b="1" dirty="0" smtClean="0"/>
              <a:t> </a:t>
            </a:r>
            <a:r>
              <a:rPr lang="zh-CN" altLang="en-US" sz="1900" b="1" dirty="0" smtClean="0">
                <a:latin typeface="Arial" pitchFamily="34" charset="0"/>
              </a:rPr>
              <a:t>…</a:t>
            </a:r>
            <a:endParaRPr lang="zh-CN" altLang="en-US" sz="1900" b="1" dirty="0" smtClean="0"/>
          </a:p>
          <a:p>
            <a:pPr eaLnBrk="1" hangingPunct="1">
              <a:lnSpc>
                <a:spcPct val="80000"/>
              </a:lnSpc>
              <a:buFont typeface="Wingdings" pitchFamily="2" charset="2"/>
              <a:buNone/>
            </a:pPr>
            <a:r>
              <a:rPr lang="zh-CN" altLang="en-US" sz="1900" b="1" dirty="0" smtClean="0"/>
              <a:t>        </a:t>
            </a:r>
            <a:r>
              <a:rPr lang="en-US" altLang="zh-CN" sz="1900" b="1" dirty="0" smtClean="0"/>
              <a:t>b := 2       ;</a:t>
            </a:r>
          </a:p>
          <a:p>
            <a:pPr eaLnBrk="1" hangingPunct="1">
              <a:lnSpc>
                <a:spcPct val="80000"/>
              </a:lnSpc>
              <a:buFont typeface="Wingdings" pitchFamily="2" charset="2"/>
              <a:buNone/>
            </a:pPr>
            <a:r>
              <a:rPr lang="en-US" altLang="zh-CN" sz="1900" b="1" dirty="0" smtClean="0"/>
              <a:t>        a :=  b+2  ;         </a:t>
            </a:r>
            <a:r>
              <a:rPr lang="zh-CN" altLang="en-US" sz="1900" b="1" dirty="0" smtClean="0"/>
              <a:t>编译程序</a:t>
            </a:r>
          </a:p>
          <a:p>
            <a:pPr eaLnBrk="1" hangingPunct="1">
              <a:lnSpc>
                <a:spcPct val="80000"/>
              </a:lnSpc>
              <a:buFont typeface="Wingdings" pitchFamily="2" charset="2"/>
              <a:buNone/>
            </a:pPr>
            <a:r>
              <a:rPr lang="zh-CN" altLang="en-US" sz="1900" b="1" dirty="0" smtClean="0"/>
              <a:t>       </a:t>
            </a:r>
            <a:r>
              <a:rPr lang="en-US" altLang="zh-CN" sz="1900" b="1" dirty="0" smtClean="0"/>
              <a:t>write    a   ;  </a:t>
            </a:r>
          </a:p>
          <a:p>
            <a:pPr eaLnBrk="1" hangingPunct="1">
              <a:lnSpc>
                <a:spcPct val="80000"/>
              </a:lnSpc>
              <a:buFont typeface="Wingdings" pitchFamily="2" charset="2"/>
              <a:buNone/>
            </a:pPr>
            <a:r>
              <a:rPr lang="en-US" altLang="zh-CN" sz="1900" b="1" dirty="0" smtClean="0"/>
              <a:t>       </a:t>
            </a:r>
            <a:r>
              <a:rPr lang="en-US" altLang="zh-CN" sz="1900" b="1" dirty="0" smtClean="0">
                <a:latin typeface="Arial" pitchFamily="34" charset="0"/>
              </a:rPr>
              <a:t>…</a:t>
            </a:r>
            <a:r>
              <a:rPr lang="en-US" altLang="zh-CN" sz="1900" b="1" dirty="0" smtClean="0"/>
              <a:t> </a:t>
            </a:r>
            <a:r>
              <a:rPr lang="en-US" altLang="zh-CN" sz="1900" b="1" dirty="0" smtClean="0">
                <a:latin typeface="Arial" pitchFamily="34" charset="0"/>
              </a:rPr>
              <a:t>…</a:t>
            </a:r>
            <a:endParaRPr lang="en-US" altLang="zh-CN" sz="1900" b="1" dirty="0" smtClean="0"/>
          </a:p>
          <a:p>
            <a:pPr eaLnBrk="1" hangingPunct="1">
              <a:lnSpc>
                <a:spcPct val="80000"/>
              </a:lnSpc>
              <a:buFont typeface="Wingdings" pitchFamily="2" charset="2"/>
              <a:buNone/>
            </a:pPr>
            <a:endParaRPr lang="en-US" altLang="zh-CN" sz="1900" b="1" dirty="0" smtClean="0"/>
          </a:p>
          <a:p>
            <a:pPr eaLnBrk="1" hangingPunct="1">
              <a:lnSpc>
                <a:spcPct val="80000"/>
              </a:lnSpc>
              <a:buFont typeface="Wingdings" pitchFamily="2" charset="2"/>
              <a:buNone/>
            </a:pPr>
            <a:endParaRPr lang="en-US" altLang="zh-CN" sz="1900" b="1" dirty="0" smtClean="0"/>
          </a:p>
          <a:p>
            <a:pPr eaLnBrk="1" hangingPunct="1">
              <a:lnSpc>
                <a:spcPct val="80000"/>
              </a:lnSpc>
              <a:buFont typeface="Wingdings" pitchFamily="2" charset="2"/>
              <a:buNone/>
            </a:pPr>
            <a:r>
              <a:rPr lang="zh-CN" altLang="en-US" sz="1900" b="1" dirty="0" smtClean="0"/>
              <a:t>    解释程序</a:t>
            </a:r>
          </a:p>
          <a:p>
            <a:pPr eaLnBrk="1" hangingPunct="1">
              <a:lnSpc>
                <a:spcPct val="80000"/>
              </a:lnSpc>
              <a:buFont typeface="Wingdings" pitchFamily="2" charset="2"/>
              <a:buNone/>
            </a:pPr>
            <a:endParaRPr lang="zh-CN" altLang="en-US" sz="1900" b="1" dirty="0" smtClean="0"/>
          </a:p>
          <a:p>
            <a:pPr eaLnBrk="1" hangingPunct="1">
              <a:lnSpc>
                <a:spcPct val="80000"/>
              </a:lnSpc>
              <a:buFont typeface="Wingdings" pitchFamily="2" charset="2"/>
              <a:buNone/>
            </a:pPr>
            <a:r>
              <a:rPr lang="zh-CN" altLang="en-US" sz="1900" b="1" dirty="0" smtClean="0"/>
              <a:t>   </a:t>
            </a:r>
          </a:p>
          <a:p>
            <a:pPr eaLnBrk="1" hangingPunct="1">
              <a:lnSpc>
                <a:spcPct val="80000"/>
              </a:lnSpc>
              <a:buFont typeface="Wingdings" pitchFamily="2" charset="2"/>
              <a:buNone/>
            </a:pPr>
            <a:r>
              <a:rPr lang="zh-CN" altLang="en-US" sz="1900" b="1" dirty="0" smtClean="0"/>
              <a:t>   直接将4的值输出（显示）</a:t>
            </a:r>
          </a:p>
          <a:p>
            <a:pPr eaLnBrk="1" hangingPunct="1">
              <a:lnSpc>
                <a:spcPct val="80000"/>
              </a:lnSpc>
              <a:buFont typeface="Wingdings" pitchFamily="2" charset="2"/>
              <a:buNone/>
            </a:pPr>
            <a:r>
              <a:rPr lang="zh-CN" altLang="en-US" sz="1900" b="1" dirty="0" smtClean="0"/>
              <a:t>（直接对源程序中的语句进行分析，执行其隐含的操作。）</a:t>
            </a:r>
          </a:p>
          <a:p>
            <a:pPr eaLnBrk="1" hangingPunct="1">
              <a:lnSpc>
                <a:spcPct val="80000"/>
              </a:lnSpc>
              <a:buFont typeface="Wingdings" pitchFamily="2" charset="2"/>
              <a:buNone/>
            </a:pPr>
            <a:endParaRPr lang="zh-CN" altLang="en-US" sz="1900" b="1" dirty="0" smtClean="0"/>
          </a:p>
        </p:txBody>
      </p:sp>
      <p:sp>
        <p:nvSpPr>
          <p:cNvPr id="54279" name="AutoShape 4"/>
          <p:cNvSpPr>
            <a:spLocks noChangeArrowheads="1"/>
          </p:cNvSpPr>
          <p:nvPr/>
        </p:nvSpPr>
        <p:spPr bwMode="auto">
          <a:xfrm>
            <a:off x="3581400" y="2852738"/>
            <a:ext cx="990600" cy="457200"/>
          </a:xfrm>
          <a:prstGeom prst="rightArrow">
            <a:avLst>
              <a:gd name="adj1" fmla="val 50000"/>
              <a:gd name="adj2" fmla="val 54167"/>
            </a:avLst>
          </a:prstGeom>
          <a:solidFill>
            <a:schemeClr val="bg1"/>
          </a:solidFill>
          <a:ln w="9525">
            <a:solidFill>
              <a:schemeClr val="tx1"/>
            </a:solidFill>
            <a:miter lim="800000"/>
            <a:headEnd/>
            <a:tailEnd/>
          </a:ln>
        </p:spPr>
        <p:txBody>
          <a:bodyPr wrap="none" anchor="ctr"/>
          <a:lstStyle/>
          <a:p>
            <a:endParaRPr lang="zh-CN" altLang="en-US"/>
          </a:p>
        </p:txBody>
      </p:sp>
      <p:sp>
        <p:nvSpPr>
          <p:cNvPr id="54280" name="Rectangle 5"/>
          <p:cNvSpPr>
            <a:spLocks noChangeArrowheads="1"/>
          </p:cNvSpPr>
          <p:nvPr/>
        </p:nvSpPr>
        <p:spPr bwMode="auto">
          <a:xfrm>
            <a:off x="7467600" y="2590800"/>
            <a:ext cx="838200" cy="175260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latin typeface="Times New Roman" pitchFamily="18" charset="0"/>
              </a:rPr>
              <a:t>Int 2</a:t>
            </a:r>
          </a:p>
          <a:p>
            <a:pPr algn="ctr" eaLnBrk="0" hangingPunct="0"/>
            <a:r>
              <a:rPr lang="en-US" altLang="zh-CN" sz="2000" b="1">
                <a:latin typeface="Times New Roman" pitchFamily="18" charset="0"/>
              </a:rPr>
              <a:t>St b</a:t>
            </a:r>
          </a:p>
          <a:p>
            <a:pPr algn="ctr" eaLnBrk="0" hangingPunct="0"/>
            <a:r>
              <a:rPr lang="en-US" altLang="zh-CN" sz="2000" b="1">
                <a:latin typeface="Times New Roman" pitchFamily="18" charset="0"/>
              </a:rPr>
              <a:t>Ld b</a:t>
            </a:r>
          </a:p>
          <a:p>
            <a:pPr algn="ctr" eaLnBrk="0" hangingPunct="0"/>
            <a:r>
              <a:rPr lang="en-US" altLang="zh-CN" sz="2000" b="1">
                <a:latin typeface="Times New Roman" pitchFamily="18" charset="0"/>
              </a:rPr>
              <a:t>add  2</a:t>
            </a:r>
          </a:p>
          <a:p>
            <a:pPr algn="ctr" eaLnBrk="0" hangingPunct="0"/>
            <a:r>
              <a:rPr lang="en-US" altLang="zh-CN" sz="2000" b="1">
                <a:latin typeface="Times New Roman" pitchFamily="18" charset="0"/>
              </a:rPr>
              <a:t>St a</a:t>
            </a:r>
          </a:p>
        </p:txBody>
      </p:sp>
      <p:sp>
        <p:nvSpPr>
          <p:cNvPr id="54281" name="AutoShape 6"/>
          <p:cNvSpPr>
            <a:spLocks noChangeArrowheads="1"/>
          </p:cNvSpPr>
          <p:nvPr/>
        </p:nvSpPr>
        <p:spPr bwMode="auto">
          <a:xfrm>
            <a:off x="6084888" y="2852738"/>
            <a:ext cx="1128712" cy="304800"/>
          </a:xfrm>
          <a:prstGeom prst="rightArrow">
            <a:avLst>
              <a:gd name="adj1" fmla="val 50000"/>
              <a:gd name="adj2" fmla="val 92578"/>
            </a:avLst>
          </a:prstGeom>
          <a:solidFill>
            <a:schemeClr val="bg1"/>
          </a:solidFill>
          <a:ln w="9525">
            <a:solidFill>
              <a:schemeClr val="tx1"/>
            </a:solidFill>
            <a:miter lim="800000"/>
            <a:headEnd/>
            <a:tailEnd/>
          </a:ln>
        </p:spPr>
        <p:txBody>
          <a:bodyPr wrap="none" anchor="ctr"/>
          <a:lstStyle/>
          <a:p>
            <a:endParaRPr lang="zh-CN" altLang="en-US"/>
          </a:p>
        </p:txBody>
      </p:sp>
      <p:sp>
        <p:nvSpPr>
          <p:cNvPr id="54282" name="Rectangle 7"/>
          <p:cNvSpPr>
            <a:spLocks noChangeArrowheads="1"/>
          </p:cNvSpPr>
          <p:nvPr/>
        </p:nvSpPr>
        <p:spPr bwMode="auto">
          <a:xfrm>
            <a:off x="6156325" y="2636838"/>
            <a:ext cx="838200" cy="228600"/>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1600" b="1" dirty="0">
                <a:latin typeface="Times New Roman" pitchFamily="18" charset="0"/>
              </a:rPr>
              <a:t>生成代码</a:t>
            </a:r>
          </a:p>
        </p:txBody>
      </p:sp>
      <p:sp>
        <p:nvSpPr>
          <p:cNvPr id="54283" name="AutoShape 8"/>
          <p:cNvSpPr>
            <a:spLocks noChangeArrowheads="1"/>
          </p:cNvSpPr>
          <p:nvPr/>
        </p:nvSpPr>
        <p:spPr bwMode="auto">
          <a:xfrm>
            <a:off x="2484438" y="3284538"/>
            <a:ext cx="485775" cy="976312"/>
          </a:xfrm>
          <a:prstGeom prst="downArrow">
            <a:avLst>
              <a:gd name="adj1" fmla="val 50000"/>
              <a:gd name="adj2" fmla="val 50245"/>
            </a:avLst>
          </a:prstGeom>
          <a:solidFill>
            <a:schemeClr val="bg1"/>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sp>
        <p:nvSpPr>
          <p:cNvPr id="3075" name="日期占位符 2"/>
          <p:cNvSpPr>
            <a:spLocks noGrp="1"/>
          </p:cNvSpPr>
          <p:nvPr>
            <p:ph type="dt" sz="half" idx="10"/>
          </p:nvPr>
        </p:nvSpPr>
        <p:spPr>
          <a:noFill/>
        </p:spPr>
        <p:txBody>
          <a:bodyPr/>
          <a:lstStyle/>
          <a:p>
            <a:fld id="{FCBD8F11-A070-432B-B76F-D7DC057A2CEF}" type="datetime1">
              <a:rPr lang="zh-CN" altLang="en-US" smtClean="0"/>
              <a:t>2017/1/22</a:t>
            </a:fld>
            <a:endParaRPr lang="en-US" altLang="zh-CN" smtClean="0"/>
          </a:p>
        </p:txBody>
      </p:sp>
      <p:sp>
        <p:nvSpPr>
          <p:cNvPr id="3076" name="页脚占位符 3"/>
          <p:cNvSpPr>
            <a:spLocks noGrp="1"/>
          </p:cNvSpPr>
          <p:nvPr>
            <p:ph type="ftr" sz="quarter" idx="11"/>
          </p:nvPr>
        </p:nvSpPr>
        <p:spPr>
          <a:noFill/>
        </p:spPr>
        <p:txBody>
          <a:bodyPr/>
          <a:lstStyle/>
          <a:p>
            <a:r>
              <a:rPr lang="zh-CN" altLang="en-US" smtClean="0"/>
              <a:t>第一章：引论</a:t>
            </a:r>
            <a:endParaRPr lang="en-US" altLang="zh-CN" smtClean="0"/>
          </a:p>
        </p:txBody>
      </p:sp>
      <p:sp>
        <p:nvSpPr>
          <p:cNvPr id="3077" name="灯片编号占位符 4"/>
          <p:cNvSpPr>
            <a:spLocks noGrp="1"/>
          </p:cNvSpPr>
          <p:nvPr>
            <p:ph type="sldNum" sz="quarter" idx="12"/>
          </p:nvPr>
        </p:nvSpPr>
        <p:spPr>
          <a:noFill/>
        </p:spPr>
        <p:txBody>
          <a:bodyPr/>
          <a:lstStyle/>
          <a:p>
            <a:fld id="{C8118E5C-7A49-49AD-95AF-B5557823B170}" type="slidenum">
              <a:rPr lang="zh-CN" altLang="en-US" smtClean="0"/>
              <a:pPr/>
              <a:t>43</a:t>
            </a:fld>
            <a:r>
              <a:rPr lang="en-US" altLang="zh-CN" dirty="0" smtClean="0"/>
              <a:t>/57</a:t>
            </a:r>
            <a:endParaRPr lang="en-US" altLang="zh-CN" dirty="0" smtClean="0"/>
          </a:p>
        </p:txBody>
      </p:sp>
      <p:graphicFrame>
        <p:nvGraphicFramePr>
          <p:cNvPr id="3074" name="Object 12"/>
          <p:cNvGraphicFramePr>
            <a:graphicFrameLocks noChangeAspect="1"/>
          </p:cNvGraphicFramePr>
          <p:nvPr>
            <p:ph sz="quarter" idx="1"/>
          </p:nvPr>
        </p:nvGraphicFramePr>
        <p:xfrm>
          <a:off x="1662113" y="1957388"/>
          <a:ext cx="5818187" cy="3460750"/>
        </p:xfrm>
        <a:graphic>
          <a:graphicData uri="http://schemas.openxmlformats.org/presentationml/2006/ole">
            <p:oleObj spid="_x0000_s3074" name="Visio" r:id="rId3" imgW="5817842" imgH="3461207" progId="Visio.Drawing.11">
              <p:embed/>
            </p:oleObj>
          </a:graphicData>
        </a:graphic>
      </p:graphicFrame>
      <p:sp>
        <p:nvSpPr>
          <p:cNvPr id="3078" name="Text Box 14"/>
          <p:cNvSpPr txBox="1">
            <a:spLocks noChangeArrowheads="1"/>
          </p:cNvSpPr>
          <p:nvPr/>
        </p:nvSpPr>
        <p:spPr bwMode="auto">
          <a:xfrm>
            <a:off x="1643042" y="5896293"/>
            <a:ext cx="6271269" cy="461665"/>
          </a:xfrm>
          <a:prstGeom prst="rect">
            <a:avLst/>
          </a:prstGeom>
          <a:noFill/>
          <a:ln w="9525">
            <a:noFill/>
            <a:miter lim="800000"/>
            <a:headEnd/>
            <a:tailEnd/>
          </a:ln>
        </p:spPr>
        <p:txBody>
          <a:bodyPr wrap="none">
            <a:spAutoFit/>
          </a:bodyPr>
          <a:lstStyle/>
          <a:p>
            <a:pPr algn="ctr" eaLnBrk="0" hangingPunct="0">
              <a:spcBef>
                <a:spcPct val="50000"/>
              </a:spcBef>
            </a:pPr>
            <a:r>
              <a:rPr lang="en-US" altLang="zh-CN" sz="2400" dirty="0">
                <a:latin typeface="Times New Roman" pitchFamily="18" charset="0"/>
              </a:rPr>
              <a:t>Java</a:t>
            </a:r>
            <a:r>
              <a:rPr lang="zh-CN" altLang="en-US" sz="2400" dirty="0">
                <a:latin typeface="Times New Roman" pitchFamily="18" charset="0"/>
              </a:rPr>
              <a:t>语言</a:t>
            </a:r>
            <a:r>
              <a:rPr lang="zh-CN" altLang="en-US" sz="2400" dirty="0" smtClean="0">
                <a:latin typeface="Times New Roman" pitchFamily="18" charset="0"/>
              </a:rPr>
              <a:t>环境：</a:t>
            </a:r>
            <a:r>
              <a:rPr lang="zh-CN" altLang="en-US" sz="2400" dirty="0" smtClean="0">
                <a:solidFill>
                  <a:srgbClr val="3333FF"/>
                </a:solidFill>
                <a:latin typeface="Times New Roman" pitchFamily="18" charset="0"/>
              </a:rPr>
              <a:t>既有编译程序，又有解释程序</a:t>
            </a:r>
            <a:endParaRPr lang="zh-CN" altLang="en-US" sz="2400" dirty="0">
              <a:solidFill>
                <a:srgbClr val="3333FF"/>
              </a:solidFill>
              <a:latin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zh-CN" altLang="en-US" b="1" smtClean="0">
                <a:latin typeface="宋体" pitchFamily="2" charset="-122"/>
              </a:rPr>
              <a:t>编译程序和解释程序</a:t>
            </a:r>
          </a:p>
        </p:txBody>
      </p:sp>
      <p:sp>
        <p:nvSpPr>
          <p:cNvPr id="55298" name="日期占位符 3"/>
          <p:cNvSpPr>
            <a:spLocks noGrp="1"/>
          </p:cNvSpPr>
          <p:nvPr>
            <p:ph type="dt" sz="half" idx="10"/>
          </p:nvPr>
        </p:nvSpPr>
        <p:spPr>
          <a:noFill/>
        </p:spPr>
        <p:txBody>
          <a:bodyPr/>
          <a:lstStyle/>
          <a:p>
            <a:fld id="{A86970F6-72DC-4BB4-8603-D630FFB5DF06}" type="datetime1">
              <a:rPr lang="zh-CN" altLang="en-US" smtClean="0"/>
              <a:t>2017/1/22</a:t>
            </a:fld>
            <a:endParaRPr lang="en-US" altLang="zh-CN" dirty="0" smtClean="0"/>
          </a:p>
        </p:txBody>
      </p:sp>
      <p:sp>
        <p:nvSpPr>
          <p:cNvPr id="5529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5300" name="灯片编号占位符 5"/>
          <p:cNvSpPr>
            <a:spLocks noGrp="1"/>
          </p:cNvSpPr>
          <p:nvPr>
            <p:ph type="sldNum" sz="quarter" idx="12"/>
          </p:nvPr>
        </p:nvSpPr>
        <p:spPr>
          <a:noFill/>
        </p:spPr>
        <p:txBody>
          <a:bodyPr/>
          <a:lstStyle/>
          <a:p>
            <a:fld id="{9288F05A-FF08-4E99-A131-157DFBF30DB6}" type="slidenum">
              <a:rPr lang="zh-CN" altLang="en-US" smtClean="0"/>
              <a:pPr/>
              <a:t>44</a:t>
            </a:fld>
            <a:r>
              <a:rPr lang="en-US" altLang="zh-CN" dirty="0" smtClean="0"/>
              <a:t>/57</a:t>
            </a:r>
            <a:endParaRPr lang="en-US" altLang="zh-CN" dirty="0" smtClean="0"/>
          </a:p>
        </p:txBody>
      </p:sp>
      <p:sp>
        <p:nvSpPr>
          <p:cNvPr id="55302" name="Rectangle 3"/>
          <p:cNvSpPr>
            <a:spLocks noGrp="1" noChangeArrowheads="1"/>
          </p:cNvSpPr>
          <p:nvPr>
            <p:ph sz="quarter" idx="1"/>
          </p:nvPr>
        </p:nvSpPr>
        <p:spPr>
          <a:xfrm>
            <a:off x="611188" y="1698625"/>
            <a:ext cx="8353425" cy="4467225"/>
          </a:xfrm>
        </p:spPr>
        <p:txBody>
          <a:bodyPr/>
          <a:lstStyle/>
          <a:p>
            <a:pPr marL="0" indent="720000" eaLnBrk="1" hangingPunct="1">
              <a:buFont typeface="Wingdings" pitchFamily="2" charset="2"/>
              <a:buNone/>
            </a:pPr>
            <a:r>
              <a:rPr lang="zh-CN" altLang="en-US" dirty="0" smtClean="0">
                <a:solidFill>
                  <a:srgbClr val="3333FF"/>
                </a:solidFill>
                <a:latin typeface="+mn-ea"/>
              </a:rPr>
              <a:t>编译程序</a:t>
            </a:r>
            <a:r>
              <a:rPr lang="zh-CN" altLang="en-US" dirty="0" smtClean="0">
                <a:latin typeface="+mn-ea"/>
              </a:rPr>
              <a:t>是一个语言处理程序</a:t>
            </a:r>
            <a:r>
              <a:rPr lang="en-US" altLang="zh-CN" dirty="0" smtClean="0">
                <a:latin typeface="+mn-ea"/>
              </a:rPr>
              <a:t>,</a:t>
            </a:r>
            <a:r>
              <a:rPr lang="zh-CN" altLang="en-US" dirty="0" smtClean="0">
                <a:latin typeface="+mn-ea"/>
              </a:rPr>
              <a:t>它把一个高级语言程序翻译成某个机器的汇编或二进制代码程序</a:t>
            </a:r>
            <a:r>
              <a:rPr lang="en-US" altLang="zh-CN" dirty="0" smtClean="0">
                <a:latin typeface="+mn-ea"/>
              </a:rPr>
              <a:t>, </a:t>
            </a:r>
            <a:r>
              <a:rPr lang="zh-CN" altLang="en-US" dirty="0" smtClean="0">
                <a:latin typeface="+mn-ea"/>
              </a:rPr>
              <a:t>这个二进制代码程序在机器上运行以生成结果。编译和运行是两个独立分开的阶段。</a:t>
            </a:r>
            <a:endParaRPr lang="en-US" altLang="zh-CN" dirty="0" smtClean="0">
              <a:latin typeface="+mn-ea"/>
            </a:endParaRPr>
          </a:p>
          <a:p>
            <a:pPr marL="0" indent="720000" eaLnBrk="1" hangingPunct="1">
              <a:buFont typeface="Wingdings" pitchFamily="2" charset="2"/>
              <a:buNone/>
            </a:pPr>
            <a:r>
              <a:rPr lang="zh-CN" altLang="en-US" dirty="0" smtClean="0">
                <a:latin typeface="+mn-ea"/>
              </a:rPr>
              <a:t>但在一个交互环境中</a:t>
            </a:r>
            <a:r>
              <a:rPr lang="en-US" altLang="zh-CN" dirty="0" smtClean="0">
                <a:latin typeface="+mn-ea"/>
              </a:rPr>
              <a:t>,</a:t>
            </a:r>
            <a:r>
              <a:rPr lang="zh-CN" altLang="en-US" dirty="0" smtClean="0">
                <a:latin typeface="+mn-ea"/>
              </a:rPr>
              <a:t>不需要将这两个阶段分隔开</a:t>
            </a:r>
            <a:r>
              <a:rPr lang="en-US" altLang="zh-CN" dirty="0" smtClean="0">
                <a:latin typeface="+mn-ea"/>
              </a:rPr>
              <a:t>,</a:t>
            </a:r>
            <a:r>
              <a:rPr lang="zh-CN" altLang="en-US" dirty="0" smtClean="0">
                <a:latin typeface="+mn-ea"/>
              </a:rPr>
              <a:t>编译就不如解释的方法更方便</a:t>
            </a:r>
            <a:r>
              <a:rPr lang="en-US" altLang="zh-CN" dirty="0" smtClean="0">
                <a:latin typeface="+mn-ea"/>
              </a:rPr>
              <a:t>.</a:t>
            </a:r>
            <a:r>
              <a:rPr lang="zh-CN" altLang="en-US" dirty="0" smtClean="0">
                <a:latin typeface="+mn-ea"/>
              </a:rPr>
              <a:t> 另一种语言处理程序</a:t>
            </a:r>
            <a:r>
              <a:rPr lang="en-US" altLang="zh-CN" dirty="0" smtClean="0">
                <a:latin typeface="+mn-ea"/>
              </a:rPr>
              <a:t>,</a:t>
            </a:r>
            <a:r>
              <a:rPr lang="zh-CN" altLang="en-US" dirty="0" smtClean="0">
                <a:latin typeface="+mn-ea"/>
              </a:rPr>
              <a:t>解释程序</a:t>
            </a:r>
            <a:r>
              <a:rPr lang="en-US" altLang="zh-CN" dirty="0" smtClean="0">
                <a:latin typeface="+mn-ea"/>
              </a:rPr>
              <a:t>,</a:t>
            </a:r>
            <a:r>
              <a:rPr lang="zh-CN" altLang="en-US" dirty="0" smtClean="0">
                <a:latin typeface="+mn-ea"/>
              </a:rPr>
              <a:t>它不需要在运行前先把源程序翻译成目标代码</a:t>
            </a:r>
            <a:r>
              <a:rPr lang="en-US" altLang="zh-CN" dirty="0" smtClean="0">
                <a:latin typeface="+mn-ea"/>
              </a:rPr>
              <a:t>,</a:t>
            </a:r>
            <a:r>
              <a:rPr lang="zh-CN" altLang="en-US" dirty="0" smtClean="0">
                <a:latin typeface="+mn-ea"/>
              </a:rPr>
              <a:t>也可以让我们实现在某台机器上运行程序并生成结果</a:t>
            </a:r>
            <a:r>
              <a:rPr lang="en-US" altLang="zh-CN" dirty="0" smtClean="0">
                <a:latin typeface="+mn-ea"/>
              </a:rPr>
              <a:t>.</a:t>
            </a:r>
            <a:endParaRPr lang="zh-CN" altLang="en-US" dirty="0" smtClean="0">
              <a:latin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title"/>
          </p:nvPr>
        </p:nvSpPr>
        <p:spPr>
          <a:xfrm>
            <a:off x="738188" y="500042"/>
            <a:ext cx="7837487" cy="557213"/>
          </a:xfrm>
        </p:spPr>
        <p:txBody>
          <a:bodyPr>
            <a:normAutofit fontScale="90000"/>
          </a:bodyPr>
          <a:lstStyle/>
          <a:p>
            <a:pPr eaLnBrk="1" hangingPunct="1"/>
            <a:r>
              <a:rPr lang="zh-CN" altLang="en-US" sz="3400" b="1" dirty="0" smtClean="0">
                <a:latin typeface="宋体" pitchFamily="2" charset="-122"/>
              </a:rPr>
              <a:t>解释程序</a:t>
            </a:r>
          </a:p>
        </p:txBody>
      </p:sp>
      <p:sp>
        <p:nvSpPr>
          <p:cNvPr id="56322" name="日期占位符 3"/>
          <p:cNvSpPr>
            <a:spLocks noGrp="1"/>
          </p:cNvSpPr>
          <p:nvPr>
            <p:ph type="dt" sz="half" idx="10"/>
          </p:nvPr>
        </p:nvSpPr>
        <p:spPr>
          <a:noFill/>
        </p:spPr>
        <p:txBody>
          <a:bodyPr/>
          <a:lstStyle/>
          <a:p>
            <a:fld id="{790FC732-E7B0-43E3-8B10-E89656F40A69}" type="datetime1">
              <a:rPr lang="zh-CN" altLang="en-US" smtClean="0"/>
              <a:t>2017/1/22</a:t>
            </a:fld>
            <a:endParaRPr lang="en-US" altLang="zh-CN" dirty="0" smtClean="0"/>
          </a:p>
        </p:txBody>
      </p:sp>
      <p:sp>
        <p:nvSpPr>
          <p:cNvPr id="5632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6324" name="灯片编号占位符 5"/>
          <p:cNvSpPr>
            <a:spLocks noGrp="1"/>
          </p:cNvSpPr>
          <p:nvPr>
            <p:ph type="sldNum" sz="quarter" idx="12"/>
          </p:nvPr>
        </p:nvSpPr>
        <p:spPr>
          <a:noFill/>
        </p:spPr>
        <p:txBody>
          <a:bodyPr/>
          <a:lstStyle/>
          <a:p>
            <a:fld id="{35802029-0B6F-478C-9373-81D3111D06D1}" type="slidenum">
              <a:rPr lang="zh-CN" altLang="en-US" smtClean="0"/>
              <a:pPr/>
              <a:t>45</a:t>
            </a:fld>
            <a:r>
              <a:rPr lang="en-US" altLang="zh-CN" dirty="0" smtClean="0"/>
              <a:t>/57</a:t>
            </a:r>
            <a:endParaRPr lang="en-US" altLang="zh-CN" dirty="0" smtClean="0"/>
          </a:p>
        </p:txBody>
      </p:sp>
      <p:sp>
        <p:nvSpPr>
          <p:cNvPr id="56326" name="Rectangle 3"/>
          <p:cNvSpPr>
            <a:spLocks noGrp="1" noChangeArrowheads="1"/>
          </p:cNvSpPr>
          <p:nvPr>
            <p:ph sz="quarter" idx="1"/>
          </p:nvPr>
        </p:nvSpPr>
        <p:spPr>
          <a:xfrm>
            <a:off x="684213" y="1773238"/>
            <a:ext cx="7848227" cy="4248150"/>
          </a:xfrm>
        </p:spPr>
        <p:txBody>
          <a:bodyPr/>
          <a:lstStyle/>
          <a:p>
            <a:pPr eaLnBrk="1" hangingPunct="1"/>
            <a:r>
              <a:rPr lang="zh-CN" altLang="en-US" sz="2600" b="1" dirty="0" smtClean="0">
                <a:latin typeface="宋体" pitchFamily="2" charset="-122"/>
              </a:rPr>
              <a:t>它接受某个语言的程序并立即运行这个源程序。它的工作模式是一个个的获取</a:t>
            </a:r>
            <a:r>
              <a:rPr lang="en-US" altLang="zh-CN" sz="2600" b="1" dirty="0" smtClean="0">
                <a:latin typeface="宋体" pitchFamily="2" charset="-122"/>
              </a:rPr>
              <a:t>,</a:t>
            </a:r>
            <a:r>
              <a:rPr lang="zh-CN" altLang="en-US" sz="2600" b="1" dirty="0" smtClean="0">
                <a:latin typeface="宋体" pitchFamily="2" charset="-122"/>
              </a:rPr>
              <a:t>分析并执行源程序语句</a:t>
            </a:r>
            <a:r>
              <a:rPr lang="en-US" altLang="zh-CN" sz="2600" b="1" dirty="0" smtClean="0">
                <a:latin typeface="宋体" pitchFamily="2" charset="-122"/>
              </a:rPr>
              <a:t>,</a:t>
            </a:r>
            <a:r>
              <a:rPr lang="zh-CN" altLang="en-US" sz="2600" b="1" dirty="0" smtClean="0">
                <a:latin typeface="宋体" pitchFamily="2" charset="-122"/>
              </a:rPr>
              <a:t>一旦第一个语句分析结束</a:t>
            </a:r>
            <a:r>
              <a:rPr lang="en-US" altLang="zh-CN" sz="2600" b="1" dirty="0" smtClean="0">
                <a:latin typeface="宋体" pitchFamily="2" charset="-122"/>
              </a:rPr>
              <a:t>,</a:t>
            </a:r>
            <a:r>
              <a:rPr lang="zh-CN" altLang="en-US" sz="2600" b="1" dirty="0" smtClean="0">
                <a:latin typeface="宋体" pitchFamily="2" charset="-122"/>
              </a:rPr>
              <a:t>源程序便开始运行并且生成结果</a:t>
            </a:r>
            <a:r>
              <a:rPr lang="en-US" altLang="zh-CN" sz="2600" b="1" dirty="0" smtClean="0">
                <a:latin typeface="宋体" pitchFamily="2" charset="-122"/>
              </a:rPr>
              <a:t>, </a:t>
            </a:r>
            <a:r>
              <a:rPr lang="zh-CN" altLang="en-US" sz="2600" b="1" dirty="0" smtClean="0">
                <a:solidFill>
                  <a:srgbClr val="3333FF"/>
                </a:solidFill>
                <a:latin typeface="宋体" pitchFamily="2" charset="-122"/>
              </a:rPr>
              <a:t>它特别适合程序员交互方式的工作情况</a:t>
            </a:r>
            <a:r>
              <a:rPr lang="en-US" altLang="zh-CN" sz="2600" b="1" dirty="0" smtClean="0">
                <a:latin typeface="宋体" pitchFamily="2" charset="-122"/>
              </a:rPr>
              <a:t>,</a:t>
            </a:r>
            <a:r>
              <a:rPr lang="zh-CN" altLang="en-US" sz="2600" b="1" dirty="0" smtClean="0">
                <a:latin typeface="宋体" pitchFamily="2" charset="-122"/>
              </a:rPr>
              <a:t>即希望在获取下一个语句之前了解每个语句的执行结果</a:t>
            </a:r>
            <a:r>
              <a:rPr lang="en-US" altLang="zh-CN" sz="2600" b="1" dirty="0" smtClean="0">
                <a:latin typeface="宋体" pitchFamily="2" charset="-122"/>
              </a:rPr>
              <a:t>,</a:t>
            </a:r>
            <a:r>
              <a:rPr lang="zh-CN" altLang="en-US" sz="2600" b="1" dirty="0" smtClean="0">
                <a:latin typeface="宋体" pitchFamily="2" charset="-122"/>
              </a:rPr>
              <a:t>允许执行时修改程序</a:t>
            </a:r>
            <a:r>
              <a:rPr lang="en-US" altLang="zh-CN" sz="2600" b="1" dirty="0" smtClean="0">
                <a:latin typeface="宋体" pitchFamily="2" charset="-122"/>
              </a:rPr>
              <a:t>.</a:t>
            </a:r>
          </a:p>
          <a:p>
            <a:pPr eaLnBrk="1" hangingPunct="1"/>
            <a:r>
              <a:rPr lang="zh-CN" altLang="en-US" sz="2600" b="1" dirty="0" smtClean="0">
                <a:latin typeface="宋体" pitchFamily="2" charset="-122"/>
              </a:rPr>
              <a:t>著名的解释程序有</a:t>
            </a:r>
            <a:r>
              <a:rPr lang="en-US" altLang="zh-CN" sz="2600" b="1" dirty="0" smtClean="0">
                <a:latin typeface="宋体" pitchFamily="2" charset="-122"/>
              </a:rPr>
              <a:t>Basic</a:t>
            </a:r>
            <a:r>
              <a:rPr lang="zh-CN" altLang="en-US" sz="2600" b="1" dirty="0" smtClean="0">
                <a:latin typeface="宋体" pitchFamily="2" charset="-122"/>
              </a:rPr>
              <a:t>语言解释程序 </a:t>
            </a:r>
            <a:r>
              <a:rPr lang="en-US" altLang="zh-CN" sz="2600" b="1" dirty="0" smtClean="0">
                <a:latin typeface="宋体" pitchFamily="2" charset="-122"/>
              </a:rPr>
              <a:t>,Lisp</a:t>
            </a:r>
            <a:r>
              <a:rPr lang="zh-CN" altLang="en-US" sz="2600" b="1" dirty="0" smtClean="0">
                <a:latin typeface="宋体" pitchFamily="2" charset="-122"/>
              </a:rPr>
              <a:t>语言解释程序</a:t>
            </a:r>
            <a:r>
              <a:rPr lang="en-US" altLang="zh-CN" sz="2600" b="1" dirty="0" smtClean="0">
                <a:latin typeface="宋体" pitchFamily="2" charset="-122"/>
              </a:rPr>
              <a:t>,UNIX</a:t>
            </a:r>
            <a:r>
              <a:rPr lang="zh-CN" altLang="en-US" sz="2600" b="1" dirty="0" smtClean="0">
                <a:latin typeface="宋体" pitchFamily="2" charset="-122"/>
              </a:rPr>
              <a:t>命令语言解释程序</a:t>
            </a:r>
            <a:r>
              <a:rPr lang="en-US" altLang="zh-CN" sz="2600" b="1" dirty="0" smtClean="0">
                <a:latin typeface="宋体" pitchFamily="2" charset="-122"/>
              </a:rPr>
              <a:t>(shell),</a:t>
            </a:r>
            <a:r>
              <a:rPr lang="zh-CN" altLang="en-US" sz="2600" b="1" dirty="0" smtClean="0">
                <a:latin typeface="宋体" pitchFamily="2" charset="-122"/>
              </a:rPr>
              <a:t>数据库查询语言</a:t>
            </a:r>
            <a:r>
              <a:rPr lang="en-US" altLang="zh-CN" sz="2600" b="1" dirty="0" smtClean="0">
                <a:latin typeface="宋体" pitchFamily="2" charset="-122"/>
              </a:rPr>
              <a:t>SQL </a:t>
            </a:r>
            <a:r>
              <a:rPr lang="zh-CN" altLang="en-US" sz="2600" b="1" dirty="0" smtClean="0">
                <a:latin typeface="宋体" pitchFamily="2" charset="-122"/>
              </a:rPr>
              <a:t>解释程序以及</a:t>
            </a:r>
            <a:r>
              <a:rPr lang="en-US" altLang="zh-CN" sz="2600" b="1" dirty="0" err="1" smtClean="0">
                <a:latin typeface="宋体" pitchFamily="2" charset="-122"/>
              </a:rPr>
              <a:t>bytecode</a:t>
            </a:r>
            <a:r>
              <a:rPr lang="zh-CN" altLang="en-US" sz="2600" b="1" dirty="0" smtClean="0">
                <a:latin typeface="宋体" pitchFamily="2" charset="-122"/>
              </a:rPr>
              <a:t>解释程序</a:t>
            </a:r>
            <a:r>
              <a:rPr lang="en-US" altLang="zh-CN" sz="2600" b="1" dirty="0" smtClean="0">
                <a:latin typeface="宋体" pitchFamily="2" charset="-122"/>
              </a:rPr>
              <a:t>.</a:t>
            </a:r>
            <a:endParaRPr lang="zh-CN" altLang="en-US" sz="2600" b="1" dirty="0" smtClean="0">
              <a:latin typeface="宋体"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8"/>
          <p:cNvSpPr>
            <a:spLocks noGrp="1" noChangeArrowheads="1"/>
          </p:cNvSpPr>
          <p:nvPr>
            <p:ph type="title"/>
          </p:nvPr>
        </p:nvSpPr>
        <p:spPr/>
        <p:txBody>
          <a:bodyPr/>
          <a:lstStyle/>
          <a:p>
            <a:pPr eaLnBrk="1" hangingPunct="1"/>
            <a:r>
              <a:rPr lang="zh-CN" altLang="en-US" sz="3600" b="1" dirty="0" smtClean="0"/>
              <a:t>编译程序和解释程序比较</a:t>
            </a:r>
          </a:p>
        </p:txBody>
      </p:sp>
      <p:sp>
        <p:nvSpPr>
          <p:cNvPr id="57346" name="日期占位符 3"/>
          <p:cNvSpPr>
            <a:spLocks noGrp="1"/>
          </p:cNvSpPr>
          <p:nvPr>
            <p:ph type="dt" sz="half" idx="10"/>
          </p:nvPr>
        </p:nvSpPr>
        <p:spPr>
          <a:noFill/>
        </p:spPr>
        <p:txBody>
          <a:bodyPr/>
          <a:lstStyle/>
          <a:p>
            <a:fld id="{475750D8-2B85-4B1F-A6FE-1D84A6BA52A3}" type="datetime1">
              <a:rPr lang="zh-CN" altLang="en-US" smtClean="0"/>
              <a:t>2017/1/22</a:t>
            </a:fld>
            <a:endParaRPr lang="en-US" altLang="zh-CN" smtClean="0"/>
          </a:p>
        </p:txBody>
      </p:sp>
      <p:sp>
        <p:nvSpPr>
          <p:cNvPr id="5734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7348" name="灯片编号占位符 5"/>
          <p:cNvSpPr>
            <a:spLocks noGrp="1"/>
          </p:cNvSpPr>
          <p:nvPr>
            <p:ph type="sldNum" sz="quarter" idx="12"/>
          </p:nvPr>
        </p:nvSpPr>
        <p:spPr>
          <a:noFill/>
        </p:spPr>
        <p:txBody>
          <a:bodyPr/>
          <a:lstStyle/>
          <a:p>
            <a:fld id="{7325D603-699E-4074-8053-84F1499F7DC7}" type="slidenum">
              <a:rPr lang="zh-CN" altLang="en-US" smtClean="0"/>
              <a:pPr/>
              <a:t>46</a:t>
            </a:fld>
            <a:r>
              <a:rPr lang="en-US" altLang="zh-CN" dirty="0" smtClean="0"/>
              <a:t>/57</a:t>
            </a:r>
            <a:endParaRPr lang="en-US" altLang="zh-CN" dirty="0" smtClean="0"/>
          </a:p>
        </p:txBody>
      </p:sp>
      <p:graphicFrame>
        <p:nvGraphicFramePr>
          <p:cNvPr id="457759" name="Group 31"/>
          <p:cNvGraphicFramePr>
            <a:graphicFrameLocks noGrp="1"/>
          </p:cNvGraphicFramePr>
          <p:nvPr>
            <p:ph sz="quarter" idx="1"/>
          </p:nvPr>
        </p:nvGraphicFramePr>
        <p:xfrm>
          <a:off x="457200" y="1857364"/>
          <a:ext cx="8229600" cy="3672213"/>
        </p:xfrm>
        <a:graphic>
          <a:graphicData uri="http://schemas.openxmlformats.org/drawingml/2006/table">
            <a:tbl>
              <a:tblPr/>
              <a:tblGrid>
                <a:gridCol w="4133290"/>
                <a:gridCol w="4096310"/>
              </a:tblGrid>
              <a:tr h="7239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Times New Roman" pitchFamily="18" charset="0"/>
                          <a:ea typeface="宋体" pitchFamily="2" charset="-122"/>
                        </a:rPr>
                        <a:t>编译程序（器）</a:t>
                      </a:r>
                    </a:p>
                  </a:txBody>
                  <a:tcPr marL="96819" marR="96819" horzOverflow="overflow">
                    <a:lnL cap="flat">
                      <a:noFill/>
                    </a:lnL>
                    <a:lnR w="38100" cap="flat" cmpd="sng" algn="ctr">
                      <a:solidFill>
                        <a:schemeClr val="tx1"/>
                      </a:solidFill>
                      <a:prstDash val="solid"/>
                      <a:miter lim="800000"/>
                      <a:headEnd type="none" w="med" len="med"/>
                      <a:tailEnd type="none" w="med" len="med"/>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宋体" pitchFamily="2" charset="-122"/>
                        </a:rPr>
                        <a:t>解释程序（器）</a:t>
                      </a:r>
                      <a:endParaRPr kumimoji="0" lang="en-US" altLang="zh-CN" sz="2800" b="1" i="0" u="none" strike="noStrike" cap="none" normalizeH="0" baseline="0" smtClean="0">
                        <a:ln>
                          <a:noFill/>
                        </a:ln>
                        <a:solidFill>
                          <a:schemeClr val="tx1"/>
                        </a:solidFill>
                        <a:effectLst/>
                        <a:latin typeface="Times New Roman" pitchFamily="18" charset="0"/>
                        <a:ea typeface="宋体" pitchFamily="2" charset="-122"/>
                      </a:endParaRPr>
                    </a:p>
                  </a:txBody>
                  <a:tcPr marL="96819" marR="96819" horzOverflow="overflow">
                    <a:lnL w="38100" cap="flat" cmpd="sng" algn="ctr">
                      <a:solidFill>
                        <a:schemeClr val="tx1"/>
                      </a:solidFill>
                      <a:prstDash val="solid"/>
                      <a:miter lim="800000"/>
                      <a:headEnd type="none" w="med" len="med"/>
                      <a:tailEnd type="none" w="med" len="med"/>
                    </a:lnL>
                    <a:lnR cap="flat">
                      <a:noFill/>
                    </a:lnR>
                    <a:lnT w="381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00330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Verdana" pitchFamily="34" charset="0"/>
                          <a:ea typeface="宋体" pitchFamily="2" charset="-122"/>
                        </a:rPr>
                        <a:t>概念：翻译整个源程序，产生一份目标代码</a:t>
                      </a:r>
                    </a:p>
                  </a:txBody>
                  <a:tcPr marL="96819" marR="96819" horzOverflow="overflow">
                    <a:lnL cap="flat">
                      <a:noFill/>
                    </a:lnL>
                    <a:lnR w="381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Verdana" pitchFamily="34" charset="0"/>
                          <a:ea typeface="宋体" pitchFamily="2" charset="-122"/>
                        </a:rPr>
                        <a:t>概念：边翻译边执行，不产生目标代码</a:t>
                      </a:r>
                    </a:p>
                  </a:txBody>
                  <a:tcPr marL="96819" marR="96819" horzOverflow="overflow">
                    <a:lnL w="381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000132">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Verdana" pitchFamily="34" charset="0"/>
                          <a:ea typeface="宋体" pitchFamily="2" charset="-122"/>
                        </a:rPr>
                        <a:t>优：执行效率较高，空间开销较小</a:t>
                      </a:r>
                    </a:p>
                  </a:txBody>
                  <a:tcPr marL="96819" marR="96819" horzOverflow="overflow">
                    <a:lnL cap="flat">
                      <a:noFill/>
                    </a:lnL>
                    <a:lnR w="381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Verdana" pitchFamily="34" charset="0"/>
                          <a:ea typeface="宋体" pitchFamily="2" charset="-122"/>
                        </a:rPr>
                        <a:t>优：交互性好，较简单</a:t>
                      </a:r>
                    </a:p>
                  </a:txBody>
                  <a:tcPr marL="96819" marR="96819" horzOverflow="overflow">
                    <a:lnL w="381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27088">
                <a:tc>
                  <a:txBody>
                    <a:bodyPr/>
                    <a:lstStyle/>
                    <a:p>
                      <a:pPr marL="0" marR="0" lvl="0" indent="0" algn="l" defTabSz="914400" rtl="0" eaLnBrk="1" fontAlgn="base" latinLnBrk="0" hangingPunct="1">
                        <a:lnSpc>
                          <a:spcPct val="100000"/>
                        </a:lnSpc>
                        <a:spcBef>
                          <a:spcPct val="20000"/>
                        </a:spcBef>
                        <a:spcAft>
                          <a:spcPct val="0"/>
                        </a:spcAft>
                        <a:buClr>
                          <a:srgbClr val="FF9933"/>
                        </a:buClr>
                        <a:buSzTx/>
                        <a:buFont typeface="Wingdings" pitchFamily="2" charset="2"/>
                        <a:buNone/>
                        <a:tabLst/>
                      </a:pPr>
                      <a:r>
                        <a:rPr kumimoji="0" lang="zh-CN" altLang="en-US" sz="2800" b="1" i="0" u="none" strike="noStrike" cap="none" normalizeH="0" baseline="0" smtClean="0">
                          <a:ln>
                            <a:noFill/>
                          </a:ln>
                          <a:solidFill>
                            <a:schemeClr val="tx1"/>
                          </a:solidFill>
                          <a:effectLst/>
                          <a:latin typeface="Verdana" pitchFamily="34" charset="0"/>
                          <a:ea typeface="宋体" pitchFamily="2" charset="-122"/>
                        </a:rPr>
                        <a:t>劣：交互性差，较复杂</a:t>
                      </a:r>
                    </a:p>
                  </a:txBody>
                  <a:tcPr marL="96819" marR="96819" horzOverflow="overflow">
                    <a:lnL cap="flat">
                      <a:noFill/>
                    </a:lnL>
                    <a:lnR w="381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9933"/>
                        </a:buClr>
                        <a:buSzTx/>
                        <a:buFont typeface="Wingdings" pitchFamily="2" charset="2"/>
                        <a:buNone/>
                        <a:tabLst/>
                      </a:pPr>
                      <a:r>
                        <a:rPr kumimoji="0" lang="zh-CN" altLang="en-US" sz="2800" b="1" i="0" u="none" strike="noStrike" cap="none" normalizeH="0" baseline="0" dirty="0" smtClean="0">
                          <a:ln>
                            <a:noFill/>
                          </a:ln>
                          <a:solidFill>
                            <a:schemeClr val="tx1"/>
                          </a:solidFill>
                          <a:effectLst/>
                          <a:latin typeface="Verdana" pitchFamily="34" charset="0"/>
                          <a:ea typeface="宋体" pitchFamily="2" charset="-122"/>
                        </a:rPr>
                        <a:t>劣：执行效率较低，空间开销大</a:t>
                      </a:r>
                    </a:p>
                  </a:txBody>
                  <a:tcPr marL="96819" marR="96819" horzOverflow="overflow">
                    <a:lnL w="381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tr>
            </a:tbl>
          </a:graphicData>
        </a:graphic>
      </p:graphicFrame>
      <p:pic>
        <p:nvPicPr>
          <p:cNvPr id="59395" name="Picture 3"/>
          <p:cNvPicPr>
            <a:picLocks noChangeAspect="1" noChangeArrowheads="1"/>
          </p:cNvPicPr>
          <p:nvPr/>
        </p:nvPicPr>
        <p:blipFill>
          <a:blip r:embed="rId2"/>
          <a:srcRect/>
          <a:stretch>
            <a:fillRect/>
          </a:stretch>
        </p:blipFill>
        <p:spPr bwMode="auto">
          <a:xfrm>
            <a:off x="642910" y="5500702"/>
            <a:ext cx="7572428" cy="523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Grp="1" noChangeArrowheads="1"/>
          </p:cNvSpPr>
          <p:nvPr>
            <p:ph type="title"/>
          </p:nvPr>
        </p:nvSpPr>
        <p:spPr/>
        <p:txBody>
          <a:bodyPr/>
          <a:lstStyle/>
          <a:p>
            <a:pPr eaLnBrk="1" hangingPunct="1"/>
            <a:r>
              <a:rPr lang="zh-CN" altLang="en-US" sz="3400" b="1" dirty="0" smtClean="0">
                <a:latin typeface="宋体" pitchFamily="2" charset="-122"/>
              </a:rPr>
              <a:t>高级语言解释系统</a:t>
            </a:r>
            <a:endParaRPr lang="en-US" altLang="zh-CN" sz="1900" b="1" dirty="0" smtClean="0">
              <a:latin typeface="宋体" pitchFamily="2" charset="-122"/>
            </a:endParaRPr>
          </a:p>
        </p:txBody>
      </p:sp>
      <p:sp>
        <p:nvSpPr>
          <p:cNvPr id="58370" name="日期占位符 3"/>
          <p:cNvSpPr>
            <a:spLocks noGrp="1"/>
          </p:cNvSpPr>
          <p:nvPr>
            <p:ph type="dt" sz="half" idx="10"/>
          </p:nvPr>
        </p:nvSpPr>
        <p:spPr>
          <a:noFill/>
        </p:spPr>
        <p:txBody>
          <a:bodyPr/>
          <a:lstStyle/>
          <a:p>
            <a:fld id="{6987E270-CD0E-4C88-84DC-216AABA8BC25}" type="datetime1">
              <a:rPr lang="zh-CN" altLang="en-US" smtClean="0"/>
              <a:t>2017/1/22</a:t>
            </a:fld>
            <a:endParaRPr lang="en-US" altLang="zh-CN" dirty="0" smtClean="0"/>
          </a:p>
        </p:txBody>
      </p:sp>
      <p:sp>
        <p:nvSpPr>
          <p:cNvPr id="58371" name="页脚占位符 4"/>
          <p:cNvSpPr>
            <a:spLocks noGrp="1"/>
          </p:cNvSpPr>
          <p:nvPr>
            <p:ph type="ftr" sz="quarter" idx="11"/>
          </p:nvPr>
        </p:nvSpPr>
        <p:spPr>
          <a:noFill/>
        </p:spPr>
        <p:txBody>
          <a:bodyPr/>
          <a:lstStyle/>
          <a:p>
            <a:r>
              <a:rPr lang="zh-CN" altLang="en-US" dirty="0" smtClean="0"/>
              <a:t>第一章：引论</a:t>
            </a:r>
            <a:endParaRPr lang="en-US" altLang="zh-CN" dirty="0" smtClean="0"/>
          </a:p>
        </p:txBody>
      </p:sp>
      <p:sp>
        <p:nvSpPr>
          <p:cNvPr id="58372" name="灯片编号占位符 5"/>
          <p:cNvSpPr>
            <a:spLocks noGrp="1"/>
          </p:cNvSpPr>
          <p:nvPr>
            <p:ph type="sldNum" sz="quarter" idx="12"/>
          </p:nvPr>
        </p:nvSpPr>
        <p:spPr>
          <a:noFill/>
        </p:spPr>
        <p:txBody>
          <a:bodyPr/>
          <a:lstStyle/>
          <a:p>
            <a:fld id="{7EA5B760-DDB0-4FDC-8885-F18064B62E7A}" type="slidenum">
              <a:rPr lang="zh-CN" altLang="en-US" smtClean="0"/>
              <a:pPr/>
              <a:t>47</a:t>
            </a:fld>
            <a:r>
              <a:rPr lang="en-US" altLang="zh-CN" dirty="0" smtClean="0"/>
              <a:t>/57</a:t>
            </a:r>
            <a:endParaRPr lang="en-US" altLang="zh-CN" dirty="0" smtClean="0"/>
          </a:p>
        </p:txBody>
      </p:sp>
      <p:sp>
        <p:nvSpPr>
          <p:cNvPr id="58374" name="Rectangle 3"/>
          <p:cNvSpPr>
            <a:spLocks noGrp="1" noChangeArrowheads="1"/>
          </p:cNvSpPr>
          <p:nvPr>
            <p:ph sz="quarter" idx="1"/>
          </p:nvPr>
        </p:nvSpPr>
        <p:spPr>
          <a:xfrm>
            <a:off x="684213" y="1700213"/>
            <a:ext cx="7772400" cy="4114800"/>
          </a:xfrm>
        </p:spPr>
        <p:txBody>
          <a:bodyPr/>
          <a:lstStyle/>
          <a:p>
            <a:pPr eaLnBrk="1" hangingPunct="1"/>
            <a:r>
              <a:rPr lang="zh-CN" altLang="en-US" sz="2800" b="1" dirty="0" smtClean="0">
                <a:latin typeface="宋体" pitchFamily="2" charset="-122"/>
              </a:rPr>
              <a:t>功能  让计算机执行高级语言（</a:t>
            </a:r>
            <a:r>
              <a:rPr lang="en-US" altLang="zh-CN" sz="2800" b="1" dirty="0" err="1" smtClean="0">
                <a:latin typeface="宋体" pitchFamily="2" charset="-122"/>
              </a:rPr>
              <a:t>basic,lisp,prolog</a:t>
            </a:r>
            <a:r>
              <a:rPr lang="en-US" altLang="zh-CN" sz="2800" b="1" dirty="0" smtClean="0">
                <a:latin typeface="宋体" pitchFamily="2" charset="-122"/>
              </a:rPr>
              <a:t>)</a:t>
            </a:r>
            <a:endParaRPr lang="zh-CN" altLang="en-US" sz="2800" b="1" dirty="0" smtClean="0">
              <a:latin typeface="宋体" pitchFamily="2" charset="-122"/>
            </a:endParaRPr>
          </a:p>
          <a:p>
            <a:pPr eaLnBrk="1" hangingPunct="1"/>
            <a:r>
              <a:rPr lang="zh-CN" altLang="en-US" sz="2800" b="1" dirty="0" smtClean="0">
                <a:latin typeface="宋体" pitchFamily="2" charset="-122"/>
              </a:rPr>
              <a:t>与编译程序的不同    1）不生成目标代码</a:t>
            </a:r>
          </a:p>
          <a:p>
            <a:pPr eaLnBrk="1" hangingPunct="1">
              <a:buFont typeface="Wingdings" pitchFamily="2" charset="2"/>
              <a:buNone/>
            </a:pPr>
            <a:r>
              <a:rPr lang="zh-CN" altLang="en-US" sz="2800" b="1" dirty="0" smtClean="0">
                <a:latin typeface="宋体" pitchFamily="2" charset="-122"/>
              </a:rPr>
              <a:t>                      2）能支持交互环境</a:t>
            </a:r>
          </a:p>
          <a:p>
            <a:pPr eaLnBrk="1" hangingPunct="1">
              <a:buFont typeface="Wingdings" pitchFamily="2" charset="2"/>
              <a:buNone/>
            </a:pPr>
            <a:r>
              <a:rPr lang="zh-CN" altLang="en-US" sz="2800" b="1" dirty="0" smtClean="0">
                <a:latin typeface="宋体" pitchFamily="2" charset="-122"/>
              </a:rPr>
              <a:t>                    （同增量式编译系统）  </a:t>
            </a:r>
          </a:p>
          <a:p>
            <a:pPr eaLnBrk="1" hangingPunct="1">
              <a:buFont typeface="Wingdings" pitchFamily="2" charset="2"/>
              <a:buNone/>
            </a:pPr>
            <a:r>
              <a:rPr lang="zh-CN" altLang="en-US" sz="2800" b="1" dirty="0" smtClean="0">
                <a:latin typeface="宋体" pitchFamily="2" charset="-122"/>
              </a:rPr>
              <a:t>源 程 序</a:t>
            </a:r>
          </a:p>
          <a:p>
            <a:pPr eaLnBrk="1" hangingPunct="1">
              <a:buFont typeface="Wingdings" pitchFamily="2" charset="2"/>
              <a:buNone/>
            </a:pPr>
            <a:r>
              <a:rPr lang="zh-CN" altLang="en-US" sz="2800" b="1" dirty="0" smtClean="0">
                <a:latin typeface="宋体" pitchFamily="2" charset="-122"/>
              </a:rPr>
              <a:t>初始数据</a:t>
            </a:r>
          </a:p>
        </p:txBody>
      </p:sp>
      <p:sp>
        <p:nvSpPr>
          <p:cNvPr id="58375" name="Rectangle 4"/>
          <p:cNvSpPr>
            <a:spLocks noChangeArrowheads="1"/>
          </p:cNvSpPr>
          <p:nvPr/>
        </p:nvSpPr>
        <p:spPr bwMode="auto">
          <a:xfrm>
            <a:off x="3708400" y="4310063"/>
            <a:ext cx="1752600" cy="990600"/>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800" b="1">
                <a:latin typeface="宋体" pitchFamily="2" charset="-122"/>
              </a:rPr>
              <a:t>解释程序</a:t>
            </a:r>
          </a:p>
        </p:txBody>
      </p:sp>
      <p:sp>
        <p:nvSpPr>
          <p:cNvPr id="58376" name="Rectangle 5"/>
          <p:cNvSpPr>
            <a:spLocks noChangeArrowheads="1"/>
          </p:cNvSpPr>
          <p:nvPr/>
        </p:nvSpPr>
        <p:spPr bwMode="auto">
          <a:xfrm>
            <a:off x="6300788" y="4508500"/>
            <a:ext cx="1655762" cy="431800"/>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a:latin typeface="宋体" pitchFamily="2" charset="-122"/>
              </a:rPr>
              <a:t>计算结果</a:t>
            </a:r>
          </a:p>
        </p:txBody>
      </p:sp>
      <p:sp>
        <p:nvSpPr>
          <p:cNvPr id="58377" name="AutoShape 6"/>
          <p:cNvSpPr>
            <a:spLocks noChangeArrowheads="1"/>
          </p:cNvSpPr>
          <p:nvPr/>
        </p:nvSpPr>
        <p:spPr bwMode="auto">
          <a:xfrm>
            <a:off x="2843213" y="4424363"/>
            <a:ext cx="685800" cy="228600"/>
          </a:xfrm>
          <a:prstGeom prst="rightArrow">
            <a:avLst>
              <a:gd name="adj1" fmla="val 50000"/>
              <a:gd name="adj2" fmla="val 75000"/>
            </a:avLst>
          </a:prstGeom>
          <a:solidFill>
            <a:schemeClr val="bg1"/>
          </a:solidFill>
          <a:ln w="9525">
            <a:solidFill>
              <a:schemeClr val="tx1"/>
            </a:solidFill>
            <a:miter lim="800000"/>
            <a:headEnd/>
            <a:tailEnd/>
          </a:ln>
        </p:spPr>
        <p:txBody>
          <a:bodyPr wrap="none" anchor="ctr"/>
          <a:lstStyle/>
          <a:p>
            <a:endParaRPr lang="zh-CN" altLang="en-US"/>
          </a:p>
        </p:txBody>
      </p:sp>
      <p:sp>
        <p:nvSpPr>
          <p:cNvPr id="58378" name="AutoShape 7"/>
          <p:cNvSpPr>
            <a:spLocks noChangeArrowheads="1"/>
          </p:cNvSpPr>
          <p:nvPr/>
        </p:nvSpPr>
        <p:spPr bwMode="auto">
          <a:xfrm>
            <a:off x="2843213" y="4868863"/>
            <a:ext cx="685800" cy="228600"/>
          </a:xfrm>
          <a:prstGeom prst="rightArrow">
            <a:avLst>
              <a:gd name="adj1" fmla="val 50000"/>
              <a:gd name="adj2" fmla="val 75000"/>
            </a:avLst>
          </a:prstGeom>
          <a:solidFill>
            <a:schemeClr val="bg1"/>
          </a:solidFill>
          <a:ln w="9525">
            <a:solidFill>
              <a:schemeClr val="tx1"/>
            </a:solidFill>
            <a:miter lim="800000"/>
            <a:headEnd/>
            <a:tailEnd/>
          </a:ln>
        </p:spPr>
        <p:txBody>
          <a:bodyPr wrap="none" anchor="ctr"/>
          <a:lstStyle/>
          <a:p>
            <a:endParaRPr lang="zh-CN" altLang="en-US"/>
          </a:p>
        </p:txBody>
      </p:sp>
      <p:sp>
        <p:nvSpPr>
          <p:cNvPr id="58379" name="AutoShape 8"/>
          <p:cNvSpPr>
            <a:spLocks noChangeArrowheads="1"/>
          </p:cNvSpPr>
          <p:nvPr/>
        </p:nvSpPr>
        <p:spPr bwMode="auto">
          <a:xfrm>
            <a:off x="5580063" y="4640263"/>
            <a:ext cx="685800" cy="228600"/>
          </a:xfrm>
          <a:prstGeom prst="rightArrow">
            <a:avLst>
              <a:gd name="adj1" fmla="val 50000"/>
              <a:gd name="adj2" fmla="val 75000"/>
            </a:avLst>
          </a:prstGeom>
          <a:solidFill>
            <a:schemeClr val="bg1"/>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2"/>
          <p:cNvSpPr>
            <a:spLocks noGrp="1" noChangeArrowheads="1"/>
          </p:cNvSpPr>
          <p:nvPr>
            <p:ph type="title"/>
          </p:nvPr>
        </p:nvSpPr>
        <p:spPr>
          <a:xfrm>
            <a:off x="468313" y="142852"/>
            <a:ext cx="8424862" cy="935038"/>
          </a:xfrm>
        </p:spPr>
        <p:txBody>
          <a:bodyPr/>
          <a:lstStyle/>
          <a:p>
            <a:pPr eaLnBrk="1" hangingPunct="1"/>
            <a:r>
              <a:rPr lang="zh-CN" altLang="en-US" sz="3200" b="1" dirty="0" smtClean="0"/>
              <a:t>编译程序和</a:t>
            </a:r>
            <a:r>
              <a:rPr lang="zh-CN" altLang="en-US" sz="3200" dirty="0" smtClean="0"/>
              <a:t>解释程序不同的</a:t>
            </a:r>
            <a:r>
              <a:rPr lang="zh-CN" altLang="en-US" sz="3200" b="1" dirty="0" smtClean="0"/>
              <a:t>存储组织</a:t>
            </a:r>
          </a:p>
        </p:txBody>
      </p:sp>
      <p:sp>
        <p:nvSpPr>
          <p:cNvPr id="59394" name="日期占位符 3"/>
          <p:cNvSpPr>
            <a:spLocks noGrp="1"/>
          </p:cNvSpPr>
          <p:nvPr>
            <p:ph type="dt" sz="half" idx="10"/>
          </p:nvPr>
        </p:nvSpPr>
        <p:spPr>
          <a:noFill/>
        </p:spPr>
        <p:txBody>
          <a:bodyPr/>
          <a:lstStyle/>
          <a:p>
            <a:fld id="{B8C73C57-B020-4946-9B75-E962D76D1C94}" type="datetime1">
              <a:rPr lang="zh-CN" altLang="en-US" smtClean="0"/>
              <a:t>2017/1/22</a:t>
            </a:fld>
            <a:endParaRPr lang="en-US" altLang="zh-CN" smtClean="0"/>
          </a:p>
        </p:txBody>
      </p:sp>
      <p:sp>
        <p:nvSpPr>
          <p:cNvPr id="5939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59396" name="灯片编号占位符 5"/>
          <p:cNvSpPr>
            <a:spLocks noGrp="1"/>
          </p:cNvSpPr>
          <p:nvPr>
            <p:ph type="sldNum" sz="quarter" idx="12"/>
          </p:nvPr>
        </p:nvSpPr>
        <p:spPr>
          <a:noFill/>
        </p:spPr>
        <p:txBody>
          <a:bodyPr/>
          <a:lstStyle/>
          <a:p>
            <a:fld id="{2DC02BC8-F171-41F3-B052-E15DCB3A55F1}" type="slidenum">
              <a:rPr lang="zh-CN" altLang="en-US" smtClean="0"/>
              <a:pPr/>
              <a:t>48</a:t>
            </a:fld>
            <a:r>
              <a:rPr lang="en-US" altLang="zh-CN" dirty="0" smtClean="0"/>
              <a:t>/57</a:t>
            </a:r>
            <a:endParaRPr lang="en-US" altLang="zh-CN" dirty="0" smtClean="0"/>
          </a:p>
        </p:txBody>
      </p:sp>
      <p:sp>
        <p:nvSpPr>
          <p:cNvPr id="59398" name="Rectangle 3"/>
          <p:cNvSpPr>
            <a:spLocks noGrp="1" noChangeArrowheads="1"/>
          </p:cNvSpPr>
          <p:nvPr>
            <p:ph sz="quarter" idx="1"/>
          </p:nvPr>
        </p:nvSpPr>
        <p:spPr>
          <a:xfrm>
            <a:off x="468313" y="1285860"/>
            <a:ext cx="8207375" cy="4879989"/>
          </a:xfrm>
        </p:spPr>
        <p:txBody>
          <a:bodyPr>
            <a:normAutofit lnSpcReduction="10000"/>
          </a:bodyPr>
          <a:lstStyle/>
          <a:p>
            <a:pPr eaLnBrk="1" hangingPunct="1">
              <a:lnSpc>
                <a:spcPct val="120000"/>
              </a:lnSpc>
            </a:pPr>
            <a:r>
              <a:rPr lang="zh-CN" altLang="en-US" b="1" dirty="0" smtClean="0">
                <a:latin typeface="宋体" pitchFamily="2" charset="-122"/>
              </a:rPr>
              <a:t>编译程序处理时</a:t>
            </a:r>
            <a:r>
              <a:rPr lang="en-US" altLang="zh-CN" b="1" dirty="0" smtClean="0">
                <a:latin typeface="宋体" pitchFamily="2" charset="-122"/>
              </a:rPr>
              <a:t>,</a:t>
            </a:r>
            <a:r>
              <a:rPr lang="zh-CN" altLang="en-US" b="1" dirty="0" smtClean="0">
                <a:latin typeface="宋体" pitchFamily="2" charset="-122"/>
              </a:rPr>
              <a:t>在源语言程序被</a:t>
            </a:r>
            <a:r>
              <a:rPr lang="zh-CN" altLang="en-US" b="1" dirty="0" smtClean="0">
                <a:solidFill>
                  <a:srgbClr val="3333FF"/>
                </a:solidFill>
                <a:latin typeface="宋体" pitchFamily="2" charset="-122"/>
              </a:rPr>
              <a:t>编译阶段</a:t>
            </a:r>
            <a:r>
              <a:rPr lang="en-US" altLang="zh-CN" b="1" dirty="0" smtClean="0">
                <a:latin typeface="宋体" pitchFamily="2" charset="-122"/>
              </a:rPr>
              <a:t>,</a:t>
            </a:r>
            <a:r>
              <a:rPr lang="zh-CN" altLang="en-US" b="1" dirty="0" smtClean="0">
                <a:latin typeface="宋体" pitchFamily="2" charset="-122"/>
              </a:rPr>
              <a:t>存储区中要为源程序</a:t>
            </a:r>
            <a:r>
              <a:rPr lang="en-US" altLang="zh-CN" b="1" dirty="0" smtClean="0">
                <a:latin typeface="宋体" pitchFamily="2" charset="-122"/>
              </a:rPr>
              <a:t>(</a:t>
            </a:r>
            <a:r>
              <a:rPr lang="zh-CN" altLang="en-US" b="1" dirty="0" smtClean="0">
                <a:latin typeface="宋体" pitchFamily="2" charset="-122"/>
              </a:rPr>
              <a:t>中间形式</a:t>
            </a:r>
            <a:r>
              <a:rPr lang="en-US" altLang="zh-CN" b="1" dirty="0" smtClean="0">
                <a:latin typeface="宋体" pitchFamily="2" charset="-122"/>
              </a:rPr>
              <a:t>)</a:t>
            </a:r>
            <a:r>
              <a:rPr lang="zh-CN" altLang="en-US" b="1" dirty="0" smtClean="0">
                <a:latin typeface="宋体" pitchFamily="2" charset="-122"/>
              </a:rPr>
              <a:t>和目标代码开辟空间</a:t>
            </a:r>
            <a:r>
              <a:rPr lang="en-US" altLang="zh-CN" b="1" dirty="0" smtClean="0">
                <a:latin typeface="宋体" pitchFamily="2" charset="-122"/>
              </a:rPr>
              <a:t>,</a:t>
            </a:r>
            <a:r>
              <a:rPr lang="zh-CN" altLang="en-US" b="1" dirty="0" smtClean="0">
                <a:latin typeface="宋体" pitchFamily="2" charset="-122"/>
              </a:rPr>
              <a:t>要存放编译用的各种各样表格</a:t>
            </a:r>
            <a:r>
              <a:rPr lang="en-US" altLang="zh-CN" b="1" dirty="0" smtClean="0">
                <a:latin typeface="宋体" pitchFamily="2" charset="-122"/>
              </a:rPr>
              <a:t>,</a:t>
            </a:r>
            <a:r>
              <a:rPr lang="zh-CN" altLang="en-US" b="1" dirty="0" smtClean="0">
                <a:latin typeface="宋体" pitchFamily="2" charset="-122"/>
              </a:rPr>
              <a:t>比如符号表</a:t>
            </a:r>
            <a:r>
              <a:rPr lang="en-US" altLang="zh-CN" b="1" dirty="0" smtClean="0">
                <a:latin typeface="宋体" pitchFamily="2" charset="-122"/>
              </a:rPr>
              <a:t>.</a:t>
            </a:r>
            <a:r>
              <a:rPr lang="zh-CN" altLang="en-US" b="1" dirty="0" smtClean="0">
                <a:latin typeface="宋体" pitchFamily="2" charset="-122"/>
              </a:rPr>
              <a:t>在</a:t>
            </a:r>
            <a:r>
              <a:rPr lang="zh-CN" altLang="en-US" b="1" dirty="0" smtClean="0">
                <a:solidFill>
                  <a:srgbClr val="3333FF"/>
                </a:solidFill>
                <a:latin typeface="宋体" pitchFamily="2" charset="-122"/>
              </a:rPr>
              <a:t>目标代码运行</a:t>
            </a:r>
            <a:r>
              <a:rPr lang="zh-CN" altLang="en-US" b="1" dirty="0" smtClean="0">
                <a:latin typeface="宋体" pitchFamily="2" charset="-122"/>
              </a:rPr>
              <a:t>阶段</a:t>
            </a:r>
            <a:r>
              <a:rPr lang="en-US" altLang="zh-CN" b="1" dirty="0" smtClean="0">
                <a:latin typeface="宋体" pitchFamily="2" charset="-122"/>
              </a:rPr>
              <a:t>,</a:t>
            </a:r>
            <a:r>
              <a:rPr lang="zh-CN" altLang="en-US" b="1" dirty="0" smtClean="0">
                <a:latin typeface="宋体" pitchFamily="2" charset="-122"/>
              </a:rPr>
              <a:t>存储区中主要是目标代码和数据</a:t>
            </a:r>
            <a:r>
              <a:rPr lang="en-US" altLang="zh-CN" b="1" dirty="0" smtClean="0">
                <a:latin typeface="宋体" pitchFamily="2" charset="-122"/>
              </a:rPr>
              <a:t>,</a:t>
            </a:r>
            <a:r>
              <a:rPr lang="zh-CN" altLang="en-US" b="1" dirty="0" smtClean="0">
                <a:latin typeface="宋体" pitchFamily="2" charset="-122"/>
              </a:rPr>
              <a:t>编译所用的任何信息都不再需要</a:t>
            </a:r>
            <a:r>
              <a:rPr lang="en-US" altLang="zh-CN" b="1" dirty="0" smtClean="0">
                <a:latin typeface="宋体" pitchFamily="2" charset="-122"/>
              </a:rPr>
              <a:t>.</a:t>
            </a:r>
          </a:p>
          <a:p>
            <a:pPr eaLnBrk="1" hangingPunct="1">
              <a:lnSpc>
                <a:spcPct val="120000"/>
              </a:lnSpc>
            </a:pPr>
            <a:r>
              <a:rPr lang="zh-CN" altLang="en-US" b="1" dirty="0" smtClean="0">
                <a:latin typeface="宋体" pitchFamily="2" charset="-122"/>
              </a:rPr>
              <a:t>解释程序一般是把源程序进行语法分析</a:t>
            </a:r>
            <a:r>
              <a:rPr lang="en-US" altLang="zh-CN" b="1" dirty="0" smtClean="0">
                <a:latin typeface="宋体" pitchFamily="2" charset="-122"/>
              </a:rPr>
              <a:t>,</a:t>
            </a:r>
            <a:r>
              <a:rPr lang="zh-CN" altLang="en-US" b="1" dirty="0" smtClean="0">
                <a:latin typeface="宋体" pitchFamily="2" charset="-122"/>
              </a:rPr>
              <a:t>转换为一种内部表示形式</a:t>
            </a:r>
            <a:r>
              <a:rPr lang="en-US" altLang="zh-CN" b="1" dirty="0" smtClean="0">
                <a:latin typeface="宋体" pitchFamily="2" charset="-122"/>
              </a:rPr>
              <a:t>,</a:t>
            </a:r>
            <a:r>
              <a:rPr lang="zh-CN" altLang="en-US" b="1" dirty="0" smtClean="0">
                <a:latin typeface="宋体" pitchFamily="2" charset="-122"/>
              </a:rPr>
              <a:t>存放在源程序区。因为</a:t>
            </a:r>
            <a:r>
              <a:rPr lang="zh-CN" altLang="en-US" b="1" dirty="0" smtClean="0">
                <a:solidFill>
                  <a:srgbClr val="3333FF"/>
                </a:solidFill>
                <a:latin typeface="宋体" pitchFamily="2" charset="-122"/>
              </a:rPr>
              <a:t>解释程序</a:t>
            </a:r>
            <a:r>
              <a:rPr lang="zh-CN" altLang="en-US" b="1" dirty="0" smtClean="0">
                <a:latin typeface="宋体" pitchFamily="2" charset="-122"/>
              </a:rPr>
              <a:t>允许在执行用户程序时修改用户程序</a:t>
            </a:r>
            <a:r>
              <a:rPr lang="en-US" altLang="zh-CN" b="1" dirty="0" smtClean="0">
                <a:latin typeface="宋体" pitchFamily="2" charset="-122"/>
              </a:rPr>
              <a:t>,</a:t>
            </a:r>
            <a:r>
              <a:rPr lang="zh-CN" altLang="en-US" b="1" dirty="0" smtClean="0">
                <a:latin typeface="宋体" pitchFamily="2" charset="-122"/>
              </a:rPr>
              <a:t>这就要求</a:t>
            </a:r>
            <a:r>
              <a:rPr lang="zh-CN" altLang="en-US" b="1" dirty="0" smtClean="0">
                <a:solidFill>
                  <a:srgbClr val="3333FF"/>
                </a:solidFill>
                <a:latin typeface="宋体" pitchFamily="2" charset="-122"/>
              </a:rPr>
              <a:t>源程序</a:t>
            </a:r>
            <a:r>
              <a:rPr lang="en-US" altLang="zh-CN" b="1" dirty="0" smtClean="0">
                <a:solidFill>
                  <a:srgbClr val="3333FF"/>
                </a:solidFill>
                <a:latin typeface="宋体" pitchFamily="2" charset="-122"/>
              </a:rPr>
              <a:t>,</a:t>
            </a:r>
            <a:r>
              <a:rPr lang="zh-CN" altLang="en-US" b="1" dirty="0" smtClean="0">
                <a:solidFill>
                  <a:srgbClr val="3333FF"/>
                </a:solidFill>
                <a:latin typeface="宋体" pitchFamily="2" charset="-122"/>
              </a:rPr>
              <a:t>符号表等内容始终存放在存储区中</a:t>
            </a:r>
            <a:r>
              <a:rPr lang="en-US" altLang="zh-CN" b="1" dirty="0" smtClean="0">
                <a:solidFill>
                  <a:srgbClr val="3333FF"/>
                </a:solidFill>
                <a:latin typeface="宋体" pitchFamily="2" charset="-122"/>
              </a:rPr>
              <a:t>,</a:t>
            </a:r>
            <a:r>
              <a:rPr lang="zh-CN" altLang="en-US" b="1" dirty="0" smtClean="0">
                <a:solidFill>
                  <a:srgbClr val="3333FF"/>
                </a:solidFill>
                <a:latin typeface="宋体" pitchFamily="2" charset="-122"/>
              </a:rPr>
              <a:t>并且存放格式要设计的易于使用和修改。</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p:txBody>
          <a:bodyPr/>
          <a:lstStyle/>
          <a:p>
            <a:pPr eaLnBrk="1" hangingPunct="1"/>
            <a:r>
              <a:rPr lang="zh-CN" altLang="en-US" sz="3400" b="1" dirty="0" smtClean="0"/>
              <a:t>  编译阶段和运行阶段存储结构                    </a:t>
            </a:r>
          </a:p>
        </p:txBody>
      </p:sp>
      <p:sp>
        <p:nvSpPr>
          <p:cNvPr id="60418" name="日期占位符 3"/>
          <p:cNvSpPr>
            <a:spLocks noGrp="1"/>
          </p:cNvSpPr>
          <p:nvPr>
            <p:ph type="dt" sz="half" idx="10"/>
          </p:nvPr>
        </p:nvSpPr>
        <p:spPr>
          <a:noFill/>
        </p:spPr>
        <p:txBody>
          <a:bodyPr/>
          <a:lstStyle/>
          <a:p>
            <a:fld id="{32E94FCE-90EB-4798-9FFB-EBE9664531FE}" type="datetime1">
              <a:rPr lang="zh-CN" altLang="en-US" smtClean="0"/>
              <a:t>2017/1/22</a:t>
            </a:fld>
            <a:endParaRPr lang="en-US" altLang="zh-CN" smtClean="0"/>
          </a:p>
        </p:txBody>
      </p:sp>
      <p:sp>
        <p:nvSpPr>
          <p:cNvPr id="6041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0420" name="灯片编号占位符 5"/>
          <p:cNvSpPr>
            <a:spLocks noGrp="1"/>
          </p:cNvSpPr>
          <p:nvPr>
            <p:ph type="sldNum" sz="quarter" idx="12"/>
          </p:nvPr>
        </p:nvSpPr>
        <p:spPr>
          <a:noFill/>
        </p:spPr>
        <p:txBody>
          <a:bodyPr/>
          <a:lstStyle/>
          <a:p>
            <a:fld id="{10240C88-CF27-454B-8325-EB6A3EB7B200}" type="slidenum">
              <a:rPr lang="zh-CN" altLang="en-US" smtClean="0"/>
              <a:pPr/>
              <a:t>49</a:t>
            </a:fld>
            <a:r>
              <a:rPr lang="en-US" altLang="zh-CN" dirty="0" smtClean="0"/>
              <a:t>/57</a:t>
            </a:r>
            <a:endParaRPr lang="en-US" altLang="zh-CN" dirty="0" smtClean="0"/>
          </a:p>
        </p:txBody>
      </p:sp>
      <p:sp>
        <p:nvSpPr>
          <p:cNvPr id="60423" name="Line 4"/>
          <p:cNvSpPr>
            <a:spLocks noChangeShapeType="1"/>
          </p:cNvSpPr>
          <p:nvPr/>
        </p:nvSpPr>
        <p:spPr bwMode="auto">
          <a:xfrm>
            <a:off x="1258888" y="2133600"/>
            <a:ext cx="0" cy="3048000"/>
          </a:xfrm>
          <a:prstGeom prst="line">
            <a:avLst/>
          </a:prstGeom>
          <a:noFill/>
          <a:ln w="9525">
            <a:solidFill>
              <a:schemeClr val="tx1"/>
            </a:solidFill>
            <a:round/>
            <a:headEnd/>
            <a:tailEnd/>
          </a:ln>
        </p:spPr>
        <p:txBody>
          <a:bodyPr/>
          <a:lstStyle/>
          <a:p>
            <a:endParaRPr lang="zh-CN" altLang="en-US"/>
          </a:p>
        </p:txBody>
      </p:sp>
      <p:sp>
        <p:nvSpPr>
          <p:cNvPr id="60424" name="Line 5"/>
          <p:cNvSpPr>
            <a:spLocks noChangeShapeType="1"/>
          </p:cNvSpPr>
          <p:nvPr/>
        </p:nvSpPr>
        <p:spPr bwMode="auto">
          <a:xfrm>
            <a:off x="1258888" y="2133600"/>
            <a:ext cx="1371600" cy="0"/>
          </a:xfrm>
          <a:prstGeom prst="line">
            <a:avLst/>
          </a:prstGeom>
          <a:noFill/>
          <a:ln w="9525">
            <a:solidFill>
              <a:schemeClr val="tx1"/>
            </a:solidFill>
            <a:round/>
            <a:headEnd/>
            <a:tailEnd/>
          </a:ln>
        </p:spPr>
        <p:txBody>
          <a:bodyPr/>
          <a:lstStyle/>
          <a:p>
            <a:endParaRPr lang="zh-CN" altLang="en-US"/>
          </a:p>
        </p:txBody>
      </p:sp>
      <p:sp>
        <p:nvSpPr>
          <p:cNvPr id="60425" name="Line 6"/>
          <p:cNvSpPr>
            <a:spLocks noChangeShapeType="1"/>
          </p:cNvSpPr>
          <p:nvPr/>
        </p:nvSpPr>
        <p:spPr bwMode="auto">
          <a:xfrm>
            <a:off x="4067175" y="2133600"/>
            <a:ext cx="0" cy="3048000"/>
          </a:xfrm>
          <a:prstGeom prst="line">
            <a:avLst/>
          </a:prstGeom>
          <a:noFill/>
          <a:ln w="9525">
            <a:solidFill>
              <a:schemeClr val="tx1"/>
            </a:solidFill>
            <a:round/>
            <a:headEnd/>
            <a:tailEnd/>
          </a:ln>
        </p:spPr>
        <p:txBody>
          <a:bodyPr/>
          <a:lstStyle/>
          <a:p>
            <a:endParaRPr lang="zh-CN" altLang="en-US"/>
          </a:p>
        </p:txBody>
      </p:sp>
      <p:sp>
        <p:nvSpPr>
          <p:cNvPr id="60426" name="Line 7"/>
          <p:cNvSpPr>
            <a:spLocks noChangeShapeType="1"/>
          </p:cNvSpPr>
          <p:nvPr/>
        </p:nvSpPr>
        <p:spPr bwMode="auto">
          <a:xfrm>
            <a:off x="1258888" y="5516563"/>
            <a:ext cx="2808287" cy="0"/>
          </a:xfrm>
          <a:prstGeom prst="line">
            <a:avLst/>
          </a:prstGeom>
          <a:noFill/>
          <a:ln w="9525">
            <a:solidFill>
              <a:schemeClr val="tx1"/>
            </a:solidFill>
            <a:round/>
            <a:headEnd/>
            <a:tailEnd/>
          </a:ln>
        </p:spPr>
        <p:txBody>
          <a:bodyPr/>
          <a:lstStyle/>
          <a:p>
            <a:endParaRPr lang="zh-CN" altLang="en-US"/>
          </a:p>
        </p:txBody>
      </p:sp>
      <p:sp>
        <p:nvSpPr>
          <p:cNvPr id="60427" name="Line 9"/>
          <p:cNvSpPr>
            <a:spLocks noChangeShapeType="1"/>
          </p:cNvSpPr>
          <p:nvPr/>
        </p:nvSpPr>
        <p:spPr bwMode="auto">
          <a:xfrm>
            <a:off x="1258888" y="3200400"/>
            <a:ext cx="2808287" cy="12700"/>
          </a:xfrm>
          <a:prstGeom prst="line">
            <a:avLst/>
          </a:prstGeom>
          <a:noFill/>
          <a:ln w="9525">
            <a:solidFill>
              <a:schemeClr val="tx1"/>
            </a:solidFill>
            <a:round/>
            <a:headEnd/>
            <a:tailEnd/>
          </a:ln>
        </p:spPr>
        <p:txBody>
          <a:bodyPr/>
          <a:lstStyle/>
          <a:p>
            <a:endParaRPr lang="zh-CN" altLang="en-US"/>
          </a:p>
        </p:txBody>
      </p:sp>
      <p:sp>
        <p:nvSpPr>
          <p:cNvPr id="60428" name="Line 10"/>
          <p:cNvSpPr>
            <a:spLocks noChangeShapeType="1"/>
          </p:cNvSpPr>
          <p:nvPr/>
        </p:nvSpPr>
        <p:spPr bwMode="auto">
          <a:xfrm>
            <a:off x="1258888" y="4038600"/>
            <a:ext cx="2808287" cy="38100"/>
          </a:xfrm>
          <a:prstGeom prst="line">
            <a:avLst/>
          </a:prstGeom>
          <a:noFill/>
          <a:ln w="9525">
            <a:solidFill>
              <a:schemeClr val="tx1"/>
            </a:solidFill>
            <a:round/>
            <a:headEnd/>
            <a:tailEnd/>
          </a:ln>
        </p:spPr>
        <p:txBody>
          <a:bodyPr/>
          <a:lstStyle/>
          <a:p>
            <a:endParaRPr lang="zh-CN" altLang="en-US"/>
          </a:p>
        </p:txBody>
      </p:sp>
      <p:sp>
        <p:nvSpPr>
          <p:cNvPr id="60429" name="Line 15"/>
          <p:cNvSpPr>
            <a:spLocks noChangeShapeType="1"/>
          </p:cNvSpPr>
          <p:nvPr/>
        </p:nvSpPr>
        <p:spPr bwMode="auto">
          <a:xfrm>
            <a:off x="2627313" y="2133600"/>
            <a:ext cx="1368425" cy="0"/>
          </a:xfrm>
          <a:prstGeom prst="line">
            <a:avLst/>
          </a:prstGeom>
          <a:noFill/>
          <a:ln w="9525">
            <a:solidFill>
              <a:schemeClr val="tx1"/>
            </a:solidFill>
            <a:round/>
            <a:headEnd/>
            <a:tailEnd/>
          </a:ln>
        </p:spPr>
        <p:txBody>
          <a:bodyPr/>
          <a:lstStyle/>
          <a:p>
            <a:endParaRPr lang="zh-CN" altLang="en-US"/>
          </a:p>
        </p:txBody>
      </p:sp>
      <p:sp>
        <p:nvSpPr>
          <p:cNvPr id="60430" name="Rectangle 16"/>
          <p:cNvSpPr>
            <a:spLocks noChangeArrowheads="1"/>
          </p:cNvSpPr>
          <p:nvPr/>
        </p:nvSpPr>
        <p:spPr bwMode="auto">
          <a:xfrm>
            <a:off x="1908175" y="2743200"/>
            <a:ext cx="1190625" cy="398463"/>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a:latin typeface="Times New Roman" pitchFamily="18" charset="0"/>
              </a:rPr>
              <a:t>名字表</a:t>
            </a:r>
          </a:p>
        </p:txBody>
      </p:sp>
      <p:sp>
        <p:nvSpPr>
          <p:cNvPr id="60431" name="Rectangle 17"/>
          <p:cNvSpPr>
            <a:spLocks noChangeArrowheads="1"/>
          </p:cNvSpPr>
          <p:nvPr/>
        </p:nvSpPr>
        <p:spPr bwMode="auto">
          <a:xfrm>
            <a:off x="1344613" y="3352800"/>
            <a:ext cx="2579687" cy="581025"/>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a:latin typeface="Times New Roman" pitchFamily="18" charset="0"/>
              </a:rPr>
              <a:t>目标代码缓冲区</a:t>
            </a:r>
          </a:p>
        </p:txBody>
      </p:sp>
      <p:sp>
        <p:nvSpPr>
          <p:cNvPr id="60432" name="Rectangle 18"/>
          <p:cNvSpPr>
            <a:spLocks noChangeArrowheads="1"/>
          </p:cNvSpPr>
          <p:nvPr/>
        </p:nvSpPr>
        <p:spPr bwMode="auto">
          <a:xfrm>
            <a:off x="1331913" y="4330700"/>
            <a:ext cx="2592387" cy="969963"/>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a:latin typeface="Times New Roman" pitchFamily="18" charset="0"/>
              </a:rPr>
              <a:t>编译用源程序中</a:t>
            </a:r>
          </a:p>
          <a:p>
            <a:pPr algn="ctr" eaLnBrk="0" hangingPunct="0"/>
            <a:r>
              <a:rPr lang="zh-CN" altLang="en-US" sz="2800" b="1">
                <a:latin typeface="Times New Roman" pitchFamily="18" charset="0"/>
              </a:rPr>
              <a:t>间表示各种表格</a:t>
            </a:r>
          </a:p>
        </p:txBody>
      </p:sp>
      <p:sp>
        <p:nvSpPr>
          <p:cNvPr id="60433" name="Line 24"/>
          <p:cNvSpPr>
            <a:spLocks noChangeShapeType="1"/>
          </p:cNvSpPr>
          <p:nvPr/>
        </p:nvSpPr>
        <p:spPr bwMode="auto">
          <a:xfrm>
            <a:off x="5738813" y="2133600"/>
            <a:ext cx="0" cy="2971800"/>
          </a:xfrm>
          <a:prstGeom prst="line">
            <a:avLst/>
          </a:prstGeom>
          <a:noFill/>
          <a:ln w="9525">
            <a:solidFill>
              <a:schemeClr val="tx1"/>
            </a:solidFill>
            <a:round/>
            <a:headEnd/>
            <a:tailEnd/>
          </a:ln>
        </p:spPr>
        <p:txBody>
          <a:bodyPr wrap="none" anchor="ctr"/>
          <a:lstStyle/>
          <a:p>
            <a:endParaRPr lang="zh-CN" altLang="en-US"/>
          </a:p>
        </p:txBody>
      </p:sp>
      <p:sp>
        <p:nvSpPr>
          <p:cNvPr id="60434" name="Line 25"/>
          <p:cNvSpPr>
            <a:spLocks noChangeShapeType="1"/>
          </p:cNvSpPr>
          <p:nvPr/>
        </p:nvSpPr>
        <p:spPr bwMode="auto">
          <a:xfrm>
            <a:off x="5738813" y="4953000"/>
            <a:ext cx="0" cy="228600"/>
          </a:xfrm>
          <a:prstGeom prst="line">
            <a:avLst/>
          </a:prstGeom>
          <a:noFill/>
          <a:ln w="9525">
            <a:solidFill>
              <a:schemeClr val="tx1"/>
            </a:solidFill>
            <a:round/>
            <a:headEnd/>
            <a:tailEnd/>
          </a:ln>
        </p:spPr>
        <p:txBody>
          <a:bodyPr wrap="none" anchor="ctr"/>
          <a:lstStyle/>
          <a:p>
            <a:endParaRPr lang="zh-CN" altLang="en-US"/>
          </a:p>
        </p:txBody>
      </p:sp>
      <p:sp>
        <p:nvSpPr>
          <p:cNvPr id="60435" name="Line 26"/>
          <p:cNvSpPr>
            <a:spLocks noChangeShapeType="1"/>
          </p:cNvSpPr>
          <p:nvPr/>
        </p:nvSpPr>
        <p:spPr bwMode="auto">
          <a:xfrm>
            <a:off x="7796213" y="2133600"/>
            <a:ext cx="0" cy="3048000"/>
          </a:xfrm>
          <a:prstGeom prst="line">
            <a:avLst/>
          </a:prstGeom>
          <a:noFill/>
          <a:ln w="9525">
            <a:solidFill>
              <a:schemeClr val="tx1"/>
            </a:solidFill>
            <a:round/>
            <a:headEnd/>
            <a:tailEnd/>
          </a:ln>
        </p:spPr>
        <p:txBody>
          <a:bodyPr wrap="none" anchor="ctr"/>
          <a:lstStyle/>
          <a:p>
            <a:endParaRPr lang="zh-CN" altLang="en-US"/>
          </a:p>
        </p:txBody>
      </p:sp>
      <p:sp>
        <p:nvSpPr>
          <p:cNvPr id="60436" name="Line 27"/>
          <p:cNvSpPr>
            <a:spLocks noChangeShapeType="1"/>
          </p:cNvSpPr>
          <p:nvPr/>
        </p:nvSpPr>
        <p:spPr bwMode="auto">
          <a:xfrm>
            <a:off x="5738813" y="5486400"/>
            <a:ext cx="2057400" cy="0"/>
          </a:xfrm>
          <a:prstGeom prst="line">
            <a:avLst/>
          </a:prstGeom>
          <a:noFill/>
          <a:ln w="9525">
            <a:solidFill>
              <a:schemeClr val="tx1"/>
            </a:solidFill>
            <a:round/>
            <a:headEnd/>
            <a:tailEnd/>
          </a:ln>
        </p:spPr>
        <p:txBody>
          <a:bodyPr wrap="none" anchor="ctr"/>
          <a:lstStyle/>
          <a:p>
            <a:endParaRPr lang="zh-CN" altLang="en-US"/>
          </a:p>
        </p:txBody>
      </p:sp>
      <p:sp>
        <p:nvSpPr>
          <p:cNvPr id="60437" name="Line 28"/>
          <p:cNvSpPr>
            <a:spLocks noChangeShapeType="1"/>
          </p:cNvSpPr>
          <p:nvPr/>
        </p:nvSpPr>
        <p:spPr bwMode="auto">
          <a:xfrm>
            <a:off x="5738813" y="2133600"/>
            <a:ext cx="2057400" cy="0"/>
          </a:xfrm>
          <a:prstGeom prst="line">
            <a:avLst/>
          </a:prstGeom>
          <a:noFill/>
          <a:ln w="9525">
            <a:solidFill>
              <a:schemeClr val="tx1"/>
            </a:solidFill>
            <a:round/>
            <a:headEnd/>
            <a:tailEnd/>
          </a:ln>
        </p:spPr>
        <p:txBody>
          <a:bodyPr wrap="none" anchor="ctr"/>
          <a:lstStyle/>
          <a:p>
            <a:endParaRPr lang="zh-CN" altLang="en-US"/>
          </a:p>
        </p:txBody>
      </p:sp>
      <p:sp>
        <p:nvSpPr>
          <p:cNvPr id="60438" name="Line 29"/>
          <p:cNvSpPr>
            <a:spLocks noChangeShapeType="1"/>
          </p:cNvSpPr>
          <p:nvPr/>
        </p:nvSpPr>
        <p:spPr bwMode="auto">
          <a:xfrm>
            <a:off x="5738813" y="3200400"/>
            <a:ext cx="2057400" cy="0"/>
          </a:xfrm>
          <a:prstGeom prst="line">
            <a:avLst/>
          </a:prstGeom>
          <a:noFill/>
          <a:ln w="9525">
            <a:solidFill>
              <a:schemeClr val="tx1"/>
            </a:solidFill>
            <a:round/>
            <a:headEnd/>
            <a:tailEnd/>
          </a:ln>
        </p:spPr>
        <p:txBody>
          <a:bodyPr wrap="none" anchor="ctr"/>
          <a:lstStyle/>
          <a:p>
            <a:endParaRPr lang="zh-CN" altLang="en-US"/>
          </a:p>
        </p:txBody>
      </p:sp>
      <p:sp>
        <p:nvSpPr>
          <p:cNvPr id="60439" name="Rectangle 30"/>
          <p:cNvSpPr>
            <a:spLocks noChangeArrowheads="1"/>
          </p:cNvSpPr>
          <p:nvPr/>
        </p:nvSpPr>
        <p:spPr bwMode="auto">
          <a:xfrm>
            <a:off x="5857884" y="2362200"/>
            <a:ext cx="1785949" cy="762000"/>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dirty="0">
                <a:latin typeface="Times New Roman" pitchFamily="18" charset="0"/>
              </a:rPr>
              <a:t>目标代码区</a:t>
            </a:r>
          </a:p>
        </p:txBody>
      </p:sp>
      <p:sp>
        <p:nvSpPr>
          <p:cNvPr id="60440" name="Rectangle 31"/>
          <p:cNvSpPr>
            <a:spLocks noChangeArrowheads="1"/>
          </p:cNvSpPr>
          <p:nvPr/>
        </p:nvSpPr>
        <p:spPr bwMode="auto">
          <a:xfrm>
            <a:off x="6000760" y="3581400"/>
            <a:ext cx="1500198" cy="914400"/>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dirty="0">
                <a:latin typeface="Times New Roman" pitchFamily="18" charset="0"/>
              </a:rPr>
              <a:t>数据区</a:t>
            </a:r>
          </a:p>
        </p:txBody>
      </p:sp>
      <p:sp>
        <p:nvSpPr>
          <p:cNvPr id="60441" name="Rectangle 32"/>
          <p:cNvSpPr>
            <a:spLocks noChangeArrowheads="1"/>
          </p:cNvSpPr>
          <p:nvPr/>
        </p:nvSpPr>
        <p:spPr bwMode="auto">
          <a:xfrm>
            <a:off x="1476375" y="2205038"/>
            <a:ext cx="2452683" cy="427037"/>
          </a:xfrm>
          <a:prstGeom prst="rect">
            <a:avLst/>
          </a:prstGeom>
          <a:solidFill>
            <a:schemeClr val="bg1"/>
          </a:solidFill>
          <a:ln w="9525">
            <a:solidFill>
              <a:schemeClr val="bg1"/>
            </a:solidFill>
            <a:miter lim="800000"/>
            <a:headEnd/>
            <a:tailEnd/>
          </a:ln>
        </p:spPr>
        <p:txBody>
          <a:bodyPr wrap="none" anchor="ctr"/>
          <a:lstStyle/>
          <a:p>
            <a:pPr algn="ctr" eaLnBrk="0" hangingPunct="0"/>
            <a:r>
              <a:rPr lang="zh-CN" altLang="en-US" sz="2800" b="1" dirty="0">
                <a:latin typeface="Times New Roman" pitchFamily="18" charset="0"/>
              </a:rPr>
              <a:t>源程序缓冲区</a:t>
            </a:r>
          </a:p>
        </p:txBody>
      </p:sp>
      <p:sp>
        <p:nvSpPr>
          <p:cNvPr id="60442" name="Line 33"/>
          <p:cNvSpPr>
            <a:spLocks noChangeShapeType="1"/>
          </p:cNvSpPr>
          <p:nvPr/>
        </p:nvSpPr>
        <p:spPr bwMode="auto">
          <a:xfrm>
            <a:off x="1258888" y="5181600"/>
            <a:ext cx="0" cy="304800"/>
          </a:xfrm>
          <a:prstGeom prst="line">
            <a:avLst/>
          </a:prstGeom>
          <a:noFill/>
          <a:ln w="9525">
            <a:solidFill>
              <a:schemeClr val="tx1"/>
            </a:solidFill>
            <a:round/>
            <a:headEnd/>
            <a:tailEnd/>
          </a:ln>
        </p:spPr>
        <p:txBody>
          <a:bodyPr wrap="none" anchor="ctr"/>
          <a:lstStyle/>
          <a:p>
            <a:endParaRPr lang="zh-CN" altLang="en-US"/>
          </a:p>
        </p:txBody>
      </p:sp>
      <p:sp>
        <p:nvSpPr>
          <p:cNvPr id="60443" name="Line 34"/>
          <p:cNvSpPr>
            <a:spLocks noChangeShapeType="1"/>
          </p:cNvSpPr>
          <p:nvPr/>
        </p:nvSpPr>
        <p:spPr bwMode="auto">
          <a:xfrm>
            <a:off x="4067175" y="5181600"/>
            <a:ext cx="0" cy="304800"/>
          </a:xfrm>
          <a:prstGeom prst="line">
            <a:avLst/>
          </a:prstGeom>
          <a:noFill/>
          <a:ln w="9525">
            <a:solidFill>
              <a:schemeClr val="tx1"/>
            </a:solidFill>
            <a:round/>
            <a:headEnd/>
            <a:tailEnd/>
          </a:ln>
        </p:spPr>
        <p:txBody>
          <a:bodyPr wrap="none" anchor="ctr"/>
          <a:lstStyle/>
          <a:p>
            <a:endParaRPr lang="zh-CN" altLang="en-US"/>
          </a:p>
        </p:txBody>
      </p:sp>
      <p:sp>
        <p:nvSpPr>
          <p:cNvPr id="60444" name="Line 35"/>
          <p:cNvSpPr>
            <a:spLocks noChangeShapeType="1"/>
          </p:cNvSpPr>
          <p:nvPr/>
        </p:nvSpPr>
        <p:spPr bwMode="auto">
          <a:xfrm>
            <a:off x="5738813" y="5181600"/>
            <a:ext cx="0" cy="304800"/>
          </a:xfrm>
          <a:prstGeom prst="line">
            <a:avLst/>
          </a:prstGeom>
          <a:noFill/>
          <a:ln w="9525">
            <a:solidFill>
              <a:schemeClr val="tx1"/>
            </a:solidFill>
            <a:round/>
            <a:headEnd/>
            <a:tailEnd/>
          </a:ln>
        </p:spPr>
        <p:txBody>
          <a:bodyPr wrap="none" anchor="ctr"/>
          <a:lstStyle/>
          <a:p>
            <a:endParaRPr lang="zh-CN" altLang="en-US"/>
          </a:p>
        </p:txBody>
      </p:sp>
      <p:sp>
        <p:nvSpPr>
          <p:cNvPr id="60445" name="Line 36"/>
          <p:cNvSpPr>
            <a:spLocks noChangeShapeType="1"/>
          </p:cNvSpPr>
          <p:nvPr/>
        </p:nvSpPr>
        <p:spPr bwMode="auto">
          <a:xfrm>
            <a:off x="7796213" y="5181600"/>
            <a:ext cx="0" cy="304800"/>
          </a:xfrm>
          <a:prstGeom prst="line">
            <a:avLst/>
          </a:prstGeom>
          <a:noFill/>
          <a:ln w="9525">
            <a:solidFill>
              <a:schemeClr val="tx1"/>
            </a:solidFill>
            <a:round/>
            <a:headEnd/>
            <a:tailEnd/>
          </a:ln>
        </p:spPr>
        <p:txBody>
          <a:bodyPr wrap="none" anchor="ctr"/>
          <a:lstStyle/>
          <a:p>
            <a:endParaRPr lang="zh-CN" altLang="en-US"/>
          </a:p>
        </p:txBody>
      </p:sp>
      <p:sp>
        <p:nvSpPr>
          <p:cNvPr id="60446" name="Line 38"/>
          <p:cNvSpPr>
            <a:spLocks noChangeShapeType="1"/>
          </p:cNvSpPr>
          <p:nvPr/>
        </p:nvSpPr>
        <p:spPr bwMode="auto">
          <a:xfrm>
            <a:off x="1258888" y="2708275"/>
            <a:ext cx="2808287" cy="12700"/>
          </a:xfrm>
          <a:prstGeom prst="line">
            <a:avLst/>
          </a:prstGeom>
          <a:noFill/>
          <a:ln w="9525">
            <a:solidFill>
              <a:schemeClr val="tx1"/>
            </a:solidFill>
            <a:round/>
            <a:headEnd/>
            <a:tailEnd/>
          </a:ln>
        </p:spPr>
        <p:txBody>
          <a:bodyPr/>
          <a:lstStyle/>
          <a:p>
            <a:endParaRPr lang="zh-CN" altLang="en-US"/>
          </a:p>
        </p:txBody>
      </p:sp>
      <p:sp>
        <p:nvSpPr>
          <p:cNvPr id="60447" name="Text Box 39"/>
          <p:cNvSpPr txBox="1">
            <a:spLocks noChangeArrowheads="1"/>
          </p:cNvSpPr>
          <p:nvPr/>
        </p:nvSpPr>
        <p:spPr bwMode="auto">
          <a:xfrm>
            <a:off x="1958965" y="5573713"/>
            <a:ext cx="1255713" cy="519112"/>
          </a:xfrm>
          <a:prstGeom prst="rect">
            <a:avLst/>
          </a:prstGeom>
          <a:noFill/>
          <a:ln w="9525">
            <a:noFill/>
            <a:miter lim="800000"/>
            <a:headEnd/>
            <a:tailEnd/>
          </a:ln>
        </p:spPr>
        <p:txBody>
          <a:bodyPr wrap="none">
            <a:spAutoFit/>
          </a:bodyPr>
          <a:lstStyle/>
          <a:p>
            <a:r>
              <a:rPr lang="zh-CN" altLang="en-US" sz="2800" b="1" dirty="0"/>
              <a:t>编译时</a:t>
            </a:r>
          </a:p>
        </p:txBody>
      </p:sp>
      <p:sp>
        <p:nvSpPr>
          <p:cNvPr id="60448" name="Rectangle 41"/>
          <p:cNvSpPr>
            <a:spLocks noChangeArrowheads="1"/>
          </p:cNvSpPr>
          <p:nvPr/>
        </p:nvSpPr>
        <p:spPr bwMode="auto">
          <a:xfrm>
            <a:off x="6011863" y="5573713"/>
            <a:ext cx="1417657" cy="519112"/>
          </a:xfrm>
          <a:prstGeom prst="rect">
            <a:avLst/>
          </a:prstGeom>
          <a:noFill/>
          <a:ln w="9525">
            <a:noFill/>
            <a:miter lim="800000"/>
            <a:headEnd/>
            <a:tailEnd/>
          </a:ln>
        </p:spPr>
        <p:txBody>
          <a:bodyPr wrap="square">
            <a:spAutoFit/>
          </a:bodyPr>
          <a:lstStyle/>
          <a:p>
            <a:r>
              <a:rPr lang="zh-CN" altLang="en-US" sz="2800" b="1" dirty="0"/>
              <a:t>运行</a:t>
            </a:r>
            <a:r>
              <a:rPr lang="zh-CN" altLang="en-US" sz="2800" b="1" dirty="0" smtClean="0"/>
              <a:t>时</a:t>
            </a:r>
            <a:endParaRPr lang="zh-CN" altLang="en-US" sz="2800" b="1"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a:xfrm>
            <a:off x="642910" y="285736"/>
            <a:ext cx="7467600" cy="857248"/>
          </a:xfrm>
        </p:spPr>
        <p:txBody>
          <a:bodyPr/>
          <a:lstStyle/>
          <a:p>
            <a:pPr eaLnBrk="1" hangingPunct="1"/>
            <a:r>
              <a:rPr lang="zh-CN" altLang="en-US" sz="3400" b="1" dirty="0" smtClean="0"/>
              <a:t>解释系统存储结构</a:t>
            </a:r>
          </a:p>
        </p:txBody>
      </p:sp>
      <p:sp>
        <p:nvSpPr>
          <p:cNvPr id="61442" name="日期占位符 3"/>
          <p:cNvSpPr>
            <a:spLocks noGrp="1"/>
          </p:cNvSpPr>
          <p:nvPr>
            <p:ph type="dt" sz="half" idx="10"/>
          </p:nvPr>
        </p:nvSpPr>
        <p:spPr>
          <a:noFill/>
        </p:spPr>
        <p:txBody>
          <a:bodyPr/>
          <a:lstStyle/>
          <a:p>
            <a:fld id="{FF481CE6-3953-40A6-B977-2535A9FBEEB9}" type="datetime1">
              <a:rPr lang="zh-CN" altLang="en-US" smtClean="0"/>
              <a:t>2017/1/22</a:t>
            </a:fld>
            <a:endParaRPr lang="en-US" altLang="zh-CN" smtClean="0"/>
          </a:p>
        </p:txBody>
      </p:sp>
      <p:sp>
        <p:nvSpPr>
          <p:cNvPr id="6144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1444" name="灯片编号占位符 5"/>
          <p:cNvSpPr>
            <a:spLocks noGrp="1"/>
          </p:cNvSpPr>
          <p:nvPr>
            <p:ph type="sldNum" sz="quarter" idx="12"/>
          </p:nvPr>
        </p:nvSpPr>
        <p:spPr>
          <a:noFill/>
        </p:spPr>
        <p:txBody>
          <a:bodyPr/>
          <a:lstStyle/>
          <a:p>
            <a:fld id="{0C2BA7C9-66CE-4293-B5CA-E269E0DC68D8}" type="slidenum">
              <a:rPr lang="zh-CN" altLang="en-US" smtClean="0"/>
              <a:pPr/>
              <a:t>50</a:t>
            </a:fld>
            <a:r>
              <a:rPr lang="en-US" altLang="zh-CN" dirty="0" smtClean="0"/>
              <a:t>/57</a:t>
            </a:r>
            <a:endParaRPr lang="en-US" altLang="zh-CN" dirty="0" smtClean="0"/>
          </a:p>
        </p:txBody>
      </p:sp>
      <p:grpSp>
        <p:nvGrpSpPr>
          <p:cNvPr id="61446" name="Group 4"/>
          <p:cNvGrpSpPr>
            <a:grpSpLocks/>
          </p:cNvGrpSpPr>
          <p:nvPr/>
        </p:nvGrpSpPr>
        <p:grpSpPr bwMode="auto">
          <a:xfrm>
            <a:off x="2844800" y="1731640"/>
            <a:ext cx="2590800" cy="4361656"/>
            <a:chOff x="1344" y="480"/>
            <a:chExt cx="1632" cy="3312"/>
          </a:xfrm>
        </p:grpSpPr>
        <p:grpSp>
          <p:nvGrpSpPr>
            <p:cNvPr id="61447" name="Group 5"/>
            <p:cNvGrpSpPr>
              <a:grpSpLocks/>
            </p:cNvGrpSpPr>
            <p:nvPr/>
          </p:nvGrpSpPr>
          <p:grpSpPr bwMode="auto">
            <a:xfrm>
              <a:off x="1344" y="480"/>
              <a:ext cx="1632" cy="3264"/>
              <a:chOff x="1344" y="480"/>
              <a:chExt cx="1632" cy="3264"/>
            </a:xfrm>
          </p:grpSpPr>
          <p:sp>
            <p:nvSpPr>
              <p:cNvPr id="61454" name="Line 6"/>
              <p:cNvSpPr>
                <a:spLocks noChangeShapeType="1"/>
              </p:cNvSpPr>
              <p:nvPr/>
            </p:nvSpPr>
            <p:spPr bwMode="auto">
              <a:xfrm>
                <a:off x="1344" y="480"/>
                <a:ext cx="0" cy="3264"/>
              </a:xfrm>
              <a:prstGeom prst="line">
                <a:avLst/>
              </a:prstGeom>
              <a:noFill/>
              <a:ln w="28575">
                <a:solidFill>
                  <a:schemeClr val="tx1"/>
                </a:solidFill>
                <a:round/>
                <a:headEnd/>
                <a:tailEnd/>
              </a:ln>
            </p:spPr>
            <p:txBody>
              <a:bodyPr/>
              <a:lstStyle/>
              <a:p>
                <a:endParaRPr lang="zh-CN" altLang="en-US"/>
              </a:p>
            </p:txBody>
          </p:sp>
          <p:sp>
            <p:nvSpPr>
              <p:cNvPr id="61455" name="Line 7"/>
              <p:cNvSpPr>
                <a:spLocks noChangeShapeType="1"/>
              </p:cNvSpPr>
              <p:nvPr/>
            </p:nvSpPr>
            <p:spPr bwMode="auto">
              <a:xfrm>
                <a:off x="1344" y="480"/>
                <a:ext cx="1632" cy="0"/>
              </a:xfrm>
              <a:prstGeom prst="line">
                <a:avLst/>
              </a:prstGeom>
              <a:noFill/>
              <a:ln w="28575">
                <a:solidFill>
                  <a:schemeClr val="tx1"/>
                </a:solidFill>
                <a:round/>
                <a:headEnd/>
                <a:tailEnd/>
              </a:ln>
            </p:spPr>
            <p:txBody>
              <a:bodyPr/>
              <a:lstStyle/>
              <a:p>
                <a:endParaRPr lang="zh-CN" altLang="en-US"/>
              </a:p>
            </p:txBody>
          </p:sp>
          <p:sp>
            <p:nvSpPr>
              <p:cNvPr id="61456" name="Line 8"/>
              <p:cNvSpPr>
                <a:spLocks noChangeShapeType="1"/>
              </p:cNvSpPr>
              <p:nvPr/>
            </p:nvSpPr>
            <p:spPr bwMode="auto">
              <a:xfrm>
                <a:off x="2976" y="480"/>
                <a:ext cx="0" cy="3216"/>
              </a:xfrm>
              <a:prstGeom prst="line">
                <a:avLst/>
              </a:prstGeom>
              <a:noFill/>
              <a:ln w="28575">
                <a:solidFill>
                  <a:schemeClr val="tx1"/>
                </a:solidFill>
                <a:round/>
                <a:headEnd/>
                <a:tailEnd/>
              </a:ln>
            </p:spPr>
            <p:txBody>
              <a:bodyPr/>
              <a:lstStyle/>
              <a:p>
                <a:endParaRPr lang="zh-CN" altLang="en-US"/>
              </a:p>
            </p:txBody>
          </p:sp>
          <p:sp>
            <p:nvSpPr>
              <p:cNvPr id="61457" name="Line 9"/>
              <p:cNvSpPr>
                <a:spLocks noChangeShapeType="1"/>
              </p:cNvSpPr>
              <p:nvPr/>
            </p:nvSpPr>
            <p:spPr bwMode="auto">
              <a:xfrm>
                <a:off x="1344" y="1008"/>
                <a:ext cx="1632" cy="0"/>
              </a:xfrm>
              <a:prstGeom prst="line">
                <a:avLst/>
              </a:prstGeom>
              <a:noFill/>
              <a:ln w="28575">
                <a:solidFill>
                  <a:schemeClr val="tx1"/>
                </a:solidFill>
                <a:round/>
                <a:headEnd/>
                <a:tailEnd/>
              </a:ln>
            </p:spPr>
            <p:txBody>
              <a:bodyPr/>
              <a:lstStyle/>
              <a:p>
                <a:endParaRPr lang="zh-CN" altLang="en-US"/>
              </a:p>
            </p:txBody>
          </p:sp>
          <p:sp>
            <p:nvSpPr>
              <p:cNvPr id="61458" name="Line 10"/>
              <p:cNvSpPr>
                <a:spLocks noChangeShapeType="1"/>
              </p:cNvSpPr>
              <p:nvPr/>
            </p:nvSpPr>
            <p:spPr bwMode="auto">
              <a:xfrm>
                <a:off x="1344" y="1488"/>
                <a:ext cx="1632" cy="0"/>
              </a:xfrm>
              <a:prstGeom prst="line">
                <a:avLst/>
              </a:prstGeom>
              <a:noFill/>
              <a:ln w="28575">
                <a:solidFill>
                  <a:schemeClr val="tx1"/>
                </a:solidFill>
                <a:round/>
                <a:headEnd/>
                <a:tailEnd/>
              </a:ln>
            </p:spPr>
            <p:txBody>
              <a:bodyPr/>
              <a:lstStyle/>
              <a:p>
                <a:endParaRPr lang="zh-CN" altLang="en-US"/>
              </a:p>
            </p:txBody>
          </p:sp>
          <p:sp>
            <p:nvSpPr>
              <p:cNvPr id="61459" name="Line 11"/>
              <p:cNvSpPr>
                <a:spLocks noChangeShapeType="1"/>
              </p:cNvSpPr>
              <p:nvPr/>
            </p:nvSpPr>
            <p:spPr bwMode="auto">
              <a:xfrm>
                <a:off x="1344" y="2400"/>
                <a:ext cx="1632" cy="0"/>
              </a:xfrm>
              <a:prstGeom prst="line">
                <a:avLst/>
              </a:prstGeom>
              <a:noFill/>
              <a:ln w="28575">
                <a:solidFill>
                  <a:schemeClr val="tx1"/>
                </a:solidFill>
                <a:round/>
                <a:headEnd/>
                <a:tailEnd/>
              </a:ln>
            </p:spPr>
            <p:txBody>
              <a:bodyPr/>
              <a:lstStyle/>
              <a:p>
                <a:endParaRPr lang="zh-CN" altLang="en-US"/>
              </a:p>
            </p:txBody>
          </p:sp>
          <p:sp>
            <p:nvSpPr>
              <p:cNvPr id="61460" name="Line 12"/>
              <p:cNvSpPr>
                <a:spLocks noChangeShapeType="1"/>
              </p:cNvSpPr>
              <p:nvPr/>
            </p:nvSpPr>
            <p:spPr bwMode="auto">
              <a:xfrm>
                <a:off x="1344" y="2928"/>
                <a:ext cx="1632" cy="0"/>
              </a:xfrm>
              <a:prstGeom prst="line">
                <a:avLst/>
              </a:prstGeom>
              <a:noFill/>
              <a:ln w="28575">
                <a:solidFill>
                  <a:schemeClr val="tx1"/>
                </a:solidFill>
                <a:round/>
                <a:headEnd/>
                <a:tailEnd/>
              </a:ln>
            </p:spPr>
            <p:txBody>
              <a:bodyPr/>
              <a:lstStyle/>
              <a:p>
                <a:endParaRPr lang="zh-CN" altLang="en-US"/>
              </a:p>
            </p:txBody>
          </p:sp>
          <p:sp>
            <p:nvSpPr>
              <p:cNvPr id="61461" name="Line 13"/>
              <p:cNvSpPr>
                <a:spLocks noChangeShapeType="1"/>
              </p:cNvSpPr>
              <p:nvPr/>
            </p:nvSpPr>
            <p:spPr bwMode="auto">
              <a:xfrm>
                <a:off x="1344" y="3456"/>
                <a:ext cx="1632" cy="0"/>
              </a:xfrm>
              <a:prstGeom prst="line">
                <a:avLst/>
              </a:prstGeom>
              <a:noFill/>
              <a:ln w="28575">
                <a:solidFill>
                  <a:schemeClr val="tx1"/>
                </a:solidFill>
                <a:round/>
                <a:headEnd/>
                <a:tailEnd/>
              </a:ln>
            </p:spPr>
            <p:txBody>
              <a:bodyPr/>
              <a:lstStyle/>
              <a:p>
                <a:endParaRPr lang="zh-CN" altLang="en-US"/>
              </a:p>
            </p:txBody>
          </p:sp>
        </p:grpSp>
        <p:sp>
          <p:nvSpPr>
            <p:cNvPr id="61448" name="Rectangle 14"/>
            <p:cNvSpPr>
              <a:spLocks noChangeArrowheads="1"/>
            </p:cNvSpPr>
            <p:nvPr/>
          </p:nvSpPr>
          <p:spPr bwMode="auto">
            <a:xfrm>
              <a:off x="1968" y="624"/>
              <a:ext cx="576" cy="240"/>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a:latin typeface="Times New Roman" pitchFamily="18" charset="0"/>
                </a:rPr>
                <a:t>解释系统</a:t>
              </a:r>
            </a:p>
          </p:txBody>
        </p:sp>
        <p:sp>
          <p:nvSpPr>
            <p:cNvPr id="61449" name="Rectangle 15"/>
            <p:cNvSpPr>
              <a:spLocks noChangeArrowheads="1"/>
            </p:cNvSpPr>
            <p:nvPr/>
          </p:nvSpPr>
          <p:spPr bwMode="auto">
            <a:xfrm>
              <a:off x="1968" y="1104"/>
              <a:ext cx="576" cy="240"/>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dirty="0">
                  <a:latin typeface="Times New Roman" pitchFamily="18" charset="0"/>
                </a:rPr>
                <a:t>源程序</a:t>
              </a:r>
            </a:p>
          </p:txBody>
        </p:sp>
        <p:sp>
          <p:nvSpPr>
            <p:cNvPr id="61450" name="Rectangle 16"/>
            <p:cNvSpPr>
              <a:spLocks noChangeArrowheads="1"/>
            </p:cNvSpPr>
            <p:nvPr/>
          </p:nvSpPr>
          <p:spPr bwMode="auto">
            <a:xfrm>
              <a:off x="1920" y="1584"/>
              <a:ext cx="576" cy="624"/>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dirty="0">
                  <a:latin typeface="Times New Roman" pitchFamily="18" charset="0"/>
                </a:rPr>
                <a:t>临时工作</a:t>
              </a:r>
              <a:r>
                <a:rPr lang="zh-CN" altLang="en-US" sz="2400" dirty="0" smtClean="0">
                  <a:latin typeface="Times New Roman" pitchFamily="18" charset="0"/>
                </a:rPr>
                <a:t>单元</a:t>
              </a:r>
              <a:endParaRPr lang="zh-CN" altLang="en-US" sz="2400" dirty="0">
                <a:latin typeface="Times New Roman" pitchFamily="18" charset="0"/>
              </a:endParaRPr>
            </a:p>
            <a:p>
              <a:pPr algn="ctr" eaLnBrk="0" hangingPunct="0"/>
              <a:r>
                <a:rPr lang="zh-CN" altLang="en-US" sz="2400" dirty="0">
                  <a:latin typeface="Times New Roman" pitchFamily="18" charset="0"/>
                </a:rPr>
                <a:t>名字表</a:t>
              </a:r>
            </a:p>
          </p:txBody>
        </p:sp>
        <p:sp>
          <p:nvSpPr>
            <p:cNvPr id="61451" name="Rectangle 17"/>
            <p:cNvSpPr>
              <a:spLocks noChangeArrowheads="1"/>
            </p:cNvSpPr>
            <p:nvPr/>
          </p:nvSpPr>
          <p:spPr bwMode="auto">
            <a:xfrm>
              <a:off x="1872" y="2496"/>
              <a:ext cx="576" cy="288"/>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a:latin typeface="Times New Roman" pitchFamily="18" charset="0"/>
                </a:rPr>
                <a:t>标号表</a:t>
              </a:r>
            </a:p>
          </p:txBody>
        </p:sp>
        <p:sp>
          <p:nvSpPr>
            <p:cNvPr id="61452" name="Rectangle 18"/>
            <p:cNvSpPr>
              <a:spLocks noChangeArrowheads="1"/>
            </p:cNvSpPr>
            <p:nvPr/>
          </p:nvSpPr>
          <p:spPr bwMode="auto">
            <a:xfrm>
              <a:off x="1872" y="3024"/>
              <a:ext cx="576" cy="288"/>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dirty="0">
                  <a:latin typeface="Times New Roman" pitchFamily="18" charset="0"/>
                </a:rPr>
                <a:t>缓冲区</a:t>
              </a:r>
            </a:p>
            <a:p>
              <a:pPr algn="ctr" eaLnBrk="0" hangingPunct="0"/>
              <a:r>
                <a:rPr lang="zh-CN" altLang="en-US" sz="2400" dirty="0">
                  <a:latin typeface="Times New Roman" pitchFamily="18" charset="0"/>
                </a:rPr>
                <a:t>(输入输出)</a:t>
              </a:r>
            </a:p>
          </p:txBody>
        </p:sp>
        <p:sp>
          <p:nvSpPr>
            <p:cNvPr id="61453" name="Rectangle 19"/>
            <p:cNvSpPr>
              <a:spLocks noChangeArrowheads="1"/>
            </p:cNvSpPr>
            <p:nvPr/>
          </p:nvSpPr>
          <p:spPr bwMode="auto">
            <a:xfrm>
              <a:off x="1920" y="3600"/>
              <a:ext cx="576" cy="192"/>
            </a:xfrm>
            <a:prstGeom prst="rect">
              <a:avLst/>
            </a:prstGeom>
            <a:solidFill>
              <a:schemeClr val="bg1"/>
            </a:solidFill>
            <a:ln w="28575">
              <a:solidFill>
                <a:schemeClr val="bg1"/>
              </a:solidFill>
              <a:miter lim="800000"/>
              <a:headEnd/>
              <a:tailEnd/>
            </a:ln>
          </p:spPr>
          <p:txBody>
            <a:bodyPr wrap="none" anchor="ctr"/>
            <a:lstStyle/>
            <a:p>
              <a:pPr algn="ctr" eaLnBrk="0" hangingPunct="0"/>
              <a:r>
                <a:rPr lang="zh-CN" altLang="en-US" sz="2400">
                  <a:latin typeface="Times New Roman" pitchFamily="18" charset="0"/>
                </a:rPr>
                <a:t>栈区</a:t>
              </a: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p:nvPr>
        </p:nvSpPr>
        <p:spPr>
          <a:xfrm>
            <a:off x="738188" y="142852"/>
            <a:ext cx="7837487" cy="939800"/>
          </a:xfrm>
        </p:spPr>
        <p:txBody>
          <a:bodyPr/>
          <a:lstStyle/>
          <a:p>
            <a:pPr eaLnBrk="1" hangingPunct="1"/>
            <a:r>
              <a:rPr lang="en-US" altLang="zh-CN" sz="3400" b="1" dirty="0" smtClean="0">
                <a:solidFill>
                  <a:schemeClr val="tx1"/>
                </a:solidFill>
                <a:latin typeface="宋体" pitchFamily="2" charset="-122"/>
              </a:rPr>
              <a:t>1.3.2</a:t>
            </a:r>
            <a:r>
              <a:rPr lang="zh-CN" altLang="en-US" sz="3400" b="1" dirty="0" smtClean="0">
                <a:solidFill>
                  <a:schemeClr val="tx1"/>
                </a:solidFill>
                <a:latin typeface="宋体" pitchFamily="2" charset="-122"/>
              </a:rPr>
              <a:t>处理源程序的软件工具</a:t>
            </a:r>
          </a:p>
        </p:txBody>
      </p:sp>
      <p:sp>
        <p:nvSpPr>
          <p:cNvPr id="64514" name="日期占位符 3"/>
          <p:cNvSpPr>
            <a:spLocks noGrp="1"/>
          </p:cNvSpPr>
          <p:nvPr>
            <p:ph type="dt" sz="half" idx="10"/>
          </p:nvPr>
        </p:nvSpPr>
        <p:spPr>
          <a:noFill/>
        </p:spPr>
        <p:txBody>
          <a:bodyPr/>
          <a:lstStyle/>
          <a:p>
            <a:fld id="{76B4714A-A1AE-4AE9-9FE6-CB4998FB9300}" type="datetime1">
              <a:rPr lang="zh-CN" altLang="en-US" smtClean="0"/>
              <a:t>2017/1/22</a:t>
            </a:fld>
            <a:endParaRPr lang="en-US" altLang="zh-CN" smtClean="0"/>
          </a:p>
        </p:txBody>
      </p:sp>
      <p:sp>
        <p:nvSpPr>
          <p:cNvPr id="64515"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4516" name="灯片编号占位符 5"/>
          <p:cNvSpPr>
            <a:spLocks noGrp="1"/>
          </p:cNvSpPr>
          <p:nvPr>
            <p:ph type="sldNum" sz="quarter" idx="12"/>
          </p:nvPr>
        </p:nvSpPr>
        <p:spPr>
          <a:noFill/>
        </p:spPr>
        <p:txBody>
          <a:bodyPr/>
          <a:lstStyle/>
          <a:p>
            <a:fld id="{12D822B6-3B39-458F-8279-A85F80ABDD6A}" type="slidenum">
              <a:rPr lang="zh-CN" altLang="en-US" smtClean="0"/>
              <a:pPr/>
              <a:t>51</a:t>
            </a:fld>
            <a:r>
              <a:rPr lang="en-US" altLang="zh-CN" dirty="0" smtClean="0"/>
              <a:t>/57</a:t>
            </a:r>
            <a:endParaRPr lang="en-US" altLang="zh-CN" dirty="0" smtClean="0"/>
          </a:p>
        </p:txBody>
      </p:sp>
      <p:sp>
        <p:nvSpPr>
          <p:cNvPr id="64518" name="Rectangle 3"/>
          <p:cNvSpPr>
            <a:spLocks noGrp="1" noChangeArrowheads="1"/>
          </p:cNvSpPr>
          <p:nvPr>
            <p:ph sz="quarter" idx="1"/>
          </p:nvPr>
        </p:nvSpPr>
        <p:spPr>
          <a:xfrm>
            <a:off x="827088" y="1773238"/>
            <a:ext cx="6461125" cy="3527425"/>
          </a:xfrm>
        </p:spPr>
        <p:txBody>
          <a:bodyPr/>
          <a:lstStyle/>
          <a:p>
            <a:pPr eaLnBrk="1" hangingPunct="1">
              <a:buFont typeface="Wingdings" pitchFamily="2" charset="2"/>
              <a:buNone/>
            </a:pPr>
            <a:r>
              <a:rPr lang="en-US" altLang="zh-CN" b="1" dirty="0" smtClean="0">
                <a:latin typeface="宋体" pitchFamily="2" charset="-122"/>
              </a:rPr>
              <a:t>1.</a:t>
            </a:r>
            <a:r>
              <a:rPr lang="zh-CN" altLang="en-US" b="1" dirty="0" smtClean="0">
                <a:latin typeface="宋体" pitchFamily="2" charset="-122"/>
              </a:rPr>
              <a:t>语言的结构化编辑器</a:t>
            </a:r>
          </a:p>
          <a:p>
            <a:pPr eaLnBrk="1" hangingPunct="1">
              <a:buFont typeface="Wingdings" pitchFamily="2" charset="2"/>
              <a:buNone/>
            </a:pPr>
            <a:r>
              <a:rPr lang="en-US" altLang="zh-CN" b="1" dirty="0" smtClean="0">
                <a:latin typeface="宋体" pitchFamily="2" charset="-122"/>
              </a:rPr>
              <a:t>2.</a:t>
            </a:r>
            <a:r>
              <a:rPr lang="zh-CN" altLang="en-US" b="1" dirty="0" smtClean="0">
                <a:latin typeface="宋体" pitchFamily="2" charset="-122"/>
              </a:rPr>
              <a:t>语言程序的调试工具</a:t>
            </a:r>
          </a:p>
          <a:p>
            <a:pPr eaLnBrk="1" hangingPunct="1">
              <a:buFont typeface="Wingdings" pitchFamily="2" charset="2"/>
              <a:buNone/>
            </a:pPr>
            <a:r>
              <a:rPr lang="en-US" altLang="zh-CN" b="1" dirty="0" smtClean="0">
                <a:latin typeface="宋体" pitchFamily="2" charset="-122"/>
              </a:rPr>
              <a:t>3.</a:t>
            </a:r>
            <a:r>
              <a:rPr lang="zh-CN" altLang="en-US" b="1" dirty="0" smtClean="0">
                <a:latin typeface="宋体" pitchFamily="2" charset="-122"/>
              </a:rPr>
              <a:t>程序格式化工具　</a:t>
            </a:r>
          </a:p>
          <a:p>
            <a:pPr eaLnBrk="1" hangingPunct="1">
              <a:buFont typeface="Wingdings" pitchFamily="2" charset="2"/>
              <a:buNone/>
            </a:pPr>
            <a:r>
              <a:rPr lang="en-US" altLang="zh-CN" b="1" dirty="0" smtClean="0">
                <a:latin typeface="宋体" pitchFamily="2" charset="-122"/>
              </a:rPr>
              <a:t>4.</a:t>
            </a:r>
            <a:r>
              <a:rPr lang="zh-CN" altLang="en-US" b="1" dirty="0" smtClean="0">
                <a:latin typeface="宋体" pitchFamily="2" charset="-122"/>
              </a:rPr>
              <a:t>语言程序测试工具</a:t>
            </a:r>
          </a:p>
          <a:p>
            <a:pPr eaLnBrk="1" hangingPunct="1">
              <a:buFont typeface="Wingdings" pitchFamily="2" charset="2"/>
              <a:buNone/>
            </a:pPr>
            <a:r>
              <a:rPr lang="en-US" altLang="zh-CN" b="1" dirty="0" smtClean="0">
                <a:latin typeface="宋体" pitchFamily="2" charset="-122"/>
              </a:rPr>
              <a:t>5.</a:t>
            </a:r>
            <a:r>
              <a:rPr lang="zh-CN" altLang="en-US" b="1" dirty="0" smtClean="0">
                <a:latin typeface="宋体" pitchFamily="2" charset="-122"/>
              </a:rPr>
              <a:t>程序理解工具　</a:t>
            </a:r>
          </a:p>
          <a:p>
            <a:pPr eaLnBrk="1" hangingPunct="1">
              <a:buFont typeface="Wingdings" pitchFamily="2" charset="2"/>
              <a:buNone/>
            </a:pPr>
            <a:r>
              <a:rPr lang="en-US" altLang="zh-CN" b="1" dirty="0" smtClean="0">
                <a:latin typeface="宋体" pitchFamily="2" charset="-122"/>
              </a:rPr>
              <a:t>6.</a:t>
            </a:r>
            <a:r>
              <a:rPr lang="zh-CN" altLang="en-US" b="1" dirty="0" smtClean="0">
                <a:latin typeface="宋体" pitchFamily="2" charset="-122"/>
              </a:rPr>
              <a:t>高级语言之间的转换工具</a:t>
            </a:r>
            <a:endParaRPr lang="en-US" altLang="zh-CN" b="1" dirty="0" smtClean="0">
              <a:latin typeface="宋体"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a:xfrm>
            <a:off x="574675" y="500042"/>
            <a:ext cx="8001000" cy="603250"/>
          </a:xfrm>
        </p:spPr>
        <p:txBody>
          <a:bodyPr>
            <a:normAutofit fontScale="90000"/>
          </a:bodyPr>
          <a:lstStyle/>
          <a:p>
            <a:pPr eaLnBrk="1" hangingPunct="1"/>
            <a:r>
              <a:rPr lang="en-US" altLang="zh-CN" sz="3600" b="1" dirty="0" smtClean="0">
                <a:solidFill>
                  <a:schemeClr val="tx1"/>
                </a:solidFill>
                <a:latin typeface="宋体" pitchFamily="2" charset="-122"/>
              </a:rPr>
              <a:t>1.</a:t>
            </a:r>
            <a:r>
              <a:rPr lang="zh-CN" altLang="en-US" sz="3600" b="1" dirty="0" smtClean="0">
                <a:solidFill>
                  <a:schemeClr val="tx1"/>
                </a:solidFill>
                <a:latin typeface="宋体" pitchFamily="2" charset="-122"/>
              </a:rPr>
              <a:t>语言的结构化编辑器</a:t>
            </a:r>
          </a:p>
        </p:txBody>
      </p:sp>
      <p:sp>
        <p:nvSpPr>
          <p:cNvPr id="65538" name="日期占位符 3"/>
          <p:cNvSpPr>
            <a:spLocks noGrp="1"/>
          </p:cNvSpPr>
          <p:nvPr>
            <p:ph type="dt" sz="half" idx="10"/>
          </p:nvPr>
        </p:nvSpPr>
        <p:spPr>
          <a:noFill/>
        </p:spPr>
        <p:txBody>
          <a:bodyPr/>
          <a:lstStyle/>
          <a:p>
            <a:fld id="{8BED992E-E93C-453C-B2DD-B3DC7CE44806}" type="datetime1">
              <a:rPr lang="zh-CN" altLang="en-US" smtClean="0"/>
              <a:t>2017/1/22</a:t>
            </a:fld>
            <a:endParaRPr lang="en-US" altLang="zh-CN" smtClean="0"/>
          </a:p>
        </p:txBody>
      </p:sp>
      <p:sp>
        <p:nvSpPr>
          <p:cNvPr id="6553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5540" name="灯片编号占位符 5"/>
          <p:cNvSpPr>
            <a:spLocks noGrp="1"/>
          </p:cNvSpPr>
          <p:nvPr>
            <p:ph type="sldNum" sz="quarter" idx="12"/>
          </p:nvPr>
        </p:nvSpPr>
        <p:spPr>
          <a:noFill/>
        </p:spPr>
        <p:txBody>
          <a:bodyPr/>
          <a:lstStyle/>
          <a:p>
            <a:fld id="{147E4525-3BAB-4777-8075-0A9B82DF8BCB}" type="slidenum">
              <a:rPr lang="zh-CN" altLang="en-US" smtClean="0"/>
              <a:pPr/>
              <a:t>52</a:t>
            </a:fld>
            <a:r>
              <a:rPr lang="en-US" altLang="zh-CN" dirty="0" smtClean="0"/>
              <a:t>/57</a:t>
            </a:r>
            <a:endParaRPr lang="en-US" altLang="zh-CN" dirty="0" smtClean="0"/>
          </a:p>
        </p:txBody>
      </p:sp>
      <p:sp>
        <p:nvSpPr>
          <p:cNvPr id="65542" name="Rectangle 3"/>
          <p:cNvSpPr>
            <a:spLocks noGrp="1" noChangeArrowheads="1"/>
          </p:cNvSpPr>
          <p:nvPr>
            <p:ph sz="quarter" idx="1"/>
          </p:nvPr>
        </p:nvSpPr>
        <p:spPr>
          <a:xfrm>
            <a:off x="250825" y="1357299"/>
            <a:ext cx="8355013" cy="4808552"/>
          </a:xfrm>
        </p:spPr>
        <p:txBody>
          <a:bodyPr>
            <a:normAutofit fontScale="92500"/>
          </a:bodyPr>
          <a:lstStyle/>
          <a:p>
            <a:pPr eaLnBrk="1" hangingPunct="1">
              <a:lnSpc>
                <a:spcPct val="120000"/>
              </a:lnSpc>
              <a:buFont typeface="Wingdings" pitchFamily="2" charset="2"/>
              <a:buNone/>
            </a:pPr>
            <a:r>
              <a:rPr lang="zh-CN" altLang="en-US" b="1" dirty="0" smtClean="0">
                <a:latin typeface="宋体" pitchFamily="2" charset="-122"/>
              </a:rPr>
              <a:t>　    用户可使用该编辑器在语言的语法制导下编制出所需的源程序。结构化编辑器不仅具有通常的正文编辑器的正文编辑和修改功能，而且还能像编译程序那样对源程序正文进行分析。</a:t>
            </a:r>
            <a:endParaRPr lang="en-US" altLang="zh-CN" b="1" dirty="0" smtClean="0">
              <a:latin typeface="宋体" pitchFamily="2" charset="-122"/>
            </a:endParaRPr>
          </a:p>
          <a:p>
            <a:pPr eaLnBrk="1" hangingPunct="1">
              <a:lnSpc>
                <a:spcPct val="120000"/>
              </a:lnSpc>
              <a:buFont typeface="Wingdings" pitchFamily="2" charset="2"/>
              <a:buNone/>
            </a:pPr>
            <a:r>
              <a:rPr lang="zh-CN" altLang="en-US" b="1" dirty="0" smtClean="0">
                <a:latin typeface="宋体" pitchFamily="2" charset="-122"/>
              </a:rPr>
              <a:t>      结构化编辑不仅可保证编出的源程序无语法错误，并有统一的可读性好的程序格式，这无疑将会提高程序的开发效率和质量。</a:t>
            </a:r>
          </a:p>
          <a:p>
            <a:pPr eaLnBrk="1" hangingPunct="1">
              <a:lnSpc>
                <a:spcPct val="120000"/>
              </a:lnSpc>
              <a:buFont typeface="Wingdings" pitchFamily="2" charset="2"/>
              <a:buNone/>
            </a:pPr>
            <a:r>
              <a:rPr lang="zh-CN" altLang="en-US" b="1" dirty="0" smtClean="0">
                <a:latin typeface="宋体" pitchFamily="2" charset="-122"/>
              </a:rPr>
              <a:t>      商用产品很多如</a:t>
            </a:r>
            <a:r>
              <a:rPr lang="en-US" altLang="zh-CN" b="1" dirty="0" smtClean="0">
                <a:latin typeface="宋体" pitchFamily="2" charset="-122"/>
              </a:rPr>
              <a:t>Turbo-</a:t>
            </a:r>
            <a:r>
              <a:rPr lang="en-US" altLang="zh-CN" b="1" dirty="0" err="1" smtClean="0">
                <a:latin typeface="宋体" pitchFamily="2" charset="-122"/>
              </a:rPr>
              <a:t>Edit,Editplus</a:t>
            </a:r>
            <a:r>
              <a:rPr lang="zh-CN" altLang="en-US" b="1" dirty="0" smtClean="0">
                <a:latin typeface="宋体" pitchFamily="2" charset="-122"/>
              </a:rPr>
              <a:t>和</a:t>
            </a:r>
            <a:r>
              <a:rPr lang="en-US" altLang="zh-CN" b="1" dirty="0" err="1" smtClean="0">
                <a:latin typeface="宋体" pitchFamily="2" charset="-122"/>
              </a:rPr>
              <a:t>Ultraedit</a:t>
            </a:r>
            <a:r>
              <a:rPr lang="zh-CN" altLang="en-US" b="1" dirty="0" smtClean="0">
                <a:latin typeface="宋体" pitchFamily="2" charset="-122"/>
              </a:rPr>
              <a:t>等等</a:t>
            </a:r>
            <a:r>
              <a:rPr lang="en-US" altLang="zh-CN" b="1" dirty="0" smtClean="0">
                <a:latin typeface="宋体" pitchFamily="2" charset="-122"/>
              </a:rPr>
              <a:t>.</a:t>
            </a:r>
            <a:r>
              <a:rPr lang="zh-CN" altLang="en-US" b="1" dirty="0" smtClean="0">
                <a:latin typeface="宋体" pitchFamily="2" charset="-122"/>
              </a:rPr>
              <a:t>很多集成开发环境中里也都包含这种类似的工具</a:t>
            </a:r>
            <a:r>
              <a:rPr lang="en-US" altLang="zh-CN" b="1" dirty="0" smtClean="0">
                <a:latin typeface="宋体" pitchFamily="2" charset="-122"/>
              </a:rPr>
              <a:t>,</a:t>
            </a:r>
            <a:r>
              <a:rPr lang="zh-CN" altLang="en-US" b="1" dirty="0" smtClean="0">
                <a:latin typeface="宋体" pitchFamily="2" charset="-122"/>
              </a:rPr>
              <a:t>如</a:t>
            </a:r>
            <a:r>
              <a:rPr lang="en-US" altLang="zh-CN" b="1" dirty="0" err="1" smtClean="0">
                <a:latin typeface="宋体" pitchFamily="2" charset="-122"/>
              </a:rPr>
              <a:t>Jbuilder</a:t>
            </a:r>
            <a:r>
              <a:rPr lang="zh-CN" altLang="en-US" b="1" dirty="0" smtClean="0">
                <a:latin typeface="宋体" pitchFamily="2" charset="-122"/>
              </a:rPr>
              <a:t>中就有</a:t>
            </a:r>
            <a:r>
              <a:rPr lang="en-US" altLang="zh-CN" b="1" dirty="0" smtClean="0">
                <a:latin typeface="宋体" pitchFamily="2" charset="-122"/>
              </a:rPr>
              <a:t>JAVA</a:t>
            </a:r>
            <a:r>
              <a:rPr lang="zh-CN" altLang="en-US" b="1" dirty="0" smtClean="0">
                <a:latin typeface="宋体" pitchFamily="2" charset="-122"/>
              </a:rPr>
              <a:t>程序的结构化编辑器</a:t>
            </a:r>
            <a:r>
              <a:rPr lang="en-US" altLang="zh-CN" b="1" dirty="0" smtClean="0">
                <a:latin typeface="宋体" pitchFamily="2" charset="-122"/>
              </a:rPr>
              <a:t>.</a:t>
            </a:r>
            <a:endParaRPr lang="zh-CN" altLang="en-US" b="1" dirty="0" smtClean="0">
              <a:latin typeface="宋体"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a:xfrm>
            <a:off x="574675" y="285728"/>
            <a:ext cx="8001000" cy="892175"/>
          </a:xfrm>
        </p:spPr>
        <p:txBody>
          <a:bodyPr/>
          <a:lstStyle/>
          <a:p>
            <a:pPr eaLnBrk="1" hangingPunct="1"/>
            <a:r>
              <a:rPr lang="en-US" altLang="zh-CN" sz="3900" b="1" dirty="0" smtClean="0">
                <a:solidFill>
                  <a:schemeClr val="tx1"/>
                </a:solidFill>
                <a:latin typeface="宋体" pitchFamily="2" charset="-122"/>
              </a:rPr>
              <a:t>2.</a:t>
            </a:r>
            <a:r>
              <a:rPr lang="zh-CN" altLang="en-US" sz="3900" b="1" dirty="0" smtClean="0">
                <a:solidFill>
                  <a:schemeClr val="tx1"/>
                </a:solidFill>
                <a:latin typeface="宋体" pitchFamily="2" charset="-122"/>
              </a:rPr>
              <a:t>语言程序的调试工具</a:t>
            </a:r>
          </a:p>
        </p:txBody>
      </p:sp>
      <p:sp>
        <p:nvSpPr>
          <p:cNvPr id="66562" name="日期占位符 3"/>
          <p:cNvSpPr>
            <a:spLocks noGrp="1"/>
          </p:cNvSpPr>
          <p:nvPr>
            <p:ph type="dt" sz="half" idx="10"/>
          </p:nvPr>
        </p:nvSpPr>
        <p:spPr>
          <a:noFill/>
        </p:spPr>
        <p:txBody>
          <a:bodyPr/>
          <a:lstStyle/>
          <a:p>
            <a:fld id="{4D116F74-3635-46A4-A650-9CE63CA4DAFB}" type="datetime1">
              <a:rPr lang="zh-CN" altLang="en-US" smtClean="0"/>
              <a:t>2017/1/22</a:t>
            </a:fld>
            <a:endParaRPr lang="en-US" altLang="zh-CN" smtClean="0"/>
          </a:p>
        </p:txBody>
      </p:sp>
      <p:sp>
        <p:nvSpPr>
          <p:cNvPr id="66563"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6564" name="灯片编号占位符 5"/>
          <p:cNvSpPr>
            <a:spLocks noGrp="1"/>
          </p:cNvSpPr>
          <p:nvPr>
            <p:ph type="sldNum" sz="quarter" idx="12"/>
          </p:nvPr>
        </p:nvSpPr>
        <p:spPr>
          <a:noFill/>
        </p:spPr>
        <p:txBody>
          <a:bodyPr/>
          <a:lstStyle/>
          <a:p>
            <a:fld id="{F425217A-AD91-4E33-BA39-2561747851AF}" type="slidenum">
              <a:rPr lang="zh-CN" altLang="en-US" smtClean="0"/>
              <a:pPr/>
              <a:t>53</a:t>
            </a:fld>
            <a:r>
              <a:rPr lang="en-US" altLang="zh-CN" dirty="0" smtClean="0"/>
              <a:t>/57</a:t>
            </a:r>
            <a:endParaRPr lang="en-US" altLang="zh-CN" dirty="0" smtClean="0"/>
          </a:p>
        </p:txBody>
      </p:sp>
      <p:sp>
        <p:nvSpPr>
          <p:cNvPr id="66566" name="Rectangle 3"/>
          <p:cNvSpPr>
            <a:spLocks noGrp="1" noChangeArrowheads="1"/>
          </p:cNvSpPr>
          <p:nvPr>
            <p:ph sz="quarter" idx="1"/>
          </p:nvPr>
        </p:nvSpPr>
        <p:spPr>
          <a:xfrm>
            <a:off x="250825" y="1844799"/>
            <a:ext cx="8642350" cy="3600425"/>
          </a:xfrm>
        </p:spPr>
        <p:txBody>
          <a:bodyPr/>
          <a:lstStyle/>
          <a:p>
            <a:pPr indent="720000" eaLnBrk="1" hangingPunct="1">
              <a:lnSpc>
                <a:spcPct val="120000"/>
              </a:lnSpc>
              <a:spcBef>
                <a:spcPct val="0"/>
              </a:spcBef>
              <a:buFont typeface="Wingdings" pitchFamily="2" charset="2"/>
              <a:buNone/>
            </a:pPr>
            <a:r>
              <a:rPr lang="zh-CN" altLang="en-US" sz="2600" b="1" dirty="0" smtClean="0">
                <a:latin typeface="宋体" pitchFamily="2" charset="-122"/>
              </a:rPr>
              <a:t>辅助程序员了解的是程序执行的结果与编程人员的意图是否一致，程序的执行是否实现预计的算法和功能。这种对算法的错误或程序没能反映算法的功能等错误就需用调试器来协助解决。</a:t>
            </a:r>
          </a:p>
          <a:p>
            <a:pPr indent="720000" eaLnBrk="1" hangingPunct="1">
              <a:lnSpc>
                <a:spcPct val="120000"/>
              </a:lnSpc>
              <a:spcBef>
                <a:spcPct val="0"/>
              </a:spcBef>
              <a:buFont typeface="Wingdings" pitchFamily="2" charset="2"/>
              <a:buNone/>
            </a:pPr>
            <a:r>
              <a:rPr lang="zh-CN" altLang="en-US" sz="2600" b="1" dirty="0" smtClean="0">
                <a:latin typeface="宋体" pitchFamily="2" charset="-122"/>
              </a:rPr>
              <a:t>调试功能愈强，实现愈复杂，它涉及源程序的语法分析和语义处理技术。</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2"/>
          <p:cNvSpPr>
            <a:spLocks noGrp="1" noChangeArrowheads="1"/>
          </p:cNvSpPr>
          <p:nvPr>
            <p:ph type="title"/>
          </p:nvPr>
        </p:nvSpPr>
        <p:spPr>
          <a:xfrm>
            <a:off x="663575" y="304800"/>
            <a:ext cx="7912100" cy="403225"/>
          </a:xfrm>
        </p:spPr>
        <p:txBody>
          <a:bodyPr>
            <a:normAutofit fontScale="90000"/>
          </a:bodyPr>
          <a:lstStyle/>
          <a:p>
            <a:pPr eaLnBrk="1" hangingPunct="1"/>
            <a:endParaRPr lang="zh-CN" altLang="en-US" sz="3400" smtClean="0"/>
          </a:p>
        </p:txBody>
      </p:sp>
      <p:sp>
        <p:nvSpPr>
          <p:cNvPr id="67586" name="日期占位符 3"/>
          <p:cNvSpPr>
            <a:spLocks noGrp="1"/>
          </p:cNvSpPr>
          <p:nvPr>
            <p:ph type="dt" sz="half" idx="10"/>
          </p:nvPr>
        </p:nvSpPr>
        <p:spPr>
          <a:noFill/>
        </p:spPr>
        <p:txBody>
          <a:bodyPr/>
          <a:lstStyle/>
          <a:p>
            <a:fld id="{692856BA-F29F-415D-AB9B-8A997FB39DBA}" type="datetime1">
              <a:rPr lang="zh-CN" altLang="en-US" smtClean="0"/>
              <a:t>2017/1/22</a:t>
            </a:fld>
            <a:endParaRPr lang="en-US" altLang="zh-CN" smtClean="0"/>
          </a:p>
        </p:txBody>
      </p:sp>
      <p:sp>
        <p:nvSpPr>
          <p:cNvPr id="67587"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7588" name="灯片编号占位符 5"/>
          <p:cNvSpPr>
            <a:spLocks noGrp="1"/>
          </p:cNvSpPr>
          <p:nvPr>
            <p:ph type="sldNum" sz="quarter" idx="12"/>
          </p:nvPr>
        </p:nvSpPr>
        <p:spPr>
          <a:noFill/>
        </p:spPr>
        <p:txBody>
          <a:bodyPr/>
          <a:lstStyle/>
          <a:p>
            <a:fld id="{068BD346-7320-411C-9061-FD959527E79F}" type="slidenum">
              <a:rPr lang="zh-CN" altLang="en-US" smtClean="0"/>
              <a:pPr/>
              <a:t>54</a:t>
            </a:fld>
            <a:r>
              <a:rPr lang="en-US" altLang="zh-CN" dirty="0" smtClean="0"/>
              <a:t>/57</a:t>
            </a:r>
            <a:endParaRPr lang="en-US" altLang="zh-CN" dirty="0" smtClean="0"/>
          </a:p>
        </p:txBody>
      </p:sp>
      <p:sp>
        <p:nvSpPr>
          <p:cNvPr id="67590" name="Rectangle 3"/>
          <p:cNvSpPr>
            <a:spLocks noGrp="1" noChangeArrowheads="1"/>
          </p:cNvSpPr>
          <p:nvPr>
            <p:ph sz="quarter" idx="1"/>
          </p:nvPr>
        </p:nvSpPr>
        <p:spPr>
          <a:xfrm>
            <a:off x="285720" y="1285860"/>
            <a:ext cx="8642350" cy="4535489"/>
          </a:xfrm>
        </p:spPr>
        <p:txBody>
          <a:bodyPr/>
          <a:lstStyle/>
          <a:p>
            <a:pPr eaLnBrk="1" hangingPunct="1">
              <a:lnSpc>
                <a:spcPct val="80000"/>
              </a:lnSpc>
              <a:buFont typeface="Wingdings" pitchFamily="2" charset="2"/>
              <a:buNone/>
            </a:pPr>
            <a:r>
              <a:rPr lang="en-US" altLang="zh-CN" sz="2400" b="1" dirty="0" smtClean="0">
                <a:latin typeface="宋体" pitchFamily="2" charset="-122"/>
              </a:rPr>
              <a:t>3.</a:t>
            </a:r>
            <a:r>
              <a:rPr lang="zh-CN" altLang="en-US" sz="2400" b="1" dirty="0" smtClean="0">
                <a:solidFill>
                  <a:srgbClr val="3333FF"/>
                </a:solidFill>
                <a:latin typeface="宋体" pitchFamily="2" charset="-122"/>
              </a:rPr>
              <a:t>程序格式化工具</a:t>
            </a:r>
            <a:endParaRPr lang="en-US" altLang="zh-CN" sz="2400" b="1" dirty="0" smtClean="0">
              <a:solidFill>
                <a:srgbClr val="3333FF"/>
              </a:solidFill>
              <a:latin typeface="宋体" pitchFamily="2" charset="-122"/>
            </a:endParaRPr>
          </a:p>
          <a:p>
            <a:pPr eaLnBrk="1" hangingPunct="1">
              <a:lnSpc>
                <a:spcPct val="80000"/>
              </a:lnSpc>
              <a:buFont typeface="Wingdings" pitchFamily="2" charset="2"/>
              <a:buNone/>
            </a:pPr>
            <a:r>
              <a:rPr lang="en-US" altLang="zh-CN" sz="2400" dirty="0" smtClean="0">
                <a:solidFill>
                  <a:srgbClr val="3333FF"/>
                </a:solidFill>
                <a:latin typeface="宋体" pitchFamily="2" charset="-122"/>
              </a:rPr>
              <a:t>      </a:t>
            </a:r>
            <a:r>
              <a:rPr lang="zh-CN" altLang="en-US" sz="2400" b="1" dirty="0" smtClean="0">
                <a:latin typeface="宋体" pitchFamily="2" charset="-122"/>
              </a:rPr>
              <a:t>分析源程序并以使程序结构变得清晰可读的形式打印出来。例如，注释可以以一种专门的字形出现，且语句的嵌套层次结构可以用缩排方式（齿形结构）表示出来。</a:t>
            </a:r>
          </a:p>
          <a:p>
            <a:pPr eaLnBrk="1" hangingPunct="1">
              <a:lnSpc>
                <a:spcPct val="80000"/>
              </a:lnSpc>
              <a:buFont typeface="Wingdings" pitchFamily="2" charset="2"/>
              <a:buNone/>
            </a:pPr>
            <a:r>
              <a:rPr lang="en-US" altLang="zh-CN" sz="2400" b="1" dirty="0" smtClean="0">
                <a:latin typeface="宋体" pitchFamily="2" charset="-122"/>
              </a:rPr>
              <a:t>4.</a:t>
            </a:r>
            <a:r>
              <a:rPr lang="zh-CN" altLang="en-US" sz="2400" b="1" dirty="0" smtClean="0">
                <a:solidFill>
                  <a:srgbClr val="3333FF"/>
                </a:solidFill>
                <a:latin typeface="宋体" pitchFamily="2" charset="-122"/>
              </a:rPr>
              <a:t>语言程序测试工具</a:t>
            </a:r>
            <a:r>
              <a:rPr lang="zh-CN" altLang="en-US" sz="2400" b="1" dirty="0" smtClean="0">
                <a:latin typeface="宋体" pitchFamily="2" charset="-122"/>
              </a:rPr>
              <a:t> 包括两种：静态分析器和动态测试器。</a:t>
            </a:r>
          </a:p>
          <a:p>
            <a:pPr eaLnBrk="1" hangingPunct="1">
              <a:lnSpc>
                <a:spcPct val="80000"/>
              </a:lnSpc>
              <a:buFont typeface="Wingdings" pitchFamily="2" charset="2"/>
              <a:buNone/>
            </a:pPr>
            <a:r>
              <a:rPr lang="zh-CN" altLang="en-US" sz="2400" b="1" dirty="0" smtClean="0">
                <a:latin typeface="宋体" pitchFamily="2" charset="-122"/>
              </a:rPr>
              <a:t>      </a:t>
            </a:r>
            <a:r>
              <a:rPr lang="zh-CN" altLang="en-US" sz="2400" b="1" dirty="0" smtClean="0">
                <a:solidFill>
                  <a:srgbClr val="3333FF"/>
                </a:solidFill>
                <a:latin typeface="宋体" pitchFamily="2" charset="-122"/>
              </a:rPr>
              <a:t>静态分析器</a:t>
            </a:r>
            <a:r>
              <a:rPr lang="zh-CN" altLang="en-US" sz="2400" b="1" dirty="0" smtClean="0">
                <a:latin typeface="宋体" pitchFamily="2" charset="-122"/>
              </a:rPr>
              <a:t>是在不运行程序的情况下对源程序进行静态地分析，以发现程序中潜在的错误或异常</a:t>
            </a:r>
            <a:r>
              <a:rPr lang="en-US" altLang="zh-CN" sz="2400" b="1" dirty="0" smtClean="0">
                <a:latin typeface="宋体" pitchFamily="2" charset="-122"/>
              </a:rPr>
              <a:t>.</a:t>
            </a:r>
            <a:r>
              <a:rPr lang="zh-CN" altLang="en-US" sz="2400" b="1" dirty="0" smtClean="0">
                <a:latin typeface="宋体" pitchFamily="2" charset="-122"/>
              </a:rPr>
              <a:t>它对源程序进行语法分析并制定相应表格，检查变量定值与引用的关系。</a:t>
            </a:r>
          </a:p>
          <a:p>
            <a:pPr eaLnBrk="1" hangingPunct="1">
              <a:lnSpc>
                <a:spcPct val="80000"/>
              </a:lnSpc>
              <a:buFont typeface="Wingdings" pitchFamily="2" charset="2"/>
              <a:buNone/>
            </a:pPr>
            <a:r>
              <a:rPr lang="zh-CN" altLang="en-US" sz="2400" b="1" dirty="0" smtClean="0">
                <a:latin typeface="宋体" pitchFamily="2" charset="-122"/>
              </a:rPr>
              <a:t>      </a:t>
            </a:r>
            <a:r>
              <a:rPr lang="zh-CN" altLang="en-US" sz="2400" b="1" dirty="0" smtClean="0">
                <a:solidFill>
                  <a:srgbClr val="3333FF"/>
                </a:solidFill>
                <a:latin typeface="宋体" pitchFamily="2" charset="-122"/>
              </a:rPr>
              <a:t>动态测试工具</a:t>
            </a:r>
            <a:r>
              <a:rPr lang="zh-CN" altLang="en-US" sz="2400" b="1" dirty="0" smtClean="0">
                <a:latin typeface="宋体" pitchFamily="2" charset="-122"/>
              </a:rPr>
              <a:t>也是首先对源程序进行分析，在分析基础上将用于记录和显示程序执行轨迹的语句或函数插入到源程序的适当位置，并用测试用例记录和显示程序运行时的实际路径</a:t>
            </a:r>
            <a:r>
              <a:rPr lang="en-US" altLang="zh-CN" sz="2400" b="1" dirty="0" smtClean="0">
                <a:latin typeface="宋体" pitchFamily="2" charset="-122"/>
              </a:rPr>
              <a:t>,</a:t>
            </a:r>
            <a:r>
              <a:rPr lang="zh-CN" altLang="en-US" sz="2400" b="1" dirty="0" smtClean="0">
                <a:latin typeface="宋体" pitchFamily="2" charset="-122"/>
              </a:rPr>
              <a:t>将运行结果与期望的结果进行比较分析，帮助编程人员查找问题。</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p:nvPr>
        </p:nvSpPr>
        <p:spPr>
          <a:xfrm>
            <a:off x="683568" y="836712"/>
            <a:ext cx="8001000" cy="98425"/>
          </a:xfrm>
        </p:spPr>
        <p:txBody>
          <a:bodyPr>
            <a:normAutofit fontScale="90000"/>
          </a:bodyPr>
          <a:lstStyle/>
          <a:p>
            <a:pPr eaLnBrk="1" hangingPunct="1"/>
            <a:endParaRPr lang="zh-CN" altLang="en-US" sz="3400" dirty="0" smtClean="0"/>
          </a:p>
        </p:txBody>
      </p:sp>
      <p:sp>
        <p:nvSpPr>
          <p:cNvPr id="68610" name="日期占位符 3"/>
          <p:cNvSpPr>
            <a:spLocks noGrp="1"/>
          </p:cNvSpPr>
          <p:nvPr>
            <p:ph type="dt" sz="half" idx="10"/>
          </p:nvPr>
        </p:nvSpPr>
        <p:spPr>
          <a:noFill/>
        </p:spPr>
        <p:txBody>
          <a:bodyPr/>
          <a:lstStyle/>
          <a:p>
            <a:fld id="{07DAC6A1-45CA-47D0-8314-93CA8945EFFB}" type="datetime1">
              <a:rPr lang="zh-CN" altLang="en-US" smtClean="0"/>
              <a:t>2017/1/22</a:t>
            </a:fld>
            <a:endParaRPr lang="en-US" altLang="zh-CN" smtClean="0"/>
          </a:p>
        </p:txBody>
      </p:sp>
      <p:sp>
        <p:nvSpPr>
          <p:cNvPr id="68611"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68612" name="灯片编号占位符 5"/>
          <p:cNvSpPr>
            <a:spLocks noGrp="1"/>
          </p:cNvSpPr>
          <p:nvPr>
            <p:ph type="sldNum" sz="quarter" idx="12"/>
          </p:nvPr>
        </p:nvSpPr>
        <p:spPr>
          <a:noFill/>
        </p:spPr>
        <p:txBody>
          <a:bodyPr/>
          <a:lstStyle/>
          <a:p>
            <a:fld id="{7B8054B8-2387-4EA1-BBA8-C2D3A23EADF1}" type="slidenum">
              <a:rPr lang="zh-CN" altLang="en-US" smtClean="0"/>
              <a:pPr/>
              <a:t>55</a:t>
            </a:fld>
            <a:r>
              <a:rPr lang="en-US" altLang="zh-CN" dirty="0" smtClean="0"/>
              <a:t>/57</a:t>
            </a:r>
            <a:endParaRPr lang="en-US" altLang="zh-CN" dirty="0" smtClean="0"/>
          </a:p>
        </p:txBody>
      </p:sp>
      <p:sp>
        <p:nvSpPr>
          <p:cNvPr id="68614" name="Rectangle 3"/>
          <p:cNvSpPr>
            <a:spLocks noGrp="1" noChangeArrowheads="1"/>
          </p:cNvSpPr>
          <p:nvPr>
            <p:ph sz="quarter" idx="1"/>
          </p:nvPr>
        </p:nvSpPr>
        <p:spPr>
          <a:xfrm>
            <a:off x="414338" y="1357299"/>
            <a:ext cx="8405812" cy="4879990"/>
          </a:xfrm>
        </p:spPr>
        <p:txBody>
          <a:bodyPr/>
          <a:lstStyle/>
          <a:p>
            <a:pPr eaLnBrk="1" hangingPunct="1">
              <a:lnSpc>
                <a:spcPct val="80000"/>
              </a:lnSpc>
              <a:buFont typeface="Wingdings" pitchFamily="2" charset="2"/>
              <a:buNone/>
            </a:pPr>
            <a:r>
              <a:rPr lang="en-US" altLang="zh-CN" sz="2400" b="1" dirty="0" smtClean="0">
                <a:latin typeface="宋体" pitchFamily="2" charset="-122"/>
              </a:rPr>
              <a:t>5.</a:t>
            </a:r>
            <a:r>
              <a:rPr lang="zh-CN" altLang="en-US" sz="2400" b="1" dirty="0" smtClean="0">
                <a:solidFill>
                  <a:srgbClr val="3333FF"/>
                </a:solidFill>
                <a:latin typeface="宋体" pitchFamily="2" charset="-122"/>
              </a:rPr>
              <a:t>程序理解工具</a:t>
            </a:r>
            <a:r>
              <a:rPr lang="zh-CN" altLang="en-US" sz="2400" b="1" dirty="0" smtClean="0">
                <a:solidFill>
                  <a:schemeClr val="accent2"/>
                </a:solidFill>
                <a:latin typeface="宋体" pitchFamily="2" charset="-122"/>
              </a:rPr>
              <a:t>　</a:t>
            </a:r>
            <a:endParaRPr lang="en-US" altLang="zh-CN" sz="2400" b="1" dirty="0" smtClean="0">
              <a:solidFill>
                <a:schemeClr val="accent2"/>
              </a:solidFill>
              <a:latin typeface="宋体" pitchFamily="2" charset="-122"/>
            </a:endParaRPr>
          </a:p>
          <a:p>
            <a:pPr eaLnBrk="1" hangingPunct="1">
              <a:lnSpc>
                <a:spcPct val="80000"/>
              </a:lnSpc>
              <a:buFont typeface="Wingdings" pitchFamily="2" charset="2"/>
              <a:buNone/>
            </a:pPr>
            <a:r>
              <a:rPr lang="en-US" altLang="zh-CN" sz="2400" dirty="0" smtClean="0">
                <a:solidFill>
                  <a:schemeClr val="accent2"/>
                </a:solidFill>
                <a:latin typeface="宋体" pitchFamily="2" charset="-122"/>
              </a:rPr>
              <a:t>      </a:t>
            </a:r>
            <a:r>
              <a:rPr lang="zh-CN" altLang="en-US" sz="2400" b="1" dirty="0" smtClean="0">
                <a:latin typeface="宋体" pitchFamily="2" charset="-122"/>
              </a:rPr>
              <a:t>对程序进行分析，确定模块间的调用关系，记录程序数据的静态属性和结构属性，并画出控制流程图，帮助用户理解程序。</a:t>
            </a:r>
          </a:p>
          <a:p>
            <a:pPr eaLnBrk="1" hangingPunct="1">
              <a:lnSpc>
                <a:spcPct val="80000"/>
              </a:lnSpc>
              <a:buFont typeface="Wingdings" pitchFamily="2" charset="2"/>
              <a:buNone/>
            </a:pPr>
            <a:r>
              <a:rPr lang="en-US" altLang="zh-CN" sz="2400" b="1" dirty="0" smtClean="0">
                <a:latin typeface="宋体" pitchFamily="2" charset="-122"/>
              </a:rPr>
              <a:t>6. </a:t>
            </a:r>
            <a:r>
              <a:rPr lang="zh-CN" altLang="en-US" sz="2400" b="1" dirty="0" smtClean="0">
                <a:solidFill>
                  <a:srgbClr val="3333FF"/>
                </a:solidFill>
                <a:latin typeface="宋体" pitchFamily="2" charset="-122"/>
              </a:rPr>
              <a:t>高级语言之间的转换工具  </a:t>
            </a:r>
            <a:endParaRPr lang="en-US" altLang="zh-CN" sz="2400" b="1" dirty="0" smtClean="0">
              <a:solidFill>
                <a:srgbClr val="3333FF"/>
              </a:solidFill>
              <a:latin typeface="宋体" pitchFamily="2" charset="-122"/>
            </a:endParaRPr>
          </a:p>
          <a:p>
            <a:pPr eaLnBrk="1" hangingPunct="1">
              <a:lnSpc>
                <a:spcPct val="80000"/>
              </a:lnSpc>
              <a:buFont typeface="Wingdings" pitchFamily="2" charset="2"/>
              <a:buNone/>
            </a:pPr>
            <a:r>
              <a:rPr lang="en-US" altLang="zh-CN" sz="2400" dirty="0" smtClean="0">
                <a:solidFill>
                  <a:srgbClr val="3333FF"/>
                </a:solidFill>
                <a:latin typeface="宋体" pitchFamily="2" charset="-122"/>
              </a:rPr>
              <a:t>      </a:t>
            </a:r>
            <a:r>
              <a:rPr lang="zh-CN" altLang="en-US" sz="2400" b="1" dirty="0" smtClean="0">
                <a:latin typeface="宋体" pitchFamily="2" charset="-122"/>
              </a:rPr>
              <a:t>把一种高级语言转换成另一种高级语言，乃至汇编语言转换成高级语言的问题。这种转换工作要对被转换的语言进行词法和语法分析，只不过生成的目标语言是另一种高级语言而已。这与实现一个完整的编译程序相比工作量要少些。</a:t>
            </a:r>
          </a:p>
          <a:p>
            <a:pPr eaLnBrk="1" hangingPunct="1">
              <a:lnSpc>
                <a:spcPct val="80000"/>
              </a:lnSpc>
              <a:buFont typeface="Wingdings" pitchFamily="2" charset="2"/>
              <a:buNone/>
            </a:pPr>
            <a:r>
              <a:rPr lang="en-US" altLang="zh-CN" sz="2400" b="1" dirty="0" smtClean="0">
                <a:latin typeface="宋体" pitchFamily="2" charset="-122"/>
              </a:rPr>
              <a:t>   </a:t>
            </a:r>
            <a:r>
              <a:rPr lang="zh-CN" altLang="en-US" sz="2400" b="1" dirty="0" smtClean="0">
                <a:latin typeface="宋体" pitchFamily="2" charset="-122"/>
              </a:rPr>
              <a:t>比如：</a:t>
            </a:r>
            <a:r>
              <a:rPr lang="en-US" altLang="zh-CN" sz="2400" b="1" dirty="0" smtClean="0">
                <a:latin typeface="宋体" pitchFamily="2" charset="-122"/>
              </a:rPr>
              <a:t>C</a:t>
            </a:r>
            <a:r>
              <a:rPr lang="zh-CN" altLang="en-US" sz="2400" b="1" dirty="0" smtClean="0">
                <a:latin typeface="宋体" pitchFamily="2" charset="-122"/>
              </a:rPr>
              <a:t>，</a:t>
            </a:r>
            <a:r>
              <a:rPr lang="en-US" altLang="zh-CN" sz="2400" b="1" dirty="0" smtClean="0">
                <a:latin typeface="宋体" pitchFamily="2" charset="-122"/>
              </a:rPr>
              <a:t>PASCAL</a:t>
            </a:r>
            <a:r>
              <a:rPr lang="zh-CN" altLang="en-US" sz="2400" b="1" dirty="0" smtClean="0">
                <a:latin typeface="宋体" pitchFamily="2" charset="-122"/>
              </a:rPr>
              <a:t>，</a:t>
            </a:r>
            <a:r>
              <a:rPr lang="en-US" altLang="zh-CN" sz="2400" b="1" dirty="0" smtClean="0">
                <a:latin typeface="宋体" pitchFamily="2" charset="-122"/>
              </a:rPr>
              <a:t>FORTRAN</a:t>
            </a:r>
            <a:r>
              <a:rPr lang="zh-CN" altLang="en-US" sz="2400" b="1" dirty="0" smtClean="0">
                <a:latin typeface="宋体" pitchFamily="2" charset="-122"/>
              </a:rPr>
              <a:t>到</a:t>
            </a:r>
            <a:r>
              <a:rPr lang="en-US" altLang="zh-CN" sz="2400" b="1" dirty="0" err="1" smtClean="0">
                <a:latin typeface="宋体" pitchFamily="2" charset="-122"/>
              </a:rPr>
              <a:t>Ada</a:t>
            </a:r>
            <a:r>
              <a:rPr lang="zh-CN" altLang="en-US" sz="2400" b="1" dirty="0" smtClean="0">
                <a:latin typeface="宋体" pitchFamily="2" charset="-122"/>
              </a:rPr>
              <a:t>的翻译器</a:t>
            </a:r>
          </a:p>
          <a:p>
            <a:pPr eaLnBrk="1" hangingPunct="1">
              <a:lnSpc>
                <a:spcPct val="80000"/>
              </a:lnSpc>
              <a:buFont typeface="Wingdings" pitchFamily="2" charset="2"/>
              <a:buNone/>
            </a:pPr>
            <a:r>
              <a:rPr lang="zh-CN" altLang="en-US" sz="2400" b="1" dirty="0" smtClean="0">
                <a:latin typeface="宋体" pitchFamily="2" charset="-122"/>
              </a:rPr>
              <a:t>  </a:t>
            </a:r>
            <a:r>
              <a:rPr lang="en-US" altLang="zh-CN" sz="2400" b="1" dirty="0" smtClean="0">
                <a:latin typeface="宋体" pitchFamily="2" charset="-122"/>
              </a:rPr>
              <a:t>IBM 4700</a:t>
            </a:r>
            <a:r>
              <a:rPr lang="zh-CN" altLang="en-US" sz="2400" b="1" dirty="0" smtClean="0">
                <a:latin typeface="宋体" pitchFamily="2" charset="-122"/>
              </a:rPr>
              <a:t>汇编到</a:t>
            </a:r>
            <a:r>
              <a:rPr lang="en-US" altLang="zh-CN" sz="2400" b="1" dirty="0" smtClean="0">
                <a:latin typeface="宋体" pitchFamily="2" charset="-122"/>
              </a:rPr>
              <a:t>C</a:t>
            </a:r>
            <a:r>
              <a:rPr lang="zh-CN" altLang="en-US" sz="2400" b="1" dirty="0" smtClean="0">
                <a:latin typeface="宋体" pitchFamily="2" charset="-122"/>
              </a:rPr>
              <a:t>的转换器，</a:t>
            </a:r>
            <a:r>
              <a:rPr lang="en-US" altLang="zh-CN" sz="2400" b="1" dirty="0" smtClean="0">
                <a:latin typeface="宋体" pitchFamily="2" charset="-122"/>
              </a:rPr>
              <a:t>COBOL </a:t>
            </a:r>
            <a:r>
              <a:rPr lang="zh-CN" altLang="en-US" sz="2400" b="1" dirty="0" smtClean="0">
                <a:latin typeface="宋体" pitchFamily="2" charset="-122"/>
              </a:rPr>
              <a:t>到</a:t>
            </a:r>
            <a:r>
              <a:rPr lang="en-US" altLang="zh-CN" sz="2400" b="1" dirty="0" smtClean="0">
                <a:latin typeface="宋体" pitchFamily="2" charset="-122"/>
              </a:rPr>
              <a:t>Java </a:t>
            </a:r>
            <a:r>
              <a:rPr lang="zh-CN" altLang="en-US" sz="2400" b="1" dirty="0" smtClean="0">
                <a:latin typeface="宋体" pitchFamily="2" charset="-122"/>
              </a:rPr>
              <a:t>的编译器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日期占位符 2"/>
          <p:cNvSpPr>
            <a:spLocks noGrp="1"/>
          </p:cNvSpPr>
          <p:nvPr>
            <p:ph type="dt" sz="half" idx="10"/>
          </p:nvPr>
        </p:nvSpPr>
        <p:spPr/>
        <p:txBody>
          <a:bodyPr/>
          <a:lstStyle/>
          <a:p>
            <a:pPr>
              <a:defRPr/>
            </a:pPr>
            <a:fld id="{9984430F-B31C-4B5A-A9FB-CD8715D98A93}" type="datetime1">
              <a:rPr lang="zh-CN" altLang="en-US" smtClean="0"/>
              <a:t>2017/1/22</a:t>
            </a:fld>
            <a:endParaRPr lang="en-US" altLang="zh-CN"/>
          </a:p>
        </p:txBody>
      </p:sp>
      <p:sp>
        <p:nvSpPr>
          <p:cNvPr id="4" name="页脚占位符 3"/>
          <p:cNvSpPr>
            <a:spLocks noGrp="1"/>
          </p:cNvSpPr>
          <p:nvPr>
            <p:ph type="ftr" sz="quarter" idx="11"/>
          </p:nvPr>
        </p:nvSpPr>
        <p:spPr/>
        <p:txBody>
          <a:bodyPr/>
          <a:lstStyle/>
          <a:p>
            <a:pPr>
              <a:defRPr/>
            </a:pPr>
            <a:r>
              <a:rPr lang="zh-CN" altLang="en-US" smtClean="0"/>
              <a:t>第一章：引论</a:t>
            </a:r>
            <a:endParaRPr lang="en-US" altLang="zh-CN"/>
          </a:p>
        </p:txBody>
      </p:sp>
      <p:sp>
        <p:nvSpPr>
          <p:cNvPr id="5" name="灯片编号占位符 4"/>
          <p:cNvSpPr>
            <a:spLocks noGrp="1"/>
          </p:cNvSpPr>
          <p:nvPr>
            <p:ph type="sldNum" sz="quarter" idx="12"/>
          </p:nvPr>
        </p:nvSpPr>
        <p:spPr/>
        <p:txBody>
          <a:bodyPr/>
          <a:lstStyle/>
          <a:p>
            <a:pPr>
              <a:defRPr/>
            </a:pPr>
            <a:fld id="{A9037077-57B6-4C6B-9679-EE84D27848C8}" type="slidenum">
              <a:rPr lang="zh-CN" altLang="en-US" smtClean="0"/>
              <a:pPr>
                <a:defRPr/>
              </a:pPr>
              <a:t>56</a:t>
            </a:fld>
            <a:r>
              <a:rPr lang="en-US" altLang="zh-CN" dirty="0" smtClean="0"/>
              <a:t>/57</a:t>
            </a:r>
            <a:endParaRPr lang="en-US" altLang="zh-CN" dirty="0"/>
          </a:p>
        </p:txBody>
      </p:sp>
      <p:sp>
        <p:nvSpPr>
          <p:cNvPr id="6" name="内容占位符 5"/>
          <p:cNvSpPr>
            <a:spLocks noGrp="1"/>
          </p:cNvSpPr>
          <p:nvPr>
            <p:ph sz="quarter" idx="1"/>
          </p:nvPr>
        </p:nvSpPr>
        <p:spPr/>
        <p:txBody>
          <a:bodyPr>
            <a:normAutofit/>
          </a:bodyPr>
          <a:lstStyle/>
          <a:p>
            <a:pPr lvl="1"/>
            <a:r>
              <a:rPr lang="en-US" altLang="zh-CN" sz="2800" dirty="0" smtClean="0"/>
              <a:t>P18 </a:t>
            </a:r>
            <a:r>
              <a:rPr lang="zh-CN" altLang="en-US" sz="2800" dirty="0" smtClean="0"/>
              <a:t>课后</a:t>
            </a:r>
            <a:r>
              <a:rPr lang="zh-CN" altLang="en-US" sz="2800" dirty="0" smtClean="0"/>
              <a:t>练习</a:t>
            </a:r>
            <a:r>
              <a:rPr lang="en-US" altLang="zh-CN" sz="2800" dirty="0" smtClean="0"/>
              <a:t>2,3,4</a:t>
            </a:r>
            <a:r>
              <a:rPr lang="zh-CN" altLang="en-US" sz="2800" dirty="0" smtClean="0"/>
              <a:t>题</a:t>
            </a:r>
            <a:endParaRPr lang="zh-CN" altLang="en-US" sz="28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p:cNvSpPr>
            <a:spLocks noGrp="1"/>
          </p:cNvSpPr>
          <p:nvPr>
            <p:ph type="dt" sz="half" idx="10"/>
          </p:nvPr>
        </p:nvSpPr>
        <p:spPr>
          <a:noFill/>
        </p:spPr>
        <p:txBody>
          <a:bodyPr/>
          <a:lstStyle/>
          <a:p>
            <a:fld id="{AC9A2F66-F503-476C-A163-D29510E40608}" type="datetime1">
              <a:rPr lang="zh-CN" altLang="en-US" smtClean="0"/>
              <a:t>2017/1/22</a:t>
            </a:fld>
            <a:endParaRPr lang="en-US" altLang="zh-CN" smtClean="0"/>
          </a:p>
        </p:txBody>
      </p:sp>
      <p:sp>
        <p:nvSpPr>
          <p:cNvPr id="91139" name="页脚占位符 4"/>
          <p:cNvSpPr>
            <a:spLocks noGrp="1"/>
          </p:cNvSpPr>
          <p:nvPr>
            <p:ph type="ftr" sz="quarter" idx="11"/>
          </p:nvPr>
        </p:nvSpPr>
        <p:spPr>
          <a:noFill/>
        </p:spPr>
        <p:txBody>
          <a:bodyPr/>
          <a:lstStyle/>
          <a:p>
            <a:r>
              <a:rPr lang="zh-CN" altLang="en-US" smtClean="0"/>
              <a:t>第一章：引论</a:t>
            </a:r>
            <a:endParaRPr lang="en-US" altLang="zh-CN" smtClean="0"/>
          </a:p>
        </p:txBody>
      </p:sp>
      <p:sp>
        <p:nvSpPr>
          <p:cNvPr id="91140" name="灯片编号占位符 5"/>
          <p:cNvSpPr>
            <a:spLocks noGrp="1"/>
          </p:cNvSpPr>
          <p:nvPr>
            <p:ph type="sldNum" sz="quarter" idx="12"/>
          </p:nvPr>
        </p:nvSpPr>
        <p:spPr>
          <a:noFill/>
        </p:spPr>
        <p:txBody>
          <a:bodyPr/>
          <a:lstStyle/>
          <a:p>
            <a:fld id="{FA8DD082-CF1C-4548-AD7F-FFD894413875}" type="slidenum">
              <a:rPr lang="zh-CN" altLang="en-US" smtClean="0"/>
              <a:pPr/>
              <a:t>57</a:t>
            </a:fld>
            <a:r>
              <a:rPr lang="en-US" altLang="zh-CN" dirty="0" smtClean="0"/>
              <a:t>/57</a:t>
            </a:r>
            <a:endParaRPr lang="en-US" altLang="zh-CN" dirty="0" smtClean="0"/>
          </a:p>
        </p:txBody>
      </p:sp>
      <p:sp>
        <p:nvSpPr>
          <p:cNvPr id="91141" name="Rectangle 4"/>
          <p:cNvSpPr>
            <a:spLocks noChangeArrowheads="1"/>
          </p:cNvSpPr>
          <p:nvPr/>
        </p:nvSpPr>
        <p:spPr bwMode="auto">
          <a:xfrm>
            <a:off x="4456113" y="3879850"/>
            <a:ext cx="2819400" cy="701675"/>
          </a:xfrm>
          <a:prstGeom prst="rect">
            <a:avLst/>
          </a:prstGeom>
          <a:noFill/>
          <a:ln w="9525">
            <a:noFill/>
            <a:miter lim="800000"/>
            <a:headEnd/>
            <a:tailEnd/>
          </a:ln>
        </p:spPr>
        <p:txBody>
          <a:bodyPr>
            <a:spAutoFit/>
          </a:bodyPr>
          <a:lstStyle/>
          <a:p>
            <a:r>
              <a:rPr kumimoji="1" lang="en-US" altLang="zh-CN" sz="4000" b="1" i="1">
                <a:solidFill>
                  <a:schemeClr val="tx2"/>
                </a:solidFill>
                <a:latin typeface="Arial" pitchFamily="34" charset="0"/>
              </a:rPr>
              <a:t>Thank You</a:t>
            </a:r>
            <a:endParaRPr kumimoji="1" lang="en-US" altLang="zh-CN" sz="3200" b="1" i="1">
              <a:solidFill>
                <a:schemeClr val="tx2"/>
              </a:solidFill>
              <a:latin typeface="CMR10" charset="0"/>
            </a:endParaRPr>
          </a:p>
        </p:txBody>
      </p:sp>
      <p:sp>
        <p:nvSpPr>
          <p:cNvPr id="91142" name="Rectangle 5"/>
          <p:cNvSpPr>
            <a:spLocks noChangeArrowheads="1"/>
          </p:cNvSpPr>
          <p:nvPr/>
        </p:nvSpPr>
        <p:spPr bwMode="auto">
          <a:xfrm>
            <a:off x="2398713" y="2565400"/>
            <a:ext cx="5486400" cy="609600"/>
          </a:xfrm>
          <a:prstGeom prst="rect">
            <a:avLst/>
          </a:prstGeom>
          <a:noFill/>
          <a:ln w="9525">
            <a:noFill/>
            <a:miter lim="800000"/>
            <a:headEnd/>
            <a:tailEnd/>
          </a:ln>
        </p:spPr>
        <p:txBody>
          <a:bodyPr anchor="b"/>
          <a:lstStyle/>
          <a:p>
            <a:pPr>
              <a:lnSpc>
                <a:spcPct val="90000"/>
              </a:lnSpc>
            </a:pPr>
            <a:r>
              <a:rPr lang="en-US" altLang="zh-CN" sz="3200" b="1" i="1" dirty="0">
                <a:solidFill>
                  <a:schemeClr val="tx2"/>
                </a:solidFill>
                <a:latin typeface="Arial" pitchFamily="34" charset="0"/>
              </a:rPr>
              <a:t>The End of Ch.1. </a:t>
            </a:r>
            <a:r>
              <a:rPr kumimoji="1" lang="en-US" altLang="zh-CN" sz="3200" b="1" i="1" dirty="0">
                <a:solidFill>
                  <a:schemeClr val="tx2"/>
                </a:solidFill>
                <a:latin typeface="CMR10" charset="0"/>
              </a:rPr>
              <a:t> </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质朴">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6099</TotalTime>
  <Words>2840</Words>
  <Application>Microsoft Office PowerPoint</Application>
  <PresentationFormat>全屏显示(4:3)</PresentationFormat>
  <Paragraphs>568</Paragraphs>
  <Slides>57</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59" baseType="lpstr">
      <vt:lpstr>质朴</vt:lpstr>
      <vt:lpstr>Visio</vt:lpstr>
      <vt:lpstr>第一章 引论</vt:lpstr>
      <vt:lpstr>课程要求</vt:lpstr>
      <vt:lpstr>编译器的介绍</vt:lpstr>
      <vt:lpstr>编译器的介绍</vt:lpstr>
      <vt:lpstr>解释器的雏形</vt:lpstr>
      <vt:lpstr>FORTRAN 1</vt:lpstr>
      <vt:lpstr>FORTRAN 1 实现的思想</vt:lpstr>
      <vt:lpstr>《编译原理》课程信息</vt:lpstr>
      <vt:lpstr>课程简介</vt:lpstr>
      <vt:lpstr>为什么要学习编译原理</vt:lpstr>
      <vt:lpstr> 教材及主要参考书</vt:lpstr>
      <vt:lpstr>本章内容</vt:lpstr>
      <vt:lpstr>1.1什么是编译程序(compiler)</vt:lpstr>
      <vt:lpstr>什么是编译程序</vt:lpstr>
      <vt:lpstr>什么是编译程序</vt:lpstr>
      <vt:lpstr>幻灯片 16</vt:lpstr>
      <vt:lpstr>1.2 编译过程和编译程序的结构</vt:lpstr>
      <vt:lpstr>1.词法分析—第一步识别单词</vt:lpstr>
      <vt:lpstr>词法分析</vt:lpstr>
      <vt:lpstr>词法分析</vt:lpstr>
      <vt:lpstr>例</vt:lpstr>
      <vt:lpstr>词法分析 position  :=  initial  +  rate  *  60;</vt:lpstr>
      <vt:lpstr>    功能:在词法分析的基础上将单词序列分解成各类语法短语，如“程序”、“语句”、“表达式”等。采用层次分析，依据源程序的语法规则把源程序的单词序列组成语法短语(表示成语法树)。</vt:lpstr>
      <vt:lpstr>This line is a longer sentence</vt:lpstr>
      <vt:lpstr>分析程序成分</vt:lpstr>
      <vt:lpstr>语法分析</vt:lpstr>
      <vt:lpstr>幻灯片 27</vt:lpstr>
      <vt:lpstr>id1:=id2+id3*N </vt:lpstr>
      <vt:lpstr>3.语义分析</vt:lpstr>
      <vt:lpstr>语义分析(处理）</vt:lpstr>
      <vt:lpstr>4.中间代码（中间表示）生成(翻译）</vt:lpstr>
      <vt:lpstr>四元式的形式</vt:lpstr>
      <vt:lpstr>5.代码优化</vt:lpstr>
      <vt:lpstr>6.目标代码生成</vt:lpstr>
      <vt:lpstr>1.2.2编译程序结构</vt:lpstr>
      <vt:lpstr>幻灯片 36</vt:lpstr>
      <vt:lpstr>符号表</vt:lpstr>
      <vt:lpstr>出错处理(error handling ） </vt:lpstr>
      <vt:lpstr>1.2.3编译阶段的组合</vt:lpstr>
      <vt:lpstr>幻灯片 40</vt:lpstr>
      <vt:lpstr>1.3解释程序和一些软件工具</vt:lpstr>
      <vt:lpstr>编译程序和解释系统</vt:lpstr>
      <vt:lpstr>幻灯片 43</vt:lpstr>
      <vt:lpstr>编译程序和解释程序</vt:lpstr>
      <vt:lpstr>解释程序</vt:lpstr>
      <vt:lpstr>编译程序和解释程序比较</vt:lpstr>
      <vt:lpstr>高级语言解释系统</vt:lpstr>
      <vt:lpstr>编译程序和解释程序不同的存储组织</vt:lpstr>
      <vt:lpstr>  编译阶段和运行阶段存储结构                    </vt:lpstr>
      <vt:lpstr>解释系统存储结构</vt:lpstr>
      <vt:lpstr>1.3.2处理源程序的软件工具</vt:lpstr>
      <vt:lpstr>1.语言的结构化编辑器</vt:lpstr>
      <vt:lpstr>2.语言程序的调试工具</vt:lpstr>
      <vt:lpstr>幻灯片 54</vt:lpstr>
      <vt:lpstr>幻灯片 55</vt:lpstr>
      <vt:lpstr>作业</vt:lpstr>
      <vt:lpstr>幻灯片 57</vt:lpstr>
    </vt:vector>
  </TitlesOfParts>
  <Manager/>
  <Company>清华大学</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引论</dc:title>
  <dc:subject/>
  <dc:creator>王萍</dc:creator>
  <dc:description/>
  <cp:lastModifiedBy>江西理工大学</cp:lastModifiedBy>
  <cp:revision>347</cp:revision>
  <cp:lastPrinted>2001-06-01T01:01:31Z</cp:lastPrinted>
  <dcterms:created xsi:type="dcterms:W3CDTF">1999-09-07T12:40:30Z</dcterms:created>
  <dcterms:modified xsi:type="dcterms:W3CDTF">2017-01-22T08:02:28Z</dcterms:modified>
</cp:coreProperties>
</file>