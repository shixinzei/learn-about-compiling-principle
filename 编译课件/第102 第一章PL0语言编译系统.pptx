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Default Extension="doc" ContentType="application/msword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15"/>
  </p:notesMasterIdLst>
  <p:handoutMasterIdLst>
    <p:handoutMasterId r:id="rId16"/>
  </p:handoutMasterIdLst>
  <p:sldIdLst>
    <p:sldId id="548" r:id="rId2"/>
    <p:sldId id="333" r:id="rId3"/>
    <p:sldId id="361" r:id="rId4"/>
    <p:sldId id="407" r:id="rId5"/>
    <p:sldId id="408" r:id="rId6"/>
    <p:sldId id="386" r:id="rId7"/>
    <p:sldId id="553" r:id="rId8"/>
    <p:sldId id="388" r:id="rId9"/>
    <p:sldId id="540" r:id="rId10"/>
    <p:sldId id="541" r:id="rId11"/>
    <p:sldId id="543" r:id="rId12"/>
    <p:sldId id="542" r:id="rId13"/>
    <p:sldId id="552" r:id="rId14"/>
  </p:sldIdLst>
  <p:sldSz cx="9144000" cy="6858000" type="screen4x3"/>
  <p:notesSz cx="7315200" cy="96012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accent2"/>
      </a:buClr>
      <a:buFont typeface="Wingdings" pitchFamily="2" charset="2"/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Verdana" pitchFamily="34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0000CC"/>
    <a:srgbClr val="0033CC"/>
    <a:srgbClr val="FF0000"/>
    <a:srgbClr val="66CCFF"/>
    <a:srgbClr val="CC0000"/>
    <a:srgbClr val="993300"/>
    <a:srgbClr val="66FF33"/>
    <a:srgbClr val="33CC33"/>
    <a:srgbClr val="CCFF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8456" autoAdjust="0"/>
  </p:normalViewPr>
  <p:slideViewPr>
    <p:cSldViewPr>
      <p:cViewPr>
        <p:scale>
          <a:sx n="70" d="100"/>
          <a:sy n="70" d="100"/>
        </p:scale>
        <p:origin x="-1368" y="-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476"/>
    </p:cViewPr>
  </p:sorterViewPr>
  <p:notesViewPr>
    <p:cSldViewPr>
      <p:cViewPr>
        <p:scale>
          <a:sx n="66" d="100"/>
          <a:sy n="66" d="100"/>
        </p:scale>
        <p:origin x="-834" y="-72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FontTx/>
              <a:buNone/>
              <a:defRPr kumimoji="1"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FontTx/>
              <a:buNone/>
              <a:defRPr kumimoji="1"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FontTx/>
              <a:buNone/>
              <a:defRPr kumimoji="1"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FontTx/>
              <a:buNone/>
              <a:defRPr kumimoji="1"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4E50B18B-FE31-4FCF-88E0-74179AF7E8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FontTx/>
              <a:buNone/>
              <a:defRPr kumimoji="1"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FontTx/>
              <a:buNone/>
              <a:defRPr kumimoji="1"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53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单击以编辑母版文本样式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FontTx/>
              <a:buNone/>
              <a:defRPr kumimoji="1"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FontTx/>
              <a:buNone/>
              <a:defRPr kumimoji="1" sz="13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E3872FD8-D753-49B6-B507-48969D77A7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734FA3-CD79-4ADC-9244-2FB46EADF064}" type="slidenum">
              <a:rPr lang="en-US" altLang="zh-CN" smtClean="0">
                <a:ea typeface="宋体" charset="-122"/>
              </a:rPr>
              <a:pPr/>
              <a:t>2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410CCD-F3CF-4B56-9FF3-5BCEECED934B}" type="slidenum">
              <a:rPr lang="en-US" altLang="zh-CN" smtClean="0">
                <a:ea typeface="宋体" charset="-122"/>
              </a:rPr>
              <a:pPr/>
              <a:t>3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7E1D28-B439-4DB7-AEC7-1572E12ECBF7}" type="slidenum">
              <a:rPr lang="en-US" altLang="zh-CN" smtClean="0">
                <a:ea typeface="宋体" charset="-122"/>
              </a:rPr>
              <a:pPr/>
              <a:t>4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9C00CA-C5BD-4942-8E53-9114067ADDE7}" type="slidenum">
              <a:rPr lang="en-US" altLang="zh-CN" smtClean="0">
                <a:ea typeface="宋体" charset="-122"/>
              </a:rPr>
              <a:pPr/>
              <a:t>6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DBADD9-84B3-4F32-B074-3BEA7319C1BD}" type="slidenum">
              <a:rPr lang="en-US" altLang="zh-CN" smtClean="0">
                <a:ea typeface="宋体" charset="-122"/>
              </a:rPr>
              <a:pPr/>
              <a:t>8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A9E799-690D-4054-A1DE-762C4D5A06E2}" type="slidenum">
              <a:rPr lang="en-US" altLang="zh-CN" smtClean="0">
                <a:ea typeface="宋体" charset="-122"/>
              </a:rPr>
              <a:pPr/>
              <a:t>9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10B1D2-9DF9-4888-B18B-737202AE6BC7}" type="slidenum">
              <a:rPr lang="en-US" altLang="zh-CN" smtClean="0">
                <a:ea typeface="宋体" charset="-122"/>
              </a:rPr>
              <a:pPr/>
              <a:t>10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9675C-2497-458B-90FD-D05AE55F286C}" type="slidenum">
              <a:rPr lang="en-US" altLang="zh-CN" smtClean="0">
                <a:ea typeface="宋体" charset="-122"/>
              </a:rPr>
              <a:pPr/>
              <a:t>11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329E7B-BB50-4417-8B63-C2013163EEA3}" type="slidenum">
              <a:rPr lang="en-US" altLang="zh-CN" smtClean="0">
                <a:ea typeface="宋体" charset="-122"/>
              </a:rPr>
              <a:pPr/>
              <a:t>12</a:t>
            </a:fld>
            <a:endParaRPr lang="en-US" altLang="zh-CN" smtClean="0">
              <a:ea typeface="宋体" charset="-122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219200" y="2524117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19200" y="3762367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65C4BB33-5E33-48B1-ACF9-80541C066623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fld id="{529FBD40-0E43-4B5F-B96B-CB75BEF8680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904875" y="2285992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686167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2285992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14400" y="3686167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D5A9C4-85D4-4082-A31D-8A1043BD2685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17B484-26A2-41C4-94C2-D5175C11DC21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>
              <a:defRPr/>
            </a:pPr>
            <a:fld id="{07C8CE8B-8E00-4D83-AC9B-963132DBDDDA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pPr>
              <a:defRPr/>
            </a:pPr>
            <a:fld id="{10E95E75-A8C2-480C-9248-E69CBF74C4FE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79BC25-7D6A-471C-B8B3-9B645EEF5C7C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F06D35-52CB-48B1-B9B4-39FAA5E57EEB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FBEE52-F2E8-4B34-9EC3-6B14554945C3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0AE1CB-49EC-4707-8DB4-8BAA2C769785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0A92E0-9499-4973-A245-08FB918518B2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C28CEE-F210-4BCF-B234-9462D996FE16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320DB-7D23-4E0F-A88D-D6D041A1139E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BACAE-0365-4442-98CF-4BC417DC88F9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 smtClean="0"/>
              <a:t>第二级</a:t>
            </a:r>
          </a:p>
          <a:p>
            <a:pPr lvl="2" eaLnBrk="1" latinLnBrk="0" hangingPunct="1"/>
            <a:r>
              <a:rPr kumimoji="0" lang="zh-CN" altLang="en-US" dirty="0" smtClean="0"/>
              <a:t>第三级</a:t>
            </a:r>
          </a:p>
          <a:p>
            <a:pPr lvl="3" eaLnBrk="1" latinLnBrk="0" hangingPunct="1"/>
            <a:r>
              <a:rPr kumimoji="0" lang="zh-CN" altLang="en-US" dirty="0" smtClean="0"/>
              <a:t>第四级</a:t>
            </a:r>
          </a:p>
          <a:p>
            <a:pPr lvl="4" eaLnBrk="1" latinLnBrk="0" hangingPunct="1"/>
            <a:r>
              <a:rPr kumimoji="0" lang="zh-CN" altLang="en-US" dirty="0" smtClean="0"/>
              <a:t>第五级</a:t>
            </a:r>
            <a:endParaRPr kumimoji="0" 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214282" y="6356350"/>
            <a:ext cx="178595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24D6DB7-22CC-48BC-BF63-961814A3AB83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250029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020024" y="6356350"/>
            <a:ext cx="981132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326C75A-28B8-4EA5-879E-D7551C576EA8}" type="slidenum">
              <a:rPr lang="en-US" altLang="zh-CN" smtClean="0"/>
              <a:pPr>
                <a:defRPr/>
              </a:pPr>
              <a:t>‹#›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sp>
        <p:nvSpPr>
          <p:cNvPr id="28" name="直接连接符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接连接符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pic>
        <p:nvPicPr>
          <p:cNvPr id="11" name="Picture 9" descr="haohao_studio_03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43834" y="6356350"/>
            <a:ext cx="285750" cy="304800"/>
          </a:xfrm>
          <a:prstGeom prst="rect">
            <a:avLst/>
          </a:prstGeom>
          <a:noFill/>
          <a:ln w="9525">
            <a:solidFill>
              <a:srgbClr val="CCFFFF"/>
            </a:solidFill>
            <a:miter lim="800000"/>
            <a:headEnd/>
            <a:tailEnd/>
          </a:ln>
        </p:spPr>
      </p:pic>
      <p:sp>
        <p:nvSpPr>
          <p:cNvPr id="12" name="Text Box 10"/>
          <p:cNvSpPr txBox="1">
            <a:spLocks noChangeArrowheads="1"/>
          </p:cNvSpPr>
          <p:nvPr userDrawn="1"/>
        </p:nvSpPr>
        <p:spPr bwMode="auto">
          <a:xfrm>
            <a:off x="6072198" y="6356350"/>
            <a:ext cx="15176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kumimoji="1" lang="zh-CN" altLang="en-US" sz="1600" b="0" dirty="0">
                <a:latin typeface="Times New Roman" pitchFamily="18" charset="0"/>
                <a:ea typeface="华文行楷" pitchFamily="2" charset="-122"/>
              </a:rPr>
              <a:t>计算机教研室</a:t>
            </a:r>
          </a:p>
        </p:txBody>
      </p:sp>
      <p:sp>
        <p:nvSpPr>
          <p:cNvPr id="15" name="AutoShape 14" descr="Granite"/>
          <p:cNvSpPr>
            <a:spLocks noChangeArrowheads="1"/>
          </p:cNvSpPr>
          <p:nvPr userDrawn="1"/>
        </p:nvSpPr>
        <p:spPr bwMode="auto">
          <a:xfrm>
            <a:off x="428625" y="1143000"/>
            <a:ext cx="8286750" cy="71438"/>
          </a:xfrm>
          <a:prstGeom prst="roundRect">
            <a:avLst>
              <a:gd name="adj" fmla="val 16667"/>
            </a:avLst>
          </a:prstGeom>
          <a:blipFill dpi="0" rotWithShape="0">
            <a:blip r:embed="rId10" cstate="print"/>
            <a:srcRect/>
            <a:tile tx="0" ty="0" sx="100000" sy="100000" flip="none" algn="tl"/>
          </a:blip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8" r:id="rId5"/>
    <p:sldLayoutId id="2147483722" r:id="rId6"/>
    <p:sldLayoutId id="2147483723" r:id="rId7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" pitchFamily="2" charset="2"/>
        <a:buChar char="n"/>
        <a:defRPr kumimoji="0" sz="26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" pitchFamily="2" charset="2"/>
        <a:buChar char="n"/>
        <a:defRPr kumimoji="0" sz="2300" b="1" kern="1200">
          <a:solidFill>
            <a:schemeClr val="tx2"/>
          </a:solidFill>
          <a:latin typeface="+mj-ea"/>
          <a:ea typeface="+mj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" pitchFamily="2" charset="2"/>
        <a:buChar char="n"/>
        <a:defRPr kumimoji="0" sz="2000" b="1" kern="1200">
          <a:solidFill>
            <a:schemeClr val="tx1"/>
          </a:solidFill>
          <a:latin typeface="+mj-ea"/>
          <a:ea typeface="+mj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 pitchFamily="2" charset="2"/>
        <a:buChar char="n"/>
        <a:defRPr kumimoji="0" sz="1800" b="1" kern="1200">
          <a:solidFill>
            <a:schemeClr val="tx1"/>
          </a:solidFill>
          <a:latin typeface="+mj-ea"/>
          <a:ea typeface="+mj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 pitchFamily="2" charset="2"/>
        <a:buChar char="n"/>
        <a:defRPr kumimoji="0" sz="1600" b="1" kern="1200">
          <a:solidFill>
            <a:schemeClr val="tx1"/>
          </a:solidFill>
          <a:latin typeface="+mj-ea"/>
          <a:ea typeface="+mj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Microsoft_Office_Word_97_-_2003___1.doc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2976" y="2479687"/>
            <a:ext cx="6316679" cy="877875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dirty="0" smtClean="0">
                <a:latin typeface="宋体" charset="-122"/>
              </a:rPr>
              <a:t>第</a:t>
            </a:r>
            <a:r>
              <a:rPr lang="en-US" altLang="zh-CN" sz="3600" dirty="0" smtClean="0">
                <a:latin typeface="宋体" charset="-122"/>
              </a:rPr>
              <a:t>1</a:t>
            </a:r>
            <a:r>
              <a:rPr lang="zh-CN" altLang="en-US" sz="3600" dirty="0" smtClean="0">
                <a:latin typeface="宋体" charset="-122"/>
              </a:rPr>
              <a:t>章  </a:t>
            </a:r>
            <a:r>
              <a:rPr lang="en-US" altLang="zh-CN" sz="3600" dirty="0" smtClean="0">
                <a:latin typeface="宋体" charset="-122"/>
              </a:rPr>
              <a:t>1.4PL/0</a:t>
            </a:r>
            <a:r>
              <a:rPr lang="zh-CN" altLang="en-US" sz="3600" dirty="0" smtClean="0">
                <a:latin typeface="宋体" charset="-122"/>
              </a:rPr>
              <a:t>语言编译系统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14476" y="3786189"/>
            <a:ext cx="4843474" cy="57150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Font typeface="Wingdings" pitchFamily="2" charset="2"/>
              <a:buNone/>
            </a:pPr>
            <a:r>
              <a:rPr lang="zh-CN" altLang="en-US" sz="3600" dirty="0" smtClean="0">
                <a:ea typeface="隶书" pitchFamily="49" charset="-122"/>
              </a:rPr>
              <a:t>主讲：郑剑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400" dirty="0" smtClean="0">
                <a:latin typeface="宋体" charset="-122"/>
              </a:rPr>
              <a:t>1.4.1 PL/0</a:t>
            </a:r>
            <a:r>
              <a:rPr lang="zh-CN" altLang="en-US" sz="3400" dirty="0" smtClean="0">
                <a:latin typeface="宋体" charset="-122"/>
              </a:rPr>
              <a:t>语言描述</a:t>
            </a:r>
          </a:p>
        </p:txBody>
      </p:sp>
      <p:sp>
        <p:nvSpPr>
          <p:cNvPr id="14338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B38EAC0B-C7BC-4983-AF34-149363A96AFE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14339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143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97D376-FCBA-42EF-8E34-AF6AC5CF2154}" type="slidenum">
              <a:rPr lang="en-US" altLang="zh-CN" smtClean="0"/>
              <a:pPr/>
              <a:t>2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sp>
        <p:nvSpPr>
          <p:cNvPr id="14346" name="Rectangle 5"/>
          <p:cNvSpPr>
            <a:spLocks noChangeArrowheads="1"/>
          </p:cNvSpPr>
          <p:nvPr/>
        </p:nvSpPr>
        <p:spPr bwMode="auto">
          <a:xfrm>
            <a:off x="400050" y="1428736"/>
            <a:ext cx="874395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buFont typeface="Symbol" pitchFamily="18" charset="2"/>
              <a:buChar char="·"/>
            </a:pPr>
            <a:endParaRPr lang="zh-CN" altLang="zh-CN" sz="3000">
              <a:latin typeface="宋体" charset="-122"/>
            </a:endParaRPr>
          </a:p>
        </p:txBody>
      </p:sp>
      <p:sp>
        <p:nvSpPr>
          <p:cNvPr id="14347" name="Rectangle 6"/>
          <p:cNvSpPr>
            <a:spLocks noChangeArrowheads="1"/>
          </p:cNvSpPr>
          <p:nvPr/>
        </p:nvSpPr>
        <p:spPr bwMode="auto">
          <a:xfrm>
            <a:off x="3200400" y="1814506"/>
            <a:ext cx="2590800" cy="68580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1" lang="en-US" altLang="zh-CN" sz="3200">
                <a:latin typeface="宋体" charset="-122"/>
              </a:rPr>
              <a:t>PL/0</a:t>
            </a:r>
            <a:r>
              <a:rPr kumimoji="1" lang="zh-CN" altLang="en-US" sz="3200">
                <a:latin typeface="宋体" charset="-122"/>
              </a:rPr>
              <a:t>编译</a:t>
            </a:r>
            <a:r>
              <a:rPr kumimoji="1" lang="zh-CN" altLang="zh-CN" sz="3200">
                <a:latin typeface="宋体" charset="-122"/>
              </a:rPr>
              <a:t>程序</a:t>
            </a:r>
            <a:endParaRPr kumimoji="1" lang="zh-CN" altLang="en-US" sz="3200">
              <a:latin typeface="宋体" charset="-122"/>
            </a:endParaRPr>
          </a:p>
        </p:txBody>
      </p:sp>
      <p:sp>
        <p:nvSpPr>
          <p:cNvPr id="14348" name="Text Box 7"/>
          <p:cNvSpPr txBox="1">
            <a:spLocks noChangeArrowheads="1"/>
          </p:cNvSpPr>
          <p:nvPr/>
        </p:nvSpPr>
        <p:spPr bwMode="auto">
          <a:xfrm>
            <a:off x="107950" y="1827201"/>
            <a:ext cx="25193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dirty="0">
                <a:latin typeface="宋体" charset="-122"/>
              </a:rPr>
              <a:t>PL/0 </a:t>
            </a:r>
            <a:r>
              <a:rPr kumimoji="1" lang="zh-CN" altLang="zh-CN" sz="2800" dirty="0">
                <a:latin typeface="宋体" charset="-122"/>
              </a:rPr>
              <a:t>语言程序</a:t>
            </a:r>
            <a:endParaRPr kumimoji="1" lang="zh-CN" altLang="en-US" sz="2800" dirty="0">
              <a:latin typeface="宋体" charset="-122"/>
            </a:endParaRPr>
          </a:p>
        </p:txBody>
      </p:sp>
      <p:sp>
        <p:nvSpPr>
          <p:cNvPr id="14349" name="Text Box 8"/>
          <p:cNvSpPr txBox="1">
            <a:spLocks noChangeArrowheads="1"/>
          </p:cNvSpPr>
          <p:nvPr/>
        </p:nvSpPr>
        <p:spPr bwMode="auto">
          <a:xfrm>
            <a:off x="6443663" y="1785926"/>
            <a:ext cx="2520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2800">
                <a:latin typeface="宋体" charset="-122"/>
              </a:rPr>
              <a:t>类</a:t>
            </a:r>
            <a:r>
              <a:rPr kumimoji="1" lang="en-US" altLang="zh-CN" sz="2800">
                <a:latin typeface="宋体" charset="-122"/>
              </a:rPr>
              <a:t>p</a:t>
            </a:r>
            <a:r>
              <a:rPr kumimoji="1" lang="zh-CN" altLang="en-US" sz="2800">
                <a:latin typeface="宋体" charset="-122"/>
              </a:rPr>
              <a:t>－</a:t>
            </a:r>
            <a:r>
              <a:rPr kumimoji="1" lang="en-US" altLang="zh-CN" sz="2800">
                <a:latin typeface="宋体" charset="-122"/>
              </a:rPr>
              <a:t>code</a:t>
            </a:r>
            <a:r>
              <a:rPr kumimoji="1" lang="zh-CN" altLang="en-US" sz="2800">
                <a:latin typeface="宋体" charset="-122"/>
              </a:rPr>
              <a:t>代码</a:t>
            </a:r>
          </a:p>
        </p:txBody>
      </p:sp>
      <p:sp>
        <p:nvSpPr>
          <p:cNvPr id="14350" name="Line 9"/>
          <p:cNvSpPr>
            <a:spLocks noChangeShapeType="1"/>
          </p:cNvSpPr>
          <p:nvPr/>
        </p:nvSpPr>
        <p:spPr bwMode="auto">
          <a:xfrm>
            <a:off x="2627313" y="2116126"/>
            <a:ext cx="432519" cy="1673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1" name="Line 10"/>
          <p:cNvSpPr>
            <a:spLocks noChangeShapeType="1"/>
          </p:cNvSpPr>
          <p:nvPr/>
        </p:nvSpPr>
        <p:spPr bwMode="auto">
          <a:xfrm>
            <a:off x="5867400" y="2090726"/>
            <a:ext cx="576263" cy="2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2" name="Text Box 11"/>
          <p:cNvSpPr txBox="1">
            <a:spLocks noChangeArrowheads="1"/>
          </p:cNvSpPr>
          <p:nvPr/>
        </p:nvSpPr>
        <p:spPr bwMode="auto">
          <a:xfrm>
            <a:off x="179388" y="2908289"/>
            <a:ext cx="3962400" cy="19208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000">
                <a:latin typeface="宋体" charset="-122"/>
              </a:rPr>
              <a:t>源语言</a:t>
            </a:r>
            <a:r>
              <a:rPr kumimoji="1" lang="en-US" altLang="zh-CN" sz="3000">
                <a:latin typeface="宋体" charset="-122"/>
              </a:rPr>
              <a:t>(PL/0)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000">
                <a:latin typeface="宋体" charset="-122"/>
              </a:rPr>
              <a:t>目标语言</a:t>
            </a:r>
            <a:r>
              <a:rPr kumimoji="1" lang="en-US" altLang="zh-CN" sz="3000">
                <a:latin typeface="宋体" charset="-122"/>
              </a:rPr>
              <a:t>(</a:t>
            </a:r>
            <a:r>
              <a:rPr kumimoji="1" lang="zh-CN" altLang="en-US" sz="3000">
                <a:latin typeface="宋体" charset="-122"/>
              </a:rPr>
              <a:t>类 </a:t>
            </a:r>
            <a:r>
              <a:rPr kumimoji="1" lang="en-US" altLang="zh-CN" sz="3000">
                <a:latin typeface="宋体" charset="-122"/>
              </a:rPr>
              <a:t>p</a:t>
            </a:r>
            <a:r>
              <a:rPr kumimoji="1" lang="zh-CN" altLang="en-US" sz="3000">
                <a:latin typeface="宋体" charset="-122"/>
              </a:rPr>
              <a:t>－</a:t>
            </a:r>
            <a:r>
              <a:rPr kumimoji="1" lang="en-US" altLang="zh-CN" sz="3000">
                <a:latin typeface="宋体" charset="-122"/>
              </a:rPr>
              <a:t>code)</a:t>
            </a:r>
          </a:p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000">
                <a:latin typeface="宋体" charset="-122"/>
              </a:rPr>
              <a:t>实现语言（</a:t>
            </a:r>
            <a:r>
              <a:rPr kumimoji="1" lang="en-US" altLang="zh-CN" sz="3000">
                <a:latin typeface="宋体" charset="-122"/>
              </a:rPr>
              <a:t>pascal/C)</a:t>
            </a:r>
          </a:p>
        </p:txBody>
      </p:sp>
      <p:sp>
        <p:nvSpPr>
          <p:cNvPr id="14353" name="Line 12"/>
          <p:cNvSpPr>
            <a:spLocks noChangeShapeType="1"/>
          </p:cNvSpPr>
          <p:nvPr/>
        </p:nvSpPr>
        <p:spPr bwMode="auto">
          <a:xfrm>
            <a:off x="4267200" y="3157526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Line 13"/>
          <p:cNvSpPr>
            <a:spLocks noChangeShapeType="1"/>
          </p:cNvSpPr>
          <p:nvPr/>
        </p:nvSpPr>
        <p:spPr bwMode="auto">
          <a:xfrm>
            <a:off x="4267200" y="3157526"/>
            <a:ext cx="3760788" cy="38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5" name="Line 14"/>
          <p:cNvSpPr>
            <a:spLocks noChangeShapeType="1"/>
          </p:cNvSpPr>
          <p:nvPr/>
        </p:nvSpPr>
        <p:spPr bwMode="auto">
          <a:xfrm>
            <a:off x="8027988" y="3157526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6" name="Line 15"/>
          <p:cNvSpPr>
            <a:spLocks noChangeShapeType="1"/>
          </p:cNvSpPr>
          <p:nvPr/>
        </p:nvSpPr>
        <p:spPr bwMode="auto">
          <a:xfrm>
            <a:off x="5486400" y="3767126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7" name="Line 16"/>
          <p:cNvSpPr>
            <a:spLocks noChangeShapeType="1"/>
          </p:cNvSpPr>
          <p:nvPr/>
        </p:nvSpPr>
        <p:spPr bwMode="auto">
          <a:xfrm>
            <a:off x="5486400" y="4300526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8" name="Line 17"/>
          <p:cNvSpPr>
            <a:spLocks noChangeShapeType="1"/>
          </p:cNvSpPr>
          <p:nvPr/>
        </p:nvSpPr>
        <p:spPr bwMode="auto">
          <a:xfrm>
            <a:off x="6934200" y="3767126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9" name="Rectangle 18"/>
          <p:cNvSpPr>
            <a:spLocks noChangeArrowheads="1"/>
          </p:cNvSpPr>
          <p:nvPr/>
        </p:nvSpPr>
        <p:spPr bwMode="auto">
          <a:xfrm>
            <a:off x="4191000" y="3233726"/>
            <a:ext cx="1409700" cy="5191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>
                <a:latin typeface="宋体" charset="-122"/>
              </a:rPr>
              <a:t> PL/0</a:t>
            </a:r>
          </a:p>
        </p:txBody>
      </p:sp>
      <p:sp>
        <p:nvSpPr>
          <p:cNvPr id="14360" name="Rectangle 19"/>
          <p:cNvSpPr>
            <a:spLocks noChangeArrowheads="1"/>
          </p:cNvSpPr>
          <p:nvPr/>
        </p:nvSpPr>
        <p:spPr bwMode="auto">
          <a:xfrm>
            <a:off x="6300788" y="3181339"/>
            <a:ext cx="1800225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zh-CN" altLang="en-US" sz="2800">
                <a:latin typeface="宋体" charset="-122"/>
              </a:rPr>
              <a:t>类</a:t>
            </a:r>
            <a:r>
              <a:rPr kumimoji="1" lang="en-US" altLang="zh-CN" sz="2800">
                <a:latin typeface="宋体" charset="-122"/>
              </a:rPr>
              <a:t>p</a:t>
            </a:r>
            <a:r>
              <a:rPr kumimoji="1" lang="zh-CN" altLang="en-US" sz="2800">
                <a:latin typeface="宋体" charset="-122"/>
              </a:rPr>
              <a:t>－</a:t>
            </a:r>
            <a:r>
              <a:rPr kumimoji="1" lang="en-US" altLang="zh-CN" sz="2800">
                <a:latin typeface="宋体" charset="-122"/>
              </a:rPr>
              <a:t>code</a:t>
            </a:r>
          </a:p>
        </p:txBody>
      </p:sp>
      <p:sp>
        <p:nvSpPr>
          <p:cNvPr id="14361" name="Rectangle 20"/>
          <p:cNvSpPr>
            <a:spLocks noChangeArrowheads="1"/>
          </p:cNvSpPr>
          <p:nvPr/>
        </p:nvSpPr>
        <p:spPr bwMode="auto">
          <a:xfrm>
            <a:off x="5435600" y="4410064"/>
            <a:ext cx="2016125" cy="51911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1" lang="en-US" altLang="zh-CN" sz="2800">
                <a:latin typeface="宋体" charset="-122"/>
              </a:rPr>
              <a:t>pascal/C</a:t>
            </a:r>
          </a:p>
        </p:txBody>
      </p:sp>
      <p:sp>
        <p:nvSpPr>
          <p:cNvPr id="14362" name="Line 21"/>
          <p:cNvSpPr>
            <a:spLocks noChangeShapeType="1"/>
          </p:cNvSpPr>
          <p:nvPr/>
        </p:nvSpPr>
        <p:spPr bwMode="auto">
          <a:xfrm>
            <a:off x="4267200" y="3767126"/>
            <a:ext cx="1219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63" name="Rectangle 22"/>
          <p:cNvSpPr>
            <a:spLocks noChangeArrowheads="1"/>
          </p:cNvSpPr>
          <p:nvPr/>
        </p:nvSpPr>
        <p:spPr bwMode="auto">
          <a:xfrm>
            <a:off x="3810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3000">
                <a:latin typeface="宋体" charset="-122"/>
              </a:rPr>
              <a:t> </a:t>
            </a:r>
          </a:p>
        </p:txBody>
      </p:sp>
      <p:sp>
        <p:nvSpPr>
          <p:cNvPr id="14364" name="Line 23"/>
          <p:cNvSpPr>
            <a:spLocks noChangeShapeType="1"/>
          </p:cNvSpPr>
          <p:nvPr/>
        </p:nvSpPr>
        <p:spPr bwMode="auto">
          <a:xfrm>
            <a:off x="6934200" y="3767126"/>
            <a:ext cx="1093788" cy="4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026"/>
          <p:cNvSpPr txBox="1">
            <a:spLocks noChangeArrowheads="1"/>
          </p:cNvSpPr>
          <p:nvPr/>
        </p:nvSpPr>
        <p:spPr bwMode="auto">
          <a:xfrm>
            <a:off x="1066800" y="8382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endParaRPr kumimoji="1" lang="zh-CN" altLang="zh-CN" sz="2400">
              <a:latin typeface="宋体" charset="-122"/>
            </a:endParaRPr>
          </a:p>
        </p:txBody>
      </p:sp>
      <p:sp>
        <p:nvSpPr>
          <p:cNvPr id="15363" name="AutoShape 1027"/>
          <p:cNvSpPr>
            <a:spLocks noChangeArrowheads="1"/>
          </p:cNvSpPr>
          <p:nvPr/>
        </p:nvSpPr>
        <p:spPr bwMode="auto">
          <a:xfrm>
            <a:off x="3124200" y="2286000"/>
            <a:ext cx="2209800" cy="527050"/>
          </a:xfrm>
          <a:prstGeom prst="cube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latin typeface="宋体" charset="-122"/>
              </a:rPr>
              <a:t>PL/0</a:t>
            </a:r>
            <a:r>
              <a:rPr kumimoji="1" lang="zh-CN" altLang="en-US" sz="2400" dirty="0">
                <a:latin typeface="宋体" charset="-122"/>
              </a:rPr>
              <a:t>编译程序</a:t>
            </a:r>
            <a:endParaRPr kumimoji="1" lang="zh-CN" altLang="en-US" sz="1600" dirty="0">
              <a:latin typeface="宋体" charset="-122"/>
            </a:endParaRPr>
          </a:p>
        </p:txBody>
      </p:sp>
      <p:sp>
        <p:nvSpPr>
          <p:cNvPr id="15364" name="AutoShape 1028"/>
          <p:cNvSpPr>
            <a:spLocks noChangeArrowheads="1"/>
          </p:cNvSpPr>
          <p:nvPr/>
        </p:nvSpPr>
        <p:spPr bwMode="auto">
          <a:xfrm>
            <a:off x="2743200" y="5105400"/>
            <a:ext cx="3276600" cy="600075"/>
          </a:xfrm>
          <a:prstGeom prst="cube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kumimoji="1" lang="zh-CN" altLang="en-US" sz="2400">
                <a:latin typeface="宋体" charset="-122"/>
              </a:rPr>
              <a:t>类 </a:t>
            </a:r>
            <a:r>
              <a:rPr kumimoji="1" lang="en-US" altLang="zh-CN" sz="2400">
                <a:latin typeface="宋体" charset="-122"/>
              </a:rPr>
              <a:t>p</a:t>
            </a:r>
            <a:r>
              <a:rPr kumimoji="1" lang="zh-CN" altLang="en-US" sz="2400">
                <a:latin typeface="宋体" charset="-122"/>
              </a:rPr>
              <a:t>－</a:t>
            </a:r>
            <a:r>
              <a:rPr kumimoji="1" lang="en-US" altLang="zh-CN" sz="2400">
                <a:latin typeface="宋体" charset="-122"/>
              </a:rPr>
              <a:t>code</a:t>
            </a:r>
            <a:r>
              <a:rPr kumimoji="1" lang="zh-CN" altLang="en-US" sz="2400">
                <a:latin typeface="宋体" charset="-122"/>
              </a:rPr>
              <a:t>解释程序</a:t>
            </a:r>
            <a:endParaRPr kumimoji="1" lang="zh-CN" altLang="en-US" sz="1600">
              <a:latin typeface="宋体" charset="-122"/>
            </a:endParaRPr>
          </a:p>
        </p:txBody>
      </p:sp>
      <p:sp>
        <p:nvSpPr>
          <p:cNvPr id="15365" name="AutoShape 1029"/>
          <p:cNvSpPr>
            <a:spLocks noChangeArrowheads="1"/>
          </p:cNvSpPr>
          <p:nvPr/>
        </p:nvSpPr>
        <p:spPr bwMode="auto">
          <a:xfrm>
            <a:off x="3962400" y="2895600"/>
            <a:ext cx="381000" cy="858838"/>
          </a:xfrm>
          <a:prstGeom prst="downArrow">
            <a:avLst>
              <a:gd name="adj1" fmla="val 50000"/>
              <a:gd name="adj2" fmla="val 56354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/>
          <a:lstStyle/>
          <a:p>
            <a:endParaRPr lang="zh-CN" altLang="en-US"/>
          </a:p>
        </p:txBody>
      </p:sp>
      <p:sp>
        <p:nvSpPr>
          <p:cNvPr id="15366" name="AutoShape 1030"/>
          <p:cNvSpPr>
            <a:spLocks noChangeArrowheads="1"/>
          </p:cNvSpPr>
          <p:nvPr/>
        </p:nvSpPr>
        <p:spPr bwMode="auto">
          <a:xfrm>
            <a:off x="3962400" y="4267200"/>
            <a:ext cx="381000" cy="792163"/>
          </a:xfrm>
          <a:prstGeom prst="downArrow">
            <a:avLst>
              <a:gd name="adj1" fmla="val 50000"/>
              <a:gd name="adj2" fmla="val 51979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/>
          <a:lstStyle/>
          <a:p>
            <a:endParaRPr lang="zh-CN" altLang="en-US"/>
          </a:p>
        </p:txBody>
      </p:sp>
      <p:sp>
        <p:nvSpPr>
          <p:cNvPr id="15367" name="AutoShape 1031"/>
          <p:cNvSpPr>
            <a:spLocks noChangeArrowheads="1"/>
          </p:cNvSpPr>
          <p:nvPr/>
        </p:nvSpPr>
        <p:spPr bwMode="auto">
          <a:xfrm>
            <a:off x="3962400" y="1524000"/>
            <a:ext cx="381000" cy="727075"/>
          </a:xfrm>
          <a:prstGeom prst="downArrow">
            <a:avLst>
              <a:gd name="adj1" fmla="val 50000"/>
              <a:gd name="adj2" fmla="val 47708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/>
          <a:lstStyle/>
          <a:p>
            <a:endParaRPr lang="zh-CN" altLang="en-US"/>
          </a:p>
        </p:txBody>
      </p:sp>
      <p:sp>
        <p:nvSpPr>
          <p:cNvPr id="15368" name="Text Box 1032"/>
          <p:cNvSpPr txBox="1">
            <a:spLocks noChangeArrowheads="1"/>
          </p:cNvSpPr>
          <p:nvPr/>
        </p:nvSpPr>
        <p:spPr bwMode="auto">
          <a:xfrm>
            <a:off x="2843213" y="3716338"/>
            <a:ext cx="30241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zh-CN" altLang="zh-CN" sz="2800" dirty="0">
                <a:latin typeface="宋体" charset="-122"/>
              </a:rPr>
              <a:t>类 </a:t>
            </a:r>
            <a:r>
              <a:rPr kumimoji="1" lang="en-US" altLang="zh-CN" sz="2800" dirty="0">
                <a:latin typeface="宋体" charset="-122"/>
              </a:rPr>
              <a:t>p</a:t>
            </a:r>
            <a:r>
              <a:rPr kumimoji="1" lang="zh-CN" altLang="en-US" sz="2800" dirty="0">
                <a:latin typeface="宋体" charset="-122"/>
              </a:rPr>
              <a:t>－</a:t>
            </a:r>
            <a:r>
              <a:rPr kumimoji="1" lang="en-US" altLang="zh-CN" sz="2800" dirty="0">
                <a:latin typeface="宋体" charset="-122"/>
              </a:rPr>
              <a:t>code</a:t>
            </a:r>
            <a:r>
              <a:rPr kumimoji="1" lang="zh-CN" altLang="en-US" sz="2800" dirty="0">
                <a:latin typeface="宋体" charset="-122"/>
              </a:rPr>
              <a:t>代码</a:t>
            </a:r>
            <a:endParaRPr kumimoji="1" lang="zh-CN" altLang="en-US" sz="2400" dirty="0">
              <a:latin typeface="宋体" charset="-122"/>
            </a:endParaRPr>
          </a:p>
        </p:txBody>
      </p:sp>
      <p:sp>
        <p:nvSpPr>
          <p:cNvPr id="15369" name="Text Box 1033"/>
          <p:cNvSpPr txBox="1">
            <a:spLocks noChangeArrowheads="1"/>
          </p:cNvSpPr>
          <p:nvPr/>
        </p:nvSpPr>
        <p:spPr bwMode="auto">
          <a:xfrm>
            <a:off x="3200400" y="990600"/>
            <a:ext cx="2057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>
                <a:latin typeface="宋体" charset="-122"/>
              </a:rPr>
              <a:t>PL/0</a:t>
            </a:r>
            <a:r>
              <a:rPr kumimoji="1" lang="zh-CN" altLang="zh-CN" sz="2800">
                <a:latin typeface="宋体" charset="-122"/>
              </a:rPr>
              <a:t>源程序</a:t>
            </a:r>
            <a:endParaRPr kumimoji="1" lang="zh-CN" altLang="en-US" sz="2400">
              <a:latin typeface="宋体" charset="-122"/>
            </a:endParaRPr>
          </a:p>
        </p:txBody>
      </p:sp>
      <p:sp>
        <p:nvSpPr>
          <p:cNvPr id="15370" name="Line 1034"/>
          <p:cNvSpPr>
            <a:spLocks noChangeShapeType="1"/>
          </p:cNvSpPr>
          <p:nvPr/>
        </p:nvSpPr>
        <p:spPr bwMode="auto">
          <a:xfrm flipV="1">
            <a:off x="3048000" y="57150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5371" name="Line 1035"/>
          <p:cNvSpPr>
            <a:spLocks noChangeShapeType="1"/>
          </p:cNvSpPr>
          <p:nvPr/>
        </p:nvSpPr>
        <p:spPr bwMode="auto">
          <a:xfrm>
            <a:off x="4953000" y="57150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5372" name="Text Box 1036"/>
          <p:cNvSpPr txBox="1">
            <a:spLocks noChangeArrowheads="1"/>
          </p:cNvSpPr>
          <p:nvPr/>
        </p:nvSpPr>
        <p:spPr bwMode="auto">
          <a:xfrm>
            <a:off x="1828800" y="5943600"/>
            <a:ext cx="162446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Font typeface="Monotype Sorts" pitchFamily="2" charset="2"/>
              <a:buNone/>
            </a:pPr>
            <a:r>
              <a:rPr kumimoji="1" lang="zh-CN" altLang="en-US" sz="2800" dirty="0">
                <a:latin typeface="宋体" charset="-122"/>
              </a:rPr>
              <a:t>输入数据</a:t>
            </a:r>
          </a:p>
        </p:txBody>
      </p:sp>
      <p:sp>
        <p:nvSpPr>
          <p:cNvPr id="15373" name="Text Box 1037"/>
          <p:cNvSpPr txBox="1">
            <a:spLocks noChangeArrowheads="1"/>
          </p:cNvSpPr>
          <p:nvPr/>
        </p:nvSpPr>
        <p:spPr bwMode="auto">
          <a:xfrm>
            <a:off x="5486400" y="5943600"/>
            <a:ext cx="1624460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Font typeface="Monotype Sorts" pitchFamily="2" charset="2"/>
              <a:buNone/>
            </a:pPr>
            <a:r>
              <a:rPr kumimoji="1" lang="zh-CN" altLang="en-US" sz="2800" dirty="0">
                <a:latin typeface="宋体" charset="-122"/>
              </a:rPr>
              <a:t>输出数据</a:t>
            </a:r>
          </a:p>
        </p:txBody>
      </p:sp>
      <p:sp>
        <p:nvSpPr>
          <p:cNvPr id="15374" name="Text Box 1038"/>
          <p:cNvSpPr txBox="1">
            <a:spLocks noChangeArrowheads="1"/>
          </p:cNvSpPr>
          <p:nvPr/>
        </p:nvSpPr>
        <p:spPr bwMode="auto">
          <a:xfrm>
            <a:off x="2743200" y="304800"/>
            <a:ext cx="2660000" cy="463846"/>
          </a:xfrm>
          <a:prstGeom prst="rect">
            <a:avLst/>
          </a:prstGeom>
          <a:solidFill>
            <a:srgbClr val="66FF33"/>
          </a:solidFill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Font typeface="Monotype Sorts" pitchFamily="2" charset="2"/>
              <a:buNone/>
            </a:pPr>
            <a:r>
              <a:rPr kumimoji="1" lang="en-US" altLang="zh-CN" sz="2400" dirty="0" smtClean="0">
                <a:latin typeface="宋体" charset="-122"/>
              </a:rPr>
              <a:t>PL/0</a:t>
            </a:r>
            <a:r>
              <a:rPr kumimoji="1" lang="zh-CN" altLang="en-US" sz="2400" dirty="0" smtClean="0">
                <a:latin typeface="宋体" charset="-122"/>
              </a:rPr>
              <a:t>语言编译系统</a:t>
            </a:r>
            <a:endParaRPr kumimoji="1" lang="zh-CN" altLang="en-US" sz="2400" dirty="0">
              <a:latin typeface="宋体" charset="-122"/>
            </a:endParaRPr>
          </a:p>
        </p:txBody>
      </p:sp>
      <p:sp>
        <p:nvSpPr>
          <p:cNvPr id="15" name="日期占位符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506B02-5140-4ACA-956F-7A929C8D40E5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0AE1CB-49EC-4707-8DB4-8BAA2C769785}" type="slidenum">
              <a:rPr lang="en-US" altLang="zh-CN" smtClean="0"/>
              <a:pPr>
                <a:defRPr/>
              </a:pPr>
              <a:t>3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72" y="285728"/>
            <a:ext cx="7315200" cy="8382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latin typeface="宋体" charset="-122"/>
              </a:rPr>
              <a:t>1.4.2 PL/0</a:t>
            </a:r>
            <a:r>
              <a:rPr lang="zh-CN" altLang="en-US" dirty="0" smtClean="0">
                <a:latin typeface="宋体" charset="-122"/>
              </a:rPr>
              <a:t>语言</a:t>
            </a:r>
          </a:p>
        </p:txBody>
      </p:sp>
      <p:sp>
        <p:nvSpPr>
          <p:cNvPr id="16386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2CCE5A44-B594-43FD-8E41-83B145586C2F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163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9340D2-2736-46B8-B124-8F227ED81120}" type="slidenum">
              <a:rPr lang="en-US" altLang="zh-CN" smtClean="0"/>
              <a:pPr/>
              <a:t>4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sp>
        <p:nvSpPr>
          <p:cNvPr id="1639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885950"/>
            <a:ext cx="8178800" cy="3471876"/>
          </a:xfrm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dirty="0" smtClean="0">
                <a:latin typeface="宋体" charset="-122"/>
              </a:rPr>
              <a:t> PL/0</a:t>
            </a:r>
            <a:r>
              <a:rPr lang="zh-CN" altLang="en-US" dirty="0" smtClean="0">
                <a:latin typeface="宋体" charset="-122"/>
              </a:rPr>
              <a:t>语言：</a:t>
            </a:r>
            <a:r>
              <a:rPr lang="en-US" altLang="zh-CN" dirty="0" smtClean="0">
                <a:latin typeface="宋体" charset="-122"/>
              </a:rPr>
              <a:t>PASCAL</a:t>
            </a:r>
            <a:r>
              <a:rPr lang="zh-CN" altLang="en-US" dirty="0" smtClean="0">
                <a:latin typeface="宋体" charset="-122"/>
              </a:rPr>
              <a:t>语言的子集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dirty="0" smtClean="0">
                <a:latin typeface="宋体" charset="-122"/>
              </a:rPr>
              <a:t> </a:t>
            </a:r>
            <a:r>
              <a:rPr lang="en-US" altLang="zh-CN" dirty="0" smtClean="0">
                <a:latin typeface="宋体" charset="-122"/>
              </a:rPr>
              <a:t>PL/0</a:t>
            </a:r>
            <a:r>
              <a:rPr lang="zh-CN" altLang="en-US" dirty="0" smtClean="0">
                <a:latin typeface="宋体" charset="-122"/>
              </a:rPr>
              <a:t>程序示例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 smtClean="0">
                <a:latin typeface="宋体" charset="-122"/>
              </a:rPr>
              <a:t> </a:t>
            </a:r>
            <a:r>
              <a:rPr lang="en-US" altLang="zh-CN" dirty="0" smtClean="0">
                <a:latin typeface="宋体" charset="-122"/>
              </a:rPr>
              <a:t>PL/0</a:t>
            </a:r>
            <a:r>
              <a:rPr lang="zh-CN" altLang="en-US" dirty="0" smtClean="0">
                <a:latin typeface="宋体" charset="-122"/>
              </a:rPr>
              <a:t>的语法描述图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 smtClean="0">
                <a:latin typeface="宋体" charset="-122"/>
              </a:rPr>
              <a:t> </a:t>
            </a:r>
            <a:r>
              <a:rPr lang="en-US" altLang="zh-CN" dirty="0" smtClean="0">
                <a:latin typeface="宋体" charset="-122"/>
              </a:rPr>
              <a:t>PL/0</a:t>
            </a:r>
            <a:r>
              <a:rPr lang="zh-CN" altLang="en-US" dirty="0" smtClean="0">
                <a:latin typeface="宋体" charset="-122"/>
              </a:rPr>
              <a:t>语言的</a:t>
            </a:r>
            <a:r>
              <a:rPr lang="en-US" altLang="zh-CN" dirty="0" smtClean="0">
                <a:latin typeface="宋体" charset="-122"/>
              </a:rPr>
              <a:t>EBNF</a:t>
            </a:r>
            <a:r>
              <a:rPr lang="zh-CN" altLang="en-US" dirty="0" smtClean="0">
                <a:latin typeface="宋体" charset="-122"/>
              </a:rPr>
              <a:t>表示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 smtClean="0">
              <a:latin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00034" y="327009"/>
            <a:ext cx="7772400" cy="815975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宋体" charset="-122"/>
              </a:rPr>
              <a:t>1. PL/0</a:t>
            </a:r>
            <a:r>
              <a:rPr lang="zh-CN" altLang="en-US" sz="3200" dirty="0" smtClean="0">
                <a:latin typeface="宋体" charset="-122"/>
              </a:rPr>
              <a:t>程序示例</a:t>
            </a:r>
          </a:p>
        </p:txBody>
      </p:sp>
      <p:sp>
        <p:nvSpPr>
          <p:cNvPr id="17410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837C2C1B-1143-4A93-AB74-992F28A5B496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17411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174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8E67C1-5B53-45F2-89D7-EBE37E491533}" type="slidenum">
              <a:rPr lang="en-US" altLang="zh-CN" smtClean="0"/>
              <a:pPr/>
              <a:t>5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sp>
        <p:nvSpPr>
          <p:cNvPr id="17416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304800" y="1285860"/>
            <a:ext cx="7196158" cy="507209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spcBef>
                <a:spcPts val="400"/>
              </a:spcBef>
              <a:buFont typeface="Wingdings" pitchFamily="2" charset="2"/>
              <a:buNone/>
            </a:pPr>
            <a:r>
              <a:rPr lang="en-US" altLang="zh-CN" sz="1900" dirty="0" smtClean="0">
                <a:latin typeface="宋体" charset="-122"/>
              </a:rPr>
              <a:t>     CONST A=10; </a:t>
            </a:r>
            <a:r>
              <a:rPr lang="zh-CN" altLang="en-US" sz="1900" dirty="0" smtClean="0">
                <a:solidFill>
                  <a:schemeClr val="tx2"/>
                </a:solidFill>
                <a:latin typeface="宋体" charset="-122"/>
              </a:rPr>
              <a:t>（* </a:t>
            </a:r>
            <a:r>
              <a:rPr lang="zh-CN" altLang="en-US" sz="1900" dirty="0" smtClean="0">
                <a:latin typeface="宋体" charset="-122"/>
              </a:rPr>
              <a:t>常量说明部分 *） </a:t>
            </a:r>
            <a:br>
              <a:rPr lang="zh-CN" altLang="en-US" sz="1900" dirty="0" smtClean="0">
                <a:latin typeface="宋体" charset="-122"/>
              </a:rPr>
            </a:br>
            <a:r>
              <a:rPr lang="zh-CN" altLang="en-US" sz="1900" dirty="0" smtClean="0">
                <a:latin typeface="宋体" charset="-122"/>
              </a:rPr>
              <a:t>   </a:t>
            </a:r>
            <a:r>
              <a:rPr lang="en-US" altLang="zh-CN" sz="1900" dirty="0" smtClean="0">
                <a:latin typeface="宋体" charset="-122"/>
              </a:rPr>
              <a:t>VAR   B,C;  </a:t>
            </a:r>
            <a:r>
              <a:rPr lang="zh-CN" altLang="en-US" sz="1900" dirty="0" smtClean="0">
                <a:solidFill>
                  <a:schemeClr val="tx2"/>
                </a:solidFill>
                <a:latin typeface="宋体" charset="-122"/>
              </a:rPr>
              <a:t>（* 变量</a:t>
            </a:r>
            <a:r>
              <a:rPr lang="zh-CN" altLang="en-US" sz="1900" dirty="0" smtClean="0">
                <a:latin typeface="宋体" charset="-122"/>
              </a:rPr>
              <a:t>说明部分 *）</a:t>
            </a:r>
            <a:endParaRPr lang="zh-CN" altLang="en-US" sz="1900" dirty="0" smtClean="0">
              <a:solidFill>
                <a:schemeClr val="tx2"/>
              </a:solidFill>
              <a:latin typeface="宋体" charset="-122"/>
            </a:endParaRPr>
          </a:p>
          <a:p>
            <a:pPr eaLnBrk="1" hangingPunct="1">
              <a:spcBef>
                <a:spcPts val="400"/>
              </a:spcBef>
              <a:buFont typeface="Wingdings" pitchFamily="2" charset="2"/>
              <a:buNone/>
            </a:pPr>
            <a:r>
              <a:rPr lang="zh-CN" altLang="en-US" sz="1900" dirty="0" smtClean="0">
                <a:latin typeface="宋体" charset="-122"/>
              </a:rPr>
              <a:t>      </a:t>
            </a:r>
            <a:r>
              <a:rPr lang="en-US" altLang="zh-CN" sz="1900" dirty="0" smtClean="0">
                <a:latin typeface="宋体" charset="-122"/>
              </a:rPr>
              <a:t>PROCEDURE </a:t>
            </a:r>
            <a: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  <a:t>P;   </a:t>
            </a:r>
            <a:r>
              <a:rPr lang="zh-CN" altLang="en-US" sz="1900" dirty="0" smtClean="0">
                <a:solidFill>
                  <a:schemeClr val="tx2"/>
                </a:solidFill>
                <a:latin typeface="宋体" charset="-122"/>
              </a:rPr>
              <a:t>（* 过程</a:t>
            </a:r>
            <a:r>
              <a:rPr lang="zh-CN" altLang="en-US" sz="1900" dirty="0" smtClean="0">
                <a:latin typeface="宋体" charset="-122"/>
              </a:rPr>
              <a:t>说明部分 *）</a:t>
            </a:r>
          </a:p>
          <a:p>
            <a:pPr eaLnBrk="1" hangingPunct="1">
              <a:spcBef>
                <a:spcPts val="400"/>
              </a:spcBef>
              <a:buFont typeface="Wingdings" pitchFamily="2" charset="2"/>
              <a:buNone/>
            </a:pPr>
            <a:r>
              <a:rPr lang="zh-CN" altLang="en-US" sz="1900" dirty="0" smtClean="0">
                <a:latin typeface="宋体" charset="-122"/>
              </a:rPr>
              <a:t>        </a:t>
            </a:r>
            <a:r>
              <a:rPr lang="en-US" altLang="zh-CN" sz="1900" dirty="0" smtClean="0">
                <a:latin typeface="宋体" charset="-122"/>
              </a:rPr>
              <a:t>VAR D;</a:t>
            </a:r>
            <a:r>
              <a:rPr lang="zh-CN" altLang="en-US" sz="1900" dirty="0" smtClean="0">
                <a:latin typeface="宋体" charset="-122"/>
              </a:rPr>
              <a:t>（</a:t>
            </a:r>
            <a:r>
              <a:rPr lang="zh-CN" altLang="en-US" sz="1900" dirty="0" smtClean="0">
                <a:solidFill>
                  <a:schemeClr val="tx2"/>
                </a:solidFill>
                <a:latin typeface="宋体" charset="-122"/>
              </a:rPr>
              <a:t>* </a:t>
            </a:r>
            <a:r>
              <a:rPr lang="en-US" altLang="zh-CN" sz="1900" dirty="0" smtClean="0">
                <a:solidFill>
                  <a:schemeClr val="tx2"/>
                </a:solidFill>
                <a:latin typeface="宋体" charset="-122"/>
              </a:rPr>
              <a:t>P</a:t>
            </a:r>
            <a:r>
              <a:rPr lang="zh-CN" altLang="en-US" sz="1900" dirty="0" smtClean="0">
                <a:solidFill>
                  <a:schemeClr val="tx2"/>
                </a:solidFill>
                <a:latin typeface="宋体" charset="-122"/>
              </a:rPr>
              <a:t>的局部变量</a:t>
            </a:r>
            <a:r>
              <a:rPr lang="zh-CN" altLang="en-US" sz="1900" dirty="0" smtClean="0">
                <a:latin typeface="宋体" charset="-122"/>
              </a:rPr>
              <a:t>说明部分 *）</a:t>
            </a:r>
          </a:p>
          <a:p>
            <a:pPr eaLnBrk="1" hangingPunct="1">
              <a:spcBef>
                <a:spcPts val="400"/>
              </a:spcBef>
              <a:buFont typeface="Wingdings" pitchFamily="2" charset="2"/>
              <a:buNone/>
            </a:pPr>
            <a:r>
              <a:rPr lang="zh-CN" altLang="en-US" sz="1900" dirty="0" smtClean="0">
                <a:latin typeface="宋体" charset="-122"/>
              </a:rPr>
              <a:t>        </a:t>
            </a:r>
            <a:r>
              <a:rPr lang="en-US" altLang="zh-CN" sz="1900" dirty="0" smtClean="0">
                <a:latin typeface="宋体" charset="-122"/>
              </a:rPr>
              <a:t>PROCEDURE </a:t>
            </a:r>
            <a: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  <a:t>Q;</a:t>
            </a:r>
            <a:r>
              <a:rPr lang="en-US" altLang="zh-CN" sz="1900" dirty="0" smtClean="0">
                <a:solidFill>
                  <a:schemeClr val="accent1"/>
                </a:solidFill>
                <a:latin typeface="宋体" charset="-122"/>
              </a:rPr>
              <a:t> </a:t>
            </a:r>
            <a:r>
              <a:rPr lang="zh-CN" altLang="en-US" sz="1900" dirty="0" smtClean="0">
                <a:solidFill>
                  <a:schemeClr val="tx2"/>
                </a:solidFill>
                <a:latin typeface="宋体" charset="-122"/>
              </a:rPr>
              <a:t>（* </a:t>
            </a:r>
            <a:r>
              <a:rPr lang="en-US" altLang="zh-CN" sz="1900" dirty="0" smtClean="0">
                <a:solidFill>
                  <a:schemeClr val="tx2"/>
                </a:solidFill>
                <a:latin typeface="宋体" charset="-122"/>
              </a:rPr>
              <a:t>P</a:t>
            </a:r>
            <a:r>
              <a:rPr lang="zh-CN" altLang="en-US" sz="1900" dirty="0" smtClean="0">
                <a:solidFill>
                  <a:schemeClr val="tx2"/>
                </a:solidFill>
                <a:latin typeface="宋体" charset="-122"/>
              </a:rPr>
              <a:t>的局部过程</a:t>
            </a:r>
            <a:r>
              <a:rPr lang="zh-CN" altLang="en-US" sz="1900" dirty="0" smtClean="0">
                <a:latin typeface="宋体" charset="-122"/>
              </a:rPr>
              <a:t>说明部分 *）</a:t>
            </a:r>
            <a:endParaRPr lang="zh-CN" altLang="en-US" sz="1900" dirty="0" smtClean="0">
              <a:solidFill>
                <a:schemeClr val="accent1"/>
              </a:solidFill>
              <a:latin typeface="宋体" charset="-122"/>
            </a:endParaRPr>
          </a:p>
          <a:p>
            <a:pPr eaLnBrk="1" hangingPunct="1">
              <a:spcBef>
                <a:spcPts val="400"/>
              </a:spcBef>
              <a:buFont typeface="Wingdings" pitchFamily="2" charset="2"/>
              <a:buNone/>
            </a:pPr>
            <a:r>
              <a:rPr lang="zh-CN" altLang="en-US" sz="1900" dirty="0" smtClean="0">
                <a:latin typeface="宋体" charset="-122"/>
              </a:rPr>
              <a:t>        </a:t>
            </a:r>
            <a:r>
              <a:rPr lang="en-US" altLang="zh-CN" sz="1900" dirty="0" smtClean="0">
                <a:latin typeface="宋体" charset="-122"/>
              </a:rPr>
              <a:t>VAR X;</a:t>
            </a:r>
            <a:br>
              <a:rPr lang="en-US" altLang="zh-CN" sz="1900" dirty="0" smtClean="0">
                <a:latin typeface="宋体" charset="-122"/>
              </a:rPr>
            </a:br>
            <a:r>
              <a:rPr lang="en-US" altLang="zh-CN" sz="1900" dirty="0" smtClean="0">
                <a:latin typeface="宋体" charset="-122"/>
              </a:rPr>
              <a:t>        </a:t>
            </a:r>
            <a: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  <a:t>BEGIN</a:t>
            </a:r>
            <a:b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</a:br>
            <a: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  <a:t>          READ(X);</a:t>
            </a:r>
            <a:endParaRPr lang="en-US" altLang="zh-CN" sz="1900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400"/>
              </a:spcBef>
              <a:buFont typeface="Wingdings" pitchFamily="2" charset="2"/>
              <a:buNone/>
            </a:pPr>
            <a: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  <a:t>            D:=X;</a:t>
            </a:r>
          </a:p>
          <a:p>
            <a:pPr eaLnBrk="1" hangingPunct="1">
              <a:spcBef>
                <a:spcPts val="400"/>
              </a:spcBef>
              <a:buFont typeface="Wingdings" pitchFamily="2" charset="2"/>
              <a:buNone/>
            </a:pPr>
            <a: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  <a:t>            WHILE X#0 </a:t>
            </a:r>
          </a:p>
          <a:p>
            <a:pPr eaLnBrk="1" hangingPunct="1">
              <a:spcBef>
                <a:spcPts val="400"/>
              </a:spcBef>
              <a:buFont typeface="Wingdings" pitchFamily="2" charset="2"/>
              <a:buNone/>
            </a:pPr>
            <a: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  <a:t>            DO CALL P;</a:t>
            </a:r>
            <a:b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</a:br>
            <a: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  <a:t>        END;</a:t>
            </a:r>
            <a:br>
              <a:rPr lang="en-US" altLang="zh-CN" sz="1900" dirty="0" smtClean="0">
                <a:solidFill>
                  <a:schemeClr val="accent2"/>
                </a:solidFill>
                <a:latin typeface="宋体" charset="-122"/>
              </a:rPr>
            </a:br>
            <a:r>
              <a:rPr lang="en-US" altLang="zh-CN" sz="1900" dirty="0" smtClean="0">
                <a:latin typeface="宋体" charset="-122"/>
              </a:rPr>
              <a:t>      </a:t>
            </a:r>
            <a: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  <a:t>BEGIN</a:t>
            </a:r>
            <a:b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</a:br>
            <a: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  <a:t>        WRITE(D);</a:t>
            </a:r>
            <a:b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</a:br>
            <a: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  <a:t>        CALL Q;</a:t>
            </a:r>
            <a:b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</a:br>
            <a: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  <a:t>      END;</a:t>
            </a:r>
            <a:br>
              <a:rPr lang="en-US" altLang="zh-CN" sz="1900" dirty="0" smtClean="0">
                <a:solidFill>
                  <a:srgbClr val="00CC00"/>
                </a:solidFill>
                <a:latin typeface="宋体" charset="-122"/>
              </a:rPr>
            </a:br>
            <a:r>
              <a:rPr lang="en-US" altLang="zh-CN" sz="1900" dirty="0" smtClean="0">
                <a:latin typeface="宋体" charset="-122"/>
              </a:rPr>
              <a:t>    </a:t>
            </a:r>
            <a:r>
              <a:rPr lang="en-US" altLang="zh-CN" sz="1900" dirty="0" smtClean="0">
                <a:solidFill>
                  <a:srgbClr val="6600FF"/>
                </a:solidFill>
                <a:latin typeface="宋体" charset="-122"/>
              </a:rPr>
              <a:t>BEGIN</a:t>
            </a:r>
            <a:br>
              <a:rPr lang="en-US" altLang="zh-CN" sz="1900" dirty="0" smtClean="0">
                <a:solidFill>
                  <a:srgbClr val="6600FF"/>
                </a:solidFill>
                <a:latin typeface="宋体" charset="-122"/>
              </a:rPr>
            </a:br>
            <a:r>
              <a:rPr lang="en-US" altLang="zh-CN" sz="1900" dirty="0" smtClean="0">
                <a:solidFill>
                  <a:srgbClr val="6600FF"/>
                </a:solidFill>
                <a:latin typeface="宋体" charset="-122"/>
              </a:rPr>
              <a:t>      CALL P;</a:t>
            </a:r>
            <a:br>
              <a:rPr lang="en-US" altLang="zh-CN" sz="1900" dirty="0" smtClean="0">
                <a:solidFill>
                  <a:srgbClr val="6600FF"/>
                </a:solidFill>
                <a:latin typeface="宋体" charset="-122"/>
              </a:rPr>
            </a:br>
            <a:r>
              <a:rPr lang="en-US" altLang="zh-CN" sz="1900" dirty="0" smtClean="0">
                <a:solidFill>
                  <a:srgbClr val="6600FF"/>
                </a:solidFill>
                <a:latin typeface="宋体" charset="-122"/>
              </a:rPr>
              <a:t>    END.</a:t>
            </a:r>
          </a:p>
        </p:txBody>
      </p:sp>
      <p:sp>
        <p:nvSpPr>
          <p:cNvPr id="17417" name="Text Box 1028"/>
          <p:cNvSpPr txBox="1">
            <a:spLocks noChangeArrowheads="1"/>
          </p:cNvSpPr>
          <p:nvPr/>
        </p:nvSpPr>
        <p:spPr bwMode="auto">
          <a:xfrm>
            <a:off x="3886200" y="3286124"/>
            <a:ext cx="13350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Font typeface="Monotype Sorts" pitchFamily="2" charset="2"/>
              <a:buNone/>
            </a:pPr>
            <a:r>
              <a:rPr kumimoji="1" lang="en-US" altLang="zh-CN" sz="2400" dirty="0">
                <a:solidFill>
                  <a:schemeClr val="accent2"/>
                </a:solidFill>
                <a:latin typeface="Tahoma" pitchFamily="34" charset="0"/>
              </a:rPr>
              <a:t>Q</a:t>
            </a:r>
            <a:r>
              <a:rPr kumimoji="1" lang="zh-CN" altLang="zh-CN" sz="2400" dirty="0">
                <a:solidFill>
                  <a:schemeClr val="accent2"/>
                </a:solidFill>
                <a:latin typeface="Tahoma" pitchFamily="34" charset="0"/>
              </a:rPr>
              <a:t>过程体</a:t>
            </a:r>
            <a:endParaRPr kumimoji="1" lang="zh-CN" altLang="en-US" sz="2400" u="sng" dirty="0">
              <a:solidFill>
                <a:schemeClr val="accent2"/>
              </a:solidFill>
              <a:latin typeface="Tahoma" pitchFamily="34" charset="0"/>
            </a:endParaRPr>
          </a:p>
        </p:txBody>
      </p:sp>
      <p:sp>
        <p:nvSpPr>
          <p:cNvPr id="17418" name="Text Box 1029"/>
          <p:cNvSpPr txBox="1">
            <a:spLocks noChangeArrowheads="1"/>
          </p:cNvSpPr>
          <p:nvPr/>
        </p:nvSpPr>
        <p:spPr bwMode="auto">
          <a:xfrm>
            <a:off x="3810000" y="4429132"/>
            <a:ext cx="1292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>
              <a:buFont typeface="Monotype Sorts" pitchFamily="2" charset="2"/>
              <a:buNone/>
            </a:pPr>
            <a:r>
              <a:rPr kumimoji="1" lang="en-US" altLang="zh-CN" sz="2400" dirty="0">
                <a:solidFill>
                  <a:srgbClr val="33CC33"/>
                </a:solidFill>
                <a:latin typeface="Tahoma" pitchFamily="34" charset="0"/>
              </a:rPr>
              <a:t>p</a:t>
            </a:r>
            <a:r>
              <a:rPr kumimoji="1" lang="zh-CN" altLang="zh-CN" sz="2400" dirty="0">
                <a:solidFill>
                  <a:srgbClr val="33CC33"/>
                </a:solidFill>
                <a:latin typeface="Tahoma" pitchFamily="34" charset="0"/>
              </a:rPr>
              <a:t>过程体</a:t>
            </a:r>
            <a:endParaRPr kumimoji="1" lang="zh-CN" altLang="en-US" sz="2400" dirty="0">
              <a:solidFill>
                <a:srgbClr val="33CC33"/>
              </a:solidFill>
              <a:latin typeface="Tahoma" pitchFamily="34" charset="0"/>
            </a:endParaRPr>
          </a:p>
        </p:txBody>
      </p:sp>
      <p:sp>
        <p:nvSpPr>
          <p:cNvPr id="17419" name="Text Box 1030"/>
          <p:cNvSpPr txBox="1">
            <a:spLocks noChangeArrowheads="1"/>
          </p:cNvSpPr>
          <p:nvPr/>
        </p:nvSpPr>
        <p:spPr bwMode="auto">
          <a:xfrm>
            <a:off x="3810000" y="5400692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kumimoji="1" lang="zh-CN" altLang="zh-CN" sz="2400" dirty="0">
                <a:solidFill>
                  <a:srgbClr val="6666FF"/>
                </a:solidFill>
                <a:latin typeface="Tahoma" pitchFamily="34" charset="0"/>
              </a:rPr>
              <a:t>主</a:t>
            </a:r>
            <a:r>
              <a:rPr kumimoji="1" lang="zh-CN" altLang="en-US" sz="2400" dirty="0">
                <a:solidFill>
                  <a:srgbClr val="6666FF"/>
                </a:solidFill>
                <a:latin typeface="宋体" charset="-122"/>
              </a:rPr>
              <a:t>程序</a:t>
            </a:r>
            <a:r>
              <a:rPr kumimoji="1" lang="zh-CN" altLang="zh-CN" sz="2400" dirty="0">
                <a:solidFill>
                  <a:srgbClr val="6666FF"/>
                </a:solidFill>
                <a:latin typeface="Tahoma" pitchFamily="34" charset="0"/>
              </a:rPr>
              <a:t>体</a:t>
            </a:r>
            <a:endParaRPr kumimoji="1" lang="zh-CN" altLang="en-US" sz="2400" dirty="0">
              <a:solidFill>
                <a:srgbClr val="6666FF"/>
              </a:solidFill>
              <a:latin typeface="Tahoma" pitchFamily="34" charset="0"/>
            </a:endParaRPr>
          </a:p>
        </p:txBody>
      </p:sp>
      <p:grpSp>
        <p:nvGrpSpPr>
          <p:cNvPr id="17420" name="Group 1040"/>
          <p:cNvGrpSpPr>
            <a:grpSpLocks/>
          </p:cNvGrpSpPr>
          <p:nvPr/>
        </p:nvGrpSpPr>
        <p:grpSpPr bwMode="auto">
          <a:xfrm>
            <a:off x="3276600" y="2857496"/>
            <a:ext cx="228600" cy="1346200"/>
            <a:chOff x="2064" y="1632"/>
            <a:chExt cx="144" cy="848"/>
          </a:xfrm>
        </p:grpSpPr>
        <p:sp>
          <p:nvSpPr>
            <p:cNvPr id="17429" name="Line 1031"/>
            <p:cNvSpPr>
              <a:spLocks noChangeShapeType="1"/>
            </p:cNvSpPr>
            <p:nvPr/>
          </p:nvSpPr>
          <p:spPr bwMode="auto">
            <a:xfrm flipH="1">
              <a:off x="2200" y="1728"/>
              <a:ext cx="8" cy="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0" name="Line 1034"/>
            <p:cNvSpPr>
              <a:spLocks noChangeShapeType="1"/>
            </p:cNvSpPr>
            <p:nvPr/>
          </p:nvSpPr>
          <p:spPr bwMode="auto">
            <a:xfrm flipH="1" flipV="1">
              <a:off x="2112" y="1632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1" name="Line 1037"/>
            <p:cNvSpPr>
              <a:spLocks noChangeShapeType="1"/>
            </p:cNvSpPr>
            <p:nvPr/>
          </p:nvSpPr>
          <p:spPr bwMode="auto">
            <a:xfrm flipH="1">
              <a:off x="2064" y="2432"/>
              <a:ext cx="14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421" name="Group 1042"/>
          <p:cNvGrpSpPr>
            <a:grpSpLocks/>
          </p:cNvGrpSpPr>
          <p:nvPr/>
        </p:nvGrpSpPr>
        <p:grpSpPr bwMode="auto">
          <a:xfrm>
            <a:off x="3132138" y="4286256"/>
            <a:ext cx="304800" cy="914400"/>
            <a:chOff x="1824" y="2523"/>
            <a:chExt cx="192" cy="576"/>
          </a:xfrm>
        </p:grpSpPr>
        <p:sp>
          <p:nvSpPr>
            <p:cNvPr id="17426" name="Line 1032"/>
            <p:cNvSpPr>
              <a:spLocks noChangeShapeType="1"/>
            </p:cNvSpPr>
            <p:nvPr/>
          </p:nvSpPr>
          <p:spPr bwMode="auto">
            <a:xfrm>
              <a:off x="2016" y="2571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7" name="Line 1035"/>
            <p:cNvSpPr>
              <a:spLocks noChangeShapeType="1"/>
            </p:cNvSpPr>
            <p:nvPr/>
          </p:nvSpPr>
          <p:spPr bwMode="auto">
            <a:xfrm>
              <a:off x="1920" y="2523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8" name="Line 1038"/>
            <p:cNvSpPr>
              <a:spLocks noChangeShapeType="1"/>
            </p:cNvSpPr>
            <p:nvPr/>
          </p:nvSpPr>
          <p:spPr bwMode="auto">
            <a:xfrm flipH="1">
              <a:off x="1824" y="3051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422" name="Group 1041"/>
          <p:cNvGrpSpPr>
            <a:grpSpLocks/>
          </p:cNvGrpSpPr>
          <p:nvPr/>
        </p:nvGrpSpPr>
        <p:grpSpPr bwMode="auto">
          <a:xfrm>
            <a:off x="3195638" y="5214950"/>
            <a:ext cx="152400" cy="762000"/>
            <a:chOff x="1872" y="3113"/>
            <a:chExt cx="96" cy="480"/>
          </a:xfrm>
        </p:grpSpPr>
        <p:sp>
          <p:nvSpPr>
            <p:cNvPr id="17423" name="Line 1033"/>
            <p:cNvSpPr>
              <a:spLocks noChangeShapeType="1"/>
            </p:cNvSpPr>
            <p:nvPr/>
          </p:nvSpPr>
          <p:spPr bwMode="auto">
            <a:xfrm>
              <a:off x="1968" y="3161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4" name="Line 1036"/>
            <p:cNvSpPr>
              <a:spLocks noChangeShapeType="1"/>
            </p:cNvSpPr>
            <p:nvPr/>
          </p:nvSpPr>
          <p:spPr bwMode="auto">
            <a:xfrm>
              <a:off x="1872" y="3113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25" name="Line 1039"/>
            <p:cNvSpPr>
              <a:spLocks noChangeShapeType="1"/>
            </p:cNvSpPr>
            <p:nvPr/>
          </p:nvSpPr>
          <p:spPr bwMode="auto">
            <a:xfrm flipH="1">
              <a:off x="1872" y="3497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11188" y="285728"/>
            <a:ext cx="7243762" cy="730250"/>
          </a:xfrm>
        </p:spPr>
        <p:txBody>
          <a:bodyPr/>
          <a:lstStyle/>
          <a:p>
            <a:pPr eaLnBrk="1" hangingPunct="1"/>
            <a:r>
              <a:rPr lang="en-US" altLang="zh-CN" sz="3200" dirty="0" smtClean="0">
                <a:latin typeface="宋体" charset="-122"/>
              </a:rPr>
              <a:t>2. PL/0</a:t>
            </a:r>
            <a:r>
              <a:rPr lang="zh-CN" altLang="en-US" sz="3200" dirty="0" smtClean="0">
                <a:latin typeface="宋体" charset="-122"/>
              </a:rPr>
              <a:t>语言的</a:t>
            </a:r>
            <a:r>
              <a:rPr lang="en-US" altLang="zh-CN" sz="3200" dirty="0" smtClean="0">
                <a:latin typeface="宋体" charset="-122"/>
              </a:rPr>
              <a:t>EBNF</a:t>
            </a:r>
            <a:r>
              <a:rPr lang="zh-CN" altLang="en-US" sz="3200" dirty="0" smtClean="0">
                <a:latin typeface="宋体" charset="-122"/>
              </a:rPr>
              <a:t>表示</a:t>
            </a:r>
          </a:p>
        </p:txBody>
      </p:sp>
      <p:sp>
        <p:nvSpPr>
          <p:cNvPr id="21506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87919884-A641-4A22-B48F-9AF4BD9E8997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21507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215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2E4F6D5-CC68-4DF2-99AF-7E450CE539FC}" type="slidenum">
              <a:rPr lang="en-US" altLang="zh-CN" smtClean="0"/>
              <a:pPr/>
              <a:t>6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sp>
        <p:nvSpPr>
          <p:cNvPr id="21512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79388" y="1428736"/>
            <a:ext cx="8736012" cy="4429156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600" dirty="0" smtClean="0">
                <a:latin typeface="宋体" charset="-122"/>
              </a:rPr>
              <a:t> </a:t>
            </a:r>
            <a:r>
              <a:rPr lang="zh-CN" altLang="en-US" sz="2600" dirty="0" smtClean="0">
                <a:solidFill>
                  <a:srgbClr val="0033CC"/>
                </a:solidFill>
                <a:latin typeface="宋体" charset="-122"/>
              </a:rPr>
              <a:t>构成</a:t>
            </a:r>
            <a:r>
              <a:rPr lang="en-US" altLang="zh-CN" sz="2600" dirty="0" smtClean="0">
                <a:solidFill>
                  <a:srgbClr val="0033CC"/>
                </a:solidFill>
                <a:latin typeface="宋体" charset="-122"/>
              </a:rPr>
              <a:t>EBNF</a:t>
            </a:r>
            <a:r>
              <a:rPr lang="zh-CN" altLang="en-US" sz="2600" dirty="0" smtClean="0">
                <a:solidFill>
                  <a:srgbClr val="0033CC"/>
                </a:solidFill>
                <a:latin typeface="宋体" charset="-122"/>
              </a:rPr>
              <a:t>的元素</a:t>
            </a:r>
            <a:r>
              <a:rPr lang="en-US" altLang="zh-CN" sz="2600" dirty="0" smtClean="0">
                <a:latin typeface="宋体" charset="-122"/>
              </a:rPr>
              <a:t>—</a:t>
            </a:r>
            <a:r>
              <a:rPr lang="zh-CN" altLang="en-US" sz="2600" dirty="0" smtClean="0">
                <a:latin typeface="宋体" charset="-122"/>
              </a:rPr>
              <a:t>（非终结符，终结符，开始符，规则）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 dirty="0" smtClean="0">
                <a:latin typeface="宋体" charset="-122"/>
              </a:rPr>
              <a:t>  </a:t>
            </a:r>
            <a:r>
              <a:rPr lang="en-US" altLang="zh-CN" sz="2600" dirty="0" smtClean="0">
                <a:latin typeface="宋体" charset="-122"/>
              </a:rPr>
              <a:t>EBNF</a:t>
            </a:r>
            <a:r>
              <a:rPr lang="zh-CN" altLang="en-US" sz="2600" dirty="0" smtClean="0">
                <a:latin typeface="宋体" charset="-122"/>
              </a:rPr>
              <a:t>表示的符号说明：</a:t>
            </a:r>
            <a:br>
              <a:rPr lang="zh-CN" altLang="en-US" sz="2600" dirty="0" smtClean="0">
                <a:latin typeface="宋体" charset="-122"/>
              </a:rPr>
            </a:br>
            <a:r>
              <a:rPr lang="en-US" altLang="zh-CN" sz="2600" dirty="0" smtClean="0">
                <a:latin typeface="宋体" charset="-122"/>
              </a:rPr>
              <a:t>&lt; &gt;  </a:t>
            </a:r>
            <a:r>
              <a:rPr lang="zh-CN" altLang="en-US" sz="2600" dirty="0" smtClean="0">
                <a:latin typeface="宋体" charset="-122"/>
              </a:rPr>
              <a:t>用左右尖括号括起来的内容为非终结符</a:t>
            </a:r>
            <a:br>
              <a:rPr lang="zh-CN" altLang="en-US" sz="2600" dirty="0" smtClean="0">
                <a:latin typeface="宋体" charset="-122"/>
              </a:rPr>
            </a:br>
            <a:r>
              <a:rPr lang="zh-CN" altLang="en-US" sz="2600" dirty="0" smtClean="0">
                <a:latin typeface="宋体" charset="-122"/>
              </a:rPr>
              <a:t>∷</a:t>
            </a:r>
            <a:r>
              <a:rPr lang="en-US" altLang="zh-CN" sz="2600" dirty="0" smtClean="0">
                <a:latin typeface="宋体" charset="-122"/>
              </a:rPr>
              <a:t>=  </a:t>
            </a:r>
            <a:r>
              <a:rPr lang="zh-CN" altLang="en-US" sz="2600" dirty="0" smtClean="0">
                <a:latin typeface="宋体" charset="-122"/>
              </a:rPr>
              <a:t>读做‘定义为’ ∷</a:t>
            </a:r>
            <a:r>
              <a:rPr lang="en-US" altLang="zh-CN" sz="2600" dirty="0" smtClean="0">
                <a:latin typeface="宋体" charset="-122"/>
              </a:rPr>
              <a:t>=</a:t>
            </a:r>
            <a:r>
              <a:rPr lang="zh-CN" altLang="en-US" sz="2600" dirty="0" smtClean="0">
                <a:latin typeface="宋体" charset="-122"/>
              </a:rPr>
              <a:t>的左部由右部定义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 dirty="0" smtClean="0">
                <a:latin typeface="宋体" charset="-122"/>
              </a:rPr>
              <a:t>  →   读做‘定义为’  → 的左部由右部定义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 dirty="0" smtClean="0">
                <a:latin typeface="宋体" charset="-122"/>
              </a:rPr>
              <a:t>  </a:t>
            </a:r>
            <a:r>
              <a:rPr lang="en-US" altLang="zh-CN" sz="2600" dirty="0" smtClean="0">
                <a:latin typeface="宋体" charset="-122"/>
              </a:rPr>
              <a:t>|    </a:t>
            </a:r>
            <a:r>
              <a:rPr lang="zh-CN" altLang="en-US" sz="2600" dirty="0" smtClean="0">
                <a:latin typeface="宋体" charset="-122"/>
              </a:rPr>
              <a:t>读做‘或’ 表示右部候选内容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 dirty="0" smtClean="0">
                <a:latin typeface="宋体" charset="-122"/>
              </a:rPr>
              <a:t>  </a:t>
            </a:r>
            <a:r>
              <a:rPr lang="en-US" altLang="zh-CN" sz="2600" dirty="0" smtClean="0">
                <a:latin typeface="宋体" charset="-122"/>
              </a:rPr>
              <a:t>{ }  </a:t>
            </a:r>
            <a:r>
              <a:rPr lang="zh-CN" altLang="en-US" sz="2600" dirty="0" smtClean="0">
                <a:latin typeface="宋体" charset="-122"/>
              </a:rPr>
              <a:t>表示花括号内的内容可重复任意次或限定次数</a:t>
            </a:r>
            <a:endParaRPr lang="zh-CN" altLang="en-US" sz="2600" baseline="50000" dirty="0" smtClean="0">
              <a:latin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 baseline="50000" dirty="0" smtClean="0">
                <a:latin typeface="宋体" charset="-122"/>
              </a:rPr>
              <a:t>   </a:t>
            </a:r>
            <a:r>
              <a:rPr lang="en-US" altLang="zh-CN" sz="2600" dirty="0" smtClean="0">
                <a:latin typeface="宋体" charset="-122"/>
              </a:rPr>
              <a:t>[ ]  </a:t>
            </a:r>
            <a:r>
              <a:rPr lang="zh-CN" altLang="en-US" sz="2600" dirty="0" smtClean="0">
                <a:latin typeface="宋体" charset="-122"/>
              </a:rPr>
              <a:t>表示方括号内的内容为任选项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 dirty="0" smtClean="0">
                <a:latin typeface="宋体" charset="-122"/>
              </a:rPr>
              <a:t>  </a:t>
            </a:r>
            <a:r>
              <a:rPr lang="en-US" altLang="zh-CN" sz="2600" dirty="0" smtClean="0">
                <a:latin typeface="宋体" charset="-122"/>
              </a:rPr>
              <a:t>( )  </a:t>
            </a:r>
            <a:r>
              <a:rPr lang="zh-CN" altLang="en-US" sz="2600" dirty="0" smtClean="0">
                <a:latin typeface="宋体" charset="-122"/>
              </a:rPr>
              <a:t>表示圆括号内的内容优先</a:t>
            </a:r>
            <a:endParaRPr lang="zh-CN" altLang="en-US" dirty="0" smtClean="0">
              <a:latin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66B82CB-C76B-4112-9EEE-BD3559370C70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17B484-26A2-41C4-94C2-D5175C11DC21}" type="slidenum">
              <a:rPr lang="en-US" altLang="zh-CN" smtClean="0"/>
              <a:pPr>
                <a:defRPr/>
              </a:pPr>
              <a:t>7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graphicFrame>
        <p:nvGraphicFramePr>
          <p:cNvPr id="7" name="内容占位符 6"/>
          <p:cNvGraphicFramePr>
            <a:graphicFrameLocks noGrp="1"/>
          </p:cNvGraphicFramePr>
          <p:nvPr>
            <p:ph sz="quarter" idx="1"/>
          </p:nvPr>
        </p:nvGraphicFramePr>
        <p:xfrm>
          <a:off x="357158" y="2000240"/>
          <a:ext cx="822960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3140"/>
                <a:gridCol w="60864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PL/0</a:t>
                      </a:r>
                      <a:r>
                        <a:rPr lang="zh-CN" altLang="en-US" sz="2000" dirty="0" smtClean="0"/>
                        <a:t>语法单位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EBNF</a:t>
                      </a:r>
                      <a:r>
                        <a:rPr lang="zh-CN" altLang="en-US" sz="2000" dirty="0" smtClean="0"/>
                        <a:t>描述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&lt;</a:t>
                      </a:r>
                      <a:r>
                        <a:rPr lang="zh-CN" altLang="en-US" sz="2000" dirty="0" smtClean="0"/>
                        <a:t>程序</a:t>
                      </a:r>
                      <a:r>
                        <a:rPr lang="en-US" altLang="zh-CN" sz="2000" dirty="0" smtClean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::=&lt;</a:t>
                      </a:r>
                      <a:r>
                        <a:rPr lang="zh-CN" altLang="en-US" sz="2000" dirty="0" smtClean="0"/>
                        <a:t>分程序</a:t>
                      </a:r>
                      <a:r>
                        <a:rPr lang="en-US" altLang="zh-CN" sz="2000" dirty="0" smtClean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&lt;</a:t>
                      </a:r>
                      <a:r>
                        <a:rPr lang="zh-CN" altLang="en-US" sz="2000" dirty="0" smtClean="0"/>
                        <a:t>分程序</a:t>
                      </a:r>
                      <a:r>
                        <a:rPr lang="en-US" altLang="zh-CN" sz="2000" dirty="0" smtClean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::=[&lt;</a:t>
                      </a:r>
                      <a:r>
                        <a:rPr lang="zh-CN" altLang="en-US" sz="2000" dirty="0" smtClean="0"/>
                        <a:t>常量说明部分</a:t>
                      </a:r>
                      <a:r>
                        <a:rPr lang="en-US" altLang="zh-CN" sz="2000" dirty="0" smtClean="0"/>
                        <a:t>&gt;][&lt;</a:t>
                      </a:r>
                      <a:r>
                        <a:rPr lang="zh-CN" altLang="en-US" sz="2000" dirty="0" smtClean="0"/>
                        <a:t>变量说明部分</a:t>
                      </a:r>
                      <a:r>
                        <a:rPr lang="en-US" altLang="zh-CN" sz="2000" dirty="0" smtClean="0"/>
                        <a:t>&gt;][&lt;</a:t>
                      </a:r>
                      <a:r>
                        <a:rPr lang="zh-CN" altLang="en-US" sz="2000" dirty="0" smtClean="0"/>
                        <a:t>过程说明部分</a:t>
                      </a:r>
                      <a:r>
                        <a:rPr lang="en-US" altLang="zh-CN" sz="2000" dirty="0" smtClean="0"/>
                        <a:t>&gt;]&lt;</a:t>
                      </a:r>
                      <a:r>
                        <a:rPr lang="zh-CN" altLang="en-US" sz="2000" dirty="0" smtClean="0"/>
                        <a:t>语句</a:t>
                      </a:r>
                      <a:r>
                        <a:rPr lang="en-US" altLang="zh-CN" sz="2000" dirty="0" smtClean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&lt;</a:t>
                      </a:r>
                      <a:r>
                        <a:rPr lang="zh-CN" altLang="en-US" sz="2000" dirty="0" smtClean="0"/>
                        <a:t>常量说明部分</a:t>
                      </a:r>
                      <a:r>
                        <a:rPr lang="en-US" altLang="zh-CN" sz="2000" dirty="0" smtClean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::=const&lt;</a:t>
                      </a:r>
                      <a:r>
                        <a:rPr lang="zh-CN" altLang="en-US" sz="2000" dirty="0" smtClean="0"/>
                        <a:t>常量定义</a:t>
                      </a:r>
                      <a:r>
                        <a:rPr lang="en-US" altLang="zh-CN" sz="2000" dirty="0" smtClean="0"/>
                        <a:t>&gt;{,&lt;</a:t>
                      </a:r>
                      <a:r>
                        <a:rPr lang="zh-CN" altLang="en-US" sz="2000" dirty="0" smtClean="0"/>
                        <a:t>常量定义</a:t>
                      </a:r>
                      <a:r>
                        <a:rPr lang="en-US" altLang="zh-CN" sz="2000" dirty="0" smtClean="0"/>
                        <a:t>&gt;};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&lt;</a:t>
                      </a:r>
                      <a:r>
                        <a:rPr lang="zh-CN" altLang="en-US" sz="2000" dirty="0" smtClean="0"/>
                        <a:t>常量定义</a:t>
                      </a:r>
                      <a:r>
                        <a:rPr lang="en-US" altLang="zh-CN" sz="2000" dirty="0" smtClean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::=&lt;id&gt;=&lt;integer&gt;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&lt;</a:t>
                      </a:r>
                      <a:r>
                        <a:rPr lang="zh-CN" altLang="en-US" sz="2000" dirty="0" smtClean="0"/>
                        <a:t>变量说明部分</a:t>
                      </a:r>
                      <a:r>
                        <a:rPr lang="en-US" altLang="zh-CN" sz="2000" dirty="0" smtClean="0"/>
                        <a:t>&gt;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::=</a:t>
                      </a:r>
                      <a:r>
                        <a:rPr lang="en-US" altLang="zh-CN" sz="2000" dirty="0" err="1" smtClean="0"/>
                        <a:t>var</a:t>
                      </a:r>
                      <a:r>
                        <a:rPr lang="en-US" altLang="zh-CN" sz="2000" dirty="0" smtClean="0"/>
                        <a:t>&lt;id&gt;{,&lt;id&gt;};</a:t>
                      </a:r>
                      <a:endParaRPr lang="zh-CN" alt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…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/>
                        <a:t>…</a:t>
                      </a:r>
                      <a:endParaRPr lang="zh-CN" alt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14480" y="1428736"/>
            <a:ext cx="42594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表</a:t>
            </a:r>
            <a:r>
              <a:rPr lang="en-US" altLang="zh-CN" dirty="0" smtClean="0"/>
              <a:t>1.1 PL/0</a:t>
            </a:r>
            <a:r>
              <a:rPr lang="zh-CN" altLang="en-US" dirty="0" smtClean="0"/>
              <a:t>语言语法的</a:t>
            </a:r>
            <a:r>
              <a:rPr lang="en-US" altLang="zh-CN" dirty="0" smtClean="0"/>
              <a:t>EBNF</a:t>
            </a:r>
            <a:r>
              <a:rPr lang="zh-CN" altLang="en-US" dirty="0" smtClean="0"/>
              <a:t>描述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1357290" y="5072074"/>
            <a:ext cx="5643602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rgbClr val="0000CC"/>
                </a:solidFill>
                <a:latin typeface="宋体" charset="-122"/>
              </a:rPr>
              <a:t> </a:t>
            </a:r>
            <a:r>
              <a:rPr lang="zh-CN" altLang="en-US" sz="2400" dirty="0" smtClean="0">
                <a:solidFill>
                  <a:srgbClr val="0000CC"/>
                </a:solidFill>
                <a:latin typeface="宋体" charset="-122"/>
              </a:rPr>
              <a:t>例如：</a:t>
            </a:r>
            <a:endParaRPr lang="en-US" altLang="zh-CN" sz="2400" dirty="0" smtClean="0">
              <a:solidFill>
                <a:srgbClr val="0000CC"/>
              </a:solidFill>
              <a:latin typeface="宋体" charset="-122"/>
            </a:endParaRPr>
          </a:p>
          <a:p>
            <a:r>
              <a:rPr lang="en-US" altLang="zh-CN" sz="2400" dirty="0" smtClean="0">
                <a:latin typeface="宋体" charset="-122"/>
              </a:rPr>
              <a:t>   CONST A=10; </a:t>
            </a:r>
            <a:r>
              <a:rPr lang="zh-CN" altLang="en-US" sz="2400" dirty="0" smtClean="0">
                <a:solidFill>
                  <a:schemeClr val="tx2"/>
                </a:solidFill>
                <a:latin typeface="宋体" charset="-122"/>
              </a:rPr>
              <a:t>（* </a:t>
            </a:r>
            <a:r>
              <a:rPr lang="zh-CN" altLang="en-US" sz="2400" dirty="0" smtClean="0">
                <a:latin typeface="宋体" charset="-122"/>
              </a:rPr>
              <a:t>常量说明部分 *） </a:t>
            </a:r>
            <a:br>
              <a:rPr lang="zh-CN" altLang="en-US" sz="2400" dirty="0" smtClean="0">
                <a:latin typeface="宋体" charset="-122"/>
              </a:rPr>
            </a:br>
            <a:r>
              <a:rPr lang="zh-CN" altLang="en-US" sz="2400" dirty="0" smtClean="0">
                <a:latin typeface="宋体" charset="-122"/>
              </a:rPr>
              <a:t>   </a:t>
            </a:r>
            <a:r>
              <a:rPr lang="en-US" altLang="zh-CN" sz="2400" dirty="0" smtClean="0">
                <a:latin typeface="宋体" charset="-122"/>
              </a:rPr>
              <a:t>VAR   B,C;  </a:t>
            </a:r>
            <a:r>
              <a:rPr lang="zh-CN" altLang="en-US" sz="2400" dirty="0" smtClean="0">
                <a:solidFill>
                  <a:schemeClr val="tx2"/>
                </a:solidFill>
                <a:latin typeface="宋体" charset="-122"/>
              </a:rPr>
              <a:t>（* 变量</a:t>
            </a:r>
            <a:r>
              <a:rPr lang="zh-CN" altLang="en-US" sz="2400" dirty="0" smtClean="0">
                <a:latin typeface="宋体" charset="-122"/>
              </a:rPr>
              <a:t>说明部分 *）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20058B77-127F-4316-8C27-77B6275A6BD3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2253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78DC3B9-BA1C-472C-974B-40E708B6B9F7}" type="slidenum">
              <a:rPr lang="en-US" altLang="zh-CN" smtClean="0"/>
              <a:pPr/>
              <a:t>8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sp>
        <p:nvSpPr>
          <p:cNvPr id="2253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357298"/>
            <a:ext cx="8382000" cy="4429156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宋体" charset="-122"/>
              </a:rPr>
              <a:t/>
            </a:r>
            <a:br>
              <a:rPr lang="en-US" altLang="zh-CN" dirty="0" smtClean="0">
                <a:latin typeface="宋体" charset="-122"/>
              </a:rPr>
            </a:br>
            <a:r>
              <a:rPr lang="zh-CN" altLang="en-US" dirty="0" smtClean="0">
                <a:latin typeface="宋体" charset="-122"/>
              </a:rPr>
              <a:t>例：用</a:t>
            </a:r>
            <a:r>
              <a:rPr lang="en-US" altLang="zh-CN" dirty="0" smtClean="0">
                <a:latin typeface="宋体" charset="-122"/>
              </a:rPr>
              <a:t>EBNF</a:t>
            </a:r>
            <a:r>
              <a:rPr lang="zh-CN" altLang="en-US" dirty="0" smtClean="0">
                <a:latin typeface="宋体" charset="-122"/>
              </a:rPr>
              <a:t>描述</a:t>
            </a:r>
            <a:r>
              <a:rPr lang="en-US" altLang="zh-CN" dirty="0" smtClean="0">
                <a:latin typeface="宋体" charset="-122"/>
              </a:rPr>
              <a:t>&lt;</a:t>
            </a:r>
            <a:r>
              <a:rPr lang="zh-CN" altLang="en-US" dirty="0" smtClean="0">
                <a:latin typeface="宋体" charset="-122"/>
              </a:rPr>
              <a:t>整数</a:t>
            </a:r>
            <a:r>
              <a:rPr lang="en-US" altLang="zh-CN" dirty="0" smtClean="0">
                <a:latin typeface="宋体" charset="-122"/>
              </a:rPr>
              <a:t>&gt;</a:t>
            </a:r>
            <a:r>
              <a:rPr lang="zh-CN" altLang="en-US" dirty="0" smtClean="0">
                <a:latin typeface="宋体" charset="-122"/>
              </a:rPr>
              <a:t>的定义 ：</a:t>
            </a:r>
            <a:br>
              <a:rPr lang="zh-CN" altLang="en-US" dirty="0" smtClean="0">
                <a:latin typeface="宋体" charset="-122"/>
              </a:rPr>
            </a:br>
            <a:r>
              <a:rPr lang="en-US" altLang="zh-CN" dirty="0" smtClean="0">
                <a:latin typeface="宋体" charset="-122"/>
              </a:rPr>
              <a:t>&lt;</a:t>
            </a:r>
            <a:r>
              <a:rPr lang="zh-CN" altLang="en-US" dirty="0" smtClean="0">
                <a:latin typeface="宋体" charset="-122"/>
              </a:rPr>
              <a:t>整数</a:t>
            </a:r>
            <a:r>
              <a:rPr lang="en-US" altLang="zh-CN" dirty="0" smtClean="0">
                <a:latin typeface="宋体" charset="-122"/>
              </a:rPr>
              <a:t>&gt;∷=[+|-]&lt;</a:t>
            </a:r>
            <a:r>
              <a:rPr lang="zh-CN" altLang="en-US" dirty="0" smtClean="0">
                <a:latin typeface="宋体" charset="-122"/>
              </a:rPr>
              <a:t>数字</a:t>
            </a:r>
            <a:r>
              <a:rPr lang="en-US" altLang="zh-CN" dirty="0" smtClean="0">
                <a:latin typeface="宋体" charset="-122"/>
              </a:rPr>
              <a:t>&gt;{&lt;</a:t>
            </a:r>
            <a:r>
              <a:rPr lang="zh-CN" altLang="en-US" dirty="0" smtClean="0">
                <a:latin typeface="宋体" charset="-122"/>
              </a:rPr>
              <a:t>数字</a:t>
            </a:r>
            <a:r>
              <a:rPr lang="en-US" altLang="zh-CN" dirty="0" smtClean="0">
                <a:latin typeface="宋体" charset="-122"/>
              </a:rPr>
              <a:t>&gt;}</a:t>
            </a:r>
            <a:br>
              <a:rPr lang="en-US" altLang="zh-CN" dirty="0" smtClean="0">
                <a:latin typeface="宋体" charset="-122"/>
              </a:rPr>
            </a:br>
            <a:r>
              <a:rPr lang="en-US" altLang="zh-CN" dirty="0" smtClean="0">
                <a:latin typeface="宋体" charset="-122"/>
              </a:rPr>
              <a:t>&lt;</a:t>
            </a:r>
            <a:r>
              <a:rPr lang="zh-CN" altLang="en-US" dirty="0" smtClean="0">
                <a:latin typeface="宋体" charset="-122"/>
              </a:rPr>
              <a:t>数字</a:t>
            </a:r>
            <a:r>
              <a:rPr lang="en-US" altLang="zh-CN" dirty="0" smtClean="0">
                <a:latin typeface="宋体" charset="-122"/>
              </a:rPr>
              <a:t>&gt;∷=0|1|2|3|4|5|6|7|8|9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dirty="0" smtClean="0">
                <a:latin typeface="宋体" charset="-122"/>
              </a:rPr>
              <a:t> </a:t>
            </a:r>
            <a:r>
              <a:rPr lang="zh-CN" altLang="en-US" dirty="0" smtClean="0">
                <a:latin typeface="宋体" charset="-122"/>
              </a:rPr>
              <a:t>或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</a:pPr>
            <a:r>
              <a:rPr lang="zh-CN" altLang="en-US" dirty="0" smtClean="0">
                <a:latin typeface="宋体" charset="-122"/>
              </a:rPr>
              <a:t> </a:t>
            </a:r>
            <a:r>
              <a:rPr lang="en-US" altLang="zh-CN" dirty="0" smtClean="0">
                <a:latin typeface="宋体" charset="-122"/>
              </a:rPr>
              <a:t>&lt;</a:t>
            </a:r>
            <a:r>
              <a:rPr lang="zh-CN" altLang="en-US" dirty="0" smtClean="0">
                <a:latin typeface="宋体" charset="-122"/>
              </a:rPr>
              <a:t>整数</a:t>
            </a:r>
            <a:r>
              <a:rPr lang="en-US" altLang="zh-CN" dirty="0" smtClean="0">
                <a:latin typeface="宋体" charset="-122"/>
              </a:rPr>
              <a:t>&gt;∷=[+|-]&lt;</a:t>
            </a:r>
            <a:r>
              <a:rPr lang="zh-CN" altLang="en-US" dirty="0" smtClean="0">
                <a:latin typeface="宋体" charset="-122"/>
              </a:rPr>
              <a:t>非零数字</a:t>
            </a:r>
            <a:r>
              <a:rPr lang="en-US" altLang="zh-CN" dirty="0" smtClean="0">
                <a:latin typeface="宋体" charset="-122"/>
              </a:rPr>
              <a:t>&gt;{&lt;</a:t>
            </a:r>
            <a:r>
              <a:rPr lang="zh-CN" altLang="en-US" dirty="0" smtClean="0">
                <a:latin typeface="宋体" charset="-122"/>
              </a:rPr>
              <a:t>数字</a:t>
            </a:r>
            <a:r>
              <a:rPr lang="en-US" altLang="zh-CN" dirty="0" smtClean="0">
                <a:latin typeface="宋体" charset="-122"/>
              </a:rPr>
              <a:t>&gt;}|0</a:t>
            </a:r>
            <a:br>
              <a:rPr lang="en-US" altLang="zh-CN" dirty="0" smtClean="0">
                <a:latin typeface="宋体" charset="-122"/>
              </a:rPr>
            </a:br>
            <a:r>
              <a:rPr lang="en-US" altLang="zh-CN" dirty="0" smtClean="0">
                <a:latin typeface="宋体" charset="-122"/>
              </a:rPr>
              <a:t>&lt;</a:t>
            </a:r>
            <a:r>
              <a:rPr lang="zh-CN" altLang="en-US" dirty="0" smtClean="0">
                <a:latin typeface="宋体" charset="-122"/>
              </a:rPr>
              <a:t>非零数字</a:t>
            </a:r>
            <a:r>
              <a:rPr lang="en-US" altLang="zh-CN" dirty="0" smtClean="0">
                <a:latin typeface="宋体" charset="-122"/>
              </a:rPr>
              <a:t>&gt;∷=1|2|3|4|5|6|7|8|9 </a:t>
            </a:r>
            <a:br>
              <a:rPr lang="en-US" altLang="zh-CN" dirty="0" smtClean="0">
                <a:latin typeface="宋体" charset="-122"/>
              </a:rPr>
            </a:br>
            <a:r>
              <a:rPr lang="en-US" altLang="zh-CN" dirty="0" smtClean="0">
                <a:latin typeface="宋体" charset="-122"/>
              </a:rPr>
              <a:t>&lt;</a:t>
            </a:r>
            <a:r>
              <a:rPr lang="zh-CN" altLang="en-US" dirty="0" smtClean="0">
                <a:latin typeface="宋体" charset="-122"/>
              </a:rPr>
              <a:t>数字</a:t>
            </a:r>
            <a:r>
              <a:rPr lang="en-US" altLang="zh-CN" dirty="0" smtClean="0">
                <a:latin typeface="宋体" charset="-122"/>
              </a:rPr>
              <a:t>&gt;∷=0|&lt;</a:t>
            </a:r>
            <a:r>
              <a:rPr lang="zh-CN" altLang="en-US" dirty="0" smtClean="0">
                <a:latin typeface="宋体" charset="-122"/>
              </a:rPr>
              <a:t>非零数字</a:t>
            </a:r>
            <a:r>
              <a:rPr lang="en-US" altLang="zh-CN" dirty="0" smtClean="0">
                <a:latin typeface="宋体" charset="-122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9" name="Rectangle 2"/>
          <p:cNvSpPr>
            <a:spLocks noGrp="1" noChangeArrowheads="1"/>
          </p:cNvSpPr>
          <p:nvPr>
            <p:ph type="title"/>
          </p:nvPr>
        </p:nvSpPr>
        <p:spPr>
          <a:xfrm>
            <a:off x="90518" y="500042"/>
            <a:ext cx="8910638" cy="531812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zh-CN" sz="3200" dirty="0" smtClean="0">
                <a:latin typeface="+mj-ea"/>
              </a:rPr>
              <a:t> </a:t>
            </a:r>
            <a:r>
              <a:rPr lang="en-US" altLang="zh-CN" sz="3200" dirty="0" smtClean="0">
                <a:latin typeface="+mj-ea"/>
              </a:rPr>
              <a:t>1.4.3PL/0</a:t>
            </a:r>
            <a:r>
              <a:rPr lang="zh-CN" altLang="en-US" sz="3200" dirty="0" smtClean="0">
                <a:latin typeface="+mj-ea"/>
              </a:rPr>
              <a:t>编译程序的目标代码结构和代码生成</a:t>
            </a:r>
          </a:p>
        </p:txBody>
      </p:sp>
      <p:sp>
        <p:nvSpPr>
          <p:cNvPr id="38914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8EA037C-3E1F-45FA-A7E9-55B594C9B19C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38915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389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56CE25-4B5F-4419-A996-E3F5D749CF02}" type="slidenum">
              <a:rPr lang="en-US" altLang="zh-CN" smtClean="0"/>
              <a:pPr/>
              <a:t>9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sp>
        <p:nvSpPr>
          <p:cNvPr id="3892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73100" y="1214422"/>
            <a:ext cx="7931150" cy="236379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dirty="0" smtClean="0">
                <a:latin typeface="宋体" charset="-122"/>
              </a:rPr>
              <a:t>PL/0</a:t>
            </a:r>
            <a:r>
              <a:rPr lang="zh-CN" altLang="en-US" dirty="0" smtClean="0">
                <a:latin typeface="宋体" charset="-122"/>
              </a:rPr>
              <a:t>编译程序所产生的目标代码类</a:t>
            </a:r>
            <a:r>
              <a:rPr lang="en-US" altLang="zh-CN" dirty="0" smtClean="0">
                <a:latin typeface="宋体" charset="-122"/>
              </a:rPr>
              <a:t>p-code</a:t>
            </a:r>
            <a:r>
              <a:rPr lang="zh-CN" altLang="zh-CN" dirty="0" smtClean="0">
                <a:latin typeface="宋体" charset="-122"/>
              </a:rPr>
              <a:t>是</a:t>
            </a:r>
            <a:r>
              <a:rPr lang="zh-CN" altLang="en-US" dirty="0" smtClean="0">
                <a:latin typeface="宋体" charset="-122"/>
              </a:rPr>
              <a:t>一个假想栈式计算机的汇编语言。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 smtClean="0">
                <a:latin typeface="宋体" charset="-122"/>
              </a:rPr>
              <a:t>栈式机系统结构</a:t>
            </a:r>
            <a:r>
              <a:rPr lang="en-US" altLang="zh-CN" dirty="0" smtClean="0">
                <a:latin typeface="宋体" charset="-122"/>
              </a:rPr>
              <a:t>:</a:t>
            </a:r>
            <a:r>
              <a:rPr lang="zh-CN" altLang="en-US" dirty="0" smtClean="0">
                <a:latin typeface="宋体" charset="-122"/>
              </a:rPr>
              <a:t>没有累加器和寄存器，只有存储栈，指针所有运算都在栈顶（零地址机）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 smtClean="0">
                <a:latin typeface="宋体" charset="-122"/>
              </a:rPr>
              <a:t>指令格式：</a:t>
            </a:r>
          </a:p>
        </p:txBody>
      </p:sp>
      <p:sp>
        <p:nvSpPr>
          <p:cNvPr id="38921" name="Rectangle 4"/>
          <p:cNvSpPr>
            <a:spLocks noChangeArrowheads="1"/>
          </p:cNvSpPr>
          <p:nvPr/>
        </p:nvSpPr>
        <p:spPr bwMode="auto">
          <a:xfrm>
            <a:off x="1981200" y="3857625"/>
            <a:ext cx="3048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2" name="Line 5"/>
          <p:cNvSpPr>
            <a:spLocks noChangeShapeType="1"/>
          </p:cNvSpPr>
          <p:nvPr/>
        </p:nvSpPr>
        <p:spPr bwMode="auto">
          <a:xfrm>
            <a:off x="2971800" y="3857625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3" name="Line 6"/>
          <p:cNvSpPr>
            <a:spLocks noChangeShapeType="1"/>
          </p:cNvSpPr>
          <p:nvPr/>
        </p:nvSpPr>
        <p:spPr bwMode="auto">
          <a:xfrm>
            <a:off x="4038600" y="3857625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4" name="Text Box 7"/>
          <p:cNvSpPr txBox="1">
            <a:spLocks noChangeArrowheads="1"/>
          </p:cNvSpPr>
          <p:nvPr/>
        </p:nvSpPr>
        <p:spPr bwMode="auto">
          <a:xfrm>
            <a:off x="2209800" y="3857625"/>
            <a:ext cx="2514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kumimoji="1" lang="en-US" altLang="zh-CN" sz="3200">
                <a:latin typeface="宋体" charset="-122"/>
              </a:rPr>
              <a:t>f    l    a</a:t>
            </a:r>
          </a:p>
        </p:txBody>
      </p:sp>
      <p:sp>
        <p:nvSpPr>
          <p:cNvPr id="38925" name="Text Box 8"/>
          <p:cNvSpPr txBox="1">
            <a:spLocks noChangeArrowheads="1"/>
          </p:cNvSpPr>
          <p:nvPr/>
        </p:nvSpPr>
        <p:spPr bwMode="auto">
          <a:xfrm>
            <a:off x="760413" y="4581525"/>
            <a:ext cx="6907212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kumimoji="1" lang="en-US" altLang="zh-CN" sz="2400">
                <a:latin typeface="宋体" charset="-122"/>
              </a:rPr>
              <a:t>f	</a:t>
            </a:r>
            <a:r>
              <a:rPr kumimoji="1" lang="zh-CN" altLang="en-US" sz="2400">
                <a:latin typeface="宋体" charset="-122"/>
              </a:rPr>
              <a:t>功能码</a:t>
            </a:r>
          </a:p>
          <a:p>
            <a:pPr>
              <a:lnSpc>
                <a:spcPct val="85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kumimoji="1" lang="en-US" altLang="zh-CN" sz="2400">
                <a:latin typeface="宋体" charset="-122"/>
              </a:rPr>
              <a:t>l	</a:t>
            </a:r>
            <a:r>
              <a:rPr kumimoji="1" lang="zh-CN" altLang="en-US" sz="2400">
                <a:latin typeface="宋体" charset="-122"/>
              </a:rPr>
              <a:t>层次差 （标识符引用层减去定义层）</a:t>
            </a:r>
          </a:p>
          <a:p>
            <a:pPr>
              <a:lnSpc>
                <a:spcPct val="85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kumimoji="1" lang="en-US" altLang="zh-CN" sz="2400">
                <a:latin typeface="宋体" charset="-122"/>
              </a:rPr>
              <a:t>a	</a:t>
            </a:r>
            <a:r>
              <a:rPr kumimoji="1" lang="zh-CN" altLang="en-US" sz="2400">
                <a:latin typeface="宋体" charset="-122"/>
              </a:rPr>
              <a:t>根据不同的指令有所区别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C84F72CF-AA7C-407D-925A-C5CCBC0086B1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6148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615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D28CF09-2623-45C5-8232-AE53AA02DE14}" type="slidenum">
              <a:rPr lang="en-US" altLang="zh-CN" smtClean="0"/>
              <a:pPr/>
              <a:t>10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785918" y="120650"/>
          <a:ext cx="6840538" cy="6621463"/>
        </p:xfrm>
        <a:graphic>
          <a:graphicData uri="http://schemas.openxmlformats.org/presentationml/2006/ole">
            <p:oleObj spid="_x0000_s6146" name="文档" r:id="rId4" imgW="6622969" imgH="6540844" progId="Word.Document.8">
              <p:embed/>
            </p:oleObj>
          </a:graphicData>
        </a:graphic>
      </p:graphicFrame>
      <p:sp>
        <p:nvSpPr>
          <p:cNvPr id="6152" name="Text Box 3"/>
          <p:cNvSpPr txBox="1">
            <a:spLocks noChangeArrowheads="1"/>
          </p:cNvSpPr>
          <p:nvPr/>
        </p:nvSpPr>
        <p:spPr bwMode="auto">
          <a:xfrm>
            <a:off x="684213" y="1981200"/>
            <a:ext cx="838200" cy="2916238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buFont typeface="Monotype Sorts" pitchFamily="2" charset="2"/>
              <a:buNone/>
            </a:pPr>
            <a:r>
              <a:rPr kumimoji="1" lang="zh-CN" altLang="en-US" sz="3200">
                <a:latin typeface="宋体" charset="-122"/>
              </a:rPr>
              <a:t>指</a:t>
            </a:r>
          </a:p>
          <a:p>
            <a:pPr>
              <a:buFont typeface="Monotype Sorts" pitchFamily="2" charset="2"/>
              <a:buNone/>
            </a:pPr>
            <a:r>
              <a:rPr kumimoji="1" lang="zh-CN" altLang="en-US" sz="3200">
                <a:latin typeface="宋体" charset="-122"/>
              </a:rPr>
              <a:t>令</a:t>
            </a:r>
          </a:p>
          <a:p>
            <a:pPr>
              <a:buFont typeface="Monotype Sorts" pitchFamily="2" charset="2"/>
              <a:buNone/>
            </a:pPr>
            <a:r>
              <a:rPr kumimoji="1" lang="zh-CN" altLang="en-US" sz="3200">
                <a:latin typeface="宋体" charset="-122"/>
              </a:rPr>
              <a:t>功</a:t>
            </a:r>
          </a:p>
          <a:p>
            <a:pPr>
              <a:buFont typeface="Monotype Sorts" pitchFamily="2" charset="2"/>
              <a:buNone/>
            </a:pPr>
            <a:r>
              <a:rPr kumimoji="1" lang="zh-CN" altLang="en-US" sz="3200">
                <a:latin typeface="宋体" charset="-122"/>
              </a:rPr>
              <a:t>能</a:t>
            </a:r>
          </a:p>
          <a:p>
            <a:pPr>
              <a:buFont typeface="Monotype Sorts" pitchFamily="2" charset="2"/>
              <a:buNone/>
            </a:pPr>
            <a:r>
              <a:rPr kumimoji="1" lang="zh-CN" altLang="en-US" sz="3200">
                <a:latin typeface="宋体" charset="-122"/>
              </a:rPr>
              <a:t>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28604"/>
            <a:ext cx="7129462" cy="647700"/>
          </a:xfrm>
        </p:spPr>
        <p:txBody>
          <a:bodyPr/>
          <a:lstStyle/>
          <a:p>
            <a:pPr eaLnBrk="1" hangingPunct="1"/>
            <a:r>
              <a:rPr lang="zh-CN" altLang="en-US" sz="3600" dirty="0" smtClean="0">
                <a:latin typeface="宋体" charset="-122"/>
              </a:rPr>
              <a:t>代码生成</a:t>
            </a:r>
          </a:p>
        </p:txBody>
      </p:sp>
      <p:sp>
        <p:nvSpPr>
          <p:cNvPr id="39938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BBF4CCCA-7C30-4309-9934-BB0A3DDCFEE0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39939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399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B6E07BC-ED8C-4DE8-9059-8148E55255DA}" type="slidenum">
              <a:rPr lang="en-US" altLang="zh-CN" smtClean="0"/>
              <a:pPr/>
              <a:t>11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sp>
        <p:nvSpPr>
          <p:cNvPr id="3994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58938"/>
            <a:ext cx="8435975" cy="4433887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solidFill>
                  <a:srgbClr val="0033CC"/>
                </a:solidFill>
                <a:latin typeface="宋体" charset="-122"/>
              </a:rPr>
              <a:t>代码生成</a:t>
            </a:r>
            <a:r>
              <a:rPr lang="zh-CN" altLang="en-US" sz="2800" dirty="0" smtClean="0">
                <a:latin typeface="宋体" charset="-122"/>
              </a:rPr>
              <a:t>是由过程</a:t>
            </a:r>
            <a:r>
              <a:rPr lang="en-US" altLang="zh-CN" sz="2800" dirty="0" smtClean="0">
                <a:latin typeface="宋体" charset="-122"/>
              </a:rPr>
              <a:t>GEN</a:t>
            </a:r>
            <a:r>
              <a:rPr lang="zh-CN" altLang="en-US" sz="2800" dirty="0" smtClean="0">
                <a:latin typeface="宋体" charset="-122"/>
              </a:rPr>
              <a:t>完成。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latin typeface="宋体" charset="-122"/>
              </a:rPr>
              <a:t>GEN</a:t>
            </a:r>
            <a:r>
              <a:rPr lang="zh-CN" altLang="en-US" sz="2800" dirty="0" smtClean="0">
                <a:latin typeface="宋体" charset="-122"/>
              </a:rPr>
              <a:t>有</a:t>
            </a:r>
            <a:r>
              <a:rPr lang="en-US" altLang="zh-CN" sz="2800" dirty="0" smtClean="0">
                <a:solidFill>
                  <a:srgbClr val="0033CC"/>
                </a:solidFill>
                <a:latin typeface="宋体" charset="-122"/>
              </a:rPr>
              <a:t>3</a:t>
            </a:r>
            <a:r>
              <a:rPr lang="zh-CN" altLang="en-US" sz="2800" dirty="0" smtClean="0">
                <a:solidFill>
                  <a:srgbClr val="0033CC"/>
                </a:solidFill>
                <a:latin typeface="宋体" charset="-122"/>
              </a:rPr>
              <a:t>个参数</a:t>
            </a:r>
            <a:r>
              <a:rPr lang="zh-CN" altLang="en-US" sz="2800" dirty="0" smtClean="0">
                <a:latin typeface="宋体" charset="-122"/>
              </a:rPr>
              <a:t>，分别代表目标代码的</a:t>
            </a:r>
            <a:r>
              <a:rPr lang="zh-CN" altLang="en-US" sz="2800" dirty="0" smtClean="0">
                <a:solidFill>
                  <a:srgbClr val="0033CC"/>
                </a:solidFill>
                <a:latin typeface="宋体" charset="-122"/>
              </a:rPr>
              <a:t>功能码</a:t>
            </a:r>
            <a:r>
              <a:rPr lang="zh-CN" altLang="en-US" sz="2800" dirty="0" smtClean="0">
                <a:latin typeface="宋体" charset="-122"/>
              </a:rPr>
              <a:t>，</a:t>
            </a:r>
            <a:r>
              <a:rPr lang="zh-CN" altLang="en-US" sz="2800" dirty="0" smtClean="0">
                <a:solidFill>
                  <a:srgbClr val="0033CC"/>
                </a:solidFill>
                <a:latin typeface="宋体" charset="-122"/>
              </a:rPr>
              <a:t>层差</a:t>
            </a:r>
            <a:r>
              <a:rPr lang="zh-CN" altLang="en-US" sz="2800" dirty="0" smtClean="0">
                <a:latin typeface="宋体" charset="-122"/>
              </a:rPr>
              <a:t>和</a:t>
            </a:r>
            <a:r>
              <a:rPr lang="zh-CN" altLang="en-US" sz="2800" dirty="0" smtClean="0">
                <a:solidFill>
                  <a:srgbClr val="0033CC"/>
                </a:solidFill>
                <a:latin typeface="宋体" charset="-122"/>
              </a:rPr>
              <a:t>位移量</a:t>
            </a:r>
            <a:r>
              <a:rPr lang="zh-CN" altLang="en-US" sz="2800" dirty="0" smtClean="0">
                <a:latin typeface="宋体" charset="-122"/>
              </a:rPr>
              <a:t>。例如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800" dirty="0" smtClean="0">
                <a:latin typeface="宋体" charset="-122"/>
              </a:rPr>
              <a:t> </a:t>
            </a:r>
            <a:r>
              <a:rPr lang="en-US" altLang="zh-CN" sz="2800" dirty="0" smtClean="0">
                <a:latin typeface="宋体" charset="-122"/>
              </a:rPr>
              <a:t>gen(opr,0,16);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800" dirty="0" smtClean="0">
                <a:latin typeface="宋体" charset="-122"/>
              </a:rPr>
              <a:t> gen(</a:t>
            </a:r>
            <a:r>
              <a:rPr lang="en-US" altLang="zh-CN" sz="2800" dirty="0" err="1" smtClean="0">
                <a:latin typeface="宋体" charset="-122"/>
              </a:rPr>
              <a:t>sto,lev-level,adr</a:t>
            </a:r>
            <a:r>
              <a:rPr lang="en-US" altLang="zh-CN" sz="2800" dirty="0" smtClean="0">
                <a:latin typeface="宋体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dirty="0" smtClean="0">
                <a:latin typeface="宋体" charset="-122"/>
              </a:rPr>
              <a:t> </a:t>
            </a:r>
            <a:r>
              <a:rPr lang="en-US" altLang="zh-CN" sz="2800" dirty="0" err="1" smtClean="0">
                <a:latin typeface="宋体" charset="-122"/>
              </a:rPr>
              <a:t>lev</a:t>
            </a:r>
            <a:r>
              <a:rPr lang="zh-CN" altLang="en-US" sz="2800" dirty="0" smtClean="0">
                <a:latin typeface="宋体" charset="-122"/>
              </a:rPr>
              <a:t>：当前</a:t>
            </a:r>
            <a:r>
              <a:rPr lang="zh-CN" altLang="zh-CN" sz="2800" dirty="0" smtClean="0"/>
              <a:t>处理的</a:t>
            </a:r>
            <a:r>
              <a:rPr lang="zh-CN" altLang="en-US" sz="2800" dirty="0" smtClean="0">
                <a:latin typeface="宋体" charset="-122"/>
              </a:rPr>
              <a:t>过程层次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latin typeface="宋体" charset="-122"/>
              </a:rPr>
              <a:t> </a:t>
            </a:r>
            <a:r>
              <a:rPr lang="en-US" altLang="zh-CN" sz="2800" dirty="0" smtClean="0">
                <a:latin typeface="宋体" charset="-122"/>
              </a:rPr>
              <a:t>level</a:t>
            </a:r>
            <a:r>
              <a:rPr lang="zh-CN" altLang="en-US" sz="2800" dirty="0" smtClean="0">
                <a:latin typeface="宋体" charset="-122"/>
              </a:rPr>
              <a:t>：被引用变量或过程所在层次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dirty="0" smtClean="0">
                <a:latin typeface="宋体" charset="-122"/>
              </a:rPr>
              <a:t> </a:t>
            </a:r>
            <a:r>
              <a:rPr lang="en-US" altLang="zh-CN" sz="2800" dirty="0" smtClean="0">
                <a:latin typeface="宋体" charset="-122"/>
              </a:rPr>
              <a:t>CX</a:t>
            </a:r>
            <a:r>
              <a:rPr lang="zh-CN" altLang="en-US" sz="2800" dirty="0" smtClean="0">
                <a:latin typeface="宋体" charset="-122"/>
              </a:rPr>
              <a:t>：为目标代码</a:t>
            </a:r>
            <a:r>
              <a:rPr lang="en-US" altLang="zh-CN" sz="2800" dirty="0" smtClean="0">
                <a:latin typeface="宋体" charset="-122"/>
              </a:rPr>
              <a:t>code</a:t>
            </a:r>
            <a:r>
              <a:rPr lang="zh-CN" altLang="en-US" sz="2800" dirty="0" smtClean="0">
                <a:latin typeface="宋体" charset="-122"/>
              </a:rPr>
              <a:t>数组的下标指针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/>
          <p:cNvSpPr>
            <a:spLocks noGrp="1" noChangeArrowheads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6AA20D3F-9156-46D1-9B8D-AF9E9037925E}" type="datetime1">
              <a:rPr lang="zh-CN" altLang="en-US" smtClean="0"/>
              <a:pPr/>
              <a:t>2018/10/26</a:t>
            </a:fld>
            <a:endParaRPr lang="en-US" altLang="zh-CN" smtClean="0"/>
          </a:p>
        </p:txBody>
      </p:sp>
      <p:sp>
        <p:nvSpPr>
          <p:cNvPr id="40963" name="Rectangle 7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 smtClean="0"/>
          </a:p>
        </p:txBody>
      </p:sp>
      <p:sp>
        <p:nvSpPr>
          <p:cNvPr id="40966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9D3B425-C585-4ABB-8A37-3D31EEFBB744}" type="slidenum">
              <a:rPr lang="en-US" altLang="zh-CN" smtClean="0"/>
              <a:pPr/>
              <a:t>12</a:t>
            </a:fld>
            <a:r>
              <a:rPr lang="en-US" altLang="zh-CN" dirty="0" smtClean="0"/>
              <a:t>/13</a:t>
            </a:r>
            <a:endParaRPr lang="en-US" altLang="zh-CN" dirty="0" smtClean="0"/>
          </a:p>
        </p:txBody>
      </p:sp>
      <p:sp>
        <p:nvSpPr>
          <p:cNvPr id="4096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8600" y="1214422"/>
            <a:ext cx="3200400" cy="4714908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2200" dirty="0" smtClean="0">
                <a:latin typeface="宋体" charset="-122"/>
              </a:rPr>
              <a:t>  const  a=10;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err="1" smtClean="0">
                <a:latin typeface="宋体" charset="-122"/>
              </a:rPr>
              <a:t>var</a:t>
            </a:r>
            <a:r>
              <a:rPr lang="en-US" altLang="zh-CN" sz="2200" dirty="0" smtClean="0">
                <a:latin typeface="宋体" charset="-122"/>
              </a:rPr>
              <a:t>    </a:t>
            </a:r>
            <a:r>
              <a:rPr lang="en-US" altLang="zh-CN" sz="2200" dirty="0" err="1" smtClean="0">
                <a:latin typeface="宋体" charset="-122"/>
              </a:rPr>
              <a:t>b,c</a:t>
            </a:r>
            <a:r>
              <a:rPr lang="en-US" altLang="zh-CN" sz="2200" dirty="0" smtClean="0">
                <a:latin typeface="宋体" charset="-122"/>
              </a:rPr>
              <a:t>;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procedure p;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  </a:t>
            </a:r>
            <a:r>
              <a:rPr lang="en-US" altLang="zh-CN" sz="2200" dirty="0" smtClean="0">
                <a:solidFill>
                  <a:schemeClr val="accent1"/>
                </a:solidFill>
                <a:latin typeface="宋体" charset="-122"/>
              </a:rPr>
              <a:t>begin</a:t>
            </a:r>
            <a:br>
              <a:rPr lang="en-US" altLang="zh-CN" sz="2200" dirty="0" smtClean="0">
                <a:solidFill>
                  <a:schemeClr val="accent1"/>
                </a:solidFill>
                <a:latin typeface="宋体" charset="-122"/>
              </a:rPr>
            </a:br>
            <a:r>
              <a:rPr lang="en-US" altLang="zh-CN" sz="2200" dirty="0" smtClean="0">
                <a:solidFill>
                  <a:schemeClr val="accent1"/>
                </a:solidFill>
                <a:latin typeface="宋体" charset="-122"/>
              </a:rPr>
              <a:t>    c:=</a:t>
            </a:r>
            <a:r>
              <a:rPr lang="en-US" altLang="zh-CN" sz="2200" dirty="0" err="1" smtClean="0">
                <a:solidFill>
                  <a:schemeClr val="accent1"/>
                </a:solidFill>
                <a:latin typeface="宋体" charset="-122"/>
              </a:rPr>
              <a:t>b+a</a:t>
            </a:r>
            <a:r>
              <a:rPr lang="en-US" altLang="zh-CN" sz="2200" dirty="0" smtClean="0">
                <a:solidFill>
                  <a:schemeClr val="accent1"/>
                </a:solidFill>
                <a:latin typeface="宋体" charset="-122"/>
              </a:rPr>
              <a:t>;</a:t>
            </a:r>
            <a:br>
              <a:rPr lang="en-US" altLang="zh-CN" sz="2200" dirty="0" smtClean="0">
                <a:solidFill>
                  <a:schemeClr val="accent1"/>
                </a:solidFill>
                <a:latin typeface="宋体" charset="-122"/>
              </a:rPr>
            </a:br>
            <a:r>
              <a:rPr lang="en-US" altLang="zh-CN" sz="2200" dirty="0" smtClean="0">
                <a:solidFill>
                  <a:schemeClr val="accent1"/>
                </a:solidFill>
                <a:latin typeface="宋体" charset="-122"/>
              </a:rPr>
              <a:t>  end;</a:t>
            </a:r>
            <a:br>
              <a:rPr lang="en-US" altLang="zh-CN" sz="2200" dirty="0" smtClean="0">
                <a:solidFill>
                  <a:schemeClr val="accent1"/>
                </a:solidFill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begin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  read(b);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  while </a:t>
            </a:r>
            <a:r>
              <a:rPr lang="en-US" altLang="zh-CN" sz="2200" dirty="0" smtClean="0">
                <a:solidFill>
                  <a:srgbClr val="6600FF"/>
                </a:solidFill>
                <a:latin typeface="宋体" charset="-122"/>
              </a:rPr>
              <a:t>b#0</a:t>
            </a:r>
            <a:r>
              <a:rPr lang="en-US" altLang="zh-CN" sz="2200" dirty="0" smtClean="0">
                <a:latin typeface="宋体" charset="-122"/>
              </a:rPr>
              <a:t> do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  begin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    call p;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    write(2*c);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    read(b);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  end</a:t>
            </a:r>
            <a:br>
              <a:rPr lang="en-US" altLang="zh-CN" sz="2200" dirty="0" smtClean="0">
                <a:latin typeface="宋体" charset="-122"/>
              </a:rPr>
            </a:br>
            <a:r>
              <a:rPr lang="en-US" altLang="zh-CN" sz="2200" dirty="0" smtClean="0">
                <a:latin typeface="宋体" charset="-122"/>
              </a:rPr>
              <a:t>end.</a:t>
            </a:r>
            <a:r>
              <a:rPr lang="en-US" altLang="zh-CN" sz="2400" dirty="0" smtClean="0">
                <a:latin typeface="宋体" charset="-122"/>
              </a:rPr>
              <a:t/>
            </a:r>
            <a:br>
              <a:rPr lang="en-US" altLang="zh-CN" sz="2400" dirty="0" smtClean="0">
                <a:latin typeface="宋体" charset="-122"/>
              </a:rPr>
            </a:br>
            <a:endParaRPr lang="en-US" altLang="zh-CN" sz="2400" dirty="0" smtClean="0">
              <a:latin typeface="宋体" charset="-122"/>
            </a:endParaRPr>
          </a:p>
        </p:txBody>
      </p:sp>
      <p:sp>
        <p:nvSpPr>
          <p:cNvPr id="40968" name="Rectangle 3"/>
          <p:cNvSpPr>
            <a:spLocks noGrp="1" noChangeArrowheads="1"/>
          </p:cNvSpPr>
          <p:nvPr>
            <p:ph sz="quarter" idx="2"/>
          </p:nvPr>
        </p:nvSpPr>
        <p:spPr>
          <a:xfrm>
            <a:off x="3733800" y="0"/>
            <a:ext cx="5410200" cy="6858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( 0) </a:t>
            </a:r>
            <a:r>
              <a:rPr lang="en-US" altLang="zh-CN" sz="2000" dirty="0" err="1" smtClean="0">
                <a:latin typeface="宋体" charset="-122"/>
              </a:rPr>
              <a:t>jmp</a:t>
            </a:r>
            <a:r>
              <a:rPr lang="en-US" altLang="zh-CN" sz="2000" dirty="0" smtClean="0">
                <a:latin typeface="宋体" charset="-122"/>
              </a:rPr>
              <a:t> 0 8  </a:t>
            </a:r>
            <a:r>
              <a:rPr lang="zh-CN" altLang="en-US" sz="2000" dirty="0" smtClean="0">
                <a:latin typeface="宋体" charset="-122"/>
              </a:rPr>
              <a:t>转向</a:t>
            </a:r>
            <a:r>
              <a:rPr lang="zh-CN" altLang="en-US" sz="2000" dirty="0" smtClean="0">
                <a:solidFill>
                  <a:srgbClr val="00CC00"/>
                </a:solidFill>
                <a:latin typeface="宋体" charset="-122"/>
              </a:rPr>
              <a:t>主程序入口</a:t>
            </a:r>
            <a:endParaRPr lang="zh-CN" altLang="en-US" sz="2000" dirty="0" smtClean="0">
              <a:latin typeface="宋体" charset="-122"/>
            </a:endParaRP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( 1) </a:t>
            </a:r>
            <a:r>
              <a:rPr lang="en-US" altLang="zh-CN" sz="2000" dirty="0" err="1" smtClean="0">
                <a:latin typeface="宋体" charset="-122"/>
              </a:rPr>
              <a:t>jmp</a:t>
            </a:r>
            <a:r>
              <a:rPr lang="en-US" altLang="zh-CN" sz="2000" dirty="0" smtClean="0">
                <a:latin typeface="宋体" charset="-122"/>
              </a:rPr>
              <a:t> 0 2  </a:t>
            </a:r>
            <a:r>
              <a:rPr lang="zh-CN" altLang="en-US" sz="2000" dirty="0" smtClean="0">
                <a:latin typeface="宋体" charset="-122"/>
              </a:rPr>
              <a:t>转向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过程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p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入口</a:t>
            </a:r>
            <a:endParaRPr lang="zh-CN" altLang="en-US" sz="2000" dirty="0" smtClean="0">
              <a:latin typeface="宋体" charset="-122"/>
            </a:endParaRP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( 2)</a:t>
            </a:r>
            <a:r>
              <a:rPr lang="en-US" altLang="zh-CN" sz="2000" dirty="0" smtClean="0">
                <a:latin typeface="宋体" charset="-122"/>
              </a:rPr>
              <a:t> </a:t>
            </a:r>
            <a:r>
              <a:rPr lang="en-US" altLang="zh-CN" sz="2000" dirty="0" err="1" smtClean="0">
                <a:solidFill>
                  <a:srgbClr val="6600FF"/>
                </a:solidFill>
                <a:latin typeface="宋体" charset="-122"/>
              </a:rPr>
              <a:t>int</a:t>
            </a:r>
            <a:r>
              <a:rPr lang="en-US" altLang="zh-CN" sz="2000" dirty="0" smtClean="0">
                <a:solidFill>
                  <a:srgbClr val="6600FF"/>
                </a:solidFill>
                <a:latin typeface="宋体" charset="-122"/>
              </a:rPr>
              <a:t> 0 3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  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过程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p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入口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,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为过程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p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开辟空间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( 3) </a:t>
            </a:r>
            <a:r>
              <a:rPr lang="en-US" altLang="zh-CN" sz="2000" dirty="0" err="1" smtClean="0">
                <a:solidFill>
                  <a:schemeClr val="accent1"/>
                </a:solidFill>
                <a:latin typeface="宋体" charset="-122"/>
              </a:rPr>
              <a:t>lod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 </a:t>
            </a:r>
            <a:r>
              <a:rPr lang="en-US" altLang="zh-CN" sz="2000" dirty="0" smtClean="0">
                <a:solidFill>
                  <a:srgbClr val="CC6600"/>
                </a:solidFill>
                <a:latin typeface="宋体" charset="-122"/>
              </a:rPr>
              <a:t>1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 3  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取变量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b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的值到栈顶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( 4) lit 0 10 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取常数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10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到栈顶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( 5) </a:t>
            </a:r>
            <a:r>
              <a:rPr lang="en-US" altLang="zh-CN" sz="2000" dirty="0" err="1" smtClean="0">
                <a:solidFill>
                  <a:schemeClr val="accent1"/>
                </a:solidFill>
                <a:latin typeface="宋体" charset="-122"/>
              </a:rPr>
              <a:t>opr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 0 2  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次栈顶与栈顶相加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( 6) </a:t>
            </a:r>
            <a:r>
              <a:rPr lang="en-US" altLang="zh-CN" sz="2000" dirty="0" err="1" smtClean="0">
                <a:solidFill>
                  <a:schemeClr val="accent1"/>
                </a:solidFill>
                <a:latin typeface="宋体" charset="-122"/>
              </a:rPr>
              <a:t>sto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 </a:t>
            </a:r>
            <a:r>
              <a:rPr lang="en-US" altLang="zh-CN" sz="2000" dirty="0" smtClean="0">
                <a:solidFill>
                  <a:srgbClr val="CC6600"/>
                </a:solidFill>
                <a:latin typeface="宋体" charset="-122"/>
              </a:rPr>
              <a:t>1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 4  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栈顶值送变量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c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中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( 7) </a:t>
            </a:r>
            <a:r>
              <a:rPr lang="en-US" altLang="zh-CN" sz="2000" dirty="0" err="1" smtClean="0">
                <a:solidFill>
                  <a:srgbClr val="6600FF"/>
                </a:solidFill>
                <a:latin typeface="宋体" charset="-122"/>
              </a:rPr>
              <a:t>opr</a:t>
            </a:r>
            <a:r>
              <a:rPr lang="en-US" altLang="zh-CN" sz="2000" dirty="0" smtClean="0">
                <a:solidFill>
                  <a:srgbClr val="6600FF"/>
                </a:solidFill>
                <a:latin typeface="宋体" charset="-122"/>
              </a:rPr>
              <a:t> 0 0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  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退栈并返回调用点</a:t>
            </a:r>
            <a:r>
              <a:rPr lang="en-US" altLang="zh-CN" sz="2000" dirty="0" smtClean="0">
                <a:latin typeface="宋体" charset="-122"/>
              </a:rPr>
              <a:t>(16)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solidFill>
                  <a:srgbClr val="00CC00"/>
                </a:solidFill>
                <a:latin typeface="宋体" charset="-122"/>
              </a:rPr>
              <a:t>( 8)</a:t>
            </a:r>
            <a:r>
              <a:rPr lang="en-US" altLang="zh-CN" sz="2000" dirty="0" smtClean="0">
                <a:latin typeface="宋体" charset="-122"/>
              </a:rPr>
              <a:t> </a:t>
            </a:r>
            <a:r>
              <a:rPr lang="en-US" altLang="zh-CN" sz="2000" dirty="0" err="1" smtClean="0">
                <a:solidFill>
                  <a:srgbClr val="00CC00"/>
                </a:solidFill>
                <a:latin typeface="宋体" charset="-122"/>
              </a:rPr>
              <a:t>int</a:t>
            </a:r>
            <a:r>
              <a:rPr lang="en-US" altLang="zh-CN" sz="2000" dirty="0" smtClean="0">
                <a:solidFill>
                  <a:srgbClr val="00CC00"/>
                </a:solidFill>
                <a:latin typeface="宋体" charset="-122"/>
              </a:rPr>
              <a:t> 0 5  </a:t>
            </a:r>
            <a:r>
              <a:rPr lang="zh-CN" altLang="en-US" sz="2000" dirty="0" smtClean="0">
                <a:solidFill>
                  <a:srgbClr val="00CC00"/>
                </a:solidFill>
                <a:latin typeface="宋体" charset="-122"/>
              </a:rPr>
              <a:t>主程序入口开辟</a:t>
            </a:r>
            <a:r>
              <a:rPr lang="en-US" altLang="zh-CN" sz="2000" dirty="0" smtClean="0">
                <a:solidFill>
                  <a:srgbClr val="00CC00"/>
                </a:solidFill>
                <a:latin typeface="宋体" charset="-122"/>
              </a:rPr>
              <a:t>5</a:t>
            </a:r>
            <a:r>
              <a:rPr lang="zh-CN" altLang="en-US" sz="2000" dirty="0" smtClean="0">
                <a:solidFill>
                  <a:srgbClr val="00CC00"/>
                </a:solidFill>
                <a:latin typeface="宋体" charset="-122"/>
              </a:rPr>
              <a:t>个栈空间</a:t>
            </a:r>
            <a:endParaRPr lang="zh-CN" altLang="en-US" sz="2000" dirty="0" smtClean="0">
              <a:latin typeface="宋体" charset="-122"/>
            </a:endParaRP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( 9) </a:t>
            </a:r>
            <a:r>
              <a:rPr lang="en-US" altLang="zh-CN" sz="2000" dirty="0" err="1" smtClean="0">
                <a:latin typeface="宋体" charset="-122"/>
              </a:rPr>
              <a:t>opr</a:t>
            </a:r>
            <a:r>
              <a:rPr lang="en-US" altLang="zh-CN" sz="2000" dirty="0" smtClean="0">
                <a:latin typeface="宋体" charset="-122"/>
              </a:rPr>
              <a:t> 0 16 </a:t>
            </a:r>
            <a:r>
              <a:rPr lang="zh-CN" altLang="en-US" sz="2000" dirty="0" smtClean="0">
                <a:latin typeface="宋体" charset="-122"/>
              </a:rPr>
              <a:t>从命令行读入值置于栈顶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(10) </a:t>
            </a:r>
            <a:r>
              <a:rPr lang="en-US" altLang="zh-CN" sz="2000" dirty="0" err="1" smtClean="0">
                <a:latin typeface="宋体" charset="-122"/>
              </a:rPr>
              <a:t>sto</a:t>
            </a:r>
            <a:r>
              <a:rPr lang="en-US" altLang="zh-CN" sz="2000" dirty="0" smtClean="0">
                <a:latin typeface="宋体" charset="-122"/>
              </a:rPr>
              <a:t> 0 3  </a:t>
            </a:r>
            <a:r>
              <a:rPr lang="zh-CN" altLang="en-US" sz="2000" dirty="0" smtClean="0">
                <a:latin typeface="宋体" charset="-122"/>
              </a:rPr>
              <a:t>将栈顶值存入变量</a:t>
            </a:r>
            <a:r>
              <a:rPr lang="en-US" altLang="zh-CN" sz="2000" dirty="0" smtClean="0">
                <a:latin typeface="宋体" charset="-122"/>
              </a:rPr>
              <a:t>b</a:t>
            </a:r>
            <a:r>
              <a:rPr lang="zh-CN" altLang="en-US" sz="2000" dirty="0" smtClean="0">
                <a:latin typeface="宋体" charset="-122"/>
              </a:rPr>
              <a:t>中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(11) </a:t>
            </a:r>
            <a:r>
              <a:rPr lang="en-US" altLang="zh-CN" sz="2000" dirty="0" err="1" smtClean="0">
                <a:latin typeface="宋体" charset="-122"/>
              </a:rPr>
              <a:t>lod</a:t>
            </a:r>
            <a:r>
              <a:rPr lang="en-US" altLang="zh-CN" sz="2000" dirty="0" smtClean="0">
                <a:latin typeface="宋体" charset="-122"/>
              </a:rPr>
              <a:t> 0 3  </a:t>
            </a:r>
            <a:r>
              <a:rPr lang="zh-CN" altLang="en-US" sz="2000" dirty="0" smtClean="0">
                <a:latin typeface="宋体" charset="-122"/>
              </a:rPr>
              <a:t>将变量</a:t>
            </a:r>
            <a:r>
              <a:rPr lang="en-US" altLang="zh-CN" sz="2000" dirty="0" smtClean="0">
                <a:latin typeface="宋体" charset="-122"/>
              </a:rPr>
              <a:t>b</a:t>
            </a:r>
            <a:r>
              <a:rPr lang="zh-CN" altLang="en-US" sz="2000" dirty="0" smtClean="0">
                <a:latin typeface="宋体" charset="-122"/>
              </a:rPr>
              <a:t>的值取至栈顶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(12) lit 0 0  </a:t>
            </a:r>
            <a:r>
              <a:rPr lang="zh-CN" altLang="en-US" sz="2000" dirty="0" smtClean="0">
                <a:latin typeface="宋体" charset="-122"/>
              </a:rPr>
              <a:t>将常数值</a:t>
            </a:r>
            <a:r>
              <a:rPr lang="en-US" altLang="zh-CN" sz="2000" dirty="0" smtClean="0">
                <a:latin typeface="宋体" charset="-122"/>
              </a:rPr>
              <a:t>0</a:t>
            </a:r>
            <a:r>
              <a:rPr lang="zh-CN" altLang="en-US" sz="2000" dirty="0" smtClean="0">
                <a:latin typeface="宋体" charset="-122"/>
              </a:rPr>
              <a:t>进栈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(13) </a:t>
            </a:r>
            <a:r>
              <a:rPr lang="en-US" altLang="zh-CN" sz="2000" dirty="0" err="1" smtClean="0">
                <a:latin typeface="宋体" charset="-122"/>
              </a:rPr>
              <a:t>opr</a:t>
            </a:r>
            <a:r>
              <a:rPr lang="en-US" altLang="zh-CN" sz="2000" dirty="0" smtClean="0">
                <a:latin typeface="宋体" charset="-122"/>
              </a:rPr>
              <a:t> 0 9  </a:t>
            </a:r>
            <a:r>
              <a:rPr lang="zh-CN" altLang="en-US" sz="2000" dirty="0" smtClean="0">
                <a:latin typeface="宋体" charset="-122"/>
              </a:rPr>
              <a:t>次栈顶与栈顶是否不等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(14) </a:t>
            </a:r>
            <a:r>
              <a:rPr lang="en-US" altLang="zh-CN" sz="2000" dirty="0" err="1" smtClean="0">
                <a:solidFill>
                  <a:srgbClr val="6600FF"/>
                </a:solidFill>
                <a:latin typeface="宋体" charset="-122"/>
              </a:rPr>
              <a:t>jpc</a:t>
            </a:r>
            <a:r>
              <a:rPr lang="en-US" altLang="zh-CN" sz="2000" dirty="0" smtClean="0">
                <a:solidFill>
                  <a:srgbClr val="6600FF"/>
                </a:solidFill>
                <a:latin typeface="宋体" charset="-122"/>
              </a:rPr>
              <a:t> 0 24</a:t>
            </a:r>
            <a:r>
              <a:rPr lang="en-US" altLang="zh-CN" sz="2000" dirty="0" smtClean="0">
                <a:latin typeface="宋体" charset="-122"/>
              </a:rPr>
              <a:t> </a:t>
            </a:r>
            <a:r>
              <a:rPr lang="zh-CN" altLang="en-US" sz="2000" dirty="0" smtClean="0">
                <a:latin typeface="宋体" charset="-122"/>
              </a:rPr>
              <a:t>等时转</a:t>
            </a:r>
            <a:r>
              <a:rPr lang="en-US" altLang="zh-CN" sz="2000" dirty="0" smtClean="0">
                <a:latin typeface="宋体" charset="-122"/>
              </a:rPr>
              <a:t>(24)</a:t>
            </a:r>
            <a:r>
              <a:rPr lang="zh-CN" altLang="en-US" sz="2000" dirty="0" smtClean="0">
                <a:latin typeface="宋体" charset="-122"/>
              </a:rPr>
              <a:t>（</a:t>
            </a:r>
            <a:r>
              <a:rPr lang="zh-CN" altLang="en-US" sz="2000" dirty="0" smtClean="0">
                <a:solidFill>
                  <a:srgbClr val="6600FF"/>
                </a:solidFill>
                <a:latin typeface="宋体" charset="-122"/>
              </a:rPr>
              <a:t>条件不满足转</a:t>
            </a:r>
            <a:r>
              <a:rPr lang="zh-CN" altLang="en-US" sz="2000" dirty="0" smtClean="0">
                <a:latin typeface="宋体" charset="-122"/>
              </a:rPr>
              <a:t>）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(15) </a:t>
            </a:r>
            <a:r>
              <a:rPr lang="en-US" altLang="zh-CN" sz="2000" dirty="0" smtClean="0">
                <a:solidFill>
                  <a:srgbClr val="6600FF"/>
                </a:solidFill>
                <a:latin typeface="宋体" charset="-122"/>
              </a:rPr>
              <a:t>cal 0 2</a:t>
            </a:r>
            <a:r>
              <a:rPr lang="en-US" altLang="zh-CN" sz="2000" dirty="0" smtClean="0">
                <a:latin typeface="宋体" charset="-122"/>
              </a:rPr>
              <a:t>  </a:t>
            </a:r>
            <a:r>
              <a:rPr lang="zh-CN" altLang="en-US" sz="2000" dirty="0" smtClean="0">
                <a:solidFill>
                  <a:schemeClr val="accent1"/>
                </a:solidFill>
                <a:latin typeface="宋体" charset="-122"/>
              </a:rPr>
              <a:t>调用过程</a:t>
            </a:r>
            <a:r>
              <a:rPr lang="en-US" altLang="zh-CN" sz="2000" dirty="0" smtClean="0">
                <a:solidFill>
                  <a:schemeClr val="accent1"/>
                </a:solidFill>
                <a:latin typeface="宋体" charset="-122"/>
              </a:rPr>
              <a:t>p</a:t>
            </a:r>
            <a:endParaRPr lang="en-US" altLang="zh-CN" sz="2000" dirty="0" smtClean="0">
              <a:latin typeface="宋体" charset="-122"/>
            </a:endParaRP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(16) lit 0 2  </a:t>
            </a:r>
            <a:r>
              <a:rPr lang="zh-CN" altLang="en-US" sz="2000" dirty="0" smtClean="0">
                <a:latin typeface="宋体" charset="-122"/>
              </a:rPr>
              <a:t>常数值</a:t>
            </a:r>
            <a:r>
              <a:rPr lang="en-US" altLang="zh-CN" sz="2000" dirty="0" smtClean="0">
                <a:latin typeface="宋体" charset="-122"/>
              </a:rPr>
              <a:t>2</a:t>
            </a:r>
            <a:r>
              <a:rPr lang="zh-CN" altLang="en-US" sz="2000" dirty="0" smtClean="0">
                <a:latin typeface="宋体" charset="-122"/>
              </a:rPr>
              <a:t>进栈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(17) </a:t>
            </a:r>
            <a:r>
              <a:rPr lang="en-US" altLang="zh-CN" sz="2000" dirty="0" err="1" smtClean="0">
                <a:latin typeface="宋体" charset="-122"/>
              </a:rPr>
              <a:t>lod</a:t>
            </a:r>
            <a:r>
              <a:rPr lang="en-US" altLang="zh-CN" sz="2000" dirty="0" smtClean="0">
                <a:latin typeface="宋体" charset="-122"/>
              </a:rPr>
              <a:t> </a:t>
            </a:r>
            <a:r>
              <a:rPr lang="en-US" altLang="zh-CN" sz="2000" dirty="0" smtClean="0">
                <a:solidFill>
                  <a:srgbClr val="CC6600"/>
                </a:solidFill>
                <a:latin typeface="宋体" charset="-122"/>
              </a:rPr>
              <a:t>0</a:t>
            </a:r>
            <a:r>
              <a:rPr lang="en-US" altLang="zh-CN" sz="2000" dirty="0" smtClean="0">
                <a:latin typeface="宋体" charset="-122"/>
              </a:rPr>
              <a:t> 4  </a:t>
            </a:r>
            <a:r>
              <a:rPr lang="zh-CN" altLang="en-US" sz="2000" dirty="0" smtClean="0">
                <a:latin typeface="宋体" charset="-122"/>
              </a:rPr>
              <a:t>将变量</a:t>
            </a:r>
            <a:r>
              <a:rPr lang="en-US" altLang="zh-CN" sz="2000" dirty="0" smtClean="0">
                <a:latin typeface="宋体" charset="-122"/>
              </a:rPr>
              <a:t>c</a:t>
            </a:r>
            <a:r>
              <a:rPr lang="zh-CN" altLang="en-US" sz="2000" dirty="0" smtClean="0">
                <a:latin typeface="宋体" charset="-122"/>
              </a:rPr>
              <a:t>的值取至栈顶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(18) </a:t>
            </a:r>
            <a:r>
              <a:rPr lang="en-US" altLang="zh-CN" sz="2000" dirty="0" err="1" smtClean="0">
                <a:latin typeface="宋体" charset="-122"/>
              </a:rPr>
              <a:t>opr</a:t>
            </a:r>
            <a:r>
              <a:rPr lang="en-US" altLang="zh-CN" sz="2000" dirty="0" smtClean="0">
                <a:latin typeface="宋体" charset="-122"/>
              </a:rPr>
              <a:t> 0 4  </a:t>
            </a:r>
            <a:r>
              <a:rPr lang="zh-CN" altLang="en-US" sz="2000" dirty="0" smtClean="0">
                <a:latin typeface="宋体" charset="-122"/>
              </a:rPr>
              <a:t>次栈顶与栈顶相乘</a:t>
            </a:r>
            <a:r>
              <a:rPr lang="en-US" altLang="zh-CN" sz="2000" dirty="0" smtClean="0">
                <a:latin typeface="宋体" charset="-122"/>
              </a:rPr>
              <a:t>(2</a:t>
            </a:r>
            <a:r>
              <a:rPr lang="en-US" altLang="zh-CN" dirty="0" smtClean="0">
                <a:latin typeface="宋体" charset="-122"/>
              </a:rPr>
              <a:t>*c)</a:t>
            </a:r>
            <a:endParaRPr lang="en-US" altLang="zh-CN" sz="2000" dirty="0" smtClean="0">
              <a:latin typeface="宋体" charset="-122"/>
            </a:endParaRP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(19) </a:t>
            </a:r>
            <a:r>
              <a:rPr lang="en-US" altLang="zh-CN" sz="2000" dirty="0" err="1" smtClean="0">
                <a:latin typeface="宋体" charset="-122"/>
              </a:rPr>
              <a:t>opr</a:t>
            </a:r>
            <a:r>
              <a:rPr lang="en-US" altLang="zh-CN" sz="2000" dirty="0" smtClean="0">
                <a:latin typeface="宋体" charset="-122"/>
              </a:rPr>
              <a:t> 0 14 </a:t>
            </a:r>
            <a:r>
              <a:rPr lang="zh-CN" altLang="en-US" sz="2000" dirty="0" smtClean="0">
                <a:latin typeface="宋体" charset="-122"/>
              </a:rPr>
              <a:t>栈顶值输出至屏幕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(20) </a:t>
            </a:r>
            <a:r>
              <a:rPr lang="en-US" altLang="zh-CN" sz="2000" dirty="0" err="1" smtClean="0">
                <a:latin typeface="宋体" charset="-122"/>
              </a:rPr>
              <a:t>opr</a:t>
            </a:r>
            <a:r>
              <a:rPr lang="en-US" altLang="zh-CN" sz="2000" dirty="0" smtClean="0">
                <a:latin typeface="宋体" charset="-122"/>
              </a:rPr>
              <a:t> 0 15 </a:t>
            </a:r>
            <a:r>
              <a:rPr lang="zh-CN" altLang="en-US" sz="2000" dirty="0" smtClean="0">
                <a:latin typeface="宋体" charset="-122"/>
              </a:rPr>
              <a:t>换行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(21) </a:t>
            </a:r>
            <a:r>
              <a:rPr lang="en-US" altLang="zh-CN" sz="2000" dirty="0" err="1" smtClean="0">
                <a:latin typeface="宋体" charset="-122"/>
              </a:rPr>
              <a:t>opr</a:t>
            </a:r>
            <a:r>
              <a:rPr lang="en-US" altLang="zh-CN" sz="2000" dirty="0" smtClean="0">
                <a:latin typeface="宋体" charset="-122"/>
              </a:rPr>
              <a:t> 0 16 </a:t>
            </a:r>
            <a:r>
              <a:rPr lang="zh-CN" altLang="en-US" sz="2000" dirty="0" smtClean="0">
                <a:latin typeface="宋体" charset="-122"/>
              </a:rPr>
              <a:t>从命令行读取值到栈顶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(22) </a:t>
            </a:r>
            <a:r>
              <a:rPr lang="en-US" altLang="zh-CN" sz="2000" dirty="0" err="1" smtClean="0">
                <a:latin typeface="宋体" charset="-122"/>
              </a:rPr>
              <a:t>sto</a:t>
            </a:r>
            <a:r>
              <a:rPr lang="en-US" altLang="zh-CN" sz="2000" dirty="0" smtClean="0">
                <a:latin typeface="宋体" charset="-122"/>
              </a:rPr>
              <a:t> </a:t>
            </a:r>
            <a:r>
              <a:rPr lang="en-US" altLang="zh-CN" sz="2000" dirty="0" smtClean="0">
                <a:solidFill>
                  <a:srgbClr val="CC6600"/>
                </a:solidFill>
                <a:latin typeface="宋体" charset="-122"/>
              </a:rPr>
              <a:t>0</a:t>
            </a:r>
            <a:r>
              <a:rPr lang="en-US" altLang="zh-CN" sz="2000" dirty="0" smtClean="0">
                <a:latin typeface="宋体" charset="-122"/>
              </a:rPr>
              <a:t> 3  </a:t>
            </a:r>
            <a:r>
              <a:rPr lang="zh-CN" altLang="en-US" sz="2000" dirty="0" smtClean="0">
                <a:latin typeface="宋体" charset="-122"/>
              </a:rPr>
              <a:t>栈顶值送变量</a:t>
            </a:r>
            <a:r>
              <a:rPr lang="en-US" altLang="zh-CN" sz="2000" dirty="0" smtClean="0">
                <a:latin typeface="宋体" charset="-122"/>
              </a:rPr>
              <a:t>b</a:t>
            </a:r>
            <a:r>
              <a:rPr lang="zh-CN" altLang="en-US" sz="2000" dirty="0" smtClean="0">
                <a:latin typeface="宋体" charset="-122"/>
              </a:rPr>
              <a:t>中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(23) </a:t>
            </a:r>
            <a:r>
              <a:rPr lang="en-US" altLang="zh-CN" sz="2000" dirty="0" err="1" smtClean="0">
                <a:latin typeface="宋体" charset="-122"/>
              </a:rPr>
              <a:t>jmp</a:t>
            </a:r>
            <a:r>
              <a:rPr lang="en-US" altLang="zh-CN" sz="2000" dirty="0" smtClean="0">
                <a:latin typeface="宋体" charset="-122"/>
              </a:rPr>
              <a:t> 0 11 </a:t>
            </a:r>
            <a:r>
              <a:rPr lang="zh-CN" altLang="en-US" sz="2000" dirty="0" smtClean="0">
                <a:latin typeface="宋体" charset="-122"/>
              </a:rPr>
              <a:t>无条件转到循环入口</a:t>
            </a:r>
            <a:r>
              <a:rPr lang="en-US" altLang="zh-CN" sz="2000" dirty="0" smtClean="0">
                <a:latin typeface="宋体" charset="-122"/>
              </a:rPr>
              <a:t>(11)</a:t>
            </a:r>
          </a:p>
          <a:p>
            <a:pPr eaLnBrk="1" hangingPunct="1">
              <a:lnSpc>
                <a:spcPct val="67000"/>
              </a:lnSpc>
              <a:buFont typeface="Symbol" pitchFamily="18" charset="2"/>
              <a:buNone/>
            </a:pPr>
            <a:r>
              <a:rPr lang="en-US" altLang="zh-CN" sz="2000" dirty="0" smtClean="0">
                <a:latin typeface="宋体" charset="-122"/>
              </a:rPr>
              <a:t>(24) </a:t>
            </a:r>
            <a:r>
              <a:rPr lang="en-US" altLang="zh-CN" sz="2000" dirty="0" err="1" smtClean="0">
                <a:latin typeface="宋体" charset="-122"/>
              </a:rPr>
              <a:t>opr</a:t>
            </a:r>
            <a:r>
              <a:rPr lang="en-US" altLang="zh-CN" sz="2000" dirty="0" smtClean="0">
                <a:latin typeface="宋体" charset="-122"/>
              </a:rPr>
              <a:t> 0 0  </a:t>
            </a:r>
            <a:r>
              <a:rPr lang="zh-CN" altLang="en-US" sz="2000" dirty="0" smtClean="0">
                <a:latin typeface="宋体" charset="-122"/>
              </a:rPr>
              <a:t>结束退栈</a:t>
            </a:r>
          </a:p>
          <a:p>
            <a:pPr eaLnBrk="1" hangingPunct="1">
              <a:lnSpc>
                <a:spcPct val="67000"/>
              </a:lnSpc>
              <a:buFont typeface="Wingdings" pitchFamily="2" charset="2"/>
              <a:buNone/>
            </a:pPr>
            <a:endParaRPr lang="en-US" altLang="zh-CN" dirty="0" smtClean="0"/>
          </a:p>
        </p:txBody>
      </p:sp>
      <p:sp>
        <p:nvSpPr>
          <p:cNvPr id="21" name="矩形 20"/>
          <p:cNvSpPr/>
          <p:nvPr/>
        </p:nvSpPr>
        <p:spPr>
          <a:xfrm>
            <a:off x="285720" y="5857892"/>
            <a:ext cx="30235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33CC"/>
                </a:solidFill>
              </a:rPr>
              <a:t>可运行源程序来查看结果</a:t>
            </a:r>
            <a:endParaRPr lang="zh-CN" altLang="en-US" dirty="0">
              <a:solidFill>
                <a:srgbClr val="00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DF8871-934E-455A-AFE6-80C50EBB12C7}" type="datetime1">
              <a:rPr lang="zh-CN" altLang="en-US" smtClean="0"/>
              <a:pPr>
                <a:defRPr/>
              </a:pPr>
              <a:t>2018/10/26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第</a:t>
            </a:r>
            <a:r>
              <a:rPr lang="en-US" altLang="zh-CN" smtClean="0"/>
              <a:t>1</a:t>
            </a:r>
            <a:r>
              <a:rPr lang="zh-CN" altLang="en-US" smtClean="0"/>
              <a:t>章：引论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17B484-26A2-41C4-94C2-D5175C11DC21}" type="slidenum">
              <a:rPr lang="en-US" altLang="zh-CN" smtClean="0"/>
              <a:pPr>
                <a:defRPr/>
              </a:pPr>
              <a:t>13</a:t>
            </a:fld>
            <a:r>
              <a:rPr lang="en-US" altLang="zh-CN" dirty="0" smtClean="0"/>
              <a:t>/13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56113" y="3879850"/>
            <a:ext cx="2819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altLang="zh-CN" sz="4000" b="1" i="1">
                <a:solidFill>
                  <a:schemeClr val="tx2"/>
                </a:solidFill>
                <a:latin typeface="Arial" pitchFamily="34" charset="0"/>
              </a:rPr>
              <a:t>Thank You</a:t>
            </a:r>
            <a:endParaRPr kumimoji="1" lang="en-US" altLang="zh-CN" sz="3200" b="1" i="1">
              <a:solidFill>
                <a:schemeClr val="tx2"/>
              </a:solidFill>
              <a:latin typeface="CMR10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398713" y="2565400"/>
            <a:ext cx="5486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en-US" altLang="zh-CN" sz="3200" b="1" i="1" dirty="0">
                <a:solidFill>
                  <a:schemeClr val="tx2"/>
                </a:solidFill>
                <a:latin typeface="Arial" pitchFamily="34" charset="0"/>
              </a:rPr>
              <a:t>The End of </a:t>
            </a:r>
            <a:r>
              <a:rPr lang="en-US" altLang="zh-CN" sz="3200" b="1" i="1" dirty="0" smtClean="0">
                <a:solidFill>
                  <a:schemeClr val="tx2"/>
                </a:solidFill>
                <a:latin typeface="Arial" pitchFamily="34" charset="0"/>
              </a:rPr>
              <a:t>Ch.1. </a:t>
            </a:r>
            <a:r>
              <a:rPr kumimoji="1" lang="en-US" altLang="zh-CN" sz="3200" b="1" i="1" dirty="0" smtClean="0">
                <a:solidFill>
                  <a:schemeClr val="tx2"/>
                </a:solidFill>
                <a:latin typeface="CMR10" charset="0"/>
              </a:rPr>
              <a:t> </a:t>
            </a:r>
            <a:endParaRPr kumimoji="1" lang="en-US" altLang="zh-CN" sz="3200" b="1" i="1" dirty="0">
              <a:solidFill>
                <a:schemeClr val="tx2"/>
              </a:solidFill>
              <a:latin typeface="CMR1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质朴">
  <a:themeElements>
    <a:clrScheme name="质朴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质朴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质朴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5856</TotalTime>
  <Words>788</Words>
  <Application>Microsoft Office PowerPoint</Application>
  <PresentationFormat>全屏显示(4:3)</PresentationFormat>
  <Paragraphs>160</Paragraphs>
  <Slides>13</Slides>
  <Notes>9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质朴</vt:lpstr>
      <vt:lpstr>文档</vt:lpstr>
      <vt:lpstr>第1章  1.4PL/0语言编译系统</vt:lpstr>
      <vt:lpstr>1.4.1 PL/0语言描述</vt:lpstr>
      <vt:lpstr>幻灯片 3</vt:lpstr>
      <vt:lpstr>1.4.2 PL/0语言</vt:lpstr>
      <vt:lpstr>1. PL/0程序示例</vt:lpstr>
      <vt:lpstr>2. PL/0语言的EBNF表示</vt:lpstr>
      <vt:lpstr>幻灯片 7</vt:lpstr>
      <vt:lpstr>幻灯片 8</vt:lpstr>
      <vt:lpstr> 1.4.3PL/0编译程序的目标代码结构和代码生成</vt:lpstr>
      <vt:lpstr>幻灯片 10</vt:lpstr>
      <vt:lpstr>代码生成</vt:lpstr>
      <vt:lpstr>幻灯片 12</vt:lpstr>
      <vt:lpstr>幻灯片 13</vt:lpstr>
    </vt:vector>
  </TitlesOfParts>
  <Manager/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 PL/0编译程序的实现</dc:title>
  <dc:creator>lxl</dc:creator>
  <cp:lastModifiedBy>江西理工大学</cp:lastModifiedBy>
  <cp:revision>465</cp:revision>
  <cp:lastPrinted>2000-02-27T13:06:38Z</cp:lastPrinted>
  <dcterms:created xsi:type="dcterms:W3CDTF">2000-10-15T02:14:17Z</dcterms:created>
  <dcterms:modified xsi:type="dcterms:W3CDTF">2018-10-26T02:23:40Z</dcterms:modified>
</cp:coreProperties>
</file>