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sldIdLst>
    <p:sldId id="340" r:id="rId2"/>
    <p:sldId id="328" r:id="rId3"/>
    <p:sldId id="341" r:id="rId4"/>
    <p:sldId id="342" r:id="rId5"/>
    <p:sldId id="343" r:id="rId6"/>
    <p:sldId id="344" r:id="rId7"/>
    <p:sldId id="345" r:id="rId8"/>
    <p:sldId id="346" r:id="rId9"/>
    <p:sldId id="351" r:id="rId10"/>
    <p:sldId id="352" r:id="rId11"/>
    <p:sldId id="347" r:id="rId12"/>
    <p:sldId id="348" r:id="rId13"/>
    <p:sldId id="349" r:id="rId14"/>
    <p:sldId id="350" r:id="rId15"/>
    <p:sldId id="353" r:id="rId16"/>
    <p:sldId id="354" r:id="rId17"/>
    <p:sldId id="355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5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0AC9C-9972-4426-A1C8-FDCFED19FBC9}" type="datetimeFigureOut">
              <a:rPr lang="zh-CN" altLang="en-US" smtClean="0"/>
              <a:t>2016/11/10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B3F03-5BC7-4065-91F8-E4EB2C74A2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63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词法分析是编译过程的第一步</a:t>
            </a:r>
            <a:r>
              <a:rPr lang="en-US" altLang="zh-CN" dirty="0"/>
              <a:t>,</a:t>
            </a:r>
            <a:r>
              <a:rPr lang="zh-CN" altLang="en-US" dirty="0"/>
              <a:t>其主要任务是对源程序进行扫描</a:t>
            </a:r>
            <a:r>
              <a:rPr lang="en-US" altLang="zh-CN" dirty="0"/>
              <a:t>,</a:t>
            </a:r>
            <a:r>
              <a:rPr lang="zh-CN" altLang="en-US" dirty="0"/>
              <a:t>产生一个个的单词符号</a:t>
            </a:r>
            <a:r>
              <a:rPr lang="en-US" altLang="zh-CN" dirty="0"/>
              <a:t>,</a:t>
            </a:r>
            <a:r>
              <a:rPr lang="zh-CN" altLang="en-US" dirty="0"/>
              <a:t>把作为字符串的源程序改造成为单词符号串的中间程序。因此</a:t>
            </a:r>
            <a:r>
              <a:rPr lang="en-US" altLang="zh-CN" dirty="0"/>
              <a:t>,</a:t>
            </a:r>
            <a:r>
              <a:rPr lang="zh-CN" altLang="en-US" dirty="0"/>
              <a:t>词法分析是编译的基础。执行词法分析是编译的基础。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9C7592-60B5-4CFB-BF5F-9B82BFCA653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215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3" y="4738254"/>
            <a:ext cx="1795415" cy="179541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3" y="-201835"/>
            <a:ext cx="1735931" cy="17359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1694" y="720297"/>
            <a:ext cx="6260054" cy="1468721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01694" y="2234849"/>
            <a:ext cx="6260054" cy="322384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none"/>
        </p:style>
        <p:txBody>
          <a:bodyPr/>
          <a:lstStyle>
            <a:lvl1pPr marL="0" indent="0" algn="just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Subtitle 4"/>
          <p:cNvSpPr txBox="1">
            <a:spLocks/>
          </p:cNvSpPr>
          <p:nvPr/>
        </p:nvSpPr>
        <p:spPr bwMode="auto">
          <a:xfrm>
            <a:off x="2987824" y="5251897"/>
            <a:ext cx="5273924" cy="1041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3525" indent="-263525" algn="just" rtl="0" fontAlgn="base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Times New Roman" panose="02020603050405020304" pitchFamily="18" charset="0"/>
              <a:buChar char="§"/>
              <a:defRPr sz="36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1pPr>
            <a:lvl2pPr marL="971550" indent="-514350" algn="just" rtl="0" fontAlgn="base">
              <a:spcBef>
                <a:spcPts val="600"/>
              </a:spcBef>
              <a:spcAft>
                <a:spcPts val="600"/>
              </a:spcAft>
              <a:buClr>
                <a:srgbClr val="339933"/>
              </a:buClr>
              <a:buFont typeface="微软雅黑" panose="020B0503020204020204" pitchFamily="34" charset="-122"/>
              <a:buAutoNum type="circleNumDbPlain"/>
              <a:defRPr sz="34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2pPr>
            <a:lvl3pPr marL="1076325" indent="-161925" algn="just" rtl="0" fontAlgn="base"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3pPr>
            <a:lvl4pPr marL="1657350" indent="-285750" algn="just" rtl="0" fontAlgn="base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4pPr>
            <a:lvl5pPr marL="2114550" indent="-285750" algn="just" rtl="0" fontAlgn="base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zh-CN" sz="1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</a:t>
            </a:r>
            <a:r>
              <a:rPr lang="en-US" altLang="zh-CN" sz="2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h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</a:t>
            </a:r>
            <a:r>
              <a:rPr lang="en-US" altLang="zh-CN" sz="2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sz="32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g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</a:t>
            </a:r>
            <a:r>
              <a:rPr lang="en-US" altLang="zh-CN" sz="4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i</a:t>
            </a:r>
            <a:r>
              <a:rPr lang="en-US" altLang="zh-CN" sz="4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</a:t>
            </a:r>
            <a:r>
              <a:rPr lang="en-US" altLang="zh-CN" sz="72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sz="66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Ou</a:t>
            </a:r>
            <a:r>
              <a:rPr lang="en-US" altLang="zh-CN" sz="4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y</a:t>
            </a:r>
            <a:r>
              <a:rPr lang="en-US" altLang="zh-CN" sz="4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</a:t>
            </a:r>
            <a:r>
              <a:rPr lang="en-US" altLang="zh-CN" sz="2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g</a:t>
            </a:r>
            <a:endParaRPr lang="zh-CN" altLang="en-US" sz="1800" dirty="0">
              <a:ln w="0"/>
              <a:solidFill>
                <a:srgbClr val="0066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929674" y="3055079"/>
            <a:ext cx="3374504" cy="334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8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6" y="0"/>
            <a:ext cx="2670214" cy="267021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15816" y="1268401"/>
            <a:ext cx="5832648" cy="1296144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3528" y="2924944"/>
            <a:ext cx="6023660" cy="3192760"/>
          </a:xfrm>
        </p:spPr>
        <p:txBody>
          <a:bodyPr/>
          <a:lstStyle>
            <a:lvl1pPr marL="0" indent="0" algn="just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347188" y="3949771"/>
            <a:ext cx="2633438" cy="24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1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66763"/>
          </a:xfrm>
        </p:spPr>
        <p:txBody>
          <a:bodyPr/>
          <a:lstStyle>
            <a:lvl1pPr>
              <a:defRPr sz="4000" b="0" i="0" baseline="0"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50747"/>
            <a:ext cx="8435280" cy="5602427"/>
          </a:xfrm>
        </p:spPr>
        <p:txBody>
          <a:bodyPr/>
          <a:lstStyle>
            <a:lvl1pPr marL="360363" indent="-360363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  <a:defRPr>
                <a:latin typeface="Times New Roman" pitchFamily="18" charset="0"/>
                <a:cs typeface="Times New Roman" pitchFamily="18" charset="0"/>
              </a:defRPr>
            </a:lvl1pPr>
            <a:lvl2pPr marL="971550" indent="-514350"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  <a:defRPr>
                <a:latin typeface="Times New Roman" pitchFamily="18" charset="0"/>
                <a:cs typeface="Times New Roman" pitchFamily="18" charset="0"/>
              </a:defRPr>
            </a:lvl2pPr>
            <a:lvl3pPr marL="1169988" indent="-2555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灯片编号占位符 23"/>
          <p:cNvSpPr>
            <a:spLocks noGrp="1"/>
          </p:cNvSpPr>
          <p:nvPr>
            <p:ph type="sldNum" sz="quarter" idx="10"/>
          </p:nvPr>
        </p:nvSpPr>
        <p:spPr>
          <a:xfrm>
            <a:off x="8262937" y="6364542"/>
            <a:ext cx="847725" cy="493458"/>
          </a:xfrm>
        </p:spPr>
        <p:txBody>
          <a:bodyPr/>
          <a:lstStyle>
            <a:lvl1pPr>
              <a:defRPr smtClean="0"/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348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66763"/>
          </a:xfrm>
        </p:spPr>
        <p:txBody>
          <a:bodyPr/>
          <a:lstStyle>
            <a:lvl1pPr>
              <a:defRPr sz="4000" b="0" i="0" baseline="0"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50747"/>
            <a:ext cx="8435280" cy="5602427"/>
          </a:xfrm>
        </p:spPr>
        <p:txBody>
          <a:bodyPr/>
          <a:lstStyle>
            <a:lvl1pPr marL="360363" indent="-360363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  <a:defRPr>
                <a:latin typeface="Times New Roman" pitchFamily="18" charset="0"/>
                <a:cs typeface="Times New Roman" pitchFamily="18" charset="0"/>
              </a:defRPr>
            </a:lvl1pPr>
            <a:lvl2pPr marL="971550" indent="-514350"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  <a:defRPr>
                <a:latin typeface="Times New Roman" pitchFamily="18" charset="0"/>
                <a:cs typeface="Times New Roman" pitchFamily="18" charset="0"/>
              </a:defRPr>
            </a:lvl2pPr>
            <a:lvl3pPr marL="1169988" indent="-2555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4" name="灯片编号占位符 23"/>
          <p:cNvSpPr>
            <a:spLocks noGrp="1"/>
          </p:cNvSpPr>
          <p:nvPr>
            <p:ph type="sldNum" sz="quarter" idx="10"/>
          </p:nvPr>
        </p:nvSpPr>
        <p:spPr>
          <a:xfrm>
            <a:off x="8262937" y="6364542"/>
            <a:ext cx="847725" cy="493458"/>
          </a:xfrm>
        </p:spPr>
        <p:txBody>
          <a:bodyPr/>
          <a:lstStyle>
            <a:lvl1pPr>
              <a:defRPr smtClean="0"/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33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66763"/>
          </a:xfrm>
        </p:spPr>
        <p:txBody>
          <a:bodyPr/>
          <a:lstStyle>
            <a:lvl1pPr>
              <a:defRPr sz="4000" b="0" i="0" baseline="0"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50747"/>
            <a:ext cx="8435280" cy="5602427"/>
          </a:xfrm>
        </p:spPr>
        <p:txBody>
          <a:bodyPr/>
          <a:lstStyle>
            <a:lvl1pPr marL="360363" indent="-360363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  <a:defRPr>
                <a:latin typeface="Times New Roman" pitchFamily="18" charset="0"/>
                <a:cs typeface="Times New Roman" pitchFamily="18" charset="0"/>
              </a:defRPr>
            </a:lvl1pPr>
            <a:lvl2pPr marL="971550" indent="-514350"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  <a:defRPr>
                <a:latin typeface="Times New Roman" pitchFamily="18" charset="0"/>
                <a:cs typeface="Times New Roman" pitchFamily="18" charset="0"/>
              </a:defRPr>
            </a:lvl2pPr>
            <a:lvl3pPr marL="1169988" indent="-2555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4" name="灯片编号占位符 23"/>
          <p:cNvSpPr>
            <a:spLocks noGrp="1"/>
          </p:cNvSpPr>
          <p:nvPr>
            <p:ph type="sldNum" sz="quarter" idx="10"/>
          </p:nvPr>
        </p:nvSpPr>
        <p:spPr>
          <a:xfrm>
            <a:off x="8262937" y="6364542"/>
            <a:ext cx="847725" cy="493458"/>
          </a:xfrm>
        </p:spPr>
        <p:txBody>
          <a:bodyPr/>
          <a:lstStyle>
            <a:lvl1pPr>
              <a:defRPr smtClean="0"/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58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4025" y="-46038"/>
            <a:ext cx="7770813" cy="746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28625" y="755650"/>
            <a:ext cx="8391525" cy="575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42275" y="6557963"/>
            <a:ext cx="1087438" cy="3222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b="1"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B13FA1B5-DF59-4DC3-B9CD-D937F2F9963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8"/>
          <p:cNvCxnSpPr/>
          <p:nvPr/>
        </p:nvCxnSpPr>
        <p:spPr>
          <a:xfrm>
            <a:off x="454025" y="700088"/>
            <a:ext cx="8366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5"/>
          <p:cNvSpPr/>
          <p:nvPr/>
        </p:nvSpPr>
        <p:spPr>
          <a:xfrm>
            <a:off x="268288" y="61913"/>
            <a:ext cx="160337" cy="62547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pic>
        <p:nvPicPr>
          <p:cNvPr id="1031" name="图片 17" descr="20101016174155631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8" y="-93663"/>
            <a:ext cx="85725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2" name="组合 18"/>
          <p:cNvGrpSpPr>
            <a:grpSpLocks/>
          </p:cNvGrpSpPr>
          <p:nvPr/>
        </p:nvGrpSpPr>
        <p:grpSpPr bwMode="auto">
          <a:xfrm>
            <a:off x="0" y="6356350"/>
            <a:ext cx="9144000" cy="1588"/>
            <a:chOff x="0" y="6356612"/>
            <a:chExt cx="9144000" cy="1583"/>
          </a:xfrm>
        </p:grpSpPr>
        <p:cxnSp>
          <p:nvCxnSpPr>
            <p:cNvPr id="11" name="直接连接符 19"/>
            <p:cNvCxnSpPr/>
            <p:nvPr userDrawn="1"/>
          </p:nvCxnSpPr>
          <p:spPr>
            <a:xfrm>
              <a:off x="0" y="6356612"/>
              <a:ext cx="3779838" cy="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27"/>
            <p:cNvCxnSpPr/>
            <p:nvPr userDrawn="1"/>
          </p:nvCxnSpPr>
          <p:spPr>
            <a:xfrm>
              <a:off x="5364163" y="6356612"/>
              <a:ext cx="3779837" cy="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233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/>
    </p:bld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63525" indent="-263525" algn="just" rtl="0" eaLnBrk="1" fontAlgn="base" hangingPunct="1">
        <a:spcBef>
          <a:spcPts val="600"/>
        </a:spcBef>
        <a:spcAft>
          <a:spcPts val="600"/>
        </a:spcAft>
        <a:buClr>
          <a:srgbClr val="C00000"/>
        </a:buClr>
        <a:buFont typeface="Wingdings" panose="05000000000000000000" pitchFamily="2" charset="2"/>
        <a:buChar char="Ø"/>
        <a:defRPr sz="36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1pPr>
      <a:lvl2pPr marL="971550" indent="-514350" algn="just" rtl="0" eaLnBrk="1" fontAlgn="base" hangingPunct="1">
        <a:spcBef>
          <a:spcPts val="600"/>
        </a:spcBef>
        <a:spcAft>
          <a:spcPts val="600"/>
        </a:spcAft>
        <a:buClr>
          <a:srgbClr val="339933"/>
        </a:buClr>
        <a:buFont typeface="Times New Roman" panose="02020603050405020304" pitchFamily="18" charset="0"/>
        <a:buChar char="−"/>
        <a:defRPr sz="34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2pPr>
      <a:lvl3pPr marL="1076325" indent="-161925" algn="just" rtl="0" eaLnBrk="1" fontAlgn="base" hangingPunct="1">
        <a:spcBef>
          <a:spcPts val="600"/>
        </a:spcBef>
        <a:spcAft>
          <a:spcPts val="600"/>
        </a:spcAft>
        <a:buClr>
          <a:srgbClr val="0000CC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3pPr>
      <a:lvl4pPr marL="1657350" indent="-285750" algn="just" rtl="0" eaLnBrk="1" fontAlgn="base" hangingPunct="1">
        <a:spcBef>
          <a:spcPts val="200"/>
        </a:spcBef>
        <a:spcAft>
          <a:spcPts val="200"/>
        </a:spcAft>
        <a:buClr>
          <a:srgbClr val="0070C0"/>
        </a:buClr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4pPr>
      <a:lvl5pPr marL="2114550" indent="-285750" algn="just" rtl="0" eaLnBrk="1" fontAlgn="base" hangingPunct="1">
        <a:spcBef>
          <a:spcPts val="200"/>
        </a:spcBef>
        <a:spcAft>
          <a:spcPts val="200"/>
        </a:spcAft>
        <a:buClr>
          <a:srgbClr val="0070C0"/>
        </a:buClr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章  </a:t>
            </a:r>
            <a:r>
              <a:rPr lang="zh-CN" altLang="en-US" dirty="0"/>
              <a:t>词法分析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 smtClean="0"/>
              <a:t>第</a:t>
            </a:r>
            <a:r>
              <a:rPr lang="en-US" altLang="zh-CN" dirty="0" smtClean="0"/>
              <a:t>307</a:t>
            </a:r>
            <a:r>
              <a:rPr lang="zh-CN" altLang="en-US" dirty="0" smtClean="0"/>
              <a:t>讲 典型例题及解答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EB2F41-0741-4955-8B13-FDED4C3E8FBD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685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词法分析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EB2F41-0741-4955-8B13-FDED4C3E8FBD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5" name="椭圆 4"/>
          <p:cNvSpPr/>
          <p:nvPr/>
        </p:nvSpPr>
        <p:spPr>
          <a:xfrm>
            <a:off x="35496" y="1556792"/>
            <a:ext cx="2232248" cy="150048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Grammar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4139952" y="1556791"/>
            <a:ext cx="2448272" cy="150048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Regular Expression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124285" y="4591999"/>
            <a:ext cx="1445942" cy="8070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NFA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072608" y="4551125"/>
            <a:ext cx="1224136" cy="73637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DFA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942485" y="4509120"/>
            <a:ext cx="1224136" cy="73637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DFA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267744" y="1411614"/>
            <a:ext cx="1872208" cy="1297306"/>
            <a:chOff x="2267744" y="1411614"/>
            <a:chExt cx="1872208" cy="1297306"/>
          </a:xfrm>
        </p:grpSpPr>
        <p:sp>
          <p:nvSpPr>
            <p:cNvPr id="22" name="左右箭头 21"/>
            <p:cNvSpPr/>
            <p:nvPr/>
          </p:nvSpPr>
          <p:spPr>
            <a:xfrm>
              <a:off x="2267744" y="1916832"/>
              <a:ext cx="1872208" cy="792088"/>
            </a:xfrm>
            <a:prstGeom prst="leftRightArrow">
              <a:avLst/>
            </a:prstGeom>
            <a:noFill/>
            <a:ln w="254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Convert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697293" y="1411614"/>
              <a:ext cx="11212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规则法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687505" y="2830034"/>
            <a:ext cx="3059658" cy="1872208"/>
            <a:chOff x="3687505" y="2830034"/>
            <a:chExt cx="3059658" cy="1872208"/>
          </a:xfrm>
        </p:grpSpPr>
        <p:sp>
          <p:nvSpPr>
            <p:cNvPr id="23" name="左右箭头 22"/>
            <p:cNvSpPr/>
            <p:nvPr/>
          </p:nvSpPr>
          <p:spPr>
            <a:xfrm rot="18617808">
              <a:off x="3147445" y="3370094"/>
              <a:ext cx="1872208" cy="792088"/>
            </a:xfrm>
            <a:prstGeom prst="leftRightArrow">
              <a:avLst/>
            </a:prstGeom>
            <a:noFill/>
            <a:ln w="254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Convert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321416" y="3694137"/>
              <a:ext cx="24257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规则</a:t>
              </a:r>
              <a:r>
                <a:rPr lang="zh-CN" altLang="en-US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法</a:t>
              </a:r>
              <a:r>
                <a:rPr lang="zh-CN" altLang="en-US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增删节点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82383" y="2888533"/>
            <a:ext cx="2053592" cy="1979153"/>
            <a:chOff x="323488" y="2915313"/>
            <a:chExt cx="2053592" cy="1979153"/>
          </a:xfrm>
        </p:grpSpPr>
        <p:sp>
          <p:nvSpPr>
            <p:cNvPr id="24" name="左右箭头 23"/>
            <p:cNvSpPr/>
            <p:nvPr/>
          </p:nvSpPr>
          <p:spPr>
            <a:xfrm rot="3567510">
              <a:off x="1044932" y="3455373"/>
              <a:ext cx="1872208" cy="792088"/>
            </a:xfrm>
            <a:prstGeom prst="leftRightArrow">
              <a:avLst/>
            </a:prstGeom>
            <a:noFill/>
            <a:ln w="254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Convert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23488" y="3694137"/>
              <a:ext cx="15989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产生式与转换函数</a:t>
              </a:r>
              <a:r>
                <a:rPr lang="zh-CN" altLang="en-US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对应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法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616170" y="4667732"/>
            <a:ext cx="1400889" cy="1026945"/>
            <a:chOff x="3616170" y="4667732"/>
            <a:chExt cx="1400889" cy="1026945"/>
          </a:xfrm>
        </p:grpSpPr>
        <p:sp>
          <p:nvSpPr>
            <p:cNvPr id="19" name="右箭头 18"/>
            <p:cNvSpPr/>
            <p:nvPr/>
          </p:nvSpPr>
          <p:spPr>
            <a:xfrm>
              <a:off x="3651798" y="4667732"/>
              <a:ext cx="1365261" cy="532359"/>
            </a:xfrm>
            <a:prstGeom prst="rightArrow">
              <a:avLst/>
            </a:prstGeom>
            <a:noFill/>
            <a:ln w="254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Convert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616170" y="5233012"/>
              <a:ext cx="12382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子集法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365304" y="4653134"/>
            <a:ext cx="1531238" cy="976758"/>
            <a:chOff x="6365304" y="4653134"/>
            <a:chExt cx="1531238" cy="976758"/>
          </a:xfrm>
        </p:grpSpPr>
        <p:sp>
          <p:nvSpPr>
            <p:cNvPr id="21" name="右箭头 20"/>
            <p:cNvSpPr/>
            <p:nvPr/>
          </p:nvSpPr>
          <p:spPr>
            <a:xfrm>
              <a:off x="6365304" y="4653134"/>
              <a:ext cx="1531238" cy="532359"/>
            </a:xfrm>
            <a:prstGeom prst="rightArrow">
              <a:avLst/>
            </a:prstGeom>
            <a:noFill/>
            <a:ln w="254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C00000"/>
                  </a:solidFill>
                </a:rPr>
                <a:t>Mininminize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500158" y="5168227"/>
              <a:ext cx="12382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分割法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07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8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3.7 </a:t>
            </a:r>
            <a:r>
              <a:rPr lang="zh-CN" altLang="en-US" dirty="0" smtClean="0"/>
              <a:t>典型</a:t>
            </a:r>
            <a:r>
              <a:rPr lang="zh-CN" altLang="en-US" dirty="0"/>
              <a:t>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例 </a:t>
            </a:r>
            <a:r>
              <a:rPr lang="en-US" altLang="zh-CN" dirty="0" smtClean="0"/>
              <a:t>1305 </a:t>
            </a:r>
            <a:r>
              <a:rPr lang="zh-CN" altLang="en-US" dirty="0" smtClean="0"/>
              <a:t>标识符</a:t>
            </a:r>
            <a:r>
              <a:rPr lang="zh-CN" altLang="en-US" dirty="0"/>
              <a:t>正规文法</a:t>
            </a:r>
            <a:r>
              <a:rPr lang="en-US" altLang="zh-CN" dirty="0" smtClean="0"/>
              <a:t>G(S)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</a:t>
            </a:r>
            <a:r>
              <a:rPr lang="en-US" altLang="zh-CN" dirty="0" err="1"/>
              <a:t>→aA</a:t>
            </a:r>
            <a:r>
              <a:rPr lang="en-US" altLang="zh-CN" dirty="0"/>
              <a:t>, </a:t>
            </a:r>
            <a:r>
              <a:rPr lang="en-US" altLang="zh-CN" dirty="0" err="1"/>
              <a:t>A→aA</a:t>
            </a:r>
            <a:r>
              <a:rPr lang="en-US" altLang="zh-CN" dirty="0"/>
              <a:t>,  </a:t>
            </a:r>
            <a:r>
              <a:rPr lang="en-US" altLang="zh-CN" dirty="0" err="1"/>
              <a:t>A→dA</a:t>
            </a:r>
            <a:r>
              <a:rPr lang="en-US" altLang="zh-CN" dirty="0"/>
              <a:t>, A→ε</a:t>
            </a:r>
          </a:p>
          <a:p>
            <a:pPr lvl="1"/>
            <a:r>
              <a:rPr lang="zh-CN" altLang="en-US" spc="-150" dirty="0"/>
              <a:t>其中</a:t>
            </a:r>
            <a:r>
              <a:rPr lang="en-US" altLang="zh-CN" spc="-150" dirty="0"/>
              <a:t>a</a:t>
            </a:r>
            <a:r>
              <a:rPr lang="zh-CN" altLang="en-US" spc="-150" dirty="0"/>
              <a:t>表示英文</a:t>
            </a:r>
            <a:r>
              <a:rPr lang="zh-CN" altLang="en-US" spc="-150" dirty="0" smtClean="0"/>
              <a:t>字母或下</a:t>
            </a:r>
            <a:r>
              <a:rPr lang="zh-CN" altLang="en-US" spc="-150" dirty="0"/>
              <a:t>划线</a:t>
            </a:r>
            <a:r>
              <a:rPr lang="en-US" altLang="zh-CN" spc="-150" dirty="0" smtClean="0"/>
              <a:t>, </a:t>
            </a:r>
            <a:r>
              <a:rPr lang="en-US" altLang="zh-CN" spc="-150" dirty="0"/>
              <a:t>d</a:t>
            </a:r>
            <a:r>
              <a:rPr lang="zh-CN" altLang="en-US" spc="-150" dirty="0"/>
              <a:t>表示</a:t>
            </a:r>
            <a:r>
              <a:rPr lang="zh-CN" altLang="en-US" spc="-150" dirty="0" smtClean="0"/>
              <a:t>数字</a:t>
            </a:r>
            <a:endParaRPr lang="en-US" altLang="zh-CN" spc="-150" dirty="0" smtClean="0"/>
          </a:p>
          <a:p>
            <a:r>
              <a:rPr lang="zh-CN" altLang="en-US" dirty="0" smtClean="0"/>
              <a:t>问题：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</a:t>
            </a:r>
            <a:r>
              <a:rPr lang="zh-CN" altLang="en-US" dirty="0" smtClean="0"/>
              <a:t>编写</a:t>
            </a:r>
            <a:r>
              <a:rPr lang="zh-CN" altLang="en-US" dirty="0"/>
              <a:t>程序识别</a:t>
            </a:r>
            <a:r>
              <a:rPr lang="zh-CN" altLang="en-US" dirty="0" smtClean="0"/>
              <a:t>程序输入的符号串是否合法的</a:t>
            </a:r>
            <a:r>
              <a:rPr lang="zh-CN" altLang="en-US" dirty="0"/>
              <a:t>标识符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088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/>
              <a:t>1305 </a:t>
            </a:r>
            <a:r>
              <a:rPr lang="en-US" altLang="zh-CN" dirty="0" smtClean="0"/>
              <a:t> </a:t>
            </a:r>
            <a:r>
              <a:rPr lang="zh-CN" altLang="en-US" dirty="0" smtClean="0"/>
              <a:t>解：</a:t>
            </a:r>
            <a:endParaRPr lang="en-US" altLang="zh-CN" dirty="0" smtClean="0"/>
          </a:p>
          <a:p>
            <a:pPr lvl="1">
              <a:buFont typeface="+mj-ea"/>
              <a:buAutoNum type="circleNumDbPlain"/>
            </a:pPr>
            <a:r>
              <a:rPr lang="zh-CN" altLang="en-US" dirty="0"/>
              <a:t>正规文法</a:t>
            </a:r>
            <a:r>
              <a:rPr lang="en-US" altLang="zh-CN" dirty="0"/>
              <a:t>G(S)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</a:t>
            </a:r>
            <a:r>
              <a:rPr lang="en-US" altLang="zh-CN" dirty="0" err="1"/>
              <a:t>→aA</a:t>
            </a:r>
            <a:r>
              <a:rPr lang="en-US" altLang="zh-CN" dirty="0"/>
              <a:t>, </a:t>
            </a:r>
            <a:r>
              <a:rPr lang="en-US" altLang="zh-CN" dirty="0" err="1"/>
              <a:t>A→aA</a:t>
            </a:r>
            <a:r>
              <a:rPr lang="en-US" altLang="zh-CN" dirty="0"/>
              <a:t>,  </a:t>
            </a:r>
            <a:r>
              <a:rPr lang="en-US" altLang="zh-CN" dirty="0" err="1"/>
              <a:t>A→dA</a:t>
            </a:r>
            <a:r>
              <a:rPr lang="en-US" altLang="zh-CN" dirty="0"/>
              <a:t>, A→</a:t>
            </a:r>
            <a:r>
              <a:rPr lang="el-GR" altLang="zh-CN" dirty="0" smtClean="0"/>
              <a:t>ε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转换为</a:t>
            </a:r>
            <a:r>
              <a:rPr lang="en-US" altLang="zh-CN" dirty="0" smtClean="0"/>
              <a:t>NFA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1026" name="Picture 2" descr="http://oj.jxust.edu.cn/upload/201610/1305%20NF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65" y="2851582"/>
            <a:ext cx="6523474" cy="301419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43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03" y="1862256"/>
            <a:ext cx="3392306" cy="180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/>
              <a:t>1305  </a:t>
            </a:r>
            <a:r>
              <a:rPr lang="zh-CN" altLang="en-US" dirty="0"/>
              <a:t>解</a:t>
            </a:r>
            <a:r>
              <a:rPr lang="zh-CN" altLang="en-US" dirty="0" smtClean="0"/>
              <a:t>：</a:t>
            </a:r>
          </a:p>
          <a:p>
            <a:pPr lvl="1">
              <a:buFont typeface="+mj-ea"/>
              <a:buAutoNum type="circleNumDbPlain" startAt="2"/>
            </a:pPr>
            <a:r>
              <a:rPr lang="en-US" altLang="zh-CN" dirty="0" smtClean="0"/>
              <a:t>NFA</a:t>
            </a:r>
            <a:r>
              <a:rPr lang="zh-CN" altLang="en-US" dirty="0" smtClean="0"/>
              <a:t>转换为</a:t>
            </a:r>
            <a:r>
              <a:rPr lang="en-US" altLang="zh-CN" dirty="0" smtClean="0"/>
              <a:t>DFA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重新定义状态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22019"/>
              </p:ext>
            </p:extLst>
          </p:nvPr>
        </p:nvGraphicFramePr>
        <p:xfrm>
          <a:off x="4266309" y="2016210"/>
          <a:ext cx="415574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5247">
                  <a:extLst>
                    <a:ext uri="{9D8B030D-6E8A-4147-A177-3AD203B41FA5}">
                      <a16:colId xmlns:a16="http://schemas.microsoft.com/office/drawing/2014/main" val="1892301621"/>
                    </a:ext>
                  </a:extLst>
                </a:gridCol>
                <a:gridCol w="1211172">
                  <a:extLst>
                    <a:ext uri="{9D8B030D-6E8A-4147-A177-3AD203B41FA5}">
                      <a16:colId xmlns:a16="http://schemas.microsoft.com/office/drawing/2014/main" val="116371240"/>
                    </a:ext>
                  </a:extLst>
                </a:gridCol>
                <a:gridCol w="1559321">
                  <a:extLst>
                    <a:ext uri="{9D8B030D-6E8A-4147-A177-3AD203B41FA5}">
                      <a16:colId xmlns:a16="http://schemas.microsoft.com/office/drawing/2014/main" val="184802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状态集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baseline="0" dirty="0" err="1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kern="1200" cap="none" spc="0" baseline="0" dirty="0" err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800" b="1" kern="1200" cap="none" spc="0" baseline="3000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800" b="1" kern="1200" cap="none" spc="0" baseline="3000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baseline="0" dirty="0" err="1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2800" b="1" kern="1200" cap="none" spc="0" baseline="0" dirty="0" err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800" b="1" kern="1200" cap="none" spc="0" baseline="3000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800" b="1" kern="1200" cap="none" spc="0" baseline="3000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{S}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 Z}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 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 Z}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 Z}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 Z}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41048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56055"/>
              </p:ext>
            </p:extLst>
          </p:nvPr>
        </p:nvGraphicFramePr>
        <p:xfrm>
          <a:off x="907129" y="4680521"/>
          <a:ext cx="5007348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116">
                  <a:extLst>
                    <a:ext uri="{9D8B030D-6E8A-4147-A177-3AD203B41FA5}">
                      <a16:colId xmlns:a16="http://schemas.microsoft.com/office/drawing/2014/main" val="1892301621"/>
                    </a:ext>
                  </a:extLst>
                </a:gridCol>
                <a:gridCol w="1669116">
                  <a:extLst>
                    <a:ext uri="{9D8B030D-6E8A-4147-A177-3AD203B41FA5}">
                      <a16:colId xmlns:a16="http://schemas.microsoft.com/office/drawing/2014/main" val="116371240"/>
                    </a:ext>
                  </a:extLst>
                </a:gridCol>
                <a:gridCol w="1669116">
                  <a:extLst>
                    <a:ext uri="{9D8B030D-6E8A-4147-A177-3AD203B41FA5}">
                      <a16:colId xmlns:a16="http://schemas.microsoft.com/office/drawing/2014/main" val="184802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cap="none" spc="0" dirty="0" smtClean="0">
                          <a:ln w="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28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41048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20" y="4353614"/>
            <a:ext cx="268676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2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50747"/>
            <a:ext cx="9144000" cy="610725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例 </a:t>
            </a:r>
            <a:r>
              <a:rPr lang="en-US" altLang="zh-CN" dirty="0" smtClean="0"/>
              <a:t>1305  </a:t>
            </a:r>
            <a:r>
              <a:rPr lang="zh-CN" altLang="en-US" dirty="0" smtClean="0"/>
              <a:t>解：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3"/>
            </a:pPr>
            <a:r>
              <a:rPr lang="zh-CN" altLang="en-US" sz="3000" dirty="0" smtClean="0"/>
              <a:t>编写状态转换函数</a:t>
            </a:r>
            <a:endParaRPr lang="en-US" altLang="zh-CN" sz="3000" dirty="0" smtClean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0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0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0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ctype.h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0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0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Move(</a:t>
            </a:r>
            <a:r>
              <a:rPr lang="en-US" altLang="zh-CN" sz="3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S,</a:t>
            </a:r>
            <a:r>
              <a:rPr lang="en-US" altLang="zh-CN" sz="3000" dirty="0" err="1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3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nextstatus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 '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30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3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(S</a:t>
            </a:r>
            <a:r>
              <a:rPr lang="en-US" altLang="zh-C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==</a:t>
            </a:r>
            <a:r>
              <a:rPr lang="en-US" altLang="zh-CN" sz="30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'S'</a:t>
            </a:r>
            <a:r>
              <a:rPr lang="en-US" altLang="zh-C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&amp;&amp;(</a:t>
            </a:r>
            <a:r>
              <a:rPr lang="en-US" altLang="zh-CN" sz="3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isalpha</a:t>
            </a:r>
            <a:r>
              <a:rPr lang="en-US" altLang="zh-C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(t)||t==</a:t>
            </a:r>
            <a:r>
              <a:rPr lang="en-US" altLang="zh-CN" sz="30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'_'</a:t>
            </a:r>
            <a:r>
              <a:rPr lang="en-US" altLang="zh-CN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))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</a:t>
            </a:r>
            <a:r>
              <a:rPr lang="en-US" altLang="zh-CN" sz="3000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nextstatus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3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'Z'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spc="-3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3000" spc="-3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b="1" spc="-3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3000" b="1" spc="-3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30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(S==</a:t>
            </a:r>
            <a:r>
              <a:rPr lang="en-US" altLang="zh-CN" sz="3000" b="1" spc="-3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'Z'</a:t>
            </a:r>
            <a:r>
              <a:rPr lang="en-US" altLang="zh-CN" sz="30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&amp;&amp;(</a:t>
            </a:r>
            <a:r>
              <a:rPr lang="en-US" altLang="zh-CN" sz="3000" b="1" spc="-30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isalpha</a:t>
            </a:r>
            <a:r>
              <a:rPr lang="en-US" altLang="zh-CN" sz="30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(t)||t==</a:t>
            </a:r>
            <a:r>
              <a:rPr lang="en-US" altLang="zh-CN" sz="3000" b="1" spc="-3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'_'</a:t>
            </a:r>
            <a:r>
              <a:rPr lang="en-US" altLang="zh-CN" sz="30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||</a:t>
            </a:r>
            <a:r>
              <a:rPr lang="en-US" altLang="zh-CN" sz="3000" b="1" spc="-30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isdigit</a:t>
            </a:r>
            <a:r>
              <a:rPr lang="en-US" altLang="zh-CN" sz="30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(t)))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spc="-3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</a:t>
            </a:r>
            <a:r>
              <a:rPr lang="en-US" altLang="zh-CN" sz="3000" spc="-3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nextstatus</a:t>
            </a:r>
            <a:r>
              <a:rPr lang="en-US" altLang="zh-CN" sz="3000" spc="-3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3000" spc="-3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'Z'</a:t>
            </a:r>
            <a:r>
              <a:rPr lang="en-US" altLang="zh-CN" sz="3000" spc="-3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3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0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nextstatus</a:t>
            </a:r>
            <a:r>
              <a:rPr lang="en-US" altLang="zh-CN" sz="30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0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3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530" y="1402596"/>
            <a:ext cx="268676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2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25525"/>
            <a:ext cx="8435280" cy="561985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/>
              <a:t>例 </a:t>
            </a:r>
            <a:r>
              <a:rPr lang="en-US" altLang="zh-CN" sz="3200" dirty="0"/>
              <a:t>1305  </a:t>
            </a:r>
            <a:r>
              <a:rPr lang="zh-CN" altLang="en-US" sz="3200" dirty="0"/>
              <a:t>解：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4"/>
            </a:pPr>
            <a:r>
              <a:rPr lang="zh-CN" altLang="en-US" sz="2800" dirty="0" smtClean="0"/>
              <a:t>编写识别函数</a:t>
            </a:r>
            <a:endParaRPr lang="en-US" altLang="zh-CN" sz="28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DFA(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*input)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S= 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'S'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=0; input[</a:t>
            </a:r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]!=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'\0'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zh-CN" altLang="en-US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S= Move(</a:t>
            </a:r>
            <a:r>
              <a:rPr lang="en-US" altLang="zh-CN" sz="2800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S,input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</a:t>
            </a:r>
            <a:r>
              <a:rPr lang="en-US" altLang="zh-CN" sz="2800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]);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zh-CN" altLang="en-US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(S==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'Z</a:t>
            </a:r>
            <a:r>
              <a:rPr lang="en-US" altLang="zh-CN" sz="2800" dirty="0" smtClean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 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1;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2800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</a:t>
            </a:r>
            <a:r>
              <a:rPr lang="en-US" altLang="zh-CN" sz="2800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12"/>
            </a:pPr>
            <a:r>
              <a:rPr lang="en-US" altLang="zh-CN" sz="2800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0651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14569"/>
            <a:ext cx="8435280" cy="5602427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例 </a:t>
            </a:r>
            <a:r>
              <a:rPr lang="en-US" altLang="zh-CN" dirty="0"/>
              <a:t>1305  </a:t>
            </a:r>
            <a:r>
              <a:rPr lang="zh-CN" altLang="en-US" dirty="0"/>
              <a:t>解：</a:t>
            </a:r>
          </a:p>
          <a:p>
            <a:pPr lvl="1">
              <a:buFont typeface="+mj-ea"/>
              <a:buAutoNum type="circleNumDbPlain" startAt="5"/>
            </a:pPr>
            <a:r>
              <a:rPr lang="zh-CN" altLang="en-US" dirty="0" smtClean="0"/>
              <a:t>编写主函数</a:t>
            </a:r>
            <a:endParaRPr lang="en-US" altLang="zh-CN" dirty="0" smtClean="0"/>
          </a:p>
          <a:p>
            <a:pPr lvl="1">
              <a:buFont typeface="+mj-lt"/>
              <a:buAutoNum type="arabicPeriod" startAt="22"/>
            </a:pP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main()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input[40];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gets(input);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(DFA(input))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"accept\n"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endParaRPr lang="en-US" altLang="zh-CN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"not accept\n"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getchar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>
              <a:buFont typeface="+mj-lt"/>
              <a:buAutoNum type="arabicPeriod" startAt="22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00" y="5158747"/>
            <a:ext cx="1743075" cy="1123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675" y="5158747"/>
            <a:ext cx="1743075" cy="1123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750" y="5158747"/>
            <a:ext cx="17430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0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 smtClean="0"/>
              <a:t>1 </a:t>
            </a:r>
            <a:r>
              <a:rPr lang="zh-CN" altLang="en-US" dirty="0" smtClean="0"/>
              <a:t>为</a:t>
            </a:r>
            <a:r>
              <a:rPr lang="zh-CN" altLang="en-US" dirty="0"/>
              <a:t>正规式</a:t>
            </a:r>
            <a:r>
              <a:rPr lang="en-US" altLang="zh-CN" dirty="0"/>
              <a:t>(</a:t>
            </a:r>
            <a:r>
              <a:rPr lang="en-US" altLang="zh-CN" dirty="0" err="1"/>
              <a:t>a|b</a:t>
            </a:r>
            <a:r>
              <a:rPr lang="en-US" altLang="zh-CN" dirty="0"/>
              <a:t>)*a(</a:t>
            </a:r>
            <a:r>
              <a:rPr lang="en-US" altLang="zh-CN" dirty="0" err="1"/>
              <a:t>a|b</a:t>
            </a:r>
            <a:r>
              <a:rPr lang="en-US" altLang="zh-CN" dirty="0"/>
              <a:t>) </a:t>
            </a:r>
            <a:r>
              <a:rPr lang="zh-CN" altLang="en-US" dirty="0"/>
              <a:t>构造一个等价的不确定的有限自动机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答：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145" y="2919468"/>
            <a:ext cx="6140030" cy="20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930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kern="100" dirty="0">
                <a:ea typeface="宋体" panose="02010600030101010101" pitchFamily="2" charset="-122"/>
                <a:cs typeface="黑体" panose="02010609060101010101" pitchFamily="49" charset="-122"/>
              </a:rPr>
              <a:t>例 </a:t>
            </a:r>
            <a:r>
              <a:rPr lang="en-US" altLang="zh-CN" b="1" kern="100" dirty="0">
                <a:ea typeface="宋体" panose="02010600030101010101" pitchFamily="2" charset="-122"/>
                <a:cs typeface="黑体" panose="02010609060101010101" pitchFamily="49" charset="-122"/>
              </a:rPr>
              <a:t>2</a:t>
            </a:r>
            <a:r>
              <a:rPr lang="en-US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 </a:t>
            </a:r>
            <a:r>
              <a:rPr lang="zh-CN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构造</a:t>
            </a:r>
            <a:r>
              <a:rPr lang="zh-CN" altLang="zh-CN" b="1" kern="100" dirty="0">
                <a:ea typeface="宋体" panose="02010600030101010101" pitchFamily="2" charset="-122"/>
                <a:cs typeface="黑体" panose="02010609060101010101" pitchFamily="49" charset="-122"/>
              </a:rPr>
              <a:t>正规</a:t>
            </a:r>
            <a:r>
              <a:rPr lang="zh-CN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式</a:t>
            </a:r>
            <a:r>
              <a:rPr lang="en-US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: </a:t>
            </a:r>
            <a:r>
              <a:rPr lang="en-US" altLang="zh-CN" b="1" kern="1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1(1010</a:t>
            </a:r>
            <a:r>
              <a:rPr lang="en-US" altLang="zh-CN" b="1" kern="100" baseline="300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*</a:t>
            </a:r>
            <a:r>
              <a:rPr lang="en-US" altLang="zh-CN" b="1" kern="1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|1(010)</a:t>
            </a:r>
            <a:r>
              <a:rPr lang="en-US" altLang="zh-CN" b="1" kern="100" baseline="300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*</a:t>
            </a:r>
            <a:r>
              <a:rPr lang="en-US" altLang="zh-CN" b="1" kern="1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1)</a:t>
            </a:r>
            <a:r>
              <a:rPr lang="en-US" altLang="zh-CN" b="1" kern="100" baseline="300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*</a:t>
            </a:r>
            <a:r>
              <a:rPr lang="en-US" altLang="zh-CN" b="1" kern="1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0</a:t>
            </a:r>
            <a:r>
              <a:rPr lang="zh-CN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相应</a:t>
            </a:r>
            <a:r>
              <a:rPr lang="zh-CN" altLang="zh-CN" b="1" kern="100" dirty="0">
                <a:ea typeface="宋体" panose="02010600030101010101" pitchFamily="2" charset="-122"/>
                <a:cs typeface="黑体" panose="02010609060101010101" pitchFamily="49" charset="-122"/>
              </a:rPr>
              <a:t>的</a:t>
            </a:r>
            <a:r>
              <a:rPr lang="zh-CN" altLang="zh-CN" b="1" kern="100" dirty="0">
                <a:ea typeface="Times New Roman" panose="02020603050405020304" pitchFamily="18" charset="0"/>
                <a:cs typeface="黑体" panose="02010609060101010101" pitchFamily="49" charset="-122"/>
              </a:rPr>
              <a:t> </a:t>
            </a:r>
            <a:r>
              <a:rPr lang="en-US" altLang="zh-CN" b="1" kern="100" dirty="0">
                <a:ea typeface="Times New Roman" panose="02020603050405020304" pitchFamily="18" charset="0"/>
                <a:cs typeface="黑体" panose="02010609060101010101" pitchFamily="49" charset="-122"/>
              </a:rPr>
              <a:t>NFA </a:t>
            </a:r>
            <a:r>
              <a:rPr lang="en-US" altLang="zh-CN" b="1" kern="100" dirty="0" smtClean="0">
                <a:ea typeface="Times New Roman" panose="02020603050405020304" pitchFamily="18" charset="0"/>
                <a:cs typeface="黑体" panose="02010609060101010101" pitchFamily="49" charset="-122"/>
              </a:rPr>
              <a:t> </a:t>
            </a:r>
            <a:r>
              <a:rPr lang="zh-CN" altLang="zh-CN" b="1" kern="100" dirty="0" smtClean="0">
                <a:ea typeface="宋体" panose="02010600030101010101" pitchFamily="2" charset="-122"/>
                <a:cs typeface="黑体" panose="02010609060101010101" pitchFamily="49" charset="-122"/>
              </a:rPr>
              <a:t>。</a:t>
            </a:r>
            <a:endParaRPr lang="en-US" altLang="zh-CN" b="1" kern="100" dirty="0" smtClean="0"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b="1" kern="100" dirty="0" smtClean="0">
                <a:ea typeface="宋体" panose="02010600030101010101" pitchFamily="2" charset="-122"/>
              </a:rPr>
              <a:t>答</a:t>
            </a:r>
            <a:r>
              <a:rPr lang="zh-CN" altLang="en-US" b="1" kern="100" dirty="0">
                <a:ea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55" y="2126755"/>
            <a:ext cx="6591300" cy="32004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3917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77" y="1232617"/>
            <a:ext cx="5586233" cy="2016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50" dirty="0" smtClean="0"/>
              <a:t>例 </a:t>
            </a:r>
            <a:r>
              <a:rPr lang="en-US" altLang="zh-CN" spc="-150" dirty="0" smtClean="0"/>
              <a:t>3 </a:t>
            </a:r>
            <a:r>
              <a:rPr lang="zh-CN" altLang="en-US" spc="-150" dirty="0" smtClean="0"/>
              <a:t>构造</a:t>
            </a:r>
            <a:r>
              <a:rPr lang="zh-CN" altLang="en-US" spc="-150" dirty="0"/>
              <a:t>正规</a:t>
            </a:r>
            <a:r>
              <a:rPr lang="zh-CN" altLang="en-US" spc="-150" dirty="0" smtClean="0"/>
              <a:t>式</a:t>
            </a:r>
            <a:r>
              <a:rPr lang="en-US" altLang="zh-CN" spc="-150" dirty="0"/>
              <a:t>1(0|1)*101</a:t>
            </a:r>
            <a:r>
              <a:rPr lang="zh-CN" altLang="en-US" spc="-150" dirty="0" smtClean="0"/>
              <a:t>相应</a:t>
            </a:r>
            <a:r>
              <a:rPr lang="zh-CN" altLang="en-US" spc="-150" dirty="0"/>
              <a:t>的 </a:t>
            </a:r>
            <a:r>
              <a:rPr lang="en-US" altLang="zh-CN" spc="-150" dirty="0" smtClean="0"/>
              <a:t>DFA </a:t>
            </a:r>
            <a:r>
              <a:rPr lang="zh-CN" altLang="en-US" spc="-150" dirty="0" smtClean="0"/>
              <a:t>。</a:t>
            </a:r>
            <a:endParaRPr lang="en-US" altLang="zh-CN" spc="-150" dirty="0" smtClean="0"/>
          </a:p>
          <a:p>
            <a:r>
              <a:rPr lang="zh-CN" altLang="en-US" spc="-150" dirty="0" smtClean="0"/>
              <a:t>解 ：</a:t>
            </a:r>
            <a:endParaRPr lang="en-US" altLang="zh-CN" spc="-150" dirty="0" smtClean="0"/>
          </a:p>
          <a:p>
            <a:pPr lvl="1">
              <a:buFont typeface="+mj-lt"/>
              <a:buAutoNum type="arabicPeriod"/>
            </a:pPr>
            <a:r>
              <a:rPr lang="zh-CN" altLang="en-US" spc="-150" dirty="0" smtClean="0"/>
              <a:t>构造 </a:t>
            </a:r>
            <a:r>
              <a:rPr lang="en-US" altLang="zh-CN" spc="-150" dirty="0" smtClean="0"/>
              <a:t>NFA</a:t>
            </a:r>
            <a:r>
              <a:rPr lang="zh-CN" altLang="en-US" spc="-150" dirty="0" smtClean="0"/>
              <a:t>：</a:t>
            </a:r>
            <a:endParaRPr lang="en-US" altLang="zh-CN" spc="-150" dirty="0" smtClean="0"/>
          </a:p>
          <a:p>
            <a:pPr lvl="1">
              <a:buFont typeface="+mj-lt"/>
              <a:buAutoNum type="arabicPeriod"/>
            </a:pPr>
            <a:r>
              <a:rPr lang="zh-CN" altLang="en-US" spc="-150" dirty="0" smtClean="0"/>
              <a:t>写出状态集转换矩阵</a:t>
            </a:r>
            <a:r>
              <a:rPr lang="zh-CN" altLang="en-US" spc="-150" dirty="0"/>
              <a:t>和</a:t>
            </a:r>
            <a:r>
              <a:rPr lang="zh-CN" altLang="en-US" spc="-150" dirty="0" smtClean="0"/>
              <a:t>状态转换</a:t>
            </a:r>
            <a:r>
              <a:rPr lang="zh-CN" altLang="en-US" spc="-150" dirty="0"/>
              <a:t>矩阵</a:t>
            </a:r>
          </a:p>
          <a:p>
            <a:pPr lvl="1">
              <a:buFont typeface="+mj-lt"/>
              <a:buAutoNum type="arabicPeriod"/>
            </a:pPr>
            <a:endParaRPr lang="zh-CN" altLang="en-US" spc="-15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212085"/>
              </p:ext>
            </p:extLst>
          </p:nvPr>
        </p:nvGraphicFramePr>
        <p:xfrm>
          <a:off x="975934" y="3242013"/>
          <a:ext cx="4304686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126">
                  <a:extLst>
                    <a:ext uri="{9D8B030D-6E8A-4147-A177-3AD203B41FA5}">
                      <a16:colId xmlns:a16="http://schemas.microsoft.com/office/drawing/2014/main" val="3612816852"/>
                    </a:ext>
                  </a:extLst>
                </a:gridCol>
                <a:gridCol w="1052849">
                  <a:extLst>
                    <a:ext uri="{9D8B030D-6E8A-4147-A177-3AD203B41FA5}">
                      <a16:colId xmlns:a16="http://schemas.microsoft.com/office/drawing/2014/main" val="346161332"/>
                    </a:ext>
                  </a:extLst>
                </a:gridCol>
                <a:gridCol w="1909711">
                  <a:extLst>
                    <a:ext uri="{9D8B030D-6E8A-4147-A177-3AD203B41FA5}">
                      <a16:colId xmlns:a16="http://schemas.microsoft.com/office/drawing/2014/main" val="357215089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状态集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067603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{X}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 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084838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69415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{A,C}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618091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{A,C}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{A,B,Y}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77380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{A,B,Y}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{A,C}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{A,B}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4309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968450"/>
              </p:ext>
            </p:extLst>
          </p:nvPr>
        </p:nvGraphicFramePr>
        <p:xfrm>
          <a:off x="5381679" y="3240912"/>
          <a:ext cx="302803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087">
                  <a:extLst>
                    <a:ext uri="{9D8B030D-6E8A-4147-A177-3AD203B41FA5}">
                      <a16:colId xmlns:a16="http://schemas.microsoft.com/office/drawing/2014/main" val="3612816852"/>
                    </a:ext>
                  </a:extLst>
                </a:gridCol>
                <a:gridCol w="753907">
                  <a:extLst>
                    <a:ext uri="{9D8B030D-6E8A-4147-A177-3AD203B41FA5}">
                      <a16:colId xmlns:a16="http://schemas.microsoft.com/office/drawing/2014/main" val="346161332"/>
                    </a:ext>
                  </a:extLst>
                </a:gridCol>
                <a:gridCol w="1330036">
                  <a:extLst>
                    <a:ext uri="{9D8B030D-6E8A-4147-A177-3AD203B41FA5}">
                      <a16:colId xmlns:a16="http://schemas.microsoft.com/office/drawing/2014/main" val="357215089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067603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084838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69415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618091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77380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4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24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207" y="2243384"/>
            <a:ext cx="4819593" cy="288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 smtClean="0"/>
              <a:t>3 </a:t>
            </a:r>
            <a:r>
              <a:rPr lang="zh-CN" altLang="en-US" dirty="0" smtClean="0"/>
              <a:t>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根据状态转换矩阵画出</a:t>
            </a:r>
            <a:r>
              <a:rPr lang="en-US" altLang="zh-CN" dirty="0" smtClean="0"/>
              <a:t>DFA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08815"/>
              </p:ext>
            </p:extLst>
          </p:nvPr>
        </p:nvGraphicFramePr>
        <p:xfrm>
          <a:off x="1017496" y="2243384"/>
          <a:ext cx="302803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087">
                  <a:extLst>
                    <a:ext uri="{9D8B030D-6E8A-4147-A177-3AD203B41FA5}">
                      <a16:colId xmlns:a16="http://schemas.microsoft.com/office/drawing/2014/main" val="3612816852"/>
                    </a:ext>
                  </a:extLst>
                </a:gridCol>
                <a:gridCol w="753907">
                  <a:extLst>
                    <a:ext uri="{9D8B030D-6E8A-4147-A177-3AD203B41FA5}">
                      <a16:colId xmlns:a16="http://schemas.microsoft.com/office/drawing/2014/main" val="346161332"/>
                    </a:ext>
                  </a:extLst>
                </a:gridCol>
                <a:gridCol w="1330036">
                  <a:extLst>
                    <a:ext uri="{9D8B030D-6E8A-4147-A177-3AD203B41FA5}">
                      <a16:colId xmlns:a16="http://schemas.microsoft.com/office/drawing/2014/main" val="357215089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baseline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b="0" cap="none" spc="0" baseline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067603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084838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69415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618091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77380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cap="none" spc="0" dirty="0" smtClean="0">
                          <a:ln w="0"/>
                          <a:effectLst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800" b="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4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98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 </a:t>
            </a:r>
            <a:r>
              <a:rPr lang="en-US" altLang="zh-CN" dirty="0" smtClean="0"/>
              <a:t>4 </a:t>
            </a:r>
            <a:r>
              <a:rPr lang="zh-CN" altLang="en-US" dirty="0" smtClean="0"/>
              <a:t>最小化如下</a:t>
            </a:r>
            <a:r>
              <a:rPr lang="en-US" altLang="zh-CN" dirty="0" smtClean="0"/>
              <a:t>DFA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pPr lvl="1"/>
            <a:r>
              <a:rPr lang="zh-CN" altLang="en-US" dirty="0" smtClean="0"/>
              <a:t>分割为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ym typeface="Wingdings" panose="05000000000000000000" pitchFamily="2" charset="2"/>
              </a:rPr>
              <a:t>{0,1},{3},{2,5},{6},{4,7}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682" y="1280680"/>
            <a:ext cx="3265807" cy="39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5" y="1565563"/>
            <a:ext cx="5210313" cy="2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000" y="4158000"/>
            <a:ext cx="5364000" cy="27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3842"/>
            <a:ext cx="5210313" cy="2556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 smtClean="0"/>
              <a:t>4 </a:t>
            </a:r>
            <a:r>
              <a:rPr lang="zh-CN" altLang="en-US" dirty="0"/>
              <a:t>最小化如下</a:t>
            </a:r>
            <a:r>
              <a:rPr lang="en-US" altLang="zh-CN" dirty="0" smtClean="0"/>
              <a:t>DFA</a:t>
            </a:r>
          </a:p>
          <a:p>
            <a:pPr lvl="1"/>
            <a:r>
              <a:rPr lang="zh-CN" altLang="en-US" dirty="0" smtClean="0"/>
              <a:t>合并等价状态</a:t>
            </a:r>
            <a:r>
              <a:rPr lang="en-US" altLang="zh-CN" dirty="0">
                <a:sym typeface="Wingdings" panose="05000000000000000000" pitchFamily="2" charset="2"/>
              </a:rPr>
              <a:t>{0,1</a:t>
            </a:r>
            <a:r>
              <a:rPr lang="en-US" altLang="zh-CN" dirty="0" smtClean="0">
                <a:sym typeface="Wingdings" panose="05000000000000000000" pitchFamily="2" charset="2"/>
              </a:rPr>
              <a:t>},{</a:t>
            </a:r>
            <a:r>
              <a:rPr lang="en-US" altLang="zh-CN" dirty="0">
                <a:sym typeface="Wingdings" panose="05000000000000000000" pitchFamily="2" charset="2"/>
              </a:rPr>
              <a:t>2,5</a:t>
            </a:r>
            <a:r>
              <a:rPr lang="en-US" altLang="zh-CN" dirty="0" smtClean="0">
                <a:sym typeface="Wingdings" panose="05000000000000000000" pitchFamily="2" charset="2"/>
              </a:rPr>
              <a:t>},{</a:t>
            </a:r>
            <a:r>
              <a:rPr lang="en-US" altLang="zh-CN" dirty="0">
                <a:sym typeface="Wingdings" panose="05000000000000000000" pitchFamily="2" charset="2"/>
              </a:rPr>
              <a:t>4,7</a:t>
            </a:r>
            <a:r>
              <a:rPr lang="en-US" altLang="zh-CN" dirty="0" smtClean="0">
                <a:sym typeface="Wingdings" panose="05000000000000000000" pitchFamily="2" charset="2"/>
              </a:rPr>
              <a:t>}</a:t>
            </a:r>
          </a:p>
          <a:p>
            <a:pPr lvl="1"/>
            <a:r>
              <a:rPr lang="en-US" altLang="zh-CN" dirty="0" smtClean="0">
                <a:sym typeface="Wingdings" panose="05000000000000000000" pitchFamily="2" charset="2"/>
              </a:rPr>
              <a:t>DFA</a:t>
            </a:r>
            <a:r>
              <a:rPr lang="zh-CN" altLang="en-US" dirty="0" smtClean="0">
                <a:sym typeface="Wingdings" panose="05000000000000000000" pitchFamily="2" charset="2"/>
              </a:rPr>
              <a:t>化简为：</a:t>
            </a:r>
            <a:endParaRPr lang="zh-CN" altLang="en-US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下弧形箭头 6"/>
          <p:cNvSpPr/>
          <p:nvPr/>
        </p:nvSpPr>
        <p:spPr>
          <a:xfrm rot="1108837">
            <a:off x="1266273" y="5169695"/>
            <a:ext cx="3075709" cy="759573"/>
          </a:xfrm>
          <a:prstGeom prst="curvedUp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err="1">
                <a:ln w="0"/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 err="1" smtClean="0">
                <a:ln w="0"/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en-US" altLang="zh-CN" sz="2800" b="1" dirty="0" err="1" smtClean="0">
                <a:ln w="0"/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mini</a:t>
            </a:r>
            <a:r>
              <a:rPr lang="en-US" altLang="zh-CN" sz="2800" b="1" dirty="0" smtClean="0">
                <a:ln w="0"/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DFA</a:t>
            </a:r>
            <a:endParaRPr lang="zh-CN" altLang="en-US" sz="2800" b="1" dirty="0" smtClean="0">
              <a:ln w="0"/>
              <a:solidFill>
                <a:srgbClr val="00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71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94" y="1196121"/>
            <a:ext cx="6195979" cy="180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50748"/>
            <a:ext cx="8435280" cy="252126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5 </a:t>
            </a:r>
            <a:r>
              <a:rPr lang="zh-CN" altLang="en-US" dirty="0" smtClean="0"/>
              <a:t>将</a:t>
            </a:r>
            <a:r>
              <a:rPr lang="zh-CN" altLang="en-US" dirty="0"/>
              <a:t>下图中的自动机确定化并最小化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pPr lvl="1"/>
            <a:r>
              <a:rPr lang="zh-CN" altLang="en-US" sz="2800" b="1" dirty="0" smtClean="0"/>
              <a:t>解：</a:t>
            </a:r>
            <a:r>
              <a:rPr lang="zh-CN" altLang="zh-CN" sz="2800" b="1" dirty="0" smtClean="0"/>
              <a:t>状态</a:t>
            </a:r>
            <a:r>
              <a:rPr lang="zh-CN" altLang="en-US" sz="2800" b="1" dirty="0"/>
              <a:t>集</a:t>
            </a:r>
            <a:r>
              <a:rPr lang="zh-CN" altLang="zh-CN" sz="2800" b="1" dirty="0" smtClean="0"/>
              <a:t>转换</a:t>
            </a:r>
            <a:r>
              <a:rPr lang="zh-CN" altLang="zh-CN" sz="2800" b="1" dirty="0"/>
              <a:t>矩阵如下</a:t>
            </a:r>
            <a:endParaRPr lang="en-US" altLang="zh-CN" sz="2800" dirty="0"/>
          </a:p>
          <a:p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87358"/>
              </p:ext>
            </p:extLst>
          </p:nvPr>
        </p:nvGraphicFramePr>
        <p:xfrm>
          <a:off x="702108" y="3183874"/>
          <a:ext cx="7984692" cy="3413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61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23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{X,5,1}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{5,3,1}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{5,4,1,2,6,Y}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09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{5,3,1,6,Y}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{5,3,1,2,6,Y}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{5,4,1,6,Y}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0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99" y="1944106"/>
            <a:ext cx="2513101" cy="30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59" y="1944106"/>
            <a:ext cx="4124325" cy="2038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 smtClean="0"/>
              <a:t>5  </a:t>
            </a:r>
            <a:r>
              <a:rPr lang="zh-CN" altLang="en-US" dirty="0" smtClean="0"/>
              <a:t>解：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重命名</a:t>
            </a:r>
            <a:r>
              <a:rPr lang="zh-CN" altLang="en-US" dirty="0"/>
              <a:t>后的</a:t>
            </a:r>
            <a:r>
              <a:rPr lang="zh-CN" altLang="en-US" dirty="0" smtClean="0"/>
              <a:t>状态转换</a:t>
            </a:r>
            <a:r>
              <a:rPr lang="zh-CN" altLang="en-US" dirty="0"/>
              <a:t>矩阵如下所示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96082"/>
              </p:ext>
            </p:extLst>
          </p:nvPr>
        </p:nvGraphicFramePr>
        <p:xfrm>
          <a:off x="457200" y="2422413"/>
          <a:ext cx="1934229" cy="3413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44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615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 b="1" u="none" kern="10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800" b="1" u="none" kern="1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  <a:reflection blurRad="6350" stA="53000" endA="300" endPos="35500" dir="5400000" sy="-90000" algn="bl" rotWithShape="0"/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 b="1" u="none" kern="10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  <a:reflection blurRad="6350" stA="53000" endA="300" endPos="35500" dir="5400000" sy="-90000" algn="bl" rotWithShape="0"/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328" y="3982456"/>
            <a:ext cx="4206403" cy="280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393376" y="3992640"/>
            <a:ext cx="2012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zh-CN" altLang="zh-CN" sz="2000" b="1" kern="1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其未化简的</a:t>
            </a:r>
            <a:r>
              <a:rPr lang="en-US" altLang="zh-CN" sz="2000" b="1" kern="100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DFA</a:t>
            </a:r>
            <a:endParaRPr lang="zh-CN" altLang="zh-CN" sz="2000" b="1" kern="1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  <a:ea typeface="华文中宋" panose="0201060004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18986" y="487215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kern="100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划分等价状态</a:t>
            </a:r>
            <a:endParaRPr lang="zh-CN" altLang="zh-CN" sz="2000" b="1" kern="1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  <a:ea typeface="华文中宋" panose="0201060004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24134" y="6222399"/>
            <a:ext cx="14991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zh-CN" altLang="zh-CN" sz="2000" b="1" kern="100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化</a:t>
            </a:r>
            <a:r>
              <a:rPr lang="zh-CN" altLang="zh-CN" sz="2000" b="1" kern="1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简的</a:t>
            </a:r>
            <a:r>
              <a:rPr lang="en-US" altLang="zh-CN" sz="2000" b="1" kern="100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DFA</a:t>
            </a:r>
            <a:endParaRPr lang="zh-CN" altLang="zh-CN" sz="2000" b="1" kern="1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  <a:ea typeface="华文中宋" panose="02010600040101010101" pitchFamily="2" charset="-122"/>
              <a:cs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327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典型例题及解答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That’s all for this lecture!</a:t>
            </a:r>
          </a:p>
          <a:p>
            <a:r>
              <a:rPr lang="en-US" altLang="zh-CN" dirty="0" smtClean="0"/>
              <a:t>Thanks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787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江西理工大学计算机教研室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C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第01章 引论(2.9学时)" id="{E55880BB-F42D-4B99-8702-03FF21575793}" vid="{94DF6D16-402E-4B52-931A-AE234E77553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第01章 引论(2.9学时)</Template>
  <TotalTime>2281</TotalTime>
  <Words>797</Words>
  <Application>Microsoft Office PowerPoint</Application>
  <PresentationFormat>全屏显示(4:3)</PresentationFormat>
  <Paragraphs>238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等线</vt:lpstr>
      <vt:lpstr>黑体</vt:lpstr>
      <vt:lpstr>华文新魏</vt:lpstr>
      <vt:lpstr>华文中宋</vt:lpstr>
      <vt:lpstr>宋体</vt:lpstr>
      <vt:lpstr>微软雅黑</vt:lpstr>
      <vt:lpstr>新宋体</vt:lpstr>
      <vt:lpstr>Arial</vt:lpstr>
      <vt:lpstr>Times New Roman</vt:lpstr>
      <vt:lpstr>Wingdings</vt:lpstr>
      <vt:lpstr>江西理工大学计算机教研室</vt:lpstr>
      <vt:lpstr>第3章  词法分析</vt:lpstr>
      <vt:lpstr>第3章 词法分析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  <vt:lpstr>3.7 典型例题及解答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词法分析</dc:title>
  <dc:creator>欧阳城添</dc:creator>
  <cp:lastModifiedBy>Chengtian Ouyang</cp:lastModifiedBy>
  <cp:revision>151</cp:revision>
  <dcterms:created xsi:type="dcterms:W3CDTF">2015-11-23T02:26:32Z</dcterms:created>
  <dcterms:modified xsi:type="dcterms:W3CDTF">2016-11-10T10:58:54Z</dcterms:modified>
</cp:coreProperties>
</file>