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sldIdLst>
    <p:sldId id="333" r:id="rId2"/>
    <p:sldId id="310" r:id="rId3"/>
    <p:sldId id="311" r:id="rId4"/>
    <p:sldId id="312" r:id="rId5"/>
    <p:sldId id="313" r:id="rId6"/>
    <p:sldId id="334" r:id="rId7"/>
    <p:sldId id="315" r:id="rId8"/>
    <p:sldId id="336" r:id="rId9"/>
    <p:sldId id="338" r:id="rId10"/>
    <p:sldId id="337" r:id="rId11"/>
    <p:sldId id="316" r:id="rId12"/>
    <p:sldId id="339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87868" autoAdjust="0"/>
  </p:normalViewPr>
  <p:slideViewPr>
    <p:cSldViewPr snapToGrid="0">
      <p:cViewPr varScale="1">
        <p:scale>
          <a:sx n="61" d="100"/>
          <a:sy n="61" d="100"/>
        </p:scale>
        <p:origin x="-77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DD02C-6873-4585-B2FB-6E941BF9D789}" type="datetimeFigureOut">
              <a:rPr lang="zh-CN" altLang="en-US" smtClean="0"/>
              <a:pPr/>
              <a:t>2016/11/23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2987CC-5A74-475E-933D-2E86F1717DD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1965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7F5F2F-926F-4831-B8F3-77E148BB0E78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2504106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文法递归相应子程序也递归</a:t>
            </a:r>
            <a:r>
              <a:rPr lang="en-US" altLang="zh-CN" dirty="0"/>
              <a:t>, </a:t>
            </a:r>
            <a:r>
              <a:rPr lang="zh-CN" altLang="en-US" dirty="0"/>
              <a:t>所以称这种方法为递归子程序方法或递归下降法。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7F5F2F-926F-4831-B8F3-77E148BB0E78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832527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7F5F2F-926F-4831-B8F3-77E148BB0E78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57120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1393" y="4627418"/>
            <a:ext cx="1906252" cy="190625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93182" y="676498"/>
            <a:ext cx="1350818" cy="135081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5635" y="676498"/>
            <a:ext cx="7426037" cy="1256416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41338" y="2031581"/>
            <a:ext cx="6403898" cy="3731909"/>
          </a:xfrm>
        </p:spPr>
        <p:txBody>
          <a:bodyPr/>
          <a:lstStyle>
            <a:lvl1pPr marL="0" indent="0" algn="just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56E492-B409-4953-BDE9-BEECE0AFDC71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Subtitle 4"/>
          <p:cNvSpPr txBox="1">
            <a:spLocks/>
          </p:cNvSpPr>
          <p:nvPr/>
        </p:nvSpPr>
        <p:spPr bwMode="auto">
          <a:xfrm>
            <a:off x="2987824" y="5251897"/>
            <a:ext cx="5273924" cy="1041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3525" indent="-263525" algn="just" rtl="0" fontAlgn="base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Times New Roman" panose="02020603050405020304" pitchFamily="18" charset="0"/>
              <a:buChar char="§"/>
              <a:defRPr sz="36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1pPr>
            <a:lvl2pPr marL="971550" indent="-514350" algn="just" rtl="0" fontAlgn="base">
              <a:spcBef>
                <a:spcPts val="600"/>
              </a:spcBef>
              <a:spcAft>
                <a:spcPts val="600"/>
              </a:spcAft>
              <a:buClr>
                <a:srgbClr val="339933"/>
              </a:buClr>
              <a:buFont typeface="微软雅黑" panose="020B0503020204020204" pitchFamily="34" charset="-122"/>
              <a:buAutoNum type="circleNumDbPlain"/>
              <a:defRPr sz="34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2pPr>
            <a:lvl3pPr marL="1076325" indent="-161925" algn="just" rtl="0" fontAlgn="base">
              <a:spcBef>
                <a:spcPts val="600"/>
              </a:spcBef>
              <a:spcAft>
                <a:spcPts val="600"/>
              </a:spcAft>
              <a:buClr>
                <a:srgbClr val="0000CC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3pPr>
            <a:lvl4pPr marL="1657350" indent="-285750" algn="just" rtl="0" fontAlgn="base">
              <a:spcBef>
                <a:spcPts val="200"/>
              </a:spcBef>
              <a:spcAft>
                <a:spcPts val="200"/>
              </a:spcAft>
              <a:buClr>
                <a:srgbClr val="0070C0"/>
              </a:buClr>
              <a:buFont typeface="Wingdings" panose="05000000000000000000" pitchFamily="2" charset="2"/>
              <a:buChar char="Ø"/>
              <a:defRPr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4pPr>
            <a:lvl5pPr marL="2114550" indent="-285750" algn="just" rtl="0" fontAlgn="base">
              <a:spcBef>
                <a:spcPts val="200"/>
              </a:spcBef>
              <a:spcAft>
                <a:spcPts val="200"/>
              </a:spcAft>
              <a:buClr>
                <a:srgbClr val="0070C0"/>
              </a:buClr>
              <a:buFont typeface="Wingdings" panose="05000000000000000000" pitchFamily="2" charset="2"/>
              <a:buChar char="Ø"/>
              <a:defRPr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zh-CN" sz="1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</a:t>
            </a:r>
            <a:r>
              <a:rPr lang="en-US" altLang="zh-CN" sz="20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h</a:t>
            </a:r>
            <a:r>
              <a:rPr lang="en-US" altLang="zh-CN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e</a:t>
            </a:r>
            <a:r>
              <a:rPr lang="en-US" altLang="zh-CN" sz="2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  <a:r>
              <a:rPr lang="en-US" altLang="zh-CN" sz="32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g</a:t>
            </a:r>
            <a:r>
              <a:rPr lang="en-US" altLang="zh-CN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t</a:t>
            </a:r>
            <a:r>
              <a:rPr lang="en-US" altLang="zh-CN" sz="40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i</a:t>
            </a:r>
            <a:r>
              <a:rPr lang="en-US" altLang="zh-CN" sz="4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a</a:t>
            </a:r>
            <a:r>
              <a:rPr lang="en-US" altLang="zh-CN" sz="72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  <a:r>
              <a:rPr lang="en-US" altLang="zh-CN" sz="66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Ou</a:t>
            </a:r>
            <a:r>
              <a:rPr lang="en-US" altLang="zh-CN" sz="4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y</a:t>
            </a:r>
            <a:r>
              <a:rPr lang="en-US" altLang="zh-CN" sz="40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a</a:t>
            </a:r>
            <a:r>
              <a:rPr lang="en-US" altLang="zh-CN" sz="2800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  <a:r>
              <a:rPr lang="en-US" altLang="zh-CN" dirty="0" err="1">
                <a:ln w="0"/>
                <a:solidFill>
                  <a:srgbClr val="0066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g</a:t>
            </a:r>
            <a:endParaRPr lang="zh-CN" altLang="en-US" sz="1800" dirty="0">
              <a:ln w="0"/>
              <a:solidFill>
                <a:srgbClr val="0066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0800000">
            <a:off x="5929674" y="3055079"/>
            <a:ext cx="3374504" cy="334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50572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66763"/>
          </a:xfrm>
        </p:spPr>
        <p:txBody>
          <a:bodyPr/>
          <a:lstStyle>
            <a:lvl1pPr>
              <a:defRPr sz="4000" b="0" i="0" baseline="0">
                <a:latin typeface="Times New Roman" pitchFamily="18" charset="0"/>
                <a:ea typeface="华文新魏" pitchFamily="2" charset="-122"/>
                <a:cs typeface="Times New Roman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50747"/>
            <a:ext cx="8435280" cy="5602427"/>
          </a:xfrm>
        </p:spPr>
        <p:txBody>
          <a:bodyPr/>
          <a:lstStyle>
            <a:lvl1pPr marL="360363" indent="-360363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  <a:defRPr>
                <a:latin typeface="Times New Roman" pitchFamily="18" charset="0"/>
                <a:cs typeface="Times New Roman" pitchFamily="18" charset="0"/>
              </a:defRPr>
            </a:lvl1pPr>
            <a:lvl2pPr marL="971550" indent="-514350"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−"/>
              <a:defRPr>
                <a:latin typeface="Times New Roman" pitchFamily="18" charset="0"/>
                <a:cs typeface="Times New Roman" pitchFamily="18" charset="0"/>
              </a:defRPr>
            </a:lvl2pPr>
            <a:lvl3pPr marL="1169988" indent="-2555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2"/>
            <a:endParaRPr lang="zh-CN" altLang="en-US" dirty="0"/>
          </a:p>
        </p:txBody>
      </p:sp>
      <p:sp>
        <p:nvSpPr>
          <p:cNvPr id="4" name="灯片编号占位符 23"/>
          <p:cNvSpPr>
            <a:spLocks noGrp="1"/>
          </p:cNvSpPr>
          <p:nvPr>
            <p:ph type="sldNum" sz="quarter" idx="10"/>
          </p:nvPr>
        </p:nvSpPr>
        <p:spPr>
          <a:xfrm>
            <a:off x="8262937" y="6364542"/>
            <a:ext cx="847725" cy="493458"/>
          </a:xfrm>
        </p:spPr>
        <p:txBody>
          <a:bodyPr/>
          <a:lstStyle>
            <a:lvl1pPr>
              <a:defRPr smtClean="0"/>
            </a:lvl1pPr>
          </a:lstStyle>
          <a:p>
            <a:fld id="{4456E492-B409-4953-BDE9-BEECE0AFDC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9757860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4025" y="-46038"/>
            <a:ext cx="7770813" cy="746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28625" y="755650"/>
            <a:ext cx="8391525" cy="575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42275" y="6557963"/>
            <a:ext cx="1087438" cy="3222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b="1" smtClean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456E492-B409-4953-BDE9-BEECE0AFDC71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8" name="直接连接符 8"/>
          <p:cNvCxnSpPr/>
          <p:nvPr/>
        </p:nvCxnSpPr>
        <p:spPr>
          <a:xfrm>
            <a:off x="454025" y="700088"/>
            <a:ext cx="83661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5"/>
          <p:cNvSpPr/>
          <p:nvPr/>
        </p:nvSpPr>
        <p:spPr>
          <a:xfrm>
            <a:off x="268288" y="61913"/>
            <a:ext cx="160337" cy="62547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pic>
        <p:nvPicPr>
          <p:cNvPr id="1031" name="图片 17" descr="2010101617415563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24838" y="-93663"/>
            <a:ext cx="85725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2" name="组合 18"/>
          <p:cNvGrpSpPr>
            <a:grpSpLocks/>
          </p:cNvGrpSpPr>
          <p:nvPr/>
        </p:nvGrpSpPr>
        <p:grpSpPr bwMode="auto">
          <a:xfrm>
            <a:off x="0" y="6356350"/>
            <a:ext cx="9144000" cy="1588"/>
            <a:chOff x="0" y="6356612"/>
            <a:chExt cx="9144000" cy="1583"/>
          </a:xfrm>
        </p:grpSpPr>
        <p:cxnSp>
          <p:nvCxnSpPr>
            <p:cNvPr id="11" name="直接连接符 19"/>
            <p:cNvCxnSpPr/>
            <p:nvPr userDrawn="1"/>
          </p:nvCxnSpPr>
          <p:spPr>
            <a:xfrm>
              <a:off x="0" y="6356612"/>
              <a:ext cx="3779838" cy="15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27"/>
            <p:cNvCxnSpPr/>
            <p:nvPr userDrawn="1"/>
          </p:nvCxnSpPr>
          <p:spPr>
            <a:xfrm>
              <a:off x="5364163" y="6356612"/>
              <a:ext cx="3779837" cy="15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22174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imes New Roman" pitchFamily="18" charset="0"/>
          <a:ea typeface="华文新魏" pitchFamily="2" charset="-122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微软雅黑"/>
          <a:ea typeface="微软雅黑"/>
          <a:cs typeface="微软雅黑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微软雅黑"/>
          <a:ea typeface="微软雅黑"/>
          <a:cs typeface="微软雅黑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微软雅黑"/>
          <a:ea typeface="微软雅黑"/>
          <a:cs typeface="微软雅黑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微软雅黑"/>
          <a:ea typeface="微软雅黑"/>
          <a:cs typeface="微软雅黑"/>
        </a:defRPr>
      </a:lvl9pPr>
    </p:titleStyle>
    <p:bodyStyle>
      <a:lvl1pPr marL="263525" indent="-263525" algn="just" rtl="0" eaLnBrk="1" fontAlgn="base" hangingPunct="1">
        <a:spcBef>
          <a:spcPts val="600"/>
        </a:spcBef>
        <a:spcAft>
          <a:spcPts val="600"/>
        </a:spcAft>
        <a:buClr>
          <a:srgbClr val="C00000"/>
        </a:buClr>
        <a:buFont typeface="Wingdings" panose="05000000000000000000" pitchFamily="2" charset="2"/>
        <a:buChar char="Ø"/>
        <a:defRPr sz="3600"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1pPr>
      <a:lvl2pPr marL="971550" indent="-514350" algn="just" rtl="0" eaLnBrk="1" fontAlgn="base" hangingPunct="1">
        <a:spcBef>
          <a:spcPts val="600"/>
        </a:spcBef>
        <a:spcAft>
          <a:spcPts val="600"/>
        </a:spcAft>
        <a:buClr>
          <a:srgbClr val="339933"/>
        </a:buClr>
        <a:buFont typeface="Times New Roman" panose="02020603050405020304" pitchFamily="18" charset="0"/>
        <a:buChar char="−"/>
        <a:defRPr sz="3400"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2pPr>
      <a:lvl3pPr marL="1076325" indent="-161925" algn="just" rtl="0" eaLnBrk="1" fontAlgn="base" hangingPunct="1">
        <a:spcBef>
          <a:spcPts val="600"/>
        </a:spcBef>
        <a:spcAft>
          <a:spcPts val="600"/>
        </a:spcAft>
        <a:buClr>
          <a:srgbClr val="0000CC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3pPr>
      <a:lvl4pPr marL="1657350" indent="-285750" algn="just" rtl="0" eaLnBrk="1" fontAlgn="base" hangingPunct="1">
        <a:spcBef>
          <a:spcPts val="200"/>
        </a:spcBef>
        <a:spcAft>
          <a:spcPts val="200"/>
        </a:spcAft>
        <a:buClr>
          <a:srgbClr val="0070C0"/>
        </a:buClr>
        <a:buFont typeface="Wingdings" panose="05000000000000000000" pitchFamily="2" charset="2"/>
        <a:buChar char="Ø"/>
        <a:defRPr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4pPr>
      <a:lvl5pPr marL="2114550" indent="-285750" algn="just" rtl="0" eaLnBrk="1" fontAlgn="base" hangingPunct="1">
        <a:spcBef>
          <a:spcPts val="200"/>
        </a:spcBef>
        <a:spcAft>
          <a:spcPts val="200"/>
        </a:spcAft>
        <a:buClr>
          <a:srgbClr val="0070C0"/>
        </a:buClr>
        <a:buFont typeface="Wingdings" panose="05000000000000000000" pitchFamily="2" charset="2"/>
        <a:buChar char="Ø"/>
        <a:defRPr kern="1200">
          <a:solidFill>
            <a:schemeClr val="tx1"/>
          </a:solidFill>
          <a:latin typeface="Times New Roman" pitchFamily="18" charset="0"/>
          <a:ea typeface="华文中宋" pitchFamily="2" charset="-122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章</a:t>
            </a:r>
            <a:r>
              <a:rPr lang="zh-CN" altLang="en-US" dirty="0"/>
              <a:t>自顶向下语法分析方法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194560" y="2059717"/>
            <a:ext cx="4670474" cy="1316529"/>
          </a:xfrm>
        </p:spPr>
        <p:txBody>
          <a:bodyPr/>
          <a:lstStyle/>
          <a:p>
            <a:pPr algn="ctr"/>
            <a:r>
              <a:rPr lang="zh-CN" altLang="en-US" dirty="0" smtClean="0"/>
              <a:t>第</a:t>
            </a:r>
            <a:r>
              <a:rPr lang="en-US" altLang="zh-CN" dirty="0" smtClean="0"/>
              <a:t>405</a:t>
            </a:r>
            <a:r>
              <a:rPr lang="zh-CN" altLang="en-US" dirty="0" smtClean="0"/>
              <a:t>讲 递归</a:t>
            </a:r>
            <a:r>
              <a:rPr lang="zh-CN" altLang="en-US" dirty="0"/>
              <a:t>下降</a:t>
            </a:r>
            <a:r>
              <a:rPr lang="en-US" altLang="zh-CN" dirty="0"/>
              <a:t>LL(1)</a:t>
            </a:r>
            <a:r>
              <a:rPr lang="zh-CN" altLang="en-US" dirty="0"/>
              <a:t>分析程序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0ADE1F-E5F2-4CA5-89CE-5DA5EF00C3BE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258809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 </a:t>
            </a:r>
            <a:r>
              <a:rPr lang="zh-CN" altLang="en-US" dirty="0"/>
              <a:t>确定的自顶向下分析方法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428626" y="755239"/>
            <a:ext cx="8391846" cy="5569362"/>
          </a:xfrm>
        </p:spPr>
        <p:txBody>
          <a:bodyPr>
            <a:normAutofit/>
          </a:bodyPr>
          <a:lstStyle/>
          <a:p>
            <a:r>
              <a:rPr lang="zh-CN" altLang="en-US" dirty="0"/>
              <a:t>提出问题：</a:t>
            </a:r>
            <a:endParaRPr lang="en-US" altLang="zh-CN" dirty="0"/>
          </a:p>
          <a:p>
            <a:pPr lvl="1"/>
            <a:r>
              <a:rPr lang="zh-CN" altLang="en-US" dirty="0"/>
              <a:t>掌握了</a:t>
            </a:r>
            <a:r>
              <a:rPr lang="en-US" altLang="zh-CN" dirty="0"/>
              <a:t>LL(1)</a:t>
            </a:r>
            <a:r>
              <a:rPr lang="zh-CN" altLang="en-US" dirty="0"/>
              <a:t>文法的判别方法等理论知识后</a:t>
            </a:r>
            <a:r>
              <a:rPr lang="en-US" altLang="zh-CN" dirty="0"/>
              <a:t>, </a:t>
            </a:r>
            <a:r>
              <a:rPr lang="zh-CN" altLang="en-US" dirty="0"/>
              <a:t>怎样编程程序实现</a:t>
            </a:r>
            <a:r>
              <a:rPr lang="en-US" altLang="zh-CN" dirty="0"/>
              <a:t>LL(1) </a:t>
            </a:r>
            <a:r>
              <a:rPr lang="zh-CN" altLang="en-US" dirty="0"/>
              <a:t>分析方法 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？</a:t>
            </a:r>
          </a:p>
          <a:p>
            <a:pPr lvl="2"/>
            <a:r>
              <a:rPr lang="en-US" altLang="zh-CN" dirty="0" smtClean="0"/>
              <a:t>4.5.1 </a:t>
            </a:r>
            <a:r>
              <a:rPr lang="zh-CN" altLang="en-US" dirty="0"/>
              <a:t>递归子程序法</a:t>
            </a:r>
          </a:p>
          <a:p>
            <a:pPr lvl="2"/>
            <a:r>
              <a:rPr lang="en-US" altLang="zh-CN" dirty="0" smtClean="0"/>
              <a:t>4.5.2 </a:t>
            </a:r>
            <a:r>
              <a:rPr lang="zh-CN" altLang="en-US" dirty="0"/>
              <a:t>预测分析方法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xmlns="" val="7863153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4.5.1 </a:t>
            </a:r>
            <a:r>
              <a:rPr lang="zh-CN" altLang="en-US" dirty="0" smtClean="0"/>
              <a:t>递归子程序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实现思想：</a:t>
            </a:r>
          </a:p>
          <a:p>
            <a:pPr lvl="1"/>
            <a:r>
              <a:rPr lang="zh-CN" altLang="en-US" dirty="0"/>
              <a:t>对于产生式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zh-CN" dirty="0"/>
              <a:t>→αB|β</a:t>
            </a:r>
            <a:r>
              <a:rPr lang="zh-CN" altLang="en-US" dirty="0"/>
              <a:t>（ </a:t>
            </a:r>
            <a:r>
              <a:rPr lang="en-US" altLang="zh-CN" dirty="0"/>
              <a:t>α,  β∈V</a:t>
            </a:r>
            <a:r>
              <a:rPr lang="en-US" altLang="zh-CN" baseline="-25000" dirty="0"/>
              <a:t>T</a:t>
            </a:r>
            <a:r>
              <a:rPr lang="zh-CN" altLang="en-US" dirty="0"/>
              <a:t>）编写一个函数为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dirty="0"/>
              <a:t>递归之程序</a:t>
            </a:r>
            <a:r>
              <a:rPr lang="en-US" altLang="zh-CN" dirty="0"/>
              <a:t>,  </a:t>
            </a:r>
            <a:r>
              <a:rPr lang="zh-CN" altLang="en-US" dirty="0"/>
              <a:t>根据产生式的</a:t>
            </a:r>
            <a:r>
              <a:rPr lang="zh-CN" altLang="en-US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右部</a:t>
            </a:r>
            <a:r>
              <a:rPr lang="zh-CN" altLang="en-US" dirty="0"/>
              <a:t>编写该函数的</a:t>
            </a:r>
            <a:r>
              <a:rPr lang="zh-CN" altLang="en-US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函数体</a:t>
            </a:r>
            <a:r>
              <a:rPr lang="zh-CN" altLang="en-US" dirty="0"/>
              <a:t>：</a:t>
            </a:r>
          </a:p>
          <a:p>
            <a:pPr lvl="1">
              <a:buFont typeface="+mj-ea"/>
              <a:buAutoNum type="circleNumDbPlain"/>
            </a:pPr>
            <a:r>
              <a:rPr lang="zh-CN" altLang="en-US" dirty="0"/>
              <a:t> 当遇到非终结符时</a:t>
            </a:r>
            <a:r>
              <a:rPr lang="en-US" altLang="zh-CN" dirty="0"/>
              <a:t>, </a:t>
            </a:r>
            <a:r>
              <a:rPr lang="zh-CN" altLang="en-US" dirty="0"/>
              <a:t>则调用相应的函数。</a:t>
            </a:r>
          </a:p>
          <a:p>
            <a:pPr lvl="1">
              <a:buFont typeface="+mj-ea"/>
              <a:buAutoNum type="circleNumDbPlain"/>
            </a:pPr>
            <a:r>
              <a:rPr lang="zh-CN" altLang="en-US" dirty="0"/>
              <a:t>当遇到终结符时</a:t>
            </a:r>
            <a:r>
              <a:rPr lang="en-US" altLang="zh-CN" dirty="0"/>
              <a:t>, </a:t>
            </a:r>
            <a:r>
              <a:rPr lang="zh-CN" altLang="en-US" dirty="0"/>
              <a:t>则判断与当前读入的单词是否匹配</a:t>
            </a:r>
            <a:r>
              <a:rPr lang="en-US" altLang="zh-CN" dirty="0"/>
              <a:t>,  </a:t>
            </a:r>
            <a:r>
              <a:rPr lang="zh-CN" altLang="en-US" dirty="0"/>
              <a:t>若匹配再读取下一个单词继续分析。</a:t>
            </a:r>
          </a:p>
          <a:p>
            <a:pPr lvl="1">
              <a:buFont typeface="+mj-ea"/>
              <a:buAutoNum type="circleNumDbPlain"/>
            </a:pPr>
            <a:r>
              <a:rPr lang="zh-CN" altLang="en-US" dirty="0"/>
              <a:t>具有相同左部的产生式</a:t>
            </a:r>
            <a:r>
              <a:rPr lang="en-US" altLang="zh-CN" dirty="0"/>
              <a:t>, </a:t>
            </a:r>
            <a:r>
              <a:rPr lang="zh-CN" altLang="en-US" dirty="0"/>
              <a:t>其右部编写成分支结构</a:t>
            </a:r>
            <a:r>
              <a:rPr lang="en-US" altLang="zh-CN" dirty="0"/>
              <a:t>, </a:t>
            </a:r>
            <a:r>
              <a:rPr lang="zh-CN" altLang="en-US" dirty="0"/>
              <a:t>将当前的单词与分支点上多个终结符逐个相比较</a:t>
            </a:r>
            <a:r>
              <a:rPr lang="en-US" altLang="zh-CN" dirty="0"/>
              <a:t>, </a:t>
            </a:r>
            <a:r>
              <a:rPr lang="zh-CN" altLang="en-US" dirty="0"/>
              <a:t>若都不匹配时可能是进入下一个非终结符语法单位或是出错。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F4BB86-EE2F-4530-B76E-B226F70D5E51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xmlns="" val="30471345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4.5.1 </a:t>
            </a:r>
            <a:r>
              <a:rPr lang="zh-CN" altLang="en-US" dirty="0" smtClean="0"/>
              <a:t>递归子程序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r>
              <a:rPr lang="en-US" altLang="zh-CN" dirty="0"/>
              <a:t>1298 </a:t>
            </a:r>
            <a:r>
              <a:rPr lang="zh-CN" altLang="en-US" dirty="0"/>
              <a:t>已知文法</a:t>
            </a:r>
            <a:r>
              <a:rPr lang="en-US" altLang="zh-CN" dirty="0"/>
              <a:t>G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pPr lvl="1"/>
            <a:r>
              <a:rPr lang="en-US" altLang="zh-CN" dirty="0"/>
              <a:t>E→TE'</a:t>
            </a:r>
          </a:p>
          <a:p>
            <a:pPr lvl="1"/>
            <a:r>
              <a:rPr lang="en-US" altLang="zh-CN" dirty="0"/>
              <a:t>T→FT'   </a:t>
            </a:r>
          </a:p>
          <a:p>
            <a:pPr lvl="1"/>
            <a:r>
              <a:rPr lang="en-US" altLang="zh-CN" dirty="0"/>
              <a:t>E'→+TE' |</a:t>
            </a:r>
            <a:r>
              <a:rPr lang="el-GR" altLang="zh-CN" dirty="0"/>
              <a:t>ε</a:t>
            </a:r>
          </a:p>
          <a:p>
            <a:pPr lvl="1"/>
            <a:r>
              <a:rPr lang="en-US" altLang="zh-CN" dirty="0"/>
              <a:t>T'→*FT' |</a:t>
            </a:r>
            <a:r>
              <a:rPr lang="el-GR" altLang="zh-CN" dirty="0"/>
              <a:t>ε</a:t>
            </a:r>
          </a:p>
          <a:p>
            <a:pPr lvl="1"/>
            <a:r>
              <a:rPr lang="en-US" altLang="zh-CN" dirty="0"/>
              <a:t>F→(E) | </a:t>
            </a:r>
            <a:r>
              <a:rPr lang="en-US" altLang="zh-CN" dirty="0" err="1"/>
              <a:t>i</a:t>
            </a:r>
            <a:r>
              <a:rPr lang="en-US" altLang="zh-CN" dirty="0"/>
              <a:t>	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是</a:t>
            </a:r>
            <a:r>
              <a:rPr lang="en-US" altLang="zh-CN" dirty="0" smtClean="0"/>
              <a:t>LL(1)</a:t>
            </a:r>
            <a:r>
              <a:rPr lang="zh-CN" altLang="en-US" dirty="0" smtClean="0"/>
              <a:t>文法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试</a:t>
            </a:r>
            <a:r>
              <a:rPr lang="zh-CN" altLang="en-US" dirty="0"/>
              <a:t>编写一</a:t>
            </a:r>
            <a:r>
              <a:rPr lang="zh-CN" altLang="en-US" dirty="0" smtClean="0"/>
              <a:t>个递归下降</a:t>
            </a:r>
            <a:r>
              <a:rPr lang="en-US" altLang="zh-CN" dirty="0" smtClean="0"/>
              <a:t>LL(1)</a:t>
            </a:r>
            <a:r>
              <a:rPr lang="zh-CN" altLang="en-US" dirty="0" smtClean="0"/>
              <a:t>分析程序</a:t>
            </a:r>
            <a:r>
              <a:rPr lang="en-US" altLang="zh-CN" dirty="0"/>
              <a:t>, </a:t>
            </a:r>
            <a:r>
              <a:rPr lang="zh-CN" altLang="en-US" dirty="0"/>
              <a:t> 判断文法</a:t>
            </a:r>
            <a:r>
              <a:rPr lang="en-US" altLang="zh-CN" dirty="0"/>
              <a:t>G</a:t>
            </a:r>
            <a:r>
              <a:rPr lang="zh-CN" altLang="en-US" dirty="0"/>
              <a:t>所能接受的串。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F4BB86-EE2F-4530-B76E-B226F70D5E51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xmlns="" val="20369403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4.5.1 </a:t>
            </a:r>
            <a:r>
              <a:rPr lang="zh-CN" altLang="en-US" dirty="0" smtClean="0"/>
              <a:t>递归子程序法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例</a:t>
            </a:r>
            <a:r>
              <a:rPr lang="en-US" altLang="zh-CN" dirty="0" smtClean="0"/>
              <a:t>1298  </a:t>
            </a:r>
            <a:r>
              <a:rPr lang="zh-CN" altLang="en-US" dirty="0" smtClean="0"/>
              <a:t>解</a:t>
            </a:r>
            <a:endParaRPr lang="en-US" altLang="zh-CN" dirty="0" smtClean="0"/>
          </a:p>
          <a:p>
            <a:pPr lvl="1">
              <a:buFont typeface="+mj-ea"/>
              <a:buAutoNum type="circleNumDbPlain"/>
            </a:pPr>
            <a:r>
              <a:rPr lang="zh-CN" altLang="en-US" dirty="0" smtClean="0"/>
              <a:t>当遇到非终结符时</a:t>
            </a:r>
            <a:r>
              <a:rPr lang="en-US" altLang="zh-CN" dirty="0" smtClean="0"/>
              <a:t>,  </a:t>
            </a:r>
            <a:r>
              <a:rPr lang="zh-CN" altLang="en-US" dirty="0" smtClean="0"/>
              <a:t>则调用相应的函数。</a:t>
            </a:r>
            <a:endParaRPr lang="en-US" altLang="zh-CN" dirty="0" smtClean="0"/>
          </a:p>
          <a:p>
            <a:pPr lvl="1">
              <a:buFont typeface="+mj-lt"/>
              <a:buAutoNum type="arabicPeriod"/>
            </a:pPr>
            <a:r>
              <a:rPr lang="en-US" altLang="zh-CN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E()   </a:t>
            </a:r>
            <a:r>
              <a:rPr lang="en-US" altLang="zh-CN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en-US" altLang="zh-CN" b="1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E→TE' </a:t>
            </a:r>
            <a:endParaRPr lang="en-US" altLang="zh-CN" b="1" dirty="0" smtClean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buFont typeface="+mj-lt"/>
              <a:buAutoNum type="arabicPeriod"/>
            </a:pPr>
            <a:r>
              <a:rPr lang="en-US" altLang="zh-CN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  <a:endParaRPr lang="en-US" altLang="zh-CN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buFont typeface="+mj-lt"/>
              <a:buAutoNum type="arabicPeriod"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T();</a:t>
            </a:r>
          </a:p>
          <a:p>
            <a:pPr lvl="1">
              <a:buFont typeface="+mj-lt"/>
              <a:buAutoNum type="arabicPeriod"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E1();</a:t>
            </a:r>
          </a:p>
          <a:p>
            <a:pPr lvl="1">
              <a:buFont typeface="+mj-lt"/>
              <a:buAutoNum type="arabicPeriod"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lvl="1">
              <a:buFont typeface="+mj-lt"/>
              <a:buAutoNum type="arabicPeriod"/>
            </a:pPr>
            <a:r>
              <a:rPr lang="en-US" altLang="zh-CN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T()  	</a:t>
            </a:r>
            <a:r>
              <a:rPr lang="en-US" altLang="zh-CN" b="1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en-US" altLang="zh-C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T→FT</a:t>
            </a:r>
            <a:r>
              <a:rPr lang="en-US" altLang="zh-CN" b="1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'</a:t>
            </a:r>
            <a:endParaRPr lang="en-US" altLang="zh-CN" b="1" dirty="0" smtClean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buFont typeface="+mj-lt"/>
              <a:buAutoNum type="arabicPeriod"/>
            </a:pPr>
            <a:r>
              <a:rPr lang="en-US" altLang="zh-CN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  <a:endParaRPr lang="en-US" altLang="zh-CN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buFont typeface="+mj-lt"/>
              <a:buAutoNum type="arabicPeriod"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F();</a:t>
            </a:r>
          </a:p>
          <a:p>
            <a:pPr lvl="1">
              <a:buFont typeface="+mj-lt"/>
              <a:buAutoNum type="arabicPeriod"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T1();</a:t>
            </a:r>
          </a:p>
          <a:p>
            <a:pPr lvl="1">
              <a:buFont typeface="+mj-lt"/>
              <a:buAutoNum type="arabicPeriod"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F4BB86-EE2F-4530-B76E-B226F70D5E51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5796366" y="2163392"/>
            <a:ext cx="26657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E→TE'</a:t>
            </a:r>
          </a:p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T→FT'   </a:t>
            </a:r>
          </a:p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E'→+TE' |</a:t>
            </a:r>
            <a:r>
              <a:rPr lang="el-GR" altLang="zh-CN" sz="2800" dirty="0" smtClean="0">
                <a:solidFill>
                  <a:srgbClr val="FF0000"/>
                </a:solidFill>
              </a:rPr>
              <a:t>ε</a:t>
            </a:r>
          </a:p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T'→*FT' |</a:t>
            </a:r>
            <a:r>
              <a:rPr lang="el-GR" altLang="zh-CN" sz="2800" dirty="0" smtClean="0">
                <a:solidFill>
                  <a:srgbClr val="FF0000"/>
                </a:solidFill>
              </a:rPr>
              <a:t>ε</a:t>
            </a:r>
          </a:p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F→(E) | 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xmlns="" val="12414386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4.5.1 </a:t>
            </a:r>
            <a:r>
              <a:rPr lang="zh-CN" altLang="en-US" dirty="0"/>
              <a:t>递归子程序法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3200" dirty="0"/>
              <a:t>例</a:t>
            </a:r>
            <a:r>
              <a:rPr lang="en-US" altLang="zh-CN" sz="3200" dirty="0"/>
              <a:t>1298  </a:t>
            </a:r>
            <a:r>
              <a:rPr lang="zh-CN" altLang="en-US" sz="3200" dirty="0"/>
              <a:t>解</a:t>
            </a:r>
          </a:p>
          <a:p>
            <a:pPr marL="900113" lvl="1" indent="-2905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//E'→+TE' |</a:t>
            </a:r>
            <a:r>
              <a:rPr lang="el-GR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ε</a:t>
            </a:r>
            <a:endParaRPr lang="en-US" altLang="zh-CN" sz="2800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900113" lvl="1" indent="-2905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E1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()</a:t>
            </a:r>
          </a:p>
          <a:p>
            <a:pPr marL="900113" lvl="1" indent="-2905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  <a:endParaRPr lang="en-US" altLang="zh-CN" sz="2800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(token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==</a:t>
            </a:r>
            <a:r>
              <a:rPr lang="en-US" altLang="zh-CN" sz="28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'+'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{  </a:t>
            </a:r>
            <a:r>
              <a:rPr lang="en-US" altLang="zh-CN" sz="2800" b="1" dirty="0" err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GetToken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T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E1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endParaRPr lang="en-US" altLang="zh-CN" sz="2800" b="1" dirty="0" smtClean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;</a:t>
            </a:r>
            <a:endParaRPr lang="en-US" altLang="zh-CN" sz="2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900113" lvl="1" indent="-2905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en-US" altLang="zh-CN" sz="2800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900113" lvl="1" indent="-2905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altLang="zh-CN" sz="2800" b="1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fr-FR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T'→*FT' |</a:t>
            </a:r>
            <a:r>
              <a:rPr lang="el-GR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ε</a:t>
            </a:r>
            <a:endParaRPr lang="en-US" altLang="zh-CN" sz="2800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900113" lvl="1" indent="-2905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altLang="zh-CN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fr-FR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fr-FR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T1</a:t>
            </a:r>
            <a:r>
              <a:rPr lang="fr-FR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()</a:t>
            </a:r>
            <a:endParaRPr lang="en-US" altLang="zh-CN" sz="2800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900113" lvl="1" indent="-2905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  <a:r>
              <a:rPr lang="en-US" altLang="zh-CN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(token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==</a:t>
            </a:r>
            <a:r>
              <a:rPr lang="en-US" altLang="zh-CN" sz="28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'*'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  <a:endParaRPr lang="en-US" altLang="zh-CN" sz="2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 </a:t>
            </a:r>
            <a:r>
              <a:rPr lang="en-US" altLang="zh-CN" sz="28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GetToken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F();</a:t>
            </a: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 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T1();</a:t>
            </a: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en-US" altLang="zh-CN" sz="2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endParaRPr lang="en-US" altLang="zh-CN" sz="2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1354137" lvl="1" indent="-74295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zh-CN" altLang="en-US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marL="900113" lvl="1" indent="-2905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2800" b="1" dirty="0">
              <a:solidFill>
                <a:srgbClr val="008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2085473" y="5707485"/>
            <a:ext cx="6785811" cy="921407"/>
          </a:xfrm>
          <a:prstGeom prst="rect">
            <a:avLst/>
          </a:prstGeom>
          <a:ln/>
          <a:ex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0363" indent="-360363" algn="just" rtl="0" eaLnBrk="1" fontAlgn="base" hangingPunct="1"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Ø"/>
              <a:defRPr sz="36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1pPr>
            <a:lvl2pPr marL="971550" indent="-514350" algn="just" rtl="0" eaLnBrk="1" fontAlgn="base" hangingPunct="1">
              <a:spcBef>
                <a:spcPts val="300"/>
              </a:spcBef>
              <a:spcAft>
                <a:spcPts val="300"/>
              </a:spcAft>
              <a:buClr>
                <a:srgbClr val="339933"/>
              </a:buClr>
              <a:buFont typeface="Times New Roman" panose="02020603050405020304" pitchFamily="18" charset="0"/>
              <a:buChar char="−"/>
              <a:defRPr sz="34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2pPr>
            <a:lvl3pPr marL="1169988" indent="-255588" algn="just" rtl="0" eaLnBrk="1" fontAlgn="base" hangingPunct="1">
              <a:spcBef>
                <a:spcPts val="300"/>
              </a:spcBef>
              <a:spcAft>
                <a:spcPts val="300"/>
              </a:spcAft>
              <a:buClr>
                <a:srgbClr val="0000CC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3pPr>
            <a:lvl4pPr marL="1657350" indent="-285750" algn="just" rtl="0" eaLnBrk="1" fontAlgn="base" hangingPunct="1">
              <a:spcBef>
                <a:spcPts val="200"/>
              </a:spcBef>
              <a:spcAft>
                <a:spcPts val="200"/>
              </a:spcAft>
              <a:buClr>
                <a:srgbClr val="0070C0"/>
              </a:buClr>
              <a:buFont typeface="Wingdings" panose="05000000000000000000" pitchFamily="2" charset="2"/>
              <a:buChar char="Ø"/>
              <a:defRPr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4pPr>
            <a:lvl5pPr marL="2114550" indent="-285750" algn="just" rtl="0" eaLnBrk="1" fontAlgn="base" hangingPunct="1">
              <a:spcBef>
                <a:spcPts val="200"/>
              </a:spcBef>
              <a:spcAft>
                <a:spcPts val="200"/>
              </a:spcAft>
              <a:buClr>
                <a:srgbClr val="0070C0"/>
              </a:buClr>
              <a:buFont typeface="Wingdings" panose="05000000000000000000" pitchFamily="2" charset="2"/>
              <a:buChar char="Ø"/>
              <a:defRPr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+mj-ea"/>
              <a:buAutoNum type="circleNumDbPlain" startAt="2"/>
            </a:pPr>
            <a:r>
              <a:rPr lang="zh-CN" altLang="en-US" sz="28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</a:rPr>
              <a:t>当遇到终结符时</a:t>
            </a:r>
            <a:r>
              <a:rPr lang="en-US" altLang="zh-CN" sz="28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</a:rPr>
              <a:t>, </a:t>
            </a:r>
            <a:r>
              <a:rPr lang="zh-CN" altLang="en-US" sz="28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</a:rPr>
              <a:t>则判断与当前的单词是否匹配</a:t>
            </a:r>
            <a:r>
              <a:rPr lang="en-US" altLang="zh-CN" sz="28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</a:rPr>
              <a:t>,</a:t>
            </a:r>
            <a:r>
              <a:rPr lang="zh-CN" altLang="en-US" sz="28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</a:rPr>
              <a:t>若匹配再读下一个单词继续分析</a:t>
            </a:r>
            <a:endParaRPr lang="zh-CN" altLang="en-US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华文中宋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88217" y="4180344"/>
            <a:ext cx="26657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E→TE'</a:t>
            </a:r>
          </a:p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T→FT'   </a:t>
            </a:r>
          </a:p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E'→+TE' |</a:t>
            </a:r>
            <a:r>
              <a:rPr lang="el-GR" altLang="zh-CN" sz="2800" dirty="0" smtClean="0">
                <a:solidFill>
                  <a:srgbClr val="FF0000"/>
                </a:solidFill>
              </a:rPr>
              <a:t>ε</a:t>
            </a:r>
          </a:p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T'→*FT' |</a:t>
            </a:r>
            <a:r>
              <a:rPr lang="el-GR" altLang="zh-CN" sz="2800" dirty="0" smtClean="0">
                <a:solidFill>
                  <a:srgbClr val="FF0000"/>
                </a:solidFill>
              </a:rPr>
              <a:t>ε</a:t>
            </a:r>
          </a:p>
          <a:p>
            <a:pPr lvl="1"/>
            <a:r>
              <a:rPr lang="en-US" altLang="zh-CN" sz="2800" dirty="0" smtClean="0">
                <a:solidFill>
                  <a:srgbClr val="FF0000"/>
                </a:solidFill>
              </a:rPr>
              <a:t>F→(E) | 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xmlns="" val="328957932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4.5.1 </a:t>
            </a:r>
            <a:r>
              <a:rPr lang="zh-CN" altLang="en-US" dirty="0" smtClean="0"/>
              <a:t>递归子程序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52006"/>
            <a:ext cx="8382000" cy="559793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例</a:t>
            </a:r>
            <a:r>
              <a:rPr lang="en-US" altLang="zh-CN" dirty="0"/>
              <a:t>1298  </a:t>
            </a:r>
            <a:r>
              <a:rPr lang="zh-CN" altLang="en-US" dirty="0"/>
              <a:t>解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6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//F→(E</a:t>
            </a:r>
            <a:r>
              <a:rPr lang="en-US" altLang="zh-CN" sz="3600" dirty="0" smtClean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)|</a:t>
            </a:r>
            <a:r>
              <a:rPr lang="en-US" altLang="zh-CN" sz="3600" dirty="0" err="1" smtClean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endParaRPr lang="en-US" altLang="zh-CN" dirty="0" smtClean="0">
              <a:solidFill>
                <a:srgbClr val="0000FF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()</a:t>
            </a:r>
            <a:endParaRPr lang="en-US" altLang="zh-CN" dirty="0" smtClean="0">
              <a:solidFill>
                <a:srgbClr val="008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   </a:t>
            </a:r>
            <a:r>
              <a:rPr lang="en-US" altLang="zh-CN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(token==</a:t>
            </a:r>
            <a:r>
              <a:rPr lang="en-US" altLang="zh-CN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'('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   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GetToken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E();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(token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==</a:t>
            </a:r>
            <a:r>
              <a:rPr lang="en-US" altLang="zh-CN" dirty="0" smtClean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')'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  <a:r>
              <a:rPr lang="en-US" altLang="zh-CN" dirty="0" err="1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GetToken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dirty="0" err="1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bSucceed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 </a:t>
            </a:r>
            <a:r>
              <a:rPr lang="en-US" altLang="zh-CN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false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(token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==</a:t>
            </a:r>
            <a:r>
              <a:rPr lang="en-US" altLang="zh-CN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</a:t>
            </a:r>
            <a:r>
              <a:rPr lang="en-US" altLang="zh-CN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dirty="0" smtClean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</a:t>
            </a:r>
            <a:r>
              <a:rPr lang="en-US" altLang="zh-CN" dirty="0" err="1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GetToken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else </a:t>
            </a:r>
            <a:r>
              <a:rPr lang="en-US" altLang="zh-CN" dirty="0" err="1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bSucceed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false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4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F4BB86-EE2F-4530-B76E-B226F70D5E51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572000" y="737406"/>
            <a:ext cx="4379495" cy="2607752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0363" indent="-360363" algn="just" rtl="0" eaLnBrk="1" fontAlgn="base" hangingPunct="1"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Ø"/>
              <a:defRPr sz="36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1pPr>
            <a:lvl2pPr marL="971550" indent="-514350" algn="just" rtl="0" eaLnBrk="1" fontAlgn="base" hangingPunct="1">
              <a:spcBef>
                <a:spcPts val="300"/>
              </a:spcBef>
              <a:spcAft>
                <a:spcPts val="300"/>
              </a:spcAft>
              <a:buClr>
                <a:srgbClr val="339933"/>
              </a:buClr>
              <a:buFont typeface="Times New Roman" panose="02020603050405020304" pitchFamily="18" charset="0"/>
              <a:buChar char="−"/>
              <a:defRPr sz="34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2pPr>
            <a:lvl3pPr marL="1169988" indent="-255588" algn="just" rtl="0" eaLnBrk="1" fontAlgn="base" hangingPunct="1">
              <a:spcBef>
                <a:spcPts val="300"/>
              </a:spcBef>
              <a:spcAft>
                <a:spcPts val="300"/>
              </a:spcAft>
              <a:buClr>
                <a:srgbClr val="0000CC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3pPr>
            <a:lvl4pPr marL="1657350" indent="-285750" algn="just" rtl="0" eaLnBrk="1" fontAlgn="base" hangingPunct="1">
              <a:spcBef>
                <a:spcPts val="200"/>
              </a:spcBef>
              <a:spcAft>
                <a:spcPts val="200"/>
              </a:spcAft>
              <a:buClr>
                <a:srgbClr val="0070C0"/>
              </a:buClr>
              <a:buFont typeface="Wingdings" panose="05000000000000000000" pitchFamily="2" charset="2"/>
              <a:buChar char="Ø"/>
              <a:defRPr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4pPr>
            <a:lvl5pPr marL="2114550" indent="-285750" algn="just" rtl="0" eaLnBrk="1" fontAlgn="base" hangingPunct="1">
              <a:spcBef>
                <a:spcPts val="200"/>
              </a:spcBef>
              <a:spcAft>
                <a:spcPts val="200"/>
              </a:spcAft>
              <a:buClr>
                <a:srgbClr val="0070C0"/>
              </a:buClr>
              <a:buFont typeface="Wingdings" panose="05000000000000000000" pitchFamily="2" charset="2"/>
              <a:buChar char="Ø"/>
              <a:defRPr kern="1200">
                <a:solidFill>
                  <a:schemeClr val="tx1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Font typeface="+mj-ea"/>
              <a:buAutoNum type="circleNumDbPlain" startAt="3"/>
            </a:pPr>
            <a:r>
              <a:rPr lang="zh-CN" altLang="en-US" sz="2800" dirty="0" smtClean="0">
                <a:solidFill>
                  <a:prstClr val="black"/>
                </a:solidFill>
              </a:rPr>
              <a:t>相同</a:t>
            </a:r>
            <a:r>
              <a:rPr lang="zh-CN" altLang="en-US" sz="2800" dirty="0">
                <a:solidFill>
                  <a:prstClr val="black"/>
                </a:solidFill>
              </a:rPr>
              <a:t>左部的产生式</a:t>
            </a:r>
            <a:r>
              <a:rPr lang="en-US" altLang="zh-CN" sz="2800" dirty="0">
                <a:solidFill>
                  <a:prstClr val="black"/>
                </a:solidFill>
              </a:rPr>
              <a:t>, </a:t>
            </a:r>
            <a:r>
              <a:rPr lang="zh-CN" altLang="en-US" sz="2800" dirty="0">
                <a:solidFill>
                  <a:prstClr val="black"/>
                </a:solidFill>
              </a:rPr>
              <a:t>其右部编写成分支结构</a:t>
            </a:r>
            <a:r>
              <a:rPr lang="en-US" altLang="zh-CN" sz="2800" dirty="0" smtClean="0">
                <a:solidFill>
                  <a:prstClr val="black"/>
                </a:solidFill>
              </a:rPr>
              <a:t>: </a:t>
            </a:r>
            <a:r>
              <a:rPr lang="zh-CN" altLang="en-US" sz="2800" dirty="0" smtClean="0">
                <a:solidFill>
                  <a:prstClr val="black"/>
                </a:solidFill>
              </a:rPr>
              <a:t>将</a:t>
            </a:r>
            <a:r>
              <a:rPr lang="zh-CN" altLang="en-US" sz="2800" dirty="0">
                <a:solidFill>
                  <a:prstClr val="black"/>
                </a:solidFill>
              </a:rPr>
              <a:t>当前的单词与分支点上多个终结符逐个</a:t>
            </a:r>
            <a:r>
              <a:rPr lang="zh-CN" altLang="en-US" sz="2800" dirty="0" smtClean="0">
                <a:solidFill>
                  <a:prstClr val="black"/>
                </a:solidFill>
              </a:rPr>
              <a:t>相比较</a:t>
            </a:r>
            <a:r>
              <a:rPr lang="en-US" altLang="zh-CN" sz="2800" dirty="0" smtClean="0">
                <a:solidFill>
                  <a:prstClr val="black"/>
                </a:solidFill>
              </a:rPr>
              <a:t>; </a:t>
            </a:r>
            <a:r>
              <a:rPr lang="zh-CN" altLang="en-US" sz="2800" dirty="0" smtClean="0">
                <a:solidFill>
                  <a:prstClr val="black"/>
                </a:solidFill>
              </a:rPr>
              <a:t>若</a:t>
            </a:r>
            <a:r>
              <a:rPr lang="zh-CN" altLang="en-US" sz="2800" dirty="0">
                <a:solidFill>
                  <a:prstClr val="black"/>
                </a:solidFill>
              </a:rPr>
              <a:t>都不匹配时可能是进入下一个非终结符语法单位或是</a:t>
            </a:r>
            <a:r>
              <a:rPr lang="zh-CN" altLang="en-US" sz="2800" dirty="0" smtClean="0">
                <a:solidFill>
                  <a:prstClr val="black"/>
                </a:solidFill>
              </a:rPr>
              <a:t>出错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048305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4.5.1 </a:t>
            </a:r>
            <a:r>
              <a:rPr lang="zh-CN" altLang="en-US" dirty="0"/>
              <a:t>递归子程序法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2716" y="750747"/>
            <a:ext cx="8414084" cy="5601927"/>
          </a:xfrm>
        </p:spPr>
        <p:txBody>
          <a:bodyPr numCol="1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例 </a:t>
            </a:r>
            <a:r>
              <a:rPr lang="en-US" altLang="zh-CN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1298 </a:t>
            </a:r>
          </a:p>
          <a:p>
            <a:pPr marL="722313" lvl="1" indent="-2651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200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</a:t>
            </a:r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include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&lt;iostream&gt;</a:t>
            </a:r>
            <a:endParaRPr lang="en-US" altLang="zh-CN" sz="32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722313" lvl="1" indent="-2651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using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namespace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 err="1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std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marL="722313" lvl="1" indent="-2651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</a:t>
            </a:r>
            <a:r>
              <a:rPr lang="en-US" altLang="zh-CN" sz="32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string.h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</a:t>
            </a:r>
            <a:endParaRPr lang="en-US" altLang="zh-CN" sz="32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722313" lvl="1" indent="-2651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                  </a:t>
            </a:r>
          </a:p>
          <a:p>
            <a:pPr marL="722313" lvl="1" indent="-2651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token;            </a:t>
            </a:r>
          </a:p>
          <a:p>
            <a:pPr marL="722313" lvl="1" indent="-2651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SymbolTable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[80]; </a:t>
            </a:r>
          </a:p>
          <a:p>
            <a:pPr marL="722313" lvl="1" indent="-26511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bool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bSucceed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   </a:t>
            </a:r>
          </a:p>
        </p:txBody>
      </p:sp>
    </p:spTree>
    <p:extLst>
      <p:ext uri="{BB962C8B-B14F-4D97-AF65-F5344CB8AC3E}">
        <p14:creationId xmlns:p14="http://schemas.microsoft.com/office/powerpoint/2010/main" xmlns="" val="124935524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4.5.1 </a:t>
            </a:r>
            <a:r>
              <a:rPr lang="zh-CN" altLang="en-US" dirty="0"/>
              <a:t>递归子程序法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例 </a:t>
            </a:r>
            <a:r>
              <a:rPr lang="en-US" altLang="zh-CN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1298 </a:t>
            </a:r>
          </a:p>
          <a:p>
            <a:pPr lvl="1">
              <a:buFont typeface="+mj-lt"/>
              <a:buAutoNum type="arabicPeriod" startAt="8"/>
            </a:pPr>
            <a:r>
              <a:rPr lang="en-US" altLang="zh-CN" dirty="0" smtClean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GetToken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()</a:t>
            </a:r>
          </a:p>
          <a:p>
            <a:pPr lvl="1">
              <a:buFont typeface="+mj-lt"/>
              <a:buAutoNum type="arabicPeriod" startAt="8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>
              <a:buFont typeface="+mj-lt"/>
              <a:buAutoNum type="arabicPeriod" startAt="8"/>
            </a:pP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token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'\0'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buFont typeface="+mj-lt"/>
              <a:buAutoNum type="arabicPeriod" startAt="8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strlen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SymbolTable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))</a:t>
            </a:r>
          </a:p>
          <a:p>
            <a:pPr lvl="1">
              <a:buFont typeface="+mj-lt"/>
              <a:buAutoNum type="arabicPeriod" startAt="8"/>
            </a:pPr>
            <a:r>
              <a:rPr lang="zh-CN" altLang="en-US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>
              <a:buFont typeface="+mj-lt"/>
              <a:buAutoNum type="arabicPeriod" startAt="8"/>
            </a:pP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token=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SymbolTable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</a:t>
            </a:r>
            <a:r>
              <a:rPr lang="en-US" altLang="zh-CN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++];</a:t>
            </a:r>
          </a:p>
          <a:p>
            <a:pPr lvl="1">
              <a:buFont typeface="+mj-lt"/>
              <a:buAutoNum type="arabicPeriod" startAt="8"/>
            </a:pPr>
            <a:r>
              <a:rPr lang="zh-CN" altLang="en-US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lvl="1">
              <a:buFont typeface="+mj-lt"/>
              <a:buAutoNum type="arabicPeriod" startAt="8"/>
            </a:pPr>
            <a:r>
              <a:rPr lang="en-US" altLang="zh-CN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2714428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4.5.1 </a:t>
            </a:r>
            <a:r>
              <a:rPr lang="zh-CN" altLang="en-US" dirty="0"/>
              <a:t>递归子程序法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2716" y="750748"/>
            <a:ext cx="8414084" cy="5810473"/>
          </a:xfrm>
        </p:spPr>
        <p:txBody>
          <a:bodyPr numCol="1">
            <a:normAutofit/>
          </a:bodyPr>
          <a:lstStyle/>
          <a:p>
            <a:pPr marL="360363" lvl="1" indent="-360363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36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例 </a:t>
            </a:r>
            <a:r>
              <a:rPr lang="en-US" altLang="zh-CN" sz="36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1298 </a:t>
            </a:r>
            <a:endParaRPr lang="en-US" altLang="zh-CN" sz="36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main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(){</a:t>
            </a:r>
            <a:endParaRPr lang="en-US" altLang="zh-CN" sz="2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bSucceed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true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; 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b="1" dirty="0" err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=0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cin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&gt;&gt;</a:t>
            </a:r>
            <a:r>
              <a:rPr lang="en-US" altLang="zh-CN" sz="28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SymbolTable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GetToken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(); 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E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8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bSucceed</a:t>
            </a: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  <a:r>
              <a:rPr lang="en-US" altLang="zh-CN" sz="2800" b="1" spc="-3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spc="-3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      </a:t>
            </a:r>
            <a:r>
              <a:rPr lang="en-US" altLang="zh-CN" sz="2800" b="1" spc="-300" dirty="0" err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cout</a:t>
            </a:r>
            <a:r>
              <a:rPr lang="en-US" altLang="zh-CN" sz="2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&lt;&lt;</a:t>
            </a:r>
            <a:r>
              <a:rPr lang="en-US" altLang="zh-CN" sz="2800" b="1" spc="-3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"accept\n"</a:t>
            </a:r>
            <a:r>
              <a:rPr lang="en-US" altLang="zh-CN" sz="2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&lt;&lt;</a:t>
            </a:r>
            <a:r>
              <a:rPr lang="en-US" altLang="zh-CN" sz="2800" b="1" spc="-300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endl</a:t>
            </a:r>
            <a:r>
              <a:rPr lang="en-US" altLang="zh-CN" sz="2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else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2800" b="1" spc="-300" dirty="0" err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cout</a:t>
            </a:r>
            <a:r>
              <a:rPr lang="en-US" altLang="zh-CN" sz="2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&lt;&lt;</a:t>
            </a:r>
            <a:r>
              <a:rPr lang="en-US" altLang="zh-CN" sz="2800" b="1" spc="-3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"not accept\n"</a:t>
            </a:r>
            <a:r>
              <a:rPr lang="en-US" altLang="zh-CN" sz="2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&lt;&lt;</a:t>
            </a:r>
            <a:r>
              <a:rPr lang="en-US" altLang="zh-CN" sz="2800" b="1" spc="-300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endl</a:t>
            </a:r>
            <a:r>
              <a:rPr lang="en-US" altLang="zh-CN" sz="2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 0;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8"/>
            </a:pPr>
            <a:r>
              <a:rPr lang="en-US" altLang="zh-CN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738" y="750748"/>
            <a:ext cx="2983788" cy="144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6" y="2456956"/>
            <a:ext cx="3222852" cy="144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124935524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4.5.1 </a:t>
            </a:r>
            <a:r>
              <a:rPr lang="zh-CN" altLang="en-US" dirty="0" smtClean="0"/>
              <a:t>递归子程序</a:t>
            </a:r>
            <a:r>
              <a:rPr lang="zh-CN" altLang="en-US" dirty="0"/>
              <a:t>法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376077" y="772036"/>
            <a:ext cx="8391846" cy="546834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小结递归子程序法</a:t>
            </a:r>
            <a:endParaRPr lang="en-US" altLang="zh-CN" dirty="0"/>
          </a:p>
          <a:p>
            <a:pPr lvl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dirty="0"/>
              <a:t>对文法要求高</a:t>
            </a:r>
            <a:r>
              <a:rPr lang="en-US" altLang="zh-CN" dirty="0"/>
              <a:t>, </a:t>
            </a:r>
            <a:r>
              <a:rPr lang="zh-CN" altLang="en-US" dirty="0"/>
              <a:t>必须满足</a:t>
            </a:r>
            <a:r>
              <a:rPr lang="en-US" altLang="zh-CN" dirty="0"/>
              <a:t>LL(1)</a:t>
            </a:r>
            <a:r>
              <a:rPr lang="zh-CN" altLang="en-US" dirty="0"/>
              <a:t>文法；</a:t>
            </a:r>
          </a:p>
          <a:p>
            <a:pPr lvl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dirty="0"/>
              <a:t> </a:t>
            </a:r>
            <a:r>
              <a:rPr lang="zh-CN" altLang="en-US" dirty="0" smtClean="0"/>
              <a:t>递归</a:t>
            </a:r>
            <a:r>
              <a:rPr lang="zh-CN" altLang="en-US" dirty="0"/>
              <a:t>调用多</a:t>
            </a:r>
            <a:r>
              <a:rPr lang="en-US" altLang="zh-CN" dirty="0"/>
              <a:t>, </a:t>
            </a:r>
            <a:r>
              <a:rPr lang="zh-CN" altLang="en-US" dirty="0"/>
              <a:t>运行</a:t>
            </a:r>
            <a:r>
              <a:rPr lang="zh-CN" altLang="en-US" dirty="0" smtClean="0"/>
              <a:t>速度慢</a:t>
            </a:r>
            <a:r>
              <a:rPr lang="en-US" altLang="zh-CN" dirty="0" smtClean="0"/>
              <a:t>, </a:t>
            </a:r>
            <a:r>
              <a:rPr lang="zh-CN" altLang="en-US" dirty="0" smtClean="0"/>
              <a:t>占用</a:t>
            </a:r>
            <a:r>
              <a:rPr lang="zh-CN" altLang="en-US" dirty="0"/>
              <a:t>空间多。</a:t>
            </a:r>
          </a:p>
          <a:p>
            <a:pPr lvl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dirty="0"/>
              <a:t>虽有不足</a:t>
            </a:r>
            <a:r>
              <a:rPr lang="en-US" altLang="zh-CN" dirty="0"/>
              <a:t>, </a:t>
            </a:r>
            <a:r>
              <a:rPr lang="zh-CN" altLang="en-US" dirty="0"/>
              <a:t>但许多高级语言</a:t>
            </a:r>
            <a:r>
              <a:rPr lang="en-US" altLang="zh-CN" dirty="0"/>
              <a:t>, </a:t>
            </a:r>
            <a:r>
              <a:rPr lang="zh-CN" altLang="en-US" dirty="0"/>
              <a:t>例如</a:t>
            </a:r>
            <a:r>
              <a:rPr lang="en-US" altLang="zh-CN" dirty="0"/>
              <a:t>Pascal, C</a:t>
            </a:r>
            <a:r>
              <a:rPr lang="zh-CN" altLang="en-US" dirty="0"/>
              <a:t>等编译系统常常采用该方法。</a:t>
            </a:r>
          </a:p>
        </p:txBody>
      </p:sp>
    </p:spTree>
    <p:extLst>
      <p:ext uri="{BB962C8B-B14F-4D97-AF65-F5344CB8AC3E}">
        <p14:creationId xmlns:p14="http://schemas.microsoft.com/office/powerpoint/2010/main" xmlns="" val="18513111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4.5.1 </a:t>
            </a:r>
            <a:r>
              <a:rPr lang="zh-CN" altLang="en-US" dirty="0"/>
              <a:t>递归子程序法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That’s all for this lecture </a:t>
            </a:r>
          </a:p>
          <a:p>
            <a:r>
              <a:rPr lang="en-US" altLang="zh-CN" dirty="0" smtClean="0"/>
              <a:t>Thanks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799554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江西理工大学计算机教研室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/>
      <a:lstStyle>
        <a:defPPr algn="ctr">
          <a:defRPr dirty="0" smtClean="0">
            <a:solidFill>
              <a:srgbClr val="C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第01章 引论(3学时).pptx" id="{E8C79F47-3B57-4D16-9661-873D8BBD0977}" vid="{D403ABF0-8A1B-4F5E-8CE5-29AF5178152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第01章 引论(3学时)</Template>
  <TotalTime>622</TotalTime>
  <Words>672</Words>
  <Application>Microsoft Office PowerPoint</Application>
  <PresentationFormat>全屏显示(4:3)</PresentationFormat>
  <Paragraphs>134</Paragraphs>
  <Slides>12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江西理工大学计算机教研室</vt:lpstr>
      <vt:lpstr>第4章自顶向下语法分析方法</vt:lpstr>
      <vt:lpstr>4.5 确定的自顶向下分析方法</vt:lpstr>
      <vt:lpstr>4.5.1 递归子程序法</vt:lpstr>
      <vt:lpstr>4.5.1 递归子程序法</vt:lpstr>
      <vt:lpstr>4.5.1 递归子程序法</vt:lpstr>
      <vt:lpstr>4.5.1 递归子程序法</vt:lpstr>
      <vt:lpstr>4.5.1 递归子程序法</vt:lpstr>
      <vt:lpstr>4.5.1 递归子程序法</vt:lpstr>
      <vt:lpstr>4.5.1 递归子程序法</vt:lpstr>
      <vt:lpstr>4.5.1 递归子程序法</vt:lpstr>
      <vt:lpstr>4.5.1 递归子程序法</vt:lpstr>
      <vt:lpstr>4.5.1 递归子程序法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第5章自顶向下语法分析方法</dc:title>
  <dc:creator>欧阳城添</dc:creator>
  <cp:lastModifiedBy>江西理工大学</cp:lastModifiedBy>
  <cp:revision>52</cp:revision>
  <dcterms:created xsi:type="dcterms:W3CDTF">2015-11-23T02:32:44Z</dcterms:created>
  <dcterms:modified xsi:type="dcterms:W3CDTF">2016-11-23T03:08:53Z</dcterms:modified>
</cp:coreProperties>
</file>