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999" r:id="rId2"/>
    <p:sldId id="1003" r:id="rId3"/>
    <p:sldId id="1004" r:id="rId4"/>
    <p:sldId id="1005" r:id="rId5"/>
    <p:sldId id="1000" r:id="rId6"/>
    <p:sldId id="1132" r:id="rId7"/>
    <p:sldId id="1128" r:id="rId8"/>
    <p:sldId id="1133" r:id="rId9"/>
    <p:sldId id="1134" r:id="rId10"/>
    <p:sldId id="1118" r:id="rId11"/>
    <p:sldId id="1129" r:id="rId12"/>
    <p:sldId id="1130" r:id="rId13"/>
    <p:sldId id="1131" r:id="rId14"/>
    <p:sldId id="1126" r:id="rId15"/>
    <p:sldId id="1137" r:id="rId16"/>
    <p:sldId id="1016" r:id="rId17"/>
    <p:sldId id="1011" r:id="rId18"/>
    <p:sldId id="1012" r:id="rId19"/>
    <p:sldId id="1013" r:id="rId20"/>
    <p:sldId id="1014" r:id="rId21"/>
    <p:sldId id="1015" r:id="rId22"/>
    <p:sldId id="1017" r:id="rId23"/>
    <p:sldId id="1018" r:id="rId24"/>
    <p:sldId id="1019" r:id="rId25"/>
    <p:sldId id="1027" r:id="rId26"/>
    <p:sldId id="1025" r:id="rId27"/>
    <p:sldId id="1026" r:id="rId28"/>
    <p:sldId id="1139" r:id="rId29"/>
    <p:sldId id="1030" r:id="rId30"/>
    <p:sldId id="1031" r:id="rId31"/>
    <p:sldId id="1029" r:id="rId32"/>
    <p:sldId id="1032" r:id="rId33"/>
    <p:sldId id="1033" r:id="rId34"/>
    <p:sldId id="1164" r:id="rId35"/>
    <p:sldId id="1140" r:id="rId36"/>
    <p:sldId id="1002" r:id="rId37"/>
  </p:sldIdLst>
  <p:sldSz cx="9144000" cy="6858000" type="screen4x3"/>
  <p:notesSz cx="6858000" cy="9144000"/>
  <p:defaultTextStyle>
    <a:defPPr>
      <a:defRPr lang="zh-CN"/>
    </a:defPPr>
    <a:lvl1pPr algn="ctr"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ctr"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ctr"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ctr"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ctr"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1700C0"/>
    <a:srgbClr val="00CC00"/>
    <a:srgbClr val="FF0066"/>
    <a:srgbClr val="FFFF00"/>
    <a:srgbClr val="99FF33"/>
    <a:srgbClr val="339966"/>
    <a:srgbClr val="C5FFFF"/>
    <a:srgbClr val="99FFCC"/>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0" autoAdjust="0"/>
    <p:restoredTop sz="94669" autoAdjust="0"/>
  </p:normalViewPr>
  <p:slideViewPr>
    <p:cSldViewPr>
      <p:cViewPr>
        <p:scale>
          <a:sx n="70" d="100"/>
          <a:sy n="70" d="100"/>
        </p:scale>
        <p:origin x="-444" y="-7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33" d="100"/>
        <a:sy n="33" d="100"/>
      </p:scale>
      <p:origin x="0" y="804"/>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l">
              <a:defRPr sz="1000" i="1">
                <a:latin typeface="Times New Roman"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i="1">
                <a:latin typeface="Times New Roman" charset="0"/>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l">
              <a:defRPr sz="1000" i="1">
                <a:latin typeface="Times New Roman"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i="1">
                <a:latin typeface="Times New Roman" charset="0"/>
              </a:defRPr>
            </a:lvl1pPr>
          </a:lstStyle>
          <a:p>
            <a:pPr>
              <a:defRPr/>
            </a:pPr>
            <a:fld id="{3D1EED9C-43E9-4524-A057-16880980603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矩形 3"/>
          <p:cNvSpPr/>
          <p:nvPr/>
        </p:nvSpPr>
        <p:spPr>
          <a:xfrm>
            <a:off x="904875" y="2057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kumimoji="0" lang="en-US"/>
          </a:p>
        </p:txBody>
      </p:sp>
      <p:sp>
        <p:nvSpPr>
          <p:cNvPr id="5" name="矩形 4"/>
          <p:cNvSpPr/>
          <p:nvPr/>
        </p:nvSpPr>
        <p:spPr>
          <a:xfrm>
            <a:off x="914400" y="3457575"/>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kumimoji="0" lang="en-US"/>
          </a:p>
        </p:txBody>
      </p:sp>
      <p:sp>
        <p:nvSpPr>
          <p:cNvPr id="6" name="矩形 5"/>
          <p:cNvSpPr/>
          <p:nvPr/>
        </p:nvSpPr>
        <p:spPr>
          <a:xfrm>
            <a:off x="904875" y="2057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kumimoji="0" lang="en-US"/>
          </a:p>
        </p:txBody>
      </p:sp>
      <p:sp>
        <p:nvSpPr>
          <p:cNvPr id="7" name="矩形 6"/>
          <p:cNvSpPr/>
          <p:nvPr/>
        </p:nvSpPr>
        <p:spPr>
          <a:xfrm>
            <a:off x="914400" y="3457575"/>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defRPr/>
            </a:pPr>
            <a:endParaRPr kumimoji="0" lang="en-US"/>
          </a:p>
        </p:txBody>
      </p:sp>
      <p:sp>
        <p:nvSpPr>
          <p:cNvPr id="8" name="标题 7"/>
          <p:cNvSpPr>
            <a:spLocks noGrp="1"/>
          </p:cNvSpPr>
          <p:nvPr>
            <p:ph type="ctrTitle"/>
          </p:nvPr>
        </p:nvSpPr>
        <p:spPr>
          <a:xfrm>
            <a:off x="1219200" y="2295530"/>
            <a:ext cx="6858000" cy="990600"/>
          </a:xfrm>
        </p:spPr>
        <p:txBody>
          <a:bodyPr anchor="t"/>
          <a:lstStyle>
            <a:lvl1pPr algn="r">
              <a:defRPr sz="3200">
                <a:solidFill>
                  <a:schemeClr val="tx1"/>
                </a:solidFill>
              </a:defRPr>
            </a:lvl1pPr>
          </a:lstStyle>
          <a:p>
            <a:r>
              <a:rPr lang="zh-CN" altLang="en-US" smtClean="0"/>
              <a:t>单击此处编辑母版标题样式</a:t>
            </a:r>
            <a:endParaRPr lang="en-US"/>
          </a:p>
        </p:txBody>
      </p:sp>
      <p:sp>
        <p:nvSpPr>
          <p:cNvPr id="9" name="副标题 8"/>
          <p:cNvSpPr>
            <a:spLocks noGrp="1"/>
          </p:cNvSpPr>
          <p:nvPr>
            <p:ph type="subTitle" idx="1"/>
          </p:nvPr>
        </p:nvSpPr>
        <p:spPr>
          <a:xfrm>
            <a:off x="1219200" y="353378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10" name="日期占位符 27"/>
          <p:cNvSpPr>
            <a:spLocks noGrp="1"/>
          </p:cNvSpPr>
          <p:nvPr>
            <p:ph type="dt" sz="half" idx="10"/>
          </p:nvPr>
        </p:nvSpPr>
        <p:spPr>
          <a:xfrm>
            <a:off x="6400800" y="6354763"/>
            <a:ext cx="2286000" cy="366712"/>
          </a:xfrm>
        </p:spPr>
        <p:txBody>
          <a:bodyPr/>
          <a:lstStyle>
            <a:lvl1pPr>
              <a:defRPr sz="1400"/>
            </a:lvl1pPr>
          </a:lstStyle>
          <a:p>
            <a:pPr>
              <a:defRPr/>
            </a:pPr>
            <a:fld id="{DA5876E9-5E0D-48CA-94EB-087C7F5B82D9}" type="datetime1">
              <a:rPr lang="zh-CN" altLang="en-US" smtClean="0"/>
              <a:pPr>
                <a:defRPr/>
              </a:pPr>
              <a:t>2018/12/14</a:t>
            </a:fld>
            <a:endParaRPr lang="en-US" altLang="zh-CN"/>
          </a:p>
        </p:txBody>
      </p:sp>
      <p:sp>
        <p:nvSpPr>
          <p:cNvPr id="11" name="页脚占位符 16"/>
          <p:cNvSpPr>
            <a:spLocks noGrp="1"/>
          </p:cNvSpPr>
          <p:nvPr>
            <p:ph type="ftr" sz="quarter" idx="11"/>
          </p:nvPr>
        </p:nvSpPr>
        <p:spPr>
          <a:xfrm>
            <a:off x="2898775" y="6354763"/>
            <a:ext cx="3475038" cy="366712"/>
          </a:xfrm>
        </p:spPr>
        <p:txBody>
          <a:bodyPr/>
          <a:lstStyle>
            <a:lvl1pPr>
              <a:defRPr/>
            </a:lvl1p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12" name="灯片编号占位符 28"/>
          <p:cNvSpPr>
            <a:spLocks noGrp="1"/>
          </p:cNvSpPr>
          <p:nvPr>
            <p:ph type="sldNum" sz="quarter" idx="12"/>
          </p:nvPr>
        </p:nvSpPr>
        <p:spPr>
          <a:xfrm>
            <a:off x="1216025" y="6354763"/>
            <a:ext cx="1219200" cy="366712"/>
          </a:xfrm>
        </p:spPr>
        <p:txBody>
          <a:bodyPr/>
          <a:lstStyle>
            <a:lvl1pPr>
              <a:defRPr/>
            </a:lvl1pPr>
          </a:lstStyle>
          <a:p>
            <a:pPr>
              <a:defRPr/>
            </a:pPr>
            <a:fld id="{4A716228-1CC3-420E-93C8-C7A890DA8CD2}"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600" b="1"/>
            </a:lvl1p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457200" y="1219200"/>
            <a:ext cx="8229600" cy="4937760"/>
          </a:xfrm>
        </p:spPr>
        <p:txBody>
          <a:bodyPr/>
          <a:lstStyle>
            <a:lvl1pPr>
              <a:buFont typeface="Wingdings" pitchFamily="2" charset="2"/>
              <a:buChar char="n"/>
              <a:defRPr>
                <a:solidFill>
                  <a:schemeClr val="tx1"/>
                </a:solidFill>
                <a:latin typeface="+mj-ea"/>
                <a:ea typeface="+mj-ea"/>
              </a:defRPr>
            </a:lvl1pPr>
            <a:lvl2pPr>
              <a:buFont typeface="Wingdings" pitchFamily="2" charset="2"/>
              <a:buChar char="n"/>
              <a:defRPr>
                <a:solidFill>
                  <a:schemeClr val="tx1"/>
                </a:solidFill>
                <a:latin typeface="+mj-ea"/>
                <a:ea typeface="+mj-ea"/>
              </a:defRPr>
            </a:lvl2pPr>
            <a:lvl3pPr>
              <a:buFont typeface="Wingdings" pitchFamily="2" charset="2"/>
              <a:buChar char="n"/>
              <a:defRPr>
                <a:solidFill>
                  <a:schemeClr val="tx1"/>
                </a:solidFill>
                <a:latin typeface="+mj-ea"/>
                <a:ea typeface="+mj-ea"/>
              </a:defRPr>
            </a:lvl3pPr>
            <a:lvl4pPr>
              <a:buFont typeface="Wingdings" pitchFamily="2" charset="2"/>
              <a:buChar char="n"/>
              <a:defRPr>
                <a:solidFill>
                  <a:schemeClr val="tx1"/>
                </a:solidFill>
                <a:latin typeface="+mj-ea"/>
                <a:ea typeface="+mj-ea"/>
              </a:defRPr>
            </a:lvl4pPr>
            <a:lvl5pPr>
              <a:buFont typeface="Wingdings" pitchFamily="2" charset="2"/>
              <a:buChar char="n"/>
              <a:defRPr>
                <a:solidFill>
                  <a:schemeClr val="tx1"/>
                </a:solidFill>
                <a:latin typeface="+mj-ea"/>
                <a:ea typeface="+mj-ea"/>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日期占位符 13"/>
          <p:cNvSpPr>
            <a:spLocks noGrp="1"/>
          </p:cNvSpPr>
          <p:nvPr>
            <p:ph type="dt" sz="half" idx="10"/>
          </p:nvPr>
        </p:nvSpPr>
        <p:spPr/>
        <p:txBody>
          <a:bodyPr/>
          <a:lstStyle>
            <a:lvl1pPr>
              <a:defRPr/>
            </a:lvl1pPr>
          </a:lstStyle>
          <a:p>
            <a:pPr>
              <a:defRPr/>
            </a:pPr>
            <a:fld id="{E534E46F-3175-411F-86AE-CE277F996276}" type="datetime1">
              <a:rPr lang="zh-CN" altLang="en-US" smtClean="0"/>
              <a:pPr>
                <a:defRPr/>
              </a:pPr>
              <a:t>2018/12/14</a:t>
            </a:fld>
            <a:endParaRPr lang="en-US" altLang="zh-CN"/>
          </a:p>
        </p:txBody>
      </p:sp>
      <p:sp>
        <p:nvSpPr>
          <p:cNvPr id="5" name="页脚占位符 2"/>
          <p:cNvSpPr>
            <a:spLocks noGrp="1"/>
          </p:cNvSpPr>
          <p:nvPr>
            <p:ph type="ftr" sz="quarter" idx="11"/>
          </p:nvPr>
        </p:nvSpPr>
        <p:spPr/>
        <p:txBody>
          <a:bodyPr/>
          <a:lstStyle>
            <a:lvl1pPr>
              <a:defRPr/>
            </a:lvl1p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22"/>
          <p:cNvSpPr>
            <a:spLocks noGrp="1"/>
          </p:cNvSpPr>
          <p:nvPr>
            <p:ph type="sldNum" sz="quarter" idx="12"/>
          </p:nvPr>
        </p:nvSpPr>
        <p:spPr/>
        <p:txBody>
          <a:bodyPr/>
          <a:lstStyle>
            <a:lvl1pPr>
              <a:defRPr/>
            </a:lvl1pPr>
          </a:lstStyle>
          <a:p>
            <a:pPr>
              <a:defRPr/>
            </a:pPr>
            <a:fld id="{53640F14-4809-4C5D-8CA3-182C8B06CCF7}"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14A3398E-C9FC-41DA-A807-2C13FDF418BE}" type="datetime1">
              <a:rPr lang="zh-CN" altLang="en-US" smtClean="0"/>
              <a:pPr/>
              <a:t>2018/12/14</a:t>
            </a:fld>
            <a:endParaRPr lang="en-US" altLang="zh-CN"/>
          </a:p>
        </p:txBody>
      </p:sp>
      <p:sp>
        <p:nvSpPr>
          <p:cNvPr id="3" name="页脚占位符 2"/>
          <p:cNvSpPr>
            <a:spLocks noGrp="1"/>
          </p:cNvSpPr>
          <p:nvPr>
            <p:ph type="ftr" sz="quarter" idx="11"/>
          </p:nvPr>
        </p:nvSpPr>
        <p:spPr/>
        <p:txBody>
          <a:bodyPr/>
          <a:lstStyle>
            <a:lvl1pPr>
              <a:defRPr/>
            </a:lvl1pPr>
          </a:lstStyle>
          <a:p>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4" name="灯片编号占位符 3"/>
          <p:cNvSpPr>
            <a:spLocks noGrp="1"/>
          </p:cNvSpPr>
          <p:nvPr>
            <p:ph type="sldNum" sz="quarter" idx="12"/>
          </p:nvPr>
        </p:nvSpPr>
        <p:spPr/>
        <p:txBody>
          <a:bodyPr/>
          <a:lstStyle>
            <a:lvl1pPr>
              <a:defRPr/>
            </a:lvl1pPr>
          </a:lstStyle>
          <a:p>
            <a:fld id="{EE250163-4B01-4F7E-9685-847ECC42B6D1}" type="slidenum">
              <a:rPr lang="zh-CN" altLang="en-US"/>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752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00600" y="1752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2D25F5B4-2AEA-49F3-8A49-D2073F248074}" type="datetime1">
              <a:rPr lang="zh-CN" altLang="en-US" smtClean="0"/>
              <a:pPr/>
              <a:t>2018/12/14</a:t>
            </a:fld>
            <a:endParaRPr lang="en-US" altLang="zh-CN"/>
          </a:p>
        </p:txBody>
      </p:sp>
      <p:sp>
        <p:nvSpPr>
          <p:cNvPr id="6" name="页脚占位符 5"/>
          <p:cNvSpPr>
            <a:spLocks noGrp="1"/>
          </p:cNvSpPr>
          <p:nvPr>
            <p:ph type="ftr" sz="quarter" idx="11"/>
          </p:nvPr>
        </p:nvSpPr>
        <p:spPr/>
        <p:txBody>
          <a:bodyPr/>
          <a:lstStyle>
            <a:lvl1pPr>
              <a:defRPr/>
            </a:lvl1pPr>
          </a:lstStyle>
          <a:p>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7" name="灯片编号占位符 6"/>
          <p:cNvSpPr>
            <a:spLocks noGrp="1"/>
          </p:cNvSpPr>
          <p:nvPr>
            <p:ph type="sldNum" sz="quarter" idx="12"/>
          </p:nvPr>
        </p:nvSpPr>
        <p:spPr/>
        <p:txBody>
          <a:bodyPr/>
          <a:lstStyle>
            <a:lvl1pPr>
              <a:defRPr/>
            </a:lvl1pPr>
          </a:lstStyle>
          <a:p>
            <a:fld id="{97060027-5E10-4EBF-90F5-EB2C98A6F44A}"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smtClean="0"/>
          </a:p>
        </p:txBody>
      </p:sp>
      <p:sp>
        <p:nvSpPr>
          <p:cNvPr id="1027" name="文本占位符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smtClean="0"/>
          </a:p>
        </p:txBody>
      </p:sp>
      <p:sp>
        <p:nvSpPr>
          <p:cNvPr id="14" name="日期占位符 13"/>
          <p:cNvSpPr>
            <a:spLocks noGrp="1"/>
          </p:cNvSpPr>
          <p:nvPr>
            <p:ph type="dt" sz="half" idx="2"/>
          </p:nvPr>
        </p:nvSpPr>
        <p:spPr>
          <a:xfrm>
            <a:off x="428625" y="6356350"/>
            <a:ext cx="1643063" cy="501650"/>
          </a:xfrm>
          <a:prstGeom prst="rect">
            <a:avLst/>
          </a:prstGeom>
        </p:spPr>
        <p:txBody>
          <a:bodyPr vert="horz"/>
          <a:lstStyle>
            <a:lvl1pPr algn="l" eaLnBrk="1" latinLnBrk="0" hangingPunct="1">
              <a:defRPr kumimoji="0" sz="1400">
                <a:solidFill>
                  <a:schemeClr val="tx2"/>
                </a:solidFill>
                <a:latin typeface="Times New Roman" charset="0"/>
              </a:defRPr>
            </a:lvl1pPr>
          </a:lstStyle>
          <a:p>
            <a:pPr>
              <a:defRPr/>
            </a:pPr>
            <a:fld id="{AB9EDDAE-7465-4353-BE2C-5479B054D8CE}" type="datetime1">
              <a:rPr lang="zh-CN" altLang="en-US" smtClean="0"/>
              <a:pPr>
                <a:defRPr/>
              </a:pPr>
              <a:t>2018/12/14</a:t>
            </a:fld>
            <a:endParaRPr lang="en-US" altLang="zh-CN"/>
          </a:p>
        </p:txBody>
      </p:sp>
      <p:sp>
        <p:nvSpPr>
          <p:cNvPr id="3" name="页脚占位符 2"/>
          <p:cNvSpPr>
            <a:spLocks noGrp="1"/>
          </p:cNvSpPr>
          <p:nvPr>
            <p:ph type="ftr" sz="quarter" idx="3"/>
          </p:nvPr>
        </p:nvSpPr>
        <p:spPr>
          <a:xfrm>
            <a:off x="2898775" y="6356350"/>
            <a:ext cx="2244725" cy="501650"/>
          </a:xfrm>
          <a:prstGeom prst="rect">
            <a:avLst/>
          </a:prstGeom>
        </p:spPr>
        <p:txBody>
          <a:bodyPr vert="horz"/>
          <a:lstStyle>
            <a:lvl1pPr algn="r" eaLnBrk="1" latinLnBrk="0" hangingPunct="1">
              <a:defRPr kumimoji="0" sz="1400">
                <a:solidFill>
                  <a:schemeClr val="tx2"/>
                </a:solidFill>
                <a:latin typeface="Times New Roman" charset="0"/>
              </a:defRPr>
            </a:lvl1p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23" name="灯片编号占位符 22"/>
          <p:cNvSpPr>
            <a:spLocks noGrp="1"/>
          </p:cNvSpPr>
          <p:nvPr>
            <p:ph type="sldNum" sz="quarter" idx="4"/>
          </p:nvPr>
        </p:nvSpPr>
        <p:spPr>
          <a:xfrm>
            <a:off x="7948613" y="6350000"/>
            <a:ext cx="909637" cy="293688"/>
          </a:xfrm>
          <a:prstGeom prst="rect">
            <a:avLst/>
          </a:prstGeom>
        </p:spPr>
        <p:txBody>
          <a:bodyPr vert="horz"/>
          <a:lstStyle>
            <a:lvl1pPr algn="l" eaLnBrk="1" latinLnBrk="0" hangingPunct="1">
              <a:defRPr kumimoji="0" sz="1400">
                <a:solidFill>
                  <a:schemeClr val="tx2"/>
                </a:solidFill>
                <a:latin typeface="Times New Roman" charset="0"/>
              </a:defRPr>
            </a:lvl1pPr>
          </a:lstStyle>
          <a:p>
            <a:pPr>
              <a:defRPr/>
            </a:pPr>
            <a:fld id="{43C38AC9-E485-4067-B78B-20FD24435EDD}" type="slidenum">
              <a:rPr lang="en-US" altLang="zh-CN"/>
              <a:pPr>
                <a:defRPr/>
              </a:pPr>
              <a:t>‹#›</a:t>
            </a:fld>
            <a:r>
              <a:rPr lang="en-US" altLang="zh-CN" dirty="0"/>
              <a:t>/72</a:t>
            </a:r>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kumimoji="0" lang="en-US">
              <a:latin typeface="Times New Roman" charset="0"/>
            </a:endParaRPr>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kumimoji="0" lang="en-US">
              <a:latin typeface="Times New Roman" charset="0"/>
            </a:endParaRPr>
          </a:p>
        </p:txBody>
      </p:sp>
      <p:sp>
        <p:nvSpPr>
          <p:cNvPr id="9" name="AutoShape 14" descr="Granite"/>
          <p:cNvSpPr>
            <a:spLocks noChangeArrowheads="1"/>
          </p:cNvSpPr>
          <p:nvPr/>
        </p:nvSpPr>
        <p:spPr bwMode="auto">
          <a:xfrm>
            <a:off x="428625" y="1143000"/>
            <a:ext cx="8286750" cy="71438"/>
          </a:xfrm>
          <a:prstGeom prst="roundRect">
            <a:avLst>
              <a:gd name="adj" fmla="val 16667"/>
            </a:avLst>
          </a:prstGeom>
          <a:blipFill dpi="0" rotWithShape="0">
            <a:blip r:embed="rId6" cstate="print"/>
            <a:srcRect/>
            <a:tile tx="0" ty="0" sx="100000" sy="100000" flip="none" algn="tl"/>
          </a:blipFill>
          <a:ln w="9525">
            <a:noFill/>
            <a:round/>
            <a:headEnd/>
            <a:tailEnd/>
          </a:ln>
          <a:effectLst/>
        </p:spPr>
        <p:txBody>
          <a:bodyPr wrap="none" anchor="ctr"/>
          <a:lstStyle/>
          <a:p>
            <a:pPr>
              <a:defRPr/>
            </a:pPr>
            <a:endParaRPr lang="zh-CN" altLang="zh-CN">
              <a:latin typeface="Times New Roman" charset="0"/>
            </a:endParaRPr>
          </a:p>
        </p:txBody>
      </p:sp>
      <p:pic>
        <p:nvPicPr>
          <p:cNvPr id="1034" name="Picture 9" descr="haohao_studio_03"/>
          <p:cNvPicPr>
            <a:picLocks noChangeAspect="1" noChangeArrowheads="1"/>
          </p:cNvPicPr>
          <p:nvPr/>
        </p:nvPicPr>
        <p:blipFill>
          <a:blip r:embed="rId7" cstate="print"/>
          <a:srcRect/>
          <a:stretch>
            <a:fillRect/>
          </a:stretch>
        </p:blipFill>
        <p:spPr bwMode="auto">
          <a:xfrm>
            <a:off x="7429500" y="6356350"/>
            <a:ext cx="285750" cy="304800"/>
          </a:xfrm>
          <a:prstGeom prst="rect">
            <a:avLst/>
          </a:prstGeom>
          <a:noFill/>
          <a:ln w="9525">
            <a:solidFill>
              <a:srgbClr val="CCFFFF"/>
            </a:solidFill>
            <a:miter lim="800000"/>
            <a:headEnd/>
            <a:tailEnd/>
          </a:ln>
        </p:spPr>
      </p:pic>
      <p:sp>
        <p:nvSpPr>
          <p:cNvPr id="11" name="Text Box 10"/>
          <p:cNvSpPr txBox="1">
            <a:spLocks noChangeArrowheads="1"/>
          </p:cNvSpPr>
          <p:nvPr/>
        </p:nvSpPr>
        <p:spPr bwMode="auto">
          <a:xfrm>
            <a:off x="5857875" y="6356350"/>
            <a:ext cx="1517650" cy="336550"/>
          </a:xfrm>
          <a:prstGeom prst="rect">
            <a:avLst/>
          </a:prstGeom>
          <a:noFill/>
          <a:ln w="9525">
            <a:noFill/>
            <a:miter lim="800000"/>
            <a:headEnd/>
            <a:tailEnd/>
          </a:ln>
          <a:effectLst/>
        </p:spPr>
        <p:txBody>
          <a:bodyPr>
            <a:spAutoFit/>
          </a:bodyPr>
          <a:lstStyle/>
          <a:p>
            <a:pPr>
              <a:defRPr/>
            </a:pPr>
            <a:r>
              <a:rPr lang="zh-CN" altLang="en-US" sz="1600" dirty="0">
                <a:ea typeface="华文行楷" pitchFamily="2" charset="-122"/>
              </a:rPr>
              <a:t>计算机教研室</a:t>
            </a:r>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Lst>
  <p:hf hdr="0"/>
  <p:txStyles>
    <p:titleStyle>
      <a:lvl1pPr algn="l" rtl="0" eaLnBrk="0" fontAlgn="base" hangingPunct="0">
        <a:spcBef>
          <a:spcPct val="0"/>
        </a:spcBef>
        <a:spcAft>
          <a:spcPct val="0"/>
        </a:spcAft>
        <a:defRPr sz="3600" b="1" kern="1200">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Bookman Old Style" pitchFamily="18" charset="0"/>
          <a:ea typeface="宋体" pitchFamily="2" charset="-122"/>
        </a:defRPr>
      </a:lvl2pPr>
      <a:lvl3pPr algn="l" rtl="0" eaLnBrk="0" fontAlgn="base" hangingPunct="0">
        <a:spcBef>
          <a:spcPct val="0"/>
        </a:spcBef>
        <a:spcAft>
          <a:spcPct val="0"/>
        </a:spcAft>
        <a:defRPr sz="3600" b="1">
          <a:solidFill>
            <a:schemeClr val="tx2"/>
          </a:solidFill>
          <a:latin typeface="Bookman Old Style" pitchFamily="18" charset="0"/>
          <a:ea typeface="宋体" pitchFamily="2" charset="-122"/>
        </a:defRPr>
      </a:lvl3pPr>
      <a:lvl4pPr algn="l" rtl="0" eaLnBrk="0" fontAlgn="base" hangingPunct="0">
        <a:spcBef>
          <a:spcPct val="0"/>
        </a:spcBef>
        <a:spcAft>
          <a:spcPct val="0"/>
        </a:spcAft>
        <a:defRPr sz="3600" b="1">
          <a:solidFill>
            <a:schemeClr val="tx2"/>
          </a:solidFill>
          <a:latin typeface="Bookman Old Style" pitchFamily="18" charset="0"/>
          <a:ea typeface="宋体" pitchFamily="2" charset="-122"/>
        </a:defRPr>
      </a:lvl4pPr>
      <a:lvl5pPr algn="l" rtl="0" eaLnBrk="0" fontAlgn="base" hangingPunct="0">
        <a:spcBef>
          <a:spcPct val="0"/>
        </a:spcBef>
        <a:spcAft>
          <a:spcPct val="0"/>
        </a:spcAft>
        <a:defRPr sz="3600" b="1">
          <a:solidFill>
            <a:schemeClr val="tx2"/>
          </a:solidFill>
          <a:latin typeface="Bookman Old Style" pitchFamily="18" charset="0"/>
          <a:ea typeface="宋体" pitchFamily="2" charset="-122"/>
        </a:defRPr>
      </a:lvl5pPr>
      <a:lvl6pPr marL="457200" algn="l" rtl="0" fontAlgn="base">
        <a:spcBef>
          <a:spcPct val="0"/>
        </a:spcBef>
        <a:spcAft>
          <a:spcPct val="0"/>
        </a:spcAft>
        <a:defRPr sz="3600" b="1">
          <a:solidFill>
            <a:schemeClr val="tx2"/>
          </a:solidFill>
          <a:latin typeface="Bookman Old Style" pitchFamily="18" charset="0"/>
          <a:ea typeface="宋体" pitchFamily="2" charset="-122"/>
        </a:defRPr>
      </a:lvl6pPr>
      <a:lvl7pPr marL="914400" algn="l" rtl="0" fontAlgn="base">
        <a:spcBef>
          <a:spcPct val="0"/>
        </a:spcBef>
        <a:spcAft>
          <a:spcPct val="0"/>
        </a:spcAft>
        <a:defRPr sz="3600" b="1">
          <a:solidFill>
            <a:schemeClr val="tx2"/>
          </a:solidFill>
          <a:latin typeface="Bookman Old Style" pitchFamily="18" charset="0"/>
          <a:ea typeface="宋体" pitchFamily="2" charset="-122"/>
        </a:defRPr>
      </a:lvl7pPr>
      <a:lvl8pPr marL="1371600" algn="l" rtl="0" fontAlgn="base">
        <a:spcBef>
          <a:spcPct val="0"/>
        </a:spcBef>
        <a:spcAft>
          <a:spcPct val="0"/>
        </a:spcAft>
        <a:defRPr sz="3600" b="1">
          <a:solidFill>
            <a:schemeClr val="tx2"/>
          </a:solidFill>
          <a:latin typeface="Bookman Old Style" pitchFamily="18" charset="0"/>
          <a:ea typeface="宋体" pitchFamily="2" charset="-122"/>
        </a:defRPr>
      </a:lvl8pPr>
      <a:lvl9pPr marL="1828800" algn="l" rtl="0" fontAlgn="base">
        <a:spcBef>
          <a:spcPct val="0"/>
        </a:spcBef>
        <a:spcAft>
          <a:spcPct val="0"/>
        </a:spcAft>
        <a:defRPr sz="3600" b="1">
          <a:solidFill>
            <a:schemeClr val="tx2"/>
          </a:solidFill>
          <a:latin typeface="Bookman Old Style" pitchFamily="18" charset="0"/>
          <a:ea typeface="宋体" pitchFamily="2" charset="-122"/>
        </a:defRPr>
      </a:lvl9pPr>
    </p:titleStyle>
    <p:bodyStyle>
      <a:lvl1pPr marL="273050" indent="-273050" algn="l" rtl="0" eaLnBrk="0" fontAlgn="base" hangingPunct="0">
        <a:spcBef>
          <a:spcPts val="600"/>
        </a:spcBef>
        <a:spcAft>
          <a:spcPct val="0"/>
        </a:spcAft>
        <a:buClr>
          <a:schemeClr val="accent1"/>
        </a:buClr>
        <a:buSzPct val="76000"/>
        <a:buFont typeface="Wingdings" pitchFamily="2" charset="2"/>
        <a:buChar char="n"/>
        <a:defRPr sz="2600" b="1" kern="1200">
          <a:solidFill>
            <a:schemeClr val="tx1"/>
          </a:solidFill>
          <a:latin typeface="+mj-ea"/>
          <a:ea typeface="+mj-ea"/>
          <a:cs typeface="+mn-cs"/>
        </a:defRPr>
      </a:lvl1pPr>
      <a:lvl2pPr marL="547688" indent="-273050" algn="l" rtl="0" eaLnBrk="0" fontAlgn="base" hangingPunct="0">
        <a:spcBef>
          <a:spcPts val="500"/>
        </a:spcBef>
        <a:spcAft>
          <a:spcPct val="0"/>
        </a:spcAft>
        <a:buClr>
          <a:schemeClr val="accent2"/>
        </a:buClr>
        <a:buSzPct val="76000"/>
        <a:buFont typeface="Wingdings" pitchFamily="2" charset="2"/>
        <a:buChar char="n"/>
        <a:defRPr sz="2300" b="1" kern="1200">
          <a:solidFill>
            <a:schemeClr val="tx1"/>
          </a:solidFill>
          <a:latin typeface="+mj-ea"/>
          <a:ea typeface="+mj-ea"/>
          <a:cs typeface="+mn-cs"/>
        </a:defRPr>
      </a:lvl2pPr>
      <a:lvl3pPr marL="822325" indent="-228600" algn="l" rtl="0" eaLnBrk="0" fontAlgn="base" hangingPunct="0">
        <a:spcBef>
          <a:spcPts val="500"/>
        </a:spcBef>
        <a:spcAft>
          <a:spcPct val="0"/>
        </a:spcAft>
        <a:buClr>
          <a:srgbClr val="BCBCBC"/>
        </a:buClr>
        <a:buSzPct val="76000"/>
        <a:buFont typeface="Wingdings" pitchFamily="2" charset="2"/>
        <a:buChar char="n"/>
        <a:defRPr sz="2000" b="1" kern="1200">
          <a:solidFill>
            <a:schemeClr val="tx1"/>
          </a:solidFill>
          <a:latin typeface="+mj-ea"/>
          <a:ea typeface="+mj-ea"/>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n"/>
        <a:defRPr sz="2000" b="1" kern="1200">
          <a:solidFill>
            <a:schemeClr val="tx1"/>
          </a:solidFill>
          <a:latin typeface="+mj-ea"/>
          <a:ea typeface="+mj-ea"/>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n"/>
        <a:defRPr sz="1600" b="1" kern="1200">
          <a:solidFill>
            <a:schemeClr val="tx1"/>
          </a:solidFill>
          <a:latin typeface="+mj-ea"/>
          <a:ea typeface="+mj-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219200" y="2295525"/>
            <a:ext cx="6858000" cy="990600"/>
          </a:xfrm>
        </p:spPr>
        <p:txBody>
          <a:bodyPr/>
          <a:lstStyle/>
          <a:p>
            <a:pPr algn="ctr" eaLnBrk="1" hangingPunct="1">
              <a:defRPr/>
            </a:pPr>
            <a:r>
              <a:rPr lang="zh-CN" altLang="en-US" sz="3600" dirty="0" smtClean="0">
                <a:latin typeface="+mj-ea"/>
              </a:rPr>
              <a:t>第</a:t>
            </a:r>
            <a:r>
              <a:rPr lang="en-US" altLang="zh-CN" sz="3600" dirty="0" smtClean="0">
                <a:latin typeface="+mj-ea"/>
              </a:rPr>
              <a:t>6</a:t>
            </a:r>
            <a:r>
              <a:rPr lang="zh-CN" altLang="en-US" sz="3600" dirty="0" smtClean="0">
                <a:latin typeface="+mj-ea"/>
              </a:rPr>
              <a:t>章 </a:t>
            </a:r>
            <a:r>
              <a:rPr lang="en-US" altLang="zh-CN" sz="3600" dirty="0" smtClean="0">
                <a:latin typeface="+mj-ea"/>
              </a:rPr>
              <a:t>LR </a:t>
            </a:r>
            <a:r>
              <a:rPr lang="zh-CN" altLang="en-US" sz="3600" dirty="0" smtClean="0">
                <a:latin typeface="+mj-ea"/>
              </a:rPr>
              <a:t>分析</a:t>
            </a:r>
            <a:endParaRPr lang="zh-CN" altLang="en-US" sz="3600" dirty="0">
              <a:latin typeface="+mj-ea"/>
            </a:endParaRPr>
          </a:p>
        </p:txBody>
      </p:sp>
      <p:sp>
        <p:nvSpPr>
          <p:cNvPr id="8" name="副标题 7"/>
          <p:cNvSpPr>
            <a:spLocks noGrp="1"/>
          </p:cNvSpPr>
          <p:nvPr>
            <p:ph type="subTitle" idx="1"/>
          </p:nvPr>
        </p:nvSpPr>
        <p:spPr>
          <a:xfrm>
            <a:off x="1219200" y="3533775"/>
            <a:ext cx="6858000" cy="533400"/>
          </a:xfrm>
        </p:spPr>
        <p:txBody>
          <a:bodyPr/>
          <a:lstStyle/>
          <a:p>
            <a:pPr algn="ctr" eaLnBrk="1" hangingPunct="1">
              <a:defRPr/>
            </a:pPr>
            <a:r>
              <a:rPr lang="zh-CN" altLang="en-US" sz="3600" dirty="0" smtClean="0">
                <a:ea typeface="隶书" pitchFamily="49" charset="-122"/>
              </a:rPr>
              <a:t>主讲：郑剑</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dirty="0" smtClean="0"/>
              <a:t>概述</a:t>
            </a:r>
          </a:p>
        </p:txBody>
      </p:sp>
      <p:sp>
        <p:nvSpPr>
          <p:cNvPr id="5123" name="内容占位符 2"/>
          <p:cNvSpPr>
            <a:spLocks noGrp="1"/>
          </p:cNvSpPr>
          <p:nvPr>
            <p:ph sz="quarter" idx="1"/>
          </p:nvPr>
        </p:nvSpPr>
        <p:spPr>
          <a:xfrm>
            <a:off x="457200" y="1219200"/>
            <a:ext cx="8229600" cy="4937125"/>
          </a:xfrm>
        </p:spPr>
        <p:txBody>
          <a:bodyPr/>
          <a:lstStyle/>
          <a:p>
            <a:r>
              <a:rPr lang="zh-CN" altLang="en-US" sz="2800" dirty="0" smtClean="0"/>
              <a:t>自底向上分析法的</a:t>
            </a:r>
            <a:r>
              <a:rPr lang="zh-CN" altLang="en-US" sz="2800" dirty="0" smtClean="0">
                <a:solidFill>
                  <a:srgbClr val="1700C0"/>
                </a:solidFill>
              </a:rPr>
              <a:t>关键问题</a:t>
            </a:r>
            <a:r>
              <a:rPr lang="zh-CN" altLang="en-US" sz="2800" dirty="0" smtClean="0"/>
              <a:t>是：在分析过程中如何确定句柄。</a:t>
            </a:r>
            <a:endParaRPr lang="en-US" altLang="zh-CN" sz="2800" dirty="0" smtClean="0"/>
          </a:p>
          <a:p>
            <a:r>
              <a:rPr lang="en-US" altLang="zh-CN" sz="2800" dirty="0" smtClean="0"/>
              <a:t>LR</a:t>
            </a:r>
            <a:r>
              <a:rPr lang="zh-CN" altLang="en-US" sz="2800" dirty="0" smtClean="0"/>
              <a:t>分析法是一种能根据当前分析栈中的符号串（通常以状态表示）和向右顺序查看</a:t>
            </a:r>
            <a:r>
              <a:rPr lang="zh-CN" altLang="en-US" sz="2800" dirty="0" smtClean="0">
                <a:solidFill>
                  <a:srgbClr val="1700C0"/>
                </a:solidFill>
              </a:rPr>
              <a:t>输入串的</a:t>
            </a:r>
            <a:r>
              <a:rPr lang="en-US" altLang="zh-CN" sz="2800" dirty="0" smtClean="0">
                <a:solidFill>
                  <a:srgbClr val="1700C0"/>
                </a:solidFill>
              </a:rPr>
              <a:t>K</a:t>
            </a:r>
            <a:r>
              <a:rPr lang="zh-CN" altLang="en-US" sz="2800" dirty="0" smtClean="0">
                <a:solidFill>
                  <a:srgbClr val="1700C0"/>
                </a:solidFill>
              </a:rPr>
              <a:t>个</a:t>
            </a:r>
            <a:r>
              <a:rPr lang="zh-CN" altLang="en-US" sz="2800" dirty="0" smtClean="0"/>
              <a:t>（</a:t>
            </a:r>
            <a:r>
              <a:rPr lang="en-US" altLang="zh-CN" sz="2800" dirty="0" smtClean="0"/>
              <a:t>K≧0</a:t>
            </a:r>
            <a:r>
              <a:rPr lang="zh-CN" altLang="en-US" sz="2800" dirty="0" smtClean="0"/>
              <a:t>）符号就可</a:t>
            </a:r>
            <a:r>
              <a:rPr lang="zh-CN" altLang="en-US" sz="2800" dirty="0" smtClean="0">
                <a:solidFill>
                  <a:srgbClr val="1700C0"/>
                </a:solidFill>
              </a:rPr>
              <a:t>唯一地</a:t>
            </a:r>
            <a:r>
              <a:rPr lang="zh-CN" altLang="en-US" sz="2800" dirty="0" smtClean="0"/>
              <a:t>确定分析器的动作是移进还是规约和用哪个产生式规约，因而也就能唯一地确定句柄。</a:t>
            </a:r>
            <a:endParaRPr lang="en-US" altLang="zh-CN" sz="2800" dirty="0" smtClean="0"/>
          </a:p>
          <a:p>
            <a:r>
              <a:rPr lang="en-US" altLang="zh-CN" sz="2800" dirty="0" smtClean="0"/>
              <a:t>LR</a:t>
            </a:r>
            <a:r>
              <a:rPr lang="zh-CN" altLang="en-US" sz="2800" dirty="0" smtClean="0"/>
              <a:t>分析法的规约过程是规范推导的逆过程，所以</a:t>
            </a:r>
            <a:r>
              <a:rPr lang="en-US" altLang="zh-CN" sz="2800" dirty="0" smtClean="0"/>
              <a:t>LR</a:t>
            </a:r>
            <a:r>
              <a:rPr lang="zh-CN" altLang="en-US" sz="2800" dirty="0" smtClean="0"/>
              <a:t>分析过程是一种</a:t>
            </a:r>
            <a:r>
              <a:rPr lang="zh-CN" altLang="en-US" sz="2800" dirty="0" smtClean="0">
                <a:solidFill>
                  <a:srgbClr val="1700C0"/>
                </a:solidFill>
              </a:rPr>
              <a:t>规范规约过程</a:t>
            </a:r>
            <a:r>
              <a:rPr lang="zh-CN" altLang="en-US" sz="2800" dirty="0" smtClean="0"/>
              <a:t>。</a:t>
            </a:r>
            <a:endParaRPr lang="en-US" altLang="zh-CN" sz="2800" dirty="0" smtClean="0"/>
          </a:p>
        </p:txBody>
      </p:sp>
      <p:sp>
        <p:nvSpPr>
          <p:cNvPr id="5124"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640B28BF-CBA2-429A-9304-2AFDFCC8D37E}" type="datetime1">
              <a:rPr lang="zh-CN" altLang="en-US" smtClean="0">
                <a:latin typeface="Times New Roman" pitchFamily="18" charset="0"/>
              </a:rPr>
              <a:pPr/>
              <a:t>2018/12/14</a:t>
            </a:fld>
            <a:endParaRPr lang="en-US" altLang="zh-CN" smtClean="0">
              <a:latin typeface="Times New Roman" pitchFamily="18" charset="0"/>
            </a:endParaRPr>
          </a:p>
        </p:txBody>
      </p:sp>
      <p:sp>
        <p:nvSpPr>
          <p:cNvPr id="5125"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5126"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A9EBFE32-7E13-4337-B572-08699F5A22F7}" type="slidenum">
              <a:rPr lang="en-US" altLang="zh-CN" smtClean="0">
                <a:latin typeface="Times New Roman" pitchFamily="18" charset="0"/>
              </a:rPr>
              <a:pPr/>
              <a:t>2</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smtClean="0"/>
              <a:t>概述</a:t>
            </a:r>
          </a:p>
        </p:txBody>
      </p:sp>
      <p:sp>
        <p:nvSpPr>
          <p:cNvPr id="6147" name="内容占位符 2"/>
          <p:cNvSpPr>
            <a:spLocks noGrp="1"/>
          </p:cNvSpPr>
          <p:nvPr>
            <p:ph sz="quarter" idx="1"/>
          </p:nvPr>
        </p:nvSpPr>
        <p:spPr>
          <a:xfrm>
            <a:off x="457200" y="1142984"/>
            <a:ext cx="8229600" cy="5143536"/>
          </a:xfrm>
        </p:spPr>
        <p:txBody>
          <a:bodyPr/>
          <a:lstStyle/>
          <a:p>
            <a:r>
              <a:rPr lang="en-US" altLang="zh-CN" dirty="0" smtClean="0"/>
              <a:t>LR(K)</a:t>
            </a:r>
            <a:r>
              <a:rPr lang="zh-CN" altLang="en-US" dirty="0" smtClean="0"/>
              <a:t>分析方法括号中的</a:t>
            </a:r>
            <a:r>
              <a:rPr lang="en-US" altLang="zh-CN" dirty="0" smtClean="0"/>
              <a:t>k</a:t>
            </a:r>
            <a:r>
              <a:rPr lang="zh-CN" altLang="en-US" dirty="0" smtClean="0"/>
              <a:t>表示</a:t>
            </a:r>
            <a:r>
              <a:rPr lang="zh-CN" altLang="en-US" dirty="0" smtClean="0">
                <a:solidFill>
                  <a:srgbClr val="1700C0"/>
                </a:solidFill>
              </a:rPr>
              <a:t>向右查看输入串符号的个数</a:t>
            </a:r>
            <a:r>
              <a:rPr lang="zh-CN" altLang="en-US" dirty="0" smtClean="0"/>
              <a:t>。</a:t>
            </a:r>
            <a:endParaRPr lang="en-US" altLang="zh-CN" dirty="0" smtClean="0"/>
          </a:p>
          <a:p>
            <a:r>
              <a:rPr lang="zh-CN" altLang="en-US" dirty="0" smtClean="0"/>
              <a:t>特点：</a:t>
            </a:r>
            <a:endParaRPr lang="en-US" altLang="zh-CN" dirty="0" smtClean="0"/>
          </a:p>
          <a:p>
            <a:pPr indent="273050">
              <a:buNone/>
            </a:pPr>
            <a:r>
              <a:rPr lang="en-US" altLang="zh-CN" dirty="0" smtClean="0"/>
              <a:t>   1</a:t>
            </a:r>
            <a:r>
              <a:rPr lang="zh-CN" altLang="en-US" dirty="0" smtClean="0"/>
              <a:t>）比自顶向下的</a:t>
            </a:r>
            <a:r>
              <a:rPr lang="en-US" altLang="zh-CN" dirty="0" smtClean="0"/>
              <a:t>LL(K)</a:t>
            </a:r>
            <a:r>
              <a:rPr lang="zh-CN" altLang="en-US" dirty="0" smtClean="0"/>
              <a:t>分析方法和自底向上的优先分析方法对文法的限制要少得多，对于大多数用无二义性上下文无关文法描述的语言都可以用相应的</a:t>
            </a:r>
            <a:r>
              <a:rPr lang="en-US" altLang="zh-CN" dirty="0" smtClean="0"/>
              <a:t>LR</a:t>
            </a:r>
            <a:r>
              <a:rPr lang="zh-CN" altLang="en-US" dirty="0" smtClean="0"/>
              <a:t>分析器进行识别</a:t>
            </a:r>
            <a:endParaRPr lang="en-US" altLang="zh-CN" dirty="0" smtClean="0"/>
          </a:p>
          <a:p>
            <a:pPr indent="273050">
              <a:buNone/>
            </a:pPr>
            <a:r>
              <a:rPr lang="en-US" altLang="zh-CN" dirty="0" smtClean="0"/>
              <a:t>   2</a:t>
            </a:r>
            <a:r>
              <a:rPr lang="zh-CN" altLang="en-US" dirty="0" smtClean="0"/>
              <a:t>）这种方法分析速度快，能准确、即时地指出出错位置。</a:t>
            </a:r>
            <a:endParaRPr lang="en-US" altLang="zh-CN" dirty="0" smtClean="0"/>
          </a:p>
          <a:p>
            <a:r>
              <a:rPr lang="zh-CN" altLang="en-US" dirty="0" smtClean="0"/>
              <a:t>缺点：</a:t>
            </a:r>
            <a:endParaRPr lang="en-US" altLang="zh-CN" dirty="0" smtClean="0"/>
          </a:p>
          <a:p>
            <a:pPr indent="273050">
              <a:buNone/>
            </a:pPr>
            <a:r>
              <a:rPr lang="zh-CN" altLang="en-US" dirty="0" smtClean="0"/>
              <a:t>  文法的分析器的构造工作量相当大，</a:t>
            </a:r>
            <a:r>
              <a:rPr lang="en-US" altLang="zh-CN" dirty="0" smtClean="0"/>
              <a:t>k</a:t>
            </a:r>
            <a:r>
              <a:rPr lang="zh-CN" altLang="en-US" dirty="0" smtClean="0"/>
              <a:t>愈大构造愈复杂，实现比较困难。</a:t>
            </a:r>
          </a:p>
          <a:p>
            <a:endParaRPr lang="zh-CN" altLang="en-US" dirty="0" smtClean="0"/>
          </a:p>
        </p:txBody>
      </p:sp>
      <p:sp>
        <p:nvSpPr>
          <p:cNvPr id="6148"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495C7269-CF7C-49B9-B6AA-3DAEB3909A5C}" type="datetime1">
              <a:rPr lang="zh-CN" altLang="en-US" smtClean="0">
                <a:latin typeface="Times New Roman" pitchFamily="18" charset="0"/>
              </a:rPr>
              <a:pPr/>
              <a:t>2018/12/14</a:t>
            </a:fld>
            <a:endParaRPr lang="en-US" altLang="zh-CN" smtClean="0">
              <a:latin typeface="Times New Roman" pitchFamily="18" charset="0"/>
            </a:endParaRPr>
          </a:p>
        </p:txBody>
      </p:sp>
      <p:sp>
        <p:nvSpPr>
          <p:cNvPr id="6149"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6150"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1CD3D0B8-5D33-4F37-8430-4FD6D2AD46B6}" type="slidenum">
              <a:rPr lang="en-US" altLang="zh-CN" smtClean="0">
                <a:latin typeface="Times New Roman" pitchFamily="18" charset="0"/>
              </a:rPr>
              <a:pPr/>
              <a:t>3</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smtClean="0"/>
              <a:t>概述</a:t>
            </a:r>
          </a:p>
        </p:txBody>
      </p:sp>
      <p:sp>
        <p:nvSpPr>
          <p:cNvPr id="7171" name="内容占位符 2"/>
          <p:cNvSpPr>
            <a:spLocks noGrp="1"/>
          </p:cNvSpPr>
          <p:nvPr>
            <p:ph sz="quarter" idx="1"/>
          </p:nvPr>
        </p:nvSpPr>
        <p:spPr>
          <a:xfrm>
            <a:off x="457200" y="1219200"/>
            <a:ext cx="8229600" cy="4937125"/>
          </a:xfrm>
        </p:spPr>
        <p:txBody>
          <a:bodyPr/>
          <a:lstStyle/>
          <a:p>
            <a:pPr indent="273050"/>
            <a:r>
              <a:rPr lang="zh-CN" altLang="en-US" dirty="0" smtClean="0"/>
              <a:t>本章将主要介绍</a:t>
            </a:r>
            <a:r>
              <a:rPr lang="en-US" altLang="zh-CN" dirty="0" smtClean="0"/>
              <a:t>LR</a:t>
            </a:r>
            <a:r>
              <a:rPr lang="zh-CN" altLang="en-US" dirty="0" smtClean="0"/>
              <a:t>分析的基本思想和当</a:t>
            </a:r>
            <a:r>
              <a:rPr lang="en-US" altLang="zh-CN" dirty="0" smtClean="0"/>
              <a:t>k≦1</a:t>
            </a:r>
            <a:r>
              <a:rPr lang="zh-CN" altLang="en-US" dirty="0" smtClean="0"/>
              <a:t>时</a:t>
            </a:r>
            <a:r>
              <a:rPr lang="en-US" altLang="zh-CN" dirty="0" smtClean="0"/>
              <a:t>LR</a:t>
            </a:r>
            <a:r>
              <a:rPr lang="zh-CN" altLang="en-US" dirty="0" smtClean="0"/>
              <a:t>分析器的基本构造原理和方法。</a:t>
            </a:r>
          </a:p>
        </p:txBody>
      </p:sp>
      <p:sp>
        <p:nvSpPr>
          <p:cNvPr id="7172"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3A8F2DF5-B710-4C21-B52C-FC686CF8CB7B}" type="datetime1">
              <a:rPr lang="zh-CN" altLang="en-US" smtClean="0">
                <a:latin typeface="Times New Roman" pitchFamily="18" charset="0"/>
              </a:rPr>
              <a:pPr/>
              <a:t>2018/12/14</a:t>
            </a:fld>
            <a:endParaRPr lang="en-US" altLang="zh-CN" smtClean="0">
              <a:latin typeface="Times New Roman" pitchFamily="18" charset="0"/>
            </a:endParaRPr>
          </a:p>
        </p:txBody>
      </p:sp>
      <p:sp>
        <p:nvSpPr>
          <p:cNvPr id="7173"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7174"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F6FACE14-8254-41C5-942F-5D570933BC68}" type="slidenum">
              <a:rPr lang="en-US" altLang="zh-CN" smtClean="0">
                <a:latin typeface="Times New Roman" pitchFamily="18" charset="0"/>
              </a:rPr>
              <a:pPr/>
              <a:t>4</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smtClean="0"/>
              <a:t>本章内容</a:t>
            </a:r>
          </a:p>
        </p:txBody>
      </p:sp>
      <p:sp>
        <p:nvSpPr>
          <p:cNvPr id="8195" name="内容占位符 2"/>
          <p:cNvSpPr>
            <a:spLocks noGrp="1"/>
          </p:cNvSpPr>
          <p:nvPr>
            <p:ph sz="quarter" idx="1"/>
          </p:nvPr>
        </p:nvSpPr>
        <p:spPr>
          <a:xfrm>
            <a:off x="457200" y="1219200"/>
            <a:ext cx="8229600" cy="4937125"/>
          </a:xfrm>
        </p:spPr>
        <p:txBody>
          <a:bodyPr/>
          <a:lstStyle/>
          <a:p>
            <a:pPr eaLnBrk="1" hangingPunct="1"/>
            <a:r>
              <a:rPr lang="en-US" altLang="zh-CN" sz="2800" dirty="0" smtClean="0"/>
              <a:t>6.1 LR</a:t>
            </a:r>
            <a:r>
              <a:rPr lang="zh-CN" altLang="en-US" sz="2800" dirty="0" smtClean="0"/>
              <a:t>分析概述</a:t>
            </a:r>
            <a:endParaRPr lang="en-US" altLang="zh-CN" sz="2800" dirty="0" smtClean="0"/>
          </a:p>
          <a:p>
            <a:pPr eaLnBrk="1" hangingPunct="1"/>
            <a:r>
              <a:rPr lang="en-US" altLang="zh-CN" sz="2800" dirty="0" smtClean="0"/>
              <a:t>6.2 LR(0)</a:t>
            </a:r>
            <a:r>
              <a:rPr lang="zh-CN" altLang="en-US" sz="2800" dirty="0" smtClean="0"/>
              <a:t>分析</a:t>
            </a:r>
            <a:endParaRPr lang="en-US" altLang="zh-CN" sz="2800" dirty="0" smtClean="0"/>
          </a:p>
          <a:p>
            <a:pPr eaLnBrk="1" hangingPunct="1"/>
            <a:r>
              <a:rPr lang="en-US" altLang="zh-CN" sz="2800" dirty="0" smtClean="0"/>
              <a:t>6.3 SLR(1)</a:t>
            </a:r>
            <a:r>
              <a:rPr lang="zh-CN" altLang="en-US" sz="2800" dirty="0" smtClean="0"/>
              <a:t>分析</a:t>
            </a:r>
            <a:endParaRPr lang="en-US" altLang="zh-CN" sz="2800" dirty="0" smtClean="0"/>
          </a:p>
          <a:p>
            <a:pPr eaLnBrk="1" hangingPunct="1"/>
            <a:r>
              <a:rPr lang="en-US" altLang="zh-CN" sz="2800" dirty="0" smtClean="0"/>
              <a:t>6.4 LR(1)</a:t>
            </a:r>
            <a:r>
              <a:rPr lang="zh-CN" altLang="en-US" sz="2800" dirty="0" smtClean="0"/>
              <a:t>分析</a:t>
            </a:r>
            <a:endParaRPr lang="en-US" altLang="zh-CN" sz="2800" dirty="0" smtClean="0"/>
          </a:p>
          <a:p>
            <a:pPr eaLnBrk="1" hangingPunct="1"/>
            <a:r>
              <a:rPr lang="en-US" altLang="zh-CN" sz="2800" dirty="0" smtClean="0"/>
              <a:t>6.5 LALR(1)</a:t>
            </a:r>
            <a:r>
              <a:rPr lang="zh-CN" altLang="en-US" sz="2800" dirty="0" smtClean="0"/>
              <a:t>分析</a:t>
            </a:r>
            <a:endParaRPr lang="en-US" altLang="zh-CN" sz="2800" dirty="0" smtClean="0"/>
          </a:p>
        </p:txBody>
      </p:sp>
      <p:sp>
        <p:nvSpPr>
          <p:cNvPr id="8196"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049214C7-8855-4088-ADCC-492900998819}" type="datetime1">
              <a:rPr lang="zh-CN" altLang="en-US" smtClean="0">
                <a:latin typeface="Times New Roman" pitchFamily="18" charset="0"/>
              </a:rPr>
              <a:pPr/>
              <a:t>2018/12/14</a:t>
            </a:fld>
            <a:endParaRPr lang="en-US" altLang="zh-CN" smtClean="0">
              <a:latin typeface="Times New Roman" pitchFamily="18" charset="0"/>
            </a:endParaRPr>
          </a:p>
        </p:txBody>
      </p:sp>
      <p:sp>
        <p:nvSpPr>
          <p:cNvPr id="8197"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8198"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E976F206-B513-4BF8-864C-F45DF7897A52}" type="slidenum">
              <a:rPr lang="en-US" altLang="zh-CN" smtClean="0">
                <a:latin typeface="Times New Roman" pitchFamily="18" charset="0"/>
              </a:rPr>
              <a:pPr/>
              <a:t>5</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宋体" pitchFamily="2" charset="-122"/>
              </a:rPr>
              <a:t>6.1 LR</a:t>
            </a:r>
            <a:r>
              <a:rPr lang="zh-CN" altLang="en-US" dirty="0" smtClean="0">
                <a:latin typeface="宋体" pitchFamily="2" charset="-122"/>
              </a:rPr>
              <a:t>分析概述</a:t>
            </a:r>
            <a:endParaRPr lang="zh-CN" altLang="en-US" dirty="0"/>
          </a:p>
        </p:txBody>
      </p:sp>
      <p:sp>
        <p:nvSpPr>
          <p:cNvPr id="3" name="内容占位符 2"/>
          <p:cNvSpPr>
            <a:spLocks noGrp="1"/>
          </p:cNvSpPr>
          <p:nvPr>
            <p:ph sz="quarter" idx="1"/>
          </p:nvPr>
        </p:nvSpPr>
        <p:spPr/>
        <p:txBody>
          <a:bodyPr/>
          <a:lstStyle/>
          <a:p>
            <a:pPr eaLnBrk="1" hangingPunct="1">
              <a:lnSpc>
                <a:spcPct val="80000"/>
              </a:lnSpc>
              <a:buNone/>
            </a:pPr>
            <a:r>
              <a:rPr lang="en-US" altLang="zh-CN" sz="2800" dirty="0" smtClean="0"/>
              <a:t>1</a:t>
            </a:r>
            <a:r>
              <a:rPr lang="zh-CN" altLang="en-US" sz="2800" dirty="0" smtClean="0"/>
              <a:t>、</a:t>
            </a:r>
            <a:r>
              <a:rPr lang="en-US" altLang="zh-CN" sz="2800" dirty="0" smtClean="0"/>
              <a:t>LR</a:t>
            </a:r>
            <a:r>
              <a:rPr lang="zh-CN" altLang="en-US" sz="2800" dirty="0" smtClean="0"/>
              <a:t>分析的含义</a:t>
            </a:r>
            <a:endParaRPr lang="en-US" altLang="zh-CN" sz="2800" dirty="0" smtClean="0"/>
          </a:p>
          <a:p>
            <a:pPr eaLnBrk="1" hangingPunct="1">
              <a:lnSpc>
                <a:spcPct val="80000"/>
              </a:lnSpc>
            </a:pPr>
            <a:r>
              <a:rPr lang="en-US" altLang="zh-CN" sz="2800" dirty="0" smtClean="0"/>
              <a:t>LR </a:t>
            </a:r>
            <a:r>
              <a:rPr lang="zh-CN" altLang="en-US" sz="2800" dirty="0" smtClean="0"/>
              <a:t>是指</a:t>
            </a:r>
            <a:r>
              <a:rPr lang="zh-CN" altLang="en-US" sz="2800" dirty="0" smtClean="0">
                <a:latin typeface="Times New Roman" pitchFamily="18" charset="0"/>
              </a:rPr>
              <a:t>“</a:t>
            </a:r>
            <a:r>
              <a:rPr lang="zh-CN" altLang="en-US" sz="2800" dirty="0" smtClean="0"/>
              <a:t>自左向右扫描和自下而上进行归约</a:t>
            </a:r>
            <a:r>
              <a:rPr lang="zh-CN" altLang="en-US" sz="2800" dirty="0" smtClean="0">
                <a:latin typeface="Times New Roman" pitchFamily="18" charset="0"/>
              </a:rPr>
              <a:t>”。</a:t>
            </a:r>
            <a:endParaRPr lang="en-US" altLang="zh-CN" sz="2800" dirty="0" smtClean="0"/>
          </a:p>
          <a:p>
            <a:pPr lvl="1" eaLnBrk="1" hangingPunct="1">
              <a:lnSpc>
                <a:spcPct val="120000"/>
              </a:lnSpc>
            </a:pPr>
            <a:r>
              <a:rPr lang="en-US" altLang="zh-CN" sz="2400" dirty="0" smtClean="0"/>
              <a:t>L </a:t>
            </a:r>
            <a:r>
              <a:rPr lang="zh-CN" altLang="en-US" sz="2400" dirty="0" smtClean="0"/>
              <a:t>：从左到右扫描输入符号 </a:t>
            </a:r>
          </a:p>
          <a:p>
            <a:pPr lvl="1" eaLnBrk="1" hangingPunct="1">
              <a:lnSpc>
                <a:spcPct val="120000"/>
              </a:lnSpc>
            </a:pPr>
            <a:r>
              <a:rPr lang="en-US" altLang="zh-CN" sz="2400" dirty="0" smtClean="0"/>
              <a:t>R </a:t>
            </a:r>
            <a:r>
              <a:rPr lang="zh-CN" altLang="en-US" sz="2400" dirty="0" smtClean="0"/>
              <a:t>：逆向地完成最右推导</a:t>
            </a:r>
          </a:p>
          <a:p>
            <a:pPr lvl="1" eaLnBrk="1" hangingPunct="1">
              <a:lnSpc>
                <a:spcPct val="120000"/>
              </a:lnSpc>
            </a:pPr>
            <a:r>
              <a:rPr lang="en-US" altLang="zh-CN" sz="2400" dirty="0" smtClean="0"/>
              <a:t>k </a:t>
            </a:r>
            <a:r>
              <a:rPr lang="zh-CN" altLang="en-US" sz="2400" dirty="0" smtClean="0"/>
              <a:t>：超前读入的符号个数</a:t>
            </a:r>
          </a:p>
          <a:p>
            <a:pPr eaLnBrk="1" hangingPunct="1">
              <a:lnSpc>
                <a:spcPct val="80000"/>
              </a:lnSpc>
            </a:pPr>
            <a:r>
              <a:rPr lang="zh-CN" altLang="en-US" sz="2800" dirty="0" smtClean="0"/>
              <a:t>大多数用上下文无关文法描述的程序语言都可以用</a:t>
            </a:r>
            <a:r>
              <a:rPr lang="en-US" altLang="zh-CN" sz="2800" dirty="0" smtClean="0"/>
              <a:t>LR</a:t>
            </a:r>
            <a:r>
              <a:rPr lang="zh-CN" altLang="en-US" sz="2800" dirty="0" smtClean="0"/>
              <a:t>分析器予以识别</a:t>
            </a:r>
            <a:r>
              <a:rPr lang="en-US" altLang="zh-CN" sz="2800" dirty="0" smtClean="0"/>
              <a:t>.</a:t>
            </a:r>
          </a:p>
          <a:p>
            <a:endParaRPr lang="zh-CN" altLang="en-US" dirty="0"/>
          </a:p>
        </p:txBody>
      </p:sp>
      <p:sp>
        <p:nvSpPr>
          <p:cNvPr id="4" name="日期占位符 3"/>
          <p:cNvSpPr>
            <a:spLocks noGrp="1"/>
          </p:cNvSpPr>
          <p:nvPr>
            <p:ph type="dt" sz="half" idx="10"/>
          </p:nvPr>
        </p:nvSpPr>
        <p:spPr/>
        <p:txBody>
          <a:bodyPr/>
          <a:lstStyle/>
          <a:p>
            <a:pPr>
              <a:defRPr/>
            </a:pPr>
            <a:fld id="{38EFE24D-AAF9-4122-91EA-983FE06FCDE7}"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6</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spcBef>
                <a:spcPts val="300"/>
              </a:spcBef>
            </a:pPr>
            <a:r>
              <a:rPr lang="en-US" altLang="zh-CN" dirty="0" smtClean="0"/>
              <a:t>2</a:t>
            </a:r>
            <a:r>
              <a:rPr lang="zh-CN" altLang="en-US" dirty="0" smtClean="0"/>
              <a:t>、</a:t>
            </a:r>
            <a:r>
              <a:rPr lang="en-US" altLang="zh-CN" dirty="0" smtClean="0"/>
              <a:t>LR</a:t>
            </a:r>
            <a:r>
              <a:rPr lang="zh-CN" altLang="en-US" dirty="0" smtClean="0"/>
              <a:t>分析器的结构</a:t>
            </a:r>
            <a:endParaRPr lang="en-US" altLang="zh-CN" dirty="0" smtClean="0"/>
          </a:p>
        </p:txBody>
      </p:sp>
      <p:sp>
        <p:nvSpPr>
          <p:cNvPr id="9219" name="Rectangle 3"/>
          <p:cNvSpPr>
            <a:spLocks noGrp="1" noChangeArrowheads="1"/>
          </p:cNvSpPr>
          <p:nvPr>
            <p:ph sz="quarter" idx="1"/>
          </p:nvPr>
        </p:nvSpPr>
        <p:spPr>
          <a:xfrm>
            <a:off x="457200" y="1219200"/>
            <a:ext cx="8401050" cy="5067300"/>
          </a:xfrm>
        </p:spPr>
        <p:txBody>
          <a:bodyPr/>
          <a:lstStyle/>
          <a:p>
            <a:pPr eaLnBrk="1" hangingPunct="1">
              <a:spcBef>
                <a:spcPts val="300"/>
              </a:spcBef>
            </a:pPr>
            <a:r>
              <a:rPr lang="zh-CN" altLang="en-US" dirty="0" smtClean="0"/>
              <a:t>一个</a:t>
            </a:r>
            <a:r>
              <a:rPr lang="en-US" altLang="zh-CN" dirty="0" smtClean="0"/>
              <a:t>LR</a:t>
            </a:r>
            <a:r>
              <a:rPr lang="zh-CN" altLang="en-US" dirty="0" smtClean="0"/>
              <a:t>分析器由</a:t>
            </a:r>
            <a:r>
              <a:rPr lang="en-US" altLang="zh-CN" dirty="0" smtClean="0"/>
              <a:t>3</a:t>
            </a:r>
            <a:r>
              <a:rPr lang="zh-CN" altLang="en-US" dirty="0" smtClean="0"/>
              <a:t>个部分组成：</a:t>
            </a:r>
            <a:endParaRPr lang="en-US" altLang="zh-CN" dirty="0" smtClean="0"/>
          </a:p>
          <a:p>
            <a:pPr eaLnBrk="1" hangingPunct="1">
              <a:spcBef>
                <a:spcPts val="300"/>
              </a:spcBef>
              <a:buNone/>
            </a:pPr>
            <a:r>
              <a:rPr lang="zh-CN" altLang="en-US" dirty="0" smtClean="0"/>
              <a:t>（</a:t>
            </a:r>
            <a:r>
              <a:rPr lang="en-US" altLang="zh-CN" dirty="0" smtClean="0"/>
              <a:t>1</a:t>
            </a:r>
            <a:r>
              <a:rPr lang="zh-CN" altLang="en-US" dirty="0" smtClean="0"/>
              <a:t>）</a:t>
            </a:r>
            <a:r>
              <a:rPr lang="zh-CN" altLang="en-US" dirty="0" smtClean="0">
                <a:solidFill>
                  <a:srgbClr val="1700C0"/>
                </a:solidFill>
              </a:rPr>
              <a:t>总控程序</a:t>
            </a:r>
            <a:r>
              <a:rPr lang="zh-CN" altLang="en-US" dirty="0" smtClean="0"/>
              <a:t>：也可以称为驱动程序。</a:t>
            </a:r>
            <a:r>
              <a:rPr lang="en-US" altLang="zh-CN" dirty="0" smtClean="0"/>
              <a:t>LR </a:t>
            </a:r>
            <a:r>
              <a:rPr lang="zh-CN" altLang="en-US" dirty="0" smtClean="0"/>
              <a:t>分析器的总控程序的工作是非常简单的</a:t>
            </a:r>
            <a:r>
              <a:rPr lang="en-US" altLang="zh-CN" dirty="0" smtClean="0"/>
              <a:t>,</a:t>
            </a:r>
            <a:r>
              <a:rPr lang="zh-CN" altLang="en-US" dirty="0" smtClean="0"/>
              <a:t>它的任何一步只需按照栈顶状态</a:t>
            </a:r>
            <a:r>
              <a:rPr lang="en-US" altLang="zh-CN" dirty="0" smtClean="0"/>
              <a:t>s</a:t>
            </a:r>
            <a:r>
              <a:rPr lang="zh-CN" altLang="en-US" dirty="0" smtClean="0"/>
              <a:t>和现行输入符号</a:t>
            </a:r>
            <a:r>
              <a:rPr lang="en-US" altLang="zh-CN" dirty="0" smtClean="0"/>
              <a:t>a</a:t>
            </a:r>
            <a:r>
              <a:rPr lang="zh-CN" altLang="en-US" dirty="0" smtClean="0"/>
              <a:t>执行</a:t>
            </a:r>
            <a:r>
              <a:rPr lang="en-US" altLang="zh-CN" dirty="0" smtClean="0"/>
              <a:t>ACTION[</a:t>
            </a:r>
            <a:r>
              <a:rPr lang="en-US" altLang="zh-CN" dirty="0" err="1" smtClean="0"/>
              <a:t>s,a</a:t>
            </a:r>
            <a:r>
              <a:rPr lang="en-US" altLang="zh-CN" dirty="0" smtClean="0"/>
              <a:t>]</a:t>
            </a:r>
            <a:r>
              <a:rPr lang="zh-CN" altLang="en-US" dirty="0" smtClean="0"/>
              <a:t>所规定的动作。不管是什么分析表</a:t>
            </a:r>
            <a:r>
              <a:rPr lang="en-US" altLang="zh-CN" dirty="0" smtClean="0"/>
              <a:t>,</a:t>
            </a:r>
            <a:r>
              <a:rPr lang="zh-CN" altLang="en-US" dirty="0" smtClean="0"/>
              <a:t>总控程序都是一样的工作。</a:t>
            </a:r>
            <a:endParaRPr lang="en-US" altLang="zh-CN" dirty="0" smtClean="0"/>
          </a:p>
          <a:p>
            <a:pPr eaLnBrk="1" hangingPunct="1">
              <a:spcBef>
                <a:spcPts val="300"/>
              </a:spcBef>
              <a:buFont typeface="Wingdings" pitchFamily="2" charset="2"/>
              <a:buNone/>
            </a:pPr>
            <a:endParaRPr lang="en-US" altLang="zh-CN" dirty="0" smtClean="0"/>
          </a:p>
        </p:txBody>
      </p:sp>
      <p:sp>
        <p:nvSpPr>
          <p:cNvPr id="9220" name="日期占位符 5"/>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6A20D7CB-0200-444F-8AB9-0077F8F99D51}" type="datetime1">
              <a:rPr lang="zh-CN" altLang="en-US" smtClean="0">
                <a:latin typeface="Times New Roman" pitchFamily="18" charset="0"/>
              </a:rPr>
              <a:pPr/>
              <a:t>2018/12/14</a:t>
            </a:fld>
            <a:endParaRPr lang="en-US" altLang="zh-CN" smtClean="0">
              <a:latin typeface="Times New Roman" pitchFamily="18" charset="0"/>
            </a:endParaRPr>
          </a:p>
        </p:txBody>
      </p:sp>
      <p:sp>
        <p:nvSpPr>
          <p:cNvPr id="9221" name="页脚占位符 6"/>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9222"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8BB4E04F-AD2E-4863-8282-49021E48BAAB}" type="slidenum">
              <a:rPr lang="en-US" altLang="zh-CN" smtClean="0">
                <a:latin typeface="Times New Roman" pitchFamily="18" charset="0"/>
              </a:rPr>
              <a:pPr/>
              <a:t>7</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a:t>
            </a:r>
            <a:r>
              <a:rPr lang="en-US" altLang="zh-CN" dirty="0" smtClean="0"/>
              <a:t>LR</a:t>
            </a:r>
            <a:r>
              <a:rPr lang="zh-CN" altLang="en-US" dirty="0" smtClean="0"/>
              <a:t>分析器的结构</a:t>
            </a:r>
            <a:endParaRPr lang="zh-CN" altLang="en-US" dirty="0"/>
          </a:p>
        </p:txBody>
      </p:sp>
      <p:sp>
        <p:nvSpPr>
          <p:cNvPr id="3" name="内容占位符 2"/>
          <p:cNvSpPr>
            <a:spLocks noGrp="1"/>
          </p:cNvSpPr>
          <p:nvPr>
            <p:ph sz="quarter" idx="1"/>
          </p:nvPr>
        </p:nvSpPr>
        <p:spPr>
          <a:xfrm>
            <a:off x="457200" y="1277322"/>
            <a:ext cx="8229600" cy="4937760"/>
          </a:xfrm>
        </p:spPr>
        <p:txBody>
          <a:bodyPr/>
          <a:lstStyle/>
          <a:p>
            <a:pPr eaLnBrk="1" hangingPunct="1">
              <a:spcBef>
                <a:spcPts val="300"/>
              </a:spcBef>
              <a:buNone/>
            </a:pPr>
            <a:r>
              <a:rPr lang="zh-CN" altLang="en-US" dirty="0" smtClean="0"/>
              <a:t>（</a:t>
            </a:r>
            <a:r>
              <a:rPr lang="en-US" altLang="zh-CN" dirty="0" smtClean="0"/>
              <a:t>2</a:t>
            </a:r>
            <a:r>
              <a:rPr lang="zh-CN" altLang="en-US" dirty="0" smtClean="0"/>
              <a:t>）</a:t>
            </a:r>
            <a:r>
              <a:rPr lang="zh-CN" altLang="en-US" dirty="0" smtClean="0">
                <a:solidFill>
                  <a:srgbClr val="1700C0"/>
                </a:solidFill>
              </a:rPr>
              <a:t>分析表或分析函数</a:t>
            </a:r>
            <a:r>
              <a:rPr lang="zh-CN" altLang="en-US" dirty="0" smtClean="0"/>
              <a:t>：分析表可分为动作（</a:t>
            </a:r>
            <a:r>
              <a:rPr lang="en-US" altLang="zh-CN" dirty="0" smtClean="0"/>
              <a:t>ACTION</a:t>
            </a:r>
            <a:r>
              <a:rPr lang="zh-CN" altLang="en-US" dirty="0" smtClean="0"/>
              <a:t>）表和状态转换（</a:t>
            </a:r>
            <a:r>
              <a:rPr lang="en-US" altLang="zh-CN" dirty="0" smtClean="0"/>
              <a:t>GOTO</a:t>
            </a:r>
            <a:r>
              <a:rPr lang="zh-CN" altLang="en-US" dirty="0" smtClean="0"/>
              <a:t>）表两个部分，它们都可用二维数组表示。</a:t>
            </a:r>
            <a:endParaRPr lang="en-US" altLang="zh-CN" dirty="0" smtClean="0"/>
          </a:p>
          <a:p>
            <a:pPr eaLnBrk="1" hangingPunct="1">
              <a:lnSpc>
                <a:spcPct val="110000"/>
              </a:lnSpc>
            </a:pPr>
            <a:r>
              <a:rPr lang="en-US" altLang="zh-CN" dirty="0" smtClean="0"/>
              <a:t>action[ s, a ] </a:t>
            </a:r>
          </a:p>
          <a:p>
            <a:pPr lvl="1" eaLnBrk="1" hangingPunct="1">
              <a:lnSpc>
                <a:spcPct val="110000"/>
              </a:lnSpc>
            </a:pPr>
            <a:r>
              <a:rPr lang="zh-CN" altLang="en-US" sz="2600" dirty="0" smtClean="0"/>
              <a:t>状态 </a:t>
            </a:r>
            <a:r>
              <a:rPr lang="en-US" altLang="zh-CN" sz="2600" dirty="0" smtClean="0"/>
              <a:t>s </a:t>
            </a:r>
            <a:r>
              <a:rPr lang="zh-CN" altLang="en-US" sz="2600" dirty="0" smtClean="0"/>
              <a:t>下输入 </a:t>
            </a:r>
            <a:r>
              <a:rPr lang="en-US" altLang="zh-CN" sz="2600" dirty="0" smtClean="0"/>
              <a:t>a </a:t>
            </a:r>
            <a:r>
              <a:rPr lang="zh-CN" altLang="en-US" sz="2600" dirty="0" smtClean="0"/>
              <a:t>时的动作</a:t>
            </a:r>
          </a:p>
          <a:p>
            <a:pPr lvl="1" eaLnBrk="1" hangingPunct="1">
              <a:lnSpc>
                <a:spcPct val="110000"/>
              </a:lnSpc>
            </a:pPr>
            <a:r>
              <a:rPr lang="zh-CN" altLang="en-US" sz="2600" dirty="0" smtClean="0"/>
              <a:t>（移进、归约、接受、出错）</a:t>
            </a:r>
          </a:p>
          <a:p>
            <a:pPr eaLnBrk="1" hangingPunct="1">
              <a:lnSpc>
                <a:spcPct val="110000"/>
              </a:lnSpc>
            </a:pPr>
            <a:r>
              <a:rPr lang="en-US" altLang="zh-CN" dirty="0" err="1" smtClean="0"/>
              <a:t>goto</a:t>
            </a:r>
            <a:r>
              <a:rPr lang="en-US" altLang="zh-CN" dirty="0" smtClean="0"/>
              <a:t>[ s, X ] </a:t>
            </a:r>
          </a:p>
          <a:p>
            <a:pPr lvl="1" eaLnBrk="1" hangingPunct="1">
              <a:lnSpc>
                <a:spcPct val="110000"/>
              </a:lnSpc>
            </a:pPr>
            <a:r>
              <a:rPr lang="zh-CN" altLang="en-US" sz="2600" dirty="0" smtClean="0"/>
              <a:t>状态 </a:t>
            </a:r>
            <a:r>
              <a:rPr lang="en-US" altLang="zh-CN" sz="2600" dirty="0" smtClean="0"/>
              <a:t>s </a:t>
            </a:r>
            <a:r>
              <a:rPr lang="zh-CN" altLang="en-US" sz="2600" dirty="0" smtClean="0"/>
              <a:t>下遇符号 </a:t>
            </a:r>
            <a:r>
              <a:rPr lang="en-US" altLang="zh-CN" sz="2600" dirty="0" smtClean="0"/>
              <a:t>X </a:t>
            </a:r>
            <a:r>
              <a:rPr lang="zh-CN" altLang="en-US" sz="2600" dirty="0" smtClean="0"/>
              <a:t>时的转移目标</a:t>
            </a:r>
          </a:p>
          <a:p>
            <a:pPr eaLnBrk="1" hangingPunct="1">
              <a:lnSpc>
                <a:spcPct val="110000"/>
              </a:lnSpc>
            </a:pPr>
            <a:r>
              <a:rPr lang="zh-CN" altLang="en-US" dirty="0" smtClean="0"/>
              <a:t>各种 </a:t>
            </a:r>
            <a:r>
              <a:rPr lang="en-US" altLang="zh-CN" dirty="0" smtClean="0"/>
              <a:t>LR </a:t>
            </a:r>
            <a:r>
              <a:rPr lang="zh-CN" altLang="en-US" dirty="0" smtClean="0"/>
              <a:t>分析法</a:t>
            </a:r>
          </a:p>
          <a:p>
            <a:pPr lvl="1" eaLnBrk="1" hangingPunct="1">
              <a:lnSpc>
                <a:spcPct val="110000"/>
              </a:lnSpc>
            </a:pPr>
            <a:r>
              <a:rPr lang="zh-CN" altLang="en-US" sz="2600" dirty="0" smtClean="0"/>
              <a:t>采用不同的构造方法</a:t>
            </a:r>
          </a:p>
          <a:p>
            <a:pPr eaLnBrk="1" hangingPunct="1">
              <a:spcBef>
                <a:spcPts val="300"/>
              </a:spcBef>
              <a:buNone/>
            </a:pPr>
            <a:endParaRPr lang="en-US" altLang="zh-CN" dirty="0" smtClean="0"/>
          </a:p>
          <a:p>
            <a:endParaRPr lang="zh-CN" altLang="en-US" dirty="0"/>
          </a:p>
        </p:txBody>
      </p:sp>
      <p:sp>
        <p:nvSpPr>
          <p:cNvPr id="4" name="日期占位符 3"/>
          <p:cNvSpPr>
            <a:spLocks noGrp="1"/>
          </p:cNvSpPr>
          <p:nvPr>
            <p:ph type="dt" sz="half" idx="10"/>
          </p:nvPr>
        </p:nvSpPr>
        <p:spPr/>
        <p:txBody>
          <a:bodyPr/>
          <a:lstStyle/>
          <a:p>
            <a:pPr>
              <a:defRPr/>
            </a:pPr>
            <a:fld id="{D685689F-CF91-459E-AEB1-A7E5C9D62459}"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8</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a:t>
            </a:r>
            <a:r>
              <a:rPr lang="en-US" altLang="zh-CN" dirty="0" smtClean="0"/>
              <a:t>LR</a:t>
            </a:r>
            <a:r>
              <a:rPr lang="zh-CN" altLang="en-US" dirty="0" smtClean="0"/>
              <a:t>分析器的结构</a:t>
            </a:r>
            <a:endParaRPr lang="zh-CN" altLang="en-US" dirty="0"/>
          </a:p>
        </p:txBody>
      </p:sp>
      <p:sp>
        <p:nvSpPr>
          <p:cNvPr id="3" name="内容占位符 2"/>
          <p:cNvSpPr>
            <a:spLocks noGrp="1"/>
          </p:cNvSpPr>
          <p:nvPr>
            <p:ph sz="quarter" idx="1"/>
          </p:nvPr>
        </p:nvSpPr>
        <p:spPr/>
        <p:txBody>
          <a:bodyPr/>
          <a:lstStyle/>
          <a:p>
            <a:pPr eaLnBrk="1" hangingPunct="1">
              <a:spcBef>
                <a:spcPts val="300"/>
              </a:spcBef>
              <a:buNone/>
            </a:pPr>
            <a:r>
              <a:rPr lang="zh-CN" altLang="en-US" dirty="0" smtClean="0"/>
              <a:t>（</a:t>
            </a:r>
            <a:r>
              <a:rPr lang="en-US" altLang="zh-CN" dirty="0" smtClean="0"/>
              <a:t>3</a:t>
            </a:r>
            <a:r>
              <a:rPr lang="zh-CN" altLang="en-US" dirty="0" smtClean="0"/>
              <a:t>）</a:t>
            </a:r>
            <a:r>
              <a:rPr lang="zh-CN" altLang="en-US" dirty="0" smtClean="0">
                <a:solidFill>
                  <a:srgbClr val="1700C0"/>
                </a:solidFill>
              </a:rPr>
              <a:t>分析栈</a:t>
            </a:r>
            <a:r>
              <a:rPr lang="zh-CN" altLang="en-US" dirty="0" smtClean="0"/>
              <a:t>：包括文法符号栈和相应的状态栈。</a:t>
            </a:r>
            <a:endParaRPr lang="en-US" altLang="zh-CN" dirty="0" smtClean="0"/>
          </a:p>
          <a:p>
            <a:pPr eaLnBrk="1" hangingPunct="1">
              <a:spcBef>
                <a:spcPts val="300"/>
              </a:spcBef>
            </a:pPr>
            <a:r>
              <a:rPr lang="zh-CN" altLang="en-US" dirty="0" smtClean="0"/>
              <a:t>分析器的动作由栈顶状态和当前输入符号所决定。</a:t>
            </a:r>
            <a:endParaRPr lang="en-US" altLang="zh-CN" dirty="0" smtClean="0"/>
          </a:p>
          <a:p>
            <a:pPr eaLnBrk="1" hangingPunct="1">
              <a:spcBef>
                <a:spcPts val="300"/>
              </a:spcBef>
            </a:pPr>
            <a:r>
              <a:rPr lang="zh-CN" altLang="en-US" dirty="0" smtClean="0"/>
              <a:t>所有</a:t>
            </a:r>
            <a:r>
              <a:rPr lang="en-US" altLang="zh-CN" dirty="0" smtClean="0"/>
              <a:t>LR</a:t>
            </a:r>
            <a:r>
              <a:rPr lang="zh-CN" altLang="en-US" dirty="0" smtClean="0"/>
              <a:t>分析器的总控程序都是一样的</a:t>
            </a:r>
            <a:r>
              <a:rPr lang="en-US" altLang="zh-CN" dirty="0" smtClean="0"/>
              <a:t>,</a:t>
            </a:r>
            <a:r>
              <a:rPr lang="zh-CN" altLang="en-US" dirty="0" smtClean="0"/>
              <a:t>只是分析表各有不同。因此</a:t>
            </a:r>
            <a:r>
              <a:rPr lang="en-US" altLang="zh-CN" dirty="0" smtClean="0"/>
              <a:t>,</a:t>
            </a:r>
            <a:r>
              <a:rPr lang="zh-CN" altLang="en-US" dirty="0" smtClean="0"/>
              <a:t>产生器的</a:t>
            </a:r>
            <a:r>
              <a:rPr lang="zh-CN" altLang="en-US" dirty="0" smtClean="0">
                <a:solidFill>
                  <a:srgbClr val="1700C0"/>
                </a:solidFill>
              </a:rPr>
              <a:t>主要任务就是产生分析表</a:t>
            </a:r>
            <a:r>
              <a:rPr lang="en-US" altLang="zh-CN" dirty="0" smtClean="0"/>
              <a:t>.</a:t>
            </a:r>
          </a:p>
          <a:p>
            <a:endParaRPr lang="zh-CN" altLang="en-US" dirty="0"/>
          </a:p>
        </p:txBody>
      </p:sp>
      <p:sp>
        <p:nvSpPr>
          <p:cNvPr id="4" name="日期占位符 3"/>
          <p:cNvSpPr>
            <a:spLocks noGrp="1"/>
          </p:cNvSpPr>
          <p:nvPr>
            <p:ph type="dt" sz="half" idx="10"/>
          </p:nvPr>
        </p:nvSpPr>
        <p:spPr/>
        <p:txBody>
          <a:bodyPr/>
          <a:lstStyle/>
          <a:p>
            <a:pPr>
              <a:defRPr/>
            </a:pPr>
            <a:fld id="{3AB3E7B7-EAEB-490A-B7D6-41DFE4FDF865}"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9</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0063" y="357188"/>
            <a:ext cx="7772400" cy="762000"/>
          </a:xfrm>
        </p:spPr>
        <p:txBody>
          <a:bodyPr/>
          <a:lstStyle/>
          <a:p>
            <a:pPr eaLnBrk="1" hangingPunct="1"/>
            <a:r>
              <a:rPr lang="en-US" altLang="zh-CN" dirty="0" smtClean="0">
                <a:latin typeface="宋体" pitchFamily="2" charset="-122"/>
              </a:rPr>
              <a:t>3</a:t>
            </a:r>
            <a:r>
              <a:rPr lang="zh-CN" altLang="en-US" dirty="0" smtClean="0">
                <a:latin typeface="宋体" pitchFamily="2" charset="-122"/>
              </a:rPr>
              <a:t>、</a:t>
            </a:r>
            <a:r>
              <a:rPr lang="en-US" altLang="zh-CN" dirty="0" smtClean="0">
                <a:latin typeface="宋体" pitchFamily="2" charset="-122"/>
              </a:rPr>
              <a:t>LR</a:t>
            </a:r>
            <a:r>
              <a:rPr lang="zh-CN" altLang="en-US" dirty="0" smtClean="0">
                <a:latin typeface="宋体" pitchFamily="2" charset="-122"/>
              </a:rPr>
              <a:t>分析器的基本思想</a:t>
            </a:r>
          </a:p>
        </p:txBody>
      </p:sp>
      <p:sp>
        <p:nvSpPr>
          <p:cNvPr id="21507"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58FD83FC-D909-4DA1-AF6D-494FE4D33D8A}" type="slidenum">
              <a:rPr lang="en-US" altLang="zh-CN" smtClean="0">
                <a:latin typeface="Times New Roman" pitchFamily="18" charset="0"/>
              </a:rPr>
              <a:pPr/>
              <a:t>10</a:t>
            </a:fld>
            <a:r>
              <a:rPr lang="en-US" altLang="zh-CN" dirty="0" smtClean="0">
                <a:latin typeface="Times New Roman" pitchFamily="18" charset="0"/>
              </a:rPr>
              <a:t>/36</a:t>
            </a:r>
          </a:p>
        </p:txBody>
      </p:sp>
      <p:sp>
        <p:nvSpPr>
          <p:cNvPr id="21508" name="Rectangle 3"/>
          <p:cNvSpPr>
            <a:spLocks noGrp="1" noChangeArrowheads="1"/>
          </p:cNvSpPr>
          <p:nvPr>
            <p:ph sz="quarter" idx="1"/>
          </p:nvPr>
        </p:nvSpPr>
        <p:spPr>
          <a:xfrm>
            <a:off x="514350" y="1357313"/>
            <a:ext cx="8058150" cy="4824412"/>
          </a:xfrm>
        </p:spPr>
        <p:txBody>
          <a:bodyPr/>
          <a:lstStyle/>
          <a:p>
            <a:pPr eaLnBrk="1" hangingPunct="1"/>
            <a:r>
              <a:rPr lang="zh-CN" altLang="en-US" dirty="0" smtClean="0"/>
              <a:t>规范归约的</a:t>
            </a:r>
            <a:r>
              <a:rPr lang="zh-CN" altLang="en-US" dirty="0" smtClean="0">
                <a:solidFill>
                  <a:srgbClr val="1700C0"/>
                </a:solidFill>
              </a:rPr>
              <a:t>关键是寻找句柄</a:t>
            </a:r>
            <a:r>
              <a:rPr lang="zh-CN" altLang="en-US" dirty="0" smtClean="0"/>
              <a:t>。</a:t>
            </a:r>
            <a:endParaRPr lang="en-US" altLang="zh-CN" dirty="0" smtClean="0"/>
          </a:p>
          <a:p>
            <a:pPr eaLnBrk="1" hangingPunct="1"/>
            <a:r>
              <a:rPr lang="en-US" altLang="zh-CN" dirty="0" smtClean="0"/>
              <a:t>LR</a:t>
            </a:r>
            <a:r>
              <a:rPr lang="zh-CN" altLang="en-US" dirty="0" smtClean="0"/>
              <a:t>方法的</a:t>
            </a:r>
            <a:r>
              <a:rPr lang="zh-CN" altLang="en-US" dirty="0" smtClean="0">
                <a:solidFill>
                  <a:srgbClr val="1700C0"/>
                </a:solidFill>
              </a:rPr>
              <a:t>基本思想</a:t>
            </a:r>
            <a:r>
              <a:rPr lang="en-US" altLang="zh-CN" dirty="0" smtClean="0"/>
              <a:t>:</a:t>
            </a:r>
            <a:r>
              <a:rPr lang="zh-CN" altLang="en-US" dirty="0" smtClean="0"/>
              <a:t>在规范归约过程中</a:t>
            </a:r>
            <a:r>
              <a:rPr lang="en-US" altLang="zh-CN" dirty="0" smtClean="0"/>
              <a:t>,</a:t>
            </a:r>
            <a:r>
              <a:rPr lang="zh-CN" altLang="en-US" dirty="0" smtClean="0"/>
              <a:t>一方面记住已移进和归约出的整个符号串</a:t>
            </a:r>
            <a:r>
              <a:rPr lang="en-US" altLang="zh-CN" dirty="0" smtClean="0"/>
              <a:t>,</a:t>
            </a:r>
            <a:r>
              <a:rPr lang="zh-CN" altLang="en-US" dirty="0" smtClean="0"/>
              <a:t>即记住”历史”</a:t>
            </a:r>
            <a:r>
              <a:rPr lang="en-US" altLang="zh-CN" dirty="0" smtClean="0"/>
              <a:t>;</a:t>
            </a:r>
            <a:r>
              <a:rPr lang="zh-CN" altLang="en-US" dirty="0" smtClean="0"/>
              <a:t>另一方面根据所用的产生式推测未来的可能碰到的输入符号</a:t>
            </a:r>
            <a:r>
              <a:rPr lang="en-US" altLang="zh-CN" dirty="0" smtClean="0"/>
              <a:t>,</a:t>
            </a:r>
            <a:r>
              <a:rPr lang="zh-CN" altLang="en-US" dirty="0" smtClean="0"/>
              <a:t>即对未来进行”展望”。当一串貌似句柄的符号串呈现于分析栈的顶端时</a:t>
            </a:r>
            <a:r>
              <a:rPr lang="en-US" altLang="zh-CN" dirty="0" smtClean="0"/>
              <a:t>,</a:t>
            </a:r>
            <a:r>
              <a:rPr lang="zh-CN" altLang="en-US" dirty="0" smtClean="0"/>
              <a:t>根据所记载的”历史”和”展望”以及”现实”的输入符号等三方面材料</a:t>
            </a:r>
            <a:r>
              <a:rPr lang="en-US" altLang="zh-CN" dirty="0" smtClean="0"/>
              <a:t>,</a:t>
            </a:r>
            <a:r>
              <a:rPr lang="zh-CN" altLang="en-US" dirty="0" smtClean="0"/>
              <a:t>来确定栈顶的符号是否构成相对某一产生式的句柄</a:t>
            </a:r>
            <a:r>
              <a:rPr lang="en-US" altLang="zh-CN" dirty="0" smtClean="0"/>
              <a:t>.</a:t>
            </a:r>
          </a:p>
          <a:p>
            <a:pPr eaLnBrk="1" hangingPunct="1"/>
            <a:r>
              <a:rPr lang="zh-CN" altLang="en-US" dirty="0" smtClean="0"/>
              <a:t>一个</a:t>
            </a:r>
            <a:r>
              <a:rPr lang="en-US" altLang="zh-CN" dirty="0" smtClean="0">
                <a:solidFill>
                  <a:srgbClr val="1700C0"/>
                </a:solidFill>
              </a:rPr>
              <a:t>LR</a:t>
            </a:r>
            <a:r>
              <a:rPr lang="zh-CN" altLang="en-US" dirty="0" smtClean="0">
                <a:solidFill>
                  <a:srgbClr val="1700C0"/>
                </a:solidFill>
              </a:rPr>
              <a:t>分析器实质：</a:t>
            </a:r>
            <a:r>
              <a:rPr lang="zh-CN" altLang="en-US" dirty="0" smtClean="0"/>
              <a:t>是一个带先进后出存储器</a:t>
            </a:r>
            <a:r>
              <a:rPr lang="en-US" altLang="zh-CN" dirty="0" smtClean="0"/>
              <a:t>(</a:t>
            </a:r>
            <a:r>
              <a:rPr lang="zh-CN" altLang="en-US" dirty="0" smtClean="0"/>
              <a:t>栈</a:t>
            </a:r>
            <a:r>
              <a:rPr lang="en-US" altLang="zh-CN" dirty="0" smtClean="0"/>
              <a:t>)</a:t>
            </a:r>
            <a:r>
              <a:rPr lang="zh-CN" altLang="en-US" dirty="0" smtClean="0"/>
              <a:t>的确定有限状态自动机</a:t>
            </a:r>
            <a:r>
              <a:rPr lang="en-US" altLang="zh-CN" dirty="0" smtClean="0"/>
              <a:t>.</a:t>
            </a:r>
          </a:p>
          <a:p>
            <a:pPr eaLnBrk="1" hangingPunct="1"/>
            <a:endParaRPr lang="en-US" altLang="zh-CN" dirty="0" smtClean="0"/>
          </a:p>
        </p:txBody>
      </p:sp>
      <p:sp>
        <p:nvSpPr>
          <p:cNvPr id="21509" name="日期占位符 5"/>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14231F31-6197-4A21-8D54-15F6F48575B1}" type="datetime1">
              <a:rPr lang="zh-CN" altLang="en-US" smtClean="0">
                <a:latin typeface="Times New Roman" pitchFamily="18" charset="0"/>
              </a:rPr>
              <a:pPr/>
              <a:t>2018/12/14</a:t>
            </a:fld>
            <a:endParaRPr lang="en-US" altLang="zh-CN" smtClean="0">
              <a:latin typeface="Times New Roman" pitchFamily="18" charset="0"/>
            </a:endParaRPr>
          </a:p>
        </p:txBody>
      </p:sp>
      <p:sp>
        <p:nvSpPr>
          <p:cNvPr id="21510" name="页脚占位符 6"/>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4800" y="381000"/>
            <a:ext cx="8610600" cy="762000"/>
          </a:xfrm>
        </p:spPr>
        <p:txBody>
          <a:bodyPr/>
          <a:lstStyle/>
          <a:p>
            <a:pPr eaLnBrk="1" hangingPunct="1"/>
            <a:r>
              <a:rPr lang="en-US" altLang="zh-CN" dirty="0" smtClean="0">
                <a:latin typeface="宋体" pitchFamily="2" charset="-122"/>
              </a:rPr>
              <a:t>4</a:t>
            </a:r>
            <a:r>
              <a:rPr lang="zh-CN" altLang="en-US" dirty="0" smtClean="0">
                <a:latin typeface="宋体" pitchFamily="2" charset="-122"/>
              </a:rPr>
              <a:t>、</a:t>
            </a:r>
            <a:r>
              <a:rPr lang="en-US" altLang="zh-CN" dirty="0" smtClean="0">
                <a:latin typeface="宋体" pitchFamily="2" charset="-122"/>
              </a:rPr>
              <a:t>LR</a:t>
            </a:r>
            <a:r>
              <a:rPr lang="zh-CN" altLang="en-US" dirty="0" smtClean="0">
                <a:latin typeface="宋体" pitchFamily="2" charset="-122"/>
              </a:rPr>
              <a:t>分析器的工作过程</a:t>
            </a:r>
          </a:p>
        </p:txBody>
      </p:sp>
      <p:sp>
        <p:nvSpPr>
          <p:cNvPr id="10243"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87701384-363D-46C7-BDB4-BC3FD06230EA}" type="slidenum">
              <a:rPr lang="en-US" altLang="zh-CN" smtClean="0">
                <a:latin typeface="Times New Roman" pitchFamily="18" charset="0"/>
              </a:rPr>
              <a:pPr/>
              <a:t>11</a:t>
            </a:fld>
            <a:r>
              <a:rPr lang="en-US" altLang="zh-CN" dirty="0" smtClean="0">
                <a:latin typeface="Times New Roman" pitchFamily="18" charset="0"/>
              </a:rPr>
              <a:t>/36</a:t>
            </a:r>
          </a:p>
        </p:txBody>
      </p:sp>
      <p:sp>
        <p:nvSpPr>
          <p:cNvPr id="10244" name="Rectangle 3"/>
          <p:cNvSpPr>
            <a:spLocks noChangeArrowheads="1"/>
          </p:cNvSpPr>
          <p:nvPr/>
        </p:nvSpPr>
        <p:spPr bwMode="auto">
          <a:xfrm>
            <a:off x="3289300" y="1643063"/>
            <a:ext cx="3195638" cy="477837"/>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pPr algn="l"/>
            <a:r>
              <a:rPr lang="en-US" altLang="zh-CN" sz="2800" b="1" i="1">
                <a:solidFill>
                  <a:srgbClr val="660033"/>
                </a:solidFill>
              </a:rPr>
              <a:t>a</a:t>
            </a:r>
            <a:r>
              <a:rPr lang="en-US" altLang="zh-CN" sz="2800" b="1" i="1" baseline="-25000">
                <a:solidFill>
                  <a:srgbClr val="660033"/>
                </a:solidFill>
              </a:rPr>
              <a:t>1</a:t>
            </a:r>
            <a:r>
              <a:rPr lang="en-US" altLang="zh-CN" sz="2800" b="1" i="1">
                <a:solidFill>
                  <a:srgbClr val="660033"/>
                </a:solidFill>
              </a:rPr>
              <a:t>   …   a</a:t>
            </a:r>
            <a:r>
              <a:rPr lang="en-US" altLang="zh-CN" sz="2800" b="1" i="1" baseline="-25000">
                <a:solidFill>
                  <a:srgbClr val="660033"/>
                </a:solidFill>
              </a:rPr>
              <a:t>i</a:t>
            </a:r>
            <a:r>
              <a:rPr lang="en-US" altLang="zh-CN" sz="2800" b="1" i="1">
                <a:solidFill>
                  <a:srgbClr val="660033"/>
                </a:solidFill>
              </a:rPr>
              <a:t>   …   a</a:t>
            </a:r>
            <a:r>
              <a:rPr lang="en-US" altLang="zh-CN" sz="2800" b="1" i="1" baseline="-25000">
                <a:solidFill>
                  <a:srgbClr val="660033"/>
                </a:solidFill>
              </a:rPr>
              <a:t>n</a:t>
            </a:r>
            <a:r>
              <a:rPr lang="en-US" altLang="zh-CN" sz="2800" b="1" i="1">
                <a:solidFill>
                  <a:srgbClr val="660033"/>
                </a:solidFill>
              </a:rPr>
              <a:t>  #</a:t>
            </a:r>
          </a:p>
        </p:txBody>
      </p:sp>
      <p:sp>
        <p:nvSpPr>
          <p:cNvPr id="10245" name="Rectangle 4"/>
          <p:cNvSpPr>
            <a:spLocks noChangeArrowheads="1"/>
          </p:cNvSpPr>
          <p:nvPr/>
        </p:nvSpPr>
        <p:spPr bwMode="auto">
          <a:xfrm>
            <a:off x="3771900" y="2968625"/>
            <a:ext cx="2806700" cy="1103313"/>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r>
              <a:rPr lang="zh-CN" altLang="en-US" sz="2800" b="1">
                <a:solidFill>
                  <a:srgbClr val="660033"/>
                </a:solidFill>
              </a:rPr>
              <a:t>ＬＲ总控程序</a:t>
            </a:r>
          </a:p>
        </p:txBody>
      </p:sp>
      <p:sp>
        <p:nvSpPr>
          <p:cNvPr id="10246" name="Rectangle 5"/>
          <p:cNvSpPr>
            <a:spLocks noChangeArrowheads="1"/>
          </p:cNvSpPr>
          <p:nvPr/>
        </p:nvSpPr>
        <p:spPr bwMode="auto">
          <a:xfrm>
            <a:off x="2857500" y="4978400"/>
            <a:ext cx="2044700" cy="901700"/>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r>
              <a:rPr lang="zh-CN" altLang="en-US" sz="2800" b="1">
                <a:solidFill>
                  <a:srgbClr val="660033"/>
                </a:solidFill>
              </a:rPr>
              <a:t>动作表</a:t>
            </a:r>
          </a:p>
          <a:p>
            <a:r>
              <a:rPr lang="en-US" altLang="zh-CN" sz="2800" b="1">
                <a:solidFill>
                  <a:srgbClr val="660033"/>
                </a:solidFill>
              </a:rPr>
              <a:t>action</a:t>
            </a:r>
          </a:p>
        </p:txBody>
      </p:sp>
      <p:sp>
        <p:nvSpPr>
          <p:cNvPr id="10247" name="Rectangle 6"/>
          <p:cNvSpPr>
            <a:spLocks noChangeArrowheads="1"/>
          </p:cNvSpPr>
          <p:nvPr/>
        </p:nvSpPr>
        <p:spPr bwMode="auto">
          <a:xfrm>
            <a:off x="5372100" y="4978400"/>
            <a:ext cx="1892300" cy="901700"/>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r>
              <a:rPr lang="zh-CN" altLang="en-US" sz="2800" b="1">
                <a:solidFill>
                  <a:srgbClr val="660033"/>
                </a:solidFill>
              </a:rPr>
              <a:t>转移表</a:t>
            </a:r>
          </a:p>
          <a:p>
            <a:r>
              <a:rPr lang="en-US" altLang="zh-CN" sz="2800" b="1">
                <a:solidFill>
                  <a:srgbClr val="660033"/>
                </a:solidFill>
              </a:rPr>
              <a:t>goto</a:t>
            </a:r>
          </a:p>
        </p:txBody>
      </p:sp>
      <p:sp>
        <p:nvSpPr>
          <p:cNvPr id="10248" name="Rectangle 7"/>
          <p:cNvSpPr>
            <a:spLocks noChangeArrowheads="1"/>
          </p:cNvSpPr>
          <p:nvPr/>
        </p:nvSpPr>
        <p:spPr bwMode="auto">
          <a:xfrm>
            <a:off x="7804150" y="2971800"/>
            <a:ext cx="1268413" cy="954088"/>
          </a:xfrm>
          <a:prstGeom prst="rect">
            <a:avLst/>
          </a:prstGeom>
          <a:noFill/>
          <a:ln w="9525">
            <a:noFill/>
            <a:miter lim="800000"/>
            <a:headEnd/>
            <a:tailEnd/>
          </a:ln>
        </p:spPr>
        <p:txBody>
          <a:bodyPr wrap="none" lIns="92075" tIns="46038" rIns="92075" bIns="46038">
            <a:spAutoFit/>
          </a:bodyPr>
          <a:lstStyle/>
          <a:p>
            <a:r>
              <a:rPr lang="zh-CN" altLang="en-US" sz="2800" b="1"/>
              <a:t>产生式</a:t>
            </a:r>
          </a:p>
          <a:p>
            <a:r>
              <a:rPr lang="zh-CN" altLang="en-US" sz="2800" b="1"/>
              <a:t>序列</a:t>
            </a:r>
          </a:p>
        </p:txBody>
      </p:sp>
      <p:sp>
        <p:nvSpPr>
          <p:cNvPr id="10249" name="Rectangle 8"/>
          <p:cNvSpPr>
            <a:spLocks noChangeArrowheads="1"/>
          </p:cNvSpPr>
          <p:nvPr/>
        </p:nvSpPr>
        <p:spPr bwMode="auto">
          <a:xfrm>
            <a:off x="566738" y="2209800"/>
            <a:ext cx="2350002" cy="523862"/>
          </a:xfrm>
          <a:prstGeom prst="rect">
            <a:avLst/>
          </a:prstGeom>
          <a:noFill/>
          <a:ln w="9525">
            <a:noFill/>
            <a:miter lim="800000"/>
            <a:headEnd/>
            <a:tailEnd/>
          </a:ln>
        </p:spPr>
        <p:txBody>
          <a:bodyPr wrap="none" lIns="92075" tIns="46038" rIns="92075" bIns="46038">
            <a:spAutoFit/>
          </a:bodyPr>
          <a:lstStyle/>
          <a:p>
            <a:pPr algn="l"/>
            <a:r>
              <a:rPr lang="zh-CN" altLang="en-US" sz="2800" b="1" dirty="0" smtClean="0"/>
              <a:t>状态、符号</a:t>
            </a:r>
            <a:r>
              <a:rPr lang="zh-CN" altLang="en-US" sz="2800" b="1" dirty="0"/>
              <a:t>栈</a:t>
            </a:r>
          </a:p>
        </p:txBody>
      </p:sp>
      <p:sp>
        <p:nvSpPr>
          <p:cNvPr id="10250" name="Rectangle 9"/>
          <p:cNvSpPr>
            <a:spLocks noChangeArrowheads="1"/>
          </p:cNvSpPr>
          <p:nvPr/>
        </p:nvSpPr>
        <p:spPr bwMode="auto">
          <a:xfrm>
            <a:off x="6710363" y="1476375"/>
            <a:ext cx="1989137" cy="523875"/>
          </a:xfrm>
          <a:prstGeom prst="rect">
            <a:avLst/>
          </a:prstGeom>
          <a:noFill/>
          <a:ln w="9525">
            <a:noFill/>
            <a:miter lim="800000"/>
            <a:headEnd/>
            <a:tailEnd/>
          </a:ln>
        </p:spPr>
        <p:txBody>
          <a:bodyPr wrap="none" lIns="92075" tIns="46038" rIns="92075" bIns="46038">
            <a:spAutoFit/>
          </a:bodyPr>
          <a:lstStyle/>
          <a:p>
            <a:pPr algn="l"/>
            <a:r>
              <a:rPr lang="zh-CN" altLang="en-US" sz="2800" b="1"/>
              <a:t>输入缓冲区</a:t>
            </a:r>
          </a:p>
        </p:txBody>
      </p:sp>
      <p:sp>
        <p:nvSpPr>
          <p:cNvPr id="10251" name="Rectangle 10"/>
          <p:cNvSpPr>
            <a:spLocks noChangeArrowheads="1"/>
          </p:cNvSpPr>
          <p:nvPr/>
        </p:nvSpPr>
        <p:spPr bwMode="auto">
          <a:xfrm>
            <a:off x="2705100" y="4673600"/>
            <a:ext cx="4864100" cy="1255713"/>
          </a:xfrm>
          <a:prstGeom prst="rect">
            <a:avLst/>
          </a:prstGeom>
          <a:noFill/>
          <a:ln w="12700">
            <a:solidFill>
              <a:schemeClr val="tx1"/>
            </a:solidFill>
            <a:prstDash val="sysDot"/>
            <a:miter lim="800000"/>
            <a:headEnd/>
            <a:tailEnd/>
          </a:ln>
        </p:spPr>
        <p:txBody>
          <a:bodyPr wrap="none" anchor="ctr"/>
          <a:lstStyle/>
          <a:p>
            <a:endParaRPr lang="zh-CN" altLang="en-US" sz="2800"/>
          </a:p>
        </p:txBody>
      </p:sp>
      <p:sp>
        <p:nvSpPr>
          <p:cNvPr id="10252" name="Rectangle 11"/>
          <p:cNvSpPr>
            <a:spLocks noChangeArrowheads="1"/>
          </p:cNvSpPr>
          <p:nvPr/>
        </p:nvSpPr>
        <p:spPr bwMode="auto">
          <a:xfrm>
            <a:off x="7559675" y="4833938"/>
            <a:ext cx="1268413" cy="523875"/>
          </a:xfrm>
          <a:prstGeom prst="rect">
            <a:avLst/>
          </a:prstGeom>
          <a:noFill/>
          <a:ln w="9525">
            <a:noFill/>
            <a:miter lim="800000"/>
            <a:headEnd/>
            <a:tailEnd/>
          </a:ln>
        </p:spPr>
        <p:txBody>
          <a:bodyPr wrap="none" lIns="92075" tIns="46038" rIns="92075" bIns="46038">
            <a:spAutoFit/>
          </a:bodyPr>
          <a:lstStyle/>
          <a:p>
            <a:pPr algn="l"/>
            <a:r>
              <a:rPr lang="zh-CN" altLang="en-US" sz="2800" b="1"/>
              <a:t>分析表</a:t>
            </a:r>
          </a:p>
        </p:txBody>
      </p:sp>
      <p:sp>
        <p:nvSpPr>
          <p:cNvPr id="10253" name="Rectangle 12"/>
          <p:cNvSpPr>
            <a:spLocks noChangeArrowheads="1"/>
          </p:cNvSpPr>
          <p:nvPr/>
        </p:nvSpPr>
        <p:spPr bwMode="auto">
          <a:xfrm>
            <a:off x="769938" y="2967038"/>
            <a:ext cx="844550" cy="3248025"/>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pPr>
              <a:lnSpc>
                <a:spcPct val="90000"/>
              </a:lnSpc>
            </a:pPr>
            <a:r>
              <a:rPr lang="en-US" altLang="zh-CN" sz="2800" b="1" i="1">
                <a:solidFill>
                  <a:srgbClr val="660033"/>
                </a:solidFill>
              </a:rPr>
              <a:t>S</a:t>
            </a:r>
            <a:r>
              <a:rPr lang="en-US" altLang="zh-CN" sz="2800" b="1" i="1" baseline="-25000">
                <a:solidFill>
                  <a:srgbClr val="660033"/>
                </a:solidFill>
              </a:rPr>
              <a:t>m</a:t>
            </a:r>
            <a:endParaRPr lang="en-US" altLang="zh-CN" sz="2800" b="1" i="1">
              <a:solidFill>
                <a:srgbClr val="660033"/>
              </a:solidFill>
            </a:endParaRPr>
          </a:p>
          <a:p>
            <a:pPr>
              <a:lnSpc>
                <a:spcPct val="90000"/>
              </a:lnSpc>
            </a:pPr>
            <a:r>
              <a:rPr lang="en-US" altLang="zh-CN" sz="2800" b="1" i="1">
                <a:solidFill>
                  <a:srgbClr val="660033"/>
                </a:solidFill>
              </a:rPr>
              <a:t>S</a:t>
            </a:r>
            <a:r>
              <a:rPr lang="en-US" altLang="zh-CN" sz="2800" b="1" i="1" baseline="-25000">
                <a:solidFill>
                  <a:srgbClr val="660033"/>
                </a:solidFill>
              </a:rPr>
              <a:t>m-1</a:t>
            </a:r>
            <a:endParaRPr lang="en-US" altLang="zh-CN" sz="2800" b="1" i="1">
              <a:solidFill>
                <a:srgbClr val="660033"/>
              </a:solidFill>
            </a:endParaRP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S</a:t>
            </a:r>
            <a:r>
              <a:rPr lang="en-US" altLang="zh-CN" sz="2800" b="1" i="1" baseline="-25000">
                <a:solidFill>
                  <a:srgbClr val="660033"/>
                </a:solidFill>
              </a:rPr>
              <a:t>1</a:t>
            </a:r>
            <a:endParaRPr lang="en-US" altLang="zh-CN" sz="2800" b="1" i="1">
              <a:solidFill>
                <a:srgbClr val="660033"/>
              </a:solidFill>
            </a:endParaRPr>
          </a:p>
          <a:p>
            <a:pPr>
              <a:lnSpc>
                <a:spcPct val="90000"/>
              </a:lnSpc>
            </a:pPr>
            <a:r>
              <a:rPr lang="en-US" altLang="zh-CN" sz="2800" b="1" i="1">
                <a:solidFill>
                  <a:srgbClr val="660033"/>
                </a:solidFill>
              </a:rPr>
              <a:t>S</a:t>
            </a:r>
            <a:r>
              <a:rPr lang="en-US" altLang="zh-CN" sz="2800" b="1" i="1" baseline="-25000">
                <a:solidFill>
                  <a:srgbClr val="660033"/>
                </a:solidFill>
              </a:rPr>
              <a:t>0</a:t>
            </a:r>
            <a:endParaRPr lang="en-US" altLang="zh-CN" sz="2800" b="1" baseline="-25000"/>
          </a:p>
        </p:txBody>
      </p:sp>
      <p:sp>
        <p:nvSpPr>
          <p:cNvPr id="10254" name="Rectangle 13"/>
          <p:cNvSpPr>
            <a:spLocks noChangeArrowheads="1"/>
          </p:cNvSpPr>
          <p:nvPr/>
        </p:nvSpPr>
        <p:spPr bwMode="auto">
          <a:xfrm>
            <a:off x="1633538" y="2967038"/>
            <a:ext cx="850900" cy="3248025"/>
          </a:xfrm>
          <a:prstGeom prst="rect">
            <a:avLst/>
          </a:prstGeom>
          <a:solidFill>
            <a:srgbClr val="C5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5FFFF"/>
            </a:extrusionClr>
          </a:sp3d>
        </p:spPr>
        <p:txBody>
          <a:bodyPr wrap="none" lIns="92075" tIns="46038" rIns="92075" bIns="46038" anchor="ctr">
            <a:flatTx/>
          </a:bodyPr>
          <a:lstStyle/>
          <a:p>
            <a:pPr>
              <a:lnSpc>
                <a:spcPct val="90000"/>
              </a:lnSpc>
            </a:pPr>
            <a:r>
              <a:rPr lang="en-US" altLang="zh-CN" sz="2800" b="1" i="1">
                <a:solidFill>
                  <a:srgbClr val="660033"/>
                </a:solidFill>
              </a:rPr>
              <a:t>X</a:t>
            </a:r>
            <a:r>
              <a:rPr lang="en-US" altLang="zh-CN" sz="2800" b="1" i="1" baseline="-25000">
                <a:solidFill>
                  <a:srgbClr val="660033"/>
                </a:solidFill>
              </a:rPr>
              <a:t>m</a:t>
            </a:r>
            <a:endParaRPr lang="en-US" altLang="zh-CN" sz="2800" b="1" i="1">
              <a:solidFill>
                <a:srgbClr val="660033"/>
              </a:solidFill>
            </a:endParaRPr>
          </a:p>
          <a:p>
            <a:pPr>
              <a:lnSpc>
                <a:spcPct val="90000"/>
              </a:lnSpc>
            </a:pPr>
            <a:r>
              <a:rPr lang="en-US" altLang="zh-CN" sz="2800" b="1" i="1">
                <a:solidFill>
                  <a:srgbClr val="660033"/>
                </a:solidFill>
              </a:rPr>
              <a:t>X</a:t>
            </a:r>
            <a:r>
              <a:rPr lang="en-US" altLang="zh-CN" sz="2800" b="1" i="1" baseline="-25000">
                <a:solidFill>
                  <a:srgbClr val="660033"/>
                </a:solidFill>
              </a:rPr>
              <a:t>m-1</a:t>
            </a:r>
            <a:endParaRPr lang="en-US" altLang="zh-CN" sz="2800" b="1" i="1">
              <a:solidFill>
                <a:srgbClr val="660033"/>
              </a:solidFill>
            </a:endParaRP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a:t>
            </a:r>
          </a:p>
          <a:p>
            <a:pPr>
              <a:lnSpc>
                <a:spcPct val="90000"/>
              </a:lnSpc>
            </a:pPr>
            <a:r>
              <a:rPr lang="en-US" altLang="zh-CN" sz="2800" b="1" i="1">
                <a:solidFill>
                  <a:srgbClr val="660033"/>
                </a:solidFill>
              </a:rPr>
              <a:t>X</a:t>
            </a:r>
            <a:r>
              <a:rPr lang="en-US" altLang="zh-CN" sz="2800" b="1" i="1" baseline="-25000">
                <a:solidFill>
                  <a:srgbClr val="660033"/>
                </a:solidFill>
              </a:rPr>
              <a:t>1</a:t>
            </a:r>
            <a:endParaRPr lang="en-US" altLang="zh-CN" sz="2800" b="1" i="1">
              <a:solidFill>
                <a:srgbClr val="660033"/>
              </a:solidFill>
            </a:endParaRPr>
          </a:p>
          <a:p>
            <a:pPr>
              <a:lnSpc>
                <a:spcPct val="90000"/>
              </a:lnSpc>
            </a:pPr>
            <a:r>
              <a:rPr lang="en-US" altLang="zh-CN" sz="2800" b="1" i="1">
                <a:solidFill>
                  <a:srgbClr val="660033"/>
                </a:solidFill>
              </a:rPr>
              <a:t>#</a:t>
            </a:r>
            <a:endParaRPr lang="en-US" altLang="zh-CN" sz="2800" b="1" i="1" baseline="-25000">
              <a:solidFill>
                <a:srgbClr val="FF0000"/>
              </a:solidFill>
            </a:endParaRPr>
          </a:p>
        </p:txBody>
      </p:sp>
      <p:sp>
        <p:nvSpPr>
          <p:cNvPr id="10255" name="AutoShape 14"/>
          <p:cNvSpPr>
            <a:spLocks noChangeArrowheads="1"/>
          </p:cNvSpPr>
          <p:nvPr/>
        </p:nvSpPr>
        <p:spPr bwMode="auto">
          <a:xfrm>
            <a:off x="2622550" y="3333750"/>
            <a:ext cx="1143000" cy="381000"/>
          </a:xfrm>
          <a:prstGeom prst="rightArrow">
            <a:avLst>
              <a:gd name="adj1" fmla="val 50000"/>
              <a:gd name="adj2" fmla="val 75000"/>
            </a:avLst>
          </a:prstGeom>
          <a:solidFill>
            <a:schemeClr val="accent1"/>
          </a:solidFill>
          <a:ln w="12700">
            <a:solidFill>
              <a:schemeClr val="tx1"/>
            </a:solidFill>
            <a:miter lim="800000"/>
            <a:headEnd type="none" w="sm" len="sm"/>
            <a:tailEnd type="none" w="sm" len="sm"/>
          </a:ln>
        </p:spPr>
        <p:txBody>
          <a:bodyPr wrap="none" anchor="ctr"/>
          <a:lstStyle/>
          <a:p>
            <a:endParaRPr lang="zh-CN" altLang="en-US" sz="2800"/>
          </a:p>
        </p:txBody>
      </p:sp>
      <p:sp>
        <p:nvSpPr>
          <p:cNvPr id="10256" name="AutoShape 15"/>
          <p:cNvSpPr>
            <a:spLocks noChangeArrowheads="1"/>
          </p:cNvSpPr>
          <p:nvPr/>
        </p:nvSpPr>
        <p:spPr bwMode="auto">
          <a:xfrm>
            <a:off x="4222750" y="2176463"/>
            <a:ext cx="381000" cy="609600"/>
          </a:xfrm>
          <a:prstGeom prst="downArrow">
            <a:avLst>
              <a:gd name="adj1" fmla="val 50000"/>
              <a:gd name="adj2" fmla="val 40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sz="2800"/>
          </a:p>
        </p:txBody>
      </p:sp>
      <p:sp>
        <p:nvSpPr>
          <p:cNvPr id="10257" name="AutoShape 16"/>
          <p:cNvSpPr>
            <a:spLocks noChangeArrowheads="1"/>
          </p:cNvSpPr>
          <p:nvPr/>
        </p:nvSpPr>
        <p:spPr bwMode="auto">
          <a:xfrm>
            <a:off x="4127500" y="4071938"/>
            <a:ext cx="285750" cy="714375"/>
          </a:xfrm>
          <a:prstGeom prst="upArrow">
            <a:avLst>
              <a:gd name="adj1" fmla="val 50000"/>
              <a:gd name="adj2" fmla="val 75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sz="2800"/>
          </a:p>
        </p:txBody>
      </p:sp>
      <p:sp>
        <p:nvSpPr>
          <p:cNvPr id="10258" name="AutoShape 18"/>
          <p:cNvSpPr>
            <a:spLocks noChangeArrowheads="1"/>
          </p:cNvSpPr>
          <p:nvPr/>
        </p:nvSpPr>
        <p:spPr bwMode="auto">
          <a:xfrm>
            <a:off x="6661150" y="3276600"/>
            <a:ext cx="1295400" cy="381000"/>
          </a:xfrm>
          <a:prstGeom prst="rightArrow">
            <a:avLst>
              <a:gd name="adj1" fmla="val 50000"/>
              <a:gd name="adj2" fmla="val 85000"/>
            </a:avLst>
          </a:prstGeom>
          <a:solidFill>
            <a:schemeClr val="accent1"/>
          </a:solidFill>
          <a:ln w="12700">
            <a:solidFill>
              <a:schemeClr val="tx1"/>
            </a:solidFill>
            <a:miter lim="800000"/>
            <a:headEnd type="none" w="sm" len="sm"/>
            <a:tailEnd type="none" w="sm" len="sm"/>
          </a:ln>
        </p:spPr>
        <p:txBody>
          <a:bodyPr wrap="none" anchor="ctr"/>
          <a:lstStyle/>
          <a:p>
            <a:endParaRPr lang="zh-CN" altLang="en-US" sz="2800"/>
          </a:p>
        </p:txBody>
      </p:sp>
      <p:sp>
        <p:nvSpPr>
          <p:cNvPr id="10259" name="日期占位符 20"/>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8A152B7A-A856-4308-8783-762F345911E6}" type="datetime1">
              <a:rPr lang="zh-CN" altLang="en-US" smtClean="0">
                <a:latin typeface="Times New Roman" pitchFamily="18" charset="0"/>
              </a:rPr>
              <a:pPr/>
              <a:t>2018/12/14</a:t>
            </a:fld>
            <a:endParaRPr lang="en-US" altLang="zh-CN" smtClean="0">
              <a:latin typeface="Times New Roman" pitchFamily="18" charset="0"/>
            </a:endParaRPr>
          </a:p>
        </p:txBody>
      </p:sp>
      <p:sp>
        <p:nvSpPr>
          <p:cNvPr id="10260" name="页脚占位符 21"/>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0261" name="矩形 21"/>
          <p:cNvSpPr>
            <a:spLocks noChangeArrowheads="1"/>
          </p:cNvSpPr>
          <p:nvPr/>
        </p:nvSpPr>
        <p:spPr bwMode="auto">
          <a:xfrm>
            <a:off x="2643188" y="5957888"/>
            <a:ext cx="4572000" cy="400050"/>
          </a:xfrm>
          <a:prstGeom prst="rect">
            <a:avLst/>
          </a:prstGeom>
          <a:noFill/>
          <a:ln w="9525">
            <a:noFill/>
            <a:miter lim="800000"/>
            <a:headEnd/>
            <a:tailEnd/>
          </a:ln>
        </p:spPr>
        <p:txBody>
          <a:bodyPr>
            <a:spAutoFit/>
          </a:bodyPr>
          <a:lstStyle/>
          <a:p>
            <a:r>
              <a:rPr lang="zh-CN" altLang="en-US" sz="2000" b="1" dirty="0" smtClean="0"/>
              <a:t>图</a:t>
            </a:r>
            <a:r>
              <a:rPr lang="en-US" altLang="zh-CN" sz="2000" b="1" dirty="0" smtClean="0"/>
              <a:t>6.1 </a:t>
            </a:r>
            <a:r>
              <a:rPr lang="en-US" altLang="zh-CN" sz="2000" b="1" dirty="0"/>
              <a:t>LR</a:t>
            </a:r>
            <a:r>
              <a:rPr lang="zh-CN" altLang="en-US" sz="2000" b="1" dirty="0"/>
              <a:t>分析器的工作过程示意图</a:t>
            </a:r>
          </a:p>
        </p:txBody>
      </p:sp>
      <p:sp>
        <p:nvSpPr>
          <p:cNvPr id="10262" name="AutoShape 16"/>
          <p:cNvSpPr>
            <a:spLocks noChangeArrowheads="1"/>
          </p:cNvSpPr>
          <p:nvPr/>
        </p:nvSpPr>
        <p:spPr bwMode="auto">
          <a:xfrm>
            <a:off x="5770563" y="4071938"/>
            <a:ext cx="285750" cy="714375"/>
          </a:xfrm>
          <a:prstGeom prst="upArrow">
            <a:avLst>
              <a:gd name="adj1" fmla="val 50000"/>
              <a:gd name="adj2" fmla="val 75000"/>
            </a:avLst>
          </a:prstGeom>
          <a:solidFill>
            <a:schemeClr val="accent1"/>
          </a:solidFill>
          <a:ln w="12700">
            <a:solidFill>
              <a:schemeClr val="tx1"/>
            </a:solidFill>
            <a:miter lim="800000"/>
            <a:headEnd type="none" w="sm" len="sm"/>
            <a:tailEnd type="none" w="sm" len="sm"/>
          </a:ln>
        </p:spPr>
        <p:txBody>
          <a:bodyPr vert="eaVert" wrap="none" anchor="ctr"/>
          <a:lstStyle/>
          <a:p>
            <a:endParaRPr lang="zh-CN" altLang="en-US" sz="2800"/>
          </a:p>
        </p:txBody>
      </p:sp>
      <p:sp>
        <p:nvSpPr>
          <p:cNvPr id="10263" name="Rectangle 8"/>
          <p:cNvSpPr>
            <a:spLocks noChangeArrowheads="1"/>
          </p:cNvSpPr>
          <p:nvPr/>
        </p:nvSpPr>
        <p:spPr bwMode="auto">
          <a:xfrm>
            <a:off x="0" y="3252788"/>
            <a:ext cx="912813" cy="461962"/>
          </a:xfrm>
          <a:prstGeom prst="rect">
            <a:avLst/>
          </a:prstGeom>
          <a:noFill/>
          <a:ln w="9525">
            <a:noFill/>
            <a:miter lim="800000"/>
            <a:headEnd/>
            <a:tailEnd/>
          </a:ln>
        </p:spPr>
        <p:txBody>
          <a:bodyPr wrap="none" lIns="92075" tIns="46038" rIns="92075" bIns="46038">
            <a:spAutoFit/>
          </a:bodyPr>
          <a:lstStyle/>
          <a:p>
            <a:pPr algn="l"/>
            <a:r>
              <a:rPr lang="en-US" altLang="zh-CN" b="1"/>
              <a:t>SP →</a:t>
            </a:r>
            <a:endParaRPr lang="zh-CN" altLang="en-US" b="1"/>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en-US" altLang="zh-CN" dirty="0" smtClean="0">
                <a:latin typeface="宋体" pitchFamily="2" charset="-122"/>
              </a:rPr>
              <a:t>4</a:t>
            </a:r>
            <a:r>
              <a:rPr lang="zh-CN" altLang="en-US" dirty="0" smtClean="0">
                <a:latin typeface="宋体" pitchFamily="2" charset="-122"/>
              </a:rPr>
              <a:t>、</a:t>
            </a:r>
            <a:r>
              <a:rPr lang="en-US" altLang="zh-CN" dirty="0" smtClean="0">
                <a:latin typeface="宋体" pitchFamily="2" charset="-122"/>
              </a:rPr>
              <a:t>LR</a:t>
            </a:r>
            <a:r>
              <a:rPr lang="zh-CN" altLang="en-US" dirty="0" smtClean="0">
                <a:latin typeface="宋体" pitchFamily="2" charset="-122"/>
              </a:rPr>
              <a:t>分析器的工作过程</a:t>
            </a:r>
            <a:endParaRPr lang="zh-CN" altLang="en-US" dirty="0" smtClean="0"/>
          </a:p>
        </p:txBody>
      </p:sp>
      <p:sp>
        <p:nvSpPr>
          <p:cNvPr id="11267" name="内容占位符 2"/>
          <p:cNvSpPr>
            <a:spLocks noGrp="1"/>
          </p:cNvSpPr>
          <p:nvPr>
            <p:ph sz="quarter" idx="1"/>
          </p:nvPr>
        </p:nvSpPr>
        <p:spPr>
          <a:xfrm>
            <a:off x="457200" y="1219200"/>
            <a:ext cx="8329613" cy="4937125"/>
          </a:xfrm>
        </p:spPr>
        <p:txBody>
          <a:bodyPr/>
          <a:lstStyle/>
          <a:p>
            <a:r>
              <a:rPr lang="en-US" altLang="zh-CN" dirty="0" smtClean="0"/>
              <a:t>LR</a:t>
            </a:r>
            <a:r>
              <a:rPr lang="zh-CN" altLang="en-US" dirty="0" smtClean="0"/>
              <a:t>分析器工作过程示意图如图</a:t>
            </a:r>
            <a:r>
              <a:rPr lang="en-US" altLang="zh-CN" dirty="0" smtClean="0"/>
              <a:t>6.1</a:t>
            </a:r>
            <a:r>
              <a:rPr lang="zh-CN" altLang="en-US" dirty="0" smtClean="0"/>
              <a:t>所示。</a:t>
            </a:r>
            <a:endParaRPr lang="en-US" altLang="zh-CN" dirty="0" smtClean="0"/>
          </a:p>
          <a:p>
            <a:r>
              <a:rPr lang="zh-CN" altLang="en-US" dirty="0" smtClean="0"/>
              <a:t>其中</a:t>
            </a:r>
            <a:r>
              <a:rPr lang="en-US" altLang="zh-CN" dirty="0" smtClean="0"/>
              <a:t>SP</a:t>
            </a:r>
            <a:r>
              <a:rPr lang="zh-CN" altLang="en-US" dirty="0" smtClean="0"/>
              <a:t>为栈指针，</a:t>
            </a:r>
            <a:r>
              <a:rPr lang="en-US" altLang="zh-CN" dirty="0" smtClean="0"/>
              <a:t>S[</a:t>
            </a:r>
            <a:r>
              <a:rPr lang="en-US" altLang="zh-CN" dirty="0" err="1" smtClean="0"/>
              <a:t>i</a:t>
            </a:r>
            <a:r>
              <a:rPr lang="en-US" altLang="zh-CN" dirty="0" smtClean="0"/>
              <a:t>]</a:t>
            </a:r>
            <a:r>
              <a:rPr lang="zh-CN" altLang="en-US" dirty="0" smtClean="0"/>
              <a:t>为状态栈，</a:t>
            </a:r>
            <a:r>
              <a:rPr lang="en-US" altLang="zh-CN" dirty="0" smtClean="0"/>
              <a:t> X[</a:t>
            </a:r>
            <a:r>
              <a:rPr lang="en-US" altLang="zh-CN" dirty="0" err="1" smtClean="0"/>
              <a:t>i</a:t>
            </a:r>
            <a:r>
              <a:rPr lang="en-US" altLang="zh-CN" dirty="0" smtClean="0"/>
              <a:t>]</a:t>
            </a:r>
            <a:r>
              <a:rPr lang="zh-CN" altLang="en-US" dirty="0" smtClean="0"/>
              <a:t>为文法符号栈。状态转换表内容按关系</a:t>
            </a:r>
            <a:r>
              <a:rPr lang="en-US" altLang="zh-CN" dirty="0" smtClean="0"/>
              <a:t>GOTO[</a:t>
            </a:r>
            <a:r>
              <a:rPr lang="en-US" altLang="zh-CN" dirty="0" err="1" smtClean="0"/>
              <a:t>S</a:t>
            </a:r>
            <a:r>
              <a:rPr lang="en-US" altLang="zh-CN" baseline="-25000" dirty="0" err="1" smtClean="0"/>
              <a:t>i</a:t>
            </a:r>
            <a:r>
              <a:rPr lang="en-US" altLang="zh-CN" dirty="0" err="1" smtClean="0"/>
              <a:t>,X</a:t>
            </a:r>
            <a:r>
              <a:rPr lang="en-US" altLang="zh-CN" dirty="0" smtClean="0"/>
              <a:t>]=</a:t>
            </a:r>
            <a:r>
              <a:rPr lang="en-US" altLang="zh-CN" dirty="0" err="1" smtClean="0"/>
              <a:t>S</a:t>
            </a:r>
            <a:r>
              <a:rPr lang="en-US" altLang="zh-CN" baseline="-25000" dirty="0" err="1" smtClean="0"/>
              <a:t>j</a:t>
            </a:r>
            <a:r>
              <a:rPr lang="zh-CN" altLang="en-US" dirty="0" smtClean="0"/>
              <a:t>确定，该关系式是指当栈顶状态为</a:t>
            </a:r>
            <a:r>
              <a:rPr lang="en-US" altLang="zh-CN" dirty="0" smtClean="0"/>
              <a:t>S</a:t>
            </a:r>
            <a:r>
              <a:rPr lang="en-US" altLang="zh-CN" baseline="-25000" dirty="0" smtClean="0"/>
              <a:t>i</a:t>
            </a:r>
            <a:r>
              <a:rPr lang="zh-CN" altLang="en-US" dirty="0" smtClean="0"/>
              <a:t>遇到当前文法符号为</a:t>
            </a:r>
            <a:r>
              <a:rPr lang="en-US" altLang="zh-CN" dirty="0" smtClean="0"/>
              <a:t>X</a:t>
            </a:r>
            <a:r>
              <a:rPr lang="zh-CN" altLang="en-US" dirty="0" smtClean="0"/>
              <a:t>时应转向状态</a:t>
            </a:r>
            <a:r>
              <a:rPr lang="en-US" altLang="zh-CN" dirty="0" err="1" smtClean="0"/>
              <a:t>S</a:t>
            </a:r>
            <a:r>
              <a:rPr lang="en-US" altLang="zh-CN" baseline="-25000" dirty="0" err="1" smtClean="0"/>
              <a:t>j</a:t>
            </a:r>
            <a:r>
              <a:rPr lang="zh-CN" altLang="en-US" dirty="0" smtClean="0"/>
              <a:t>。</a:t>
            </a:r>
            <a:r>
              <a:rPr lang="en-US" altLang="zh-CN" dirty="0" smtClean="0"/>
              <a:t>X</a:t>
            </a:r>
            <a:r>
              <a:rPr lang="zh-CN" altLang="en-US" dirty="0" smtClean="0"/>
              <a:t>为终结符或非终结符。</a:t>
            </a:r>
            <a:endParaRPr lang="en-US" altLang="zh-CN" dirty="0" smtClean="0"/>
          </a:p>
          <a:p>
            <a:r>
              <a:rPr lang="en-US" altLang="zh-CN" dirty="0" smtClean="0"/>
              <a:t>ACTION[</a:t>
            </a:r>
            <a:r>
              <a:rPr lang="en-US" altLang="zh-CN" dirty="0" err="1" smtClean="0"/>
              <a:t>S</a:t>
            </a:r>
            <a:r>
              <a:rPr lang="en-US" altLang="zh-CN" baseline="-25000" dirty="0" err="1" smtClean="0"/>
              <a:t>i</a:t>
            </a:r>
            <a:r>
              <a:rPr lang="en-US" altLang="zh-CN" dirty="0" err="1" smtClean="0"/>
              <a:t>,a</a:t>
            </a:r>
            <a:r>
              <a:rPr lang="en-US" altLang="zh-CN" dirty="0" smtClean="0"/>
              <a:t>]</a:t>
            </a:r>
            <a:r>
              <a:rPr lang="zh-CN" altLang="en-US" dirty="0" smtClean="0"/>
              <a:t>规定了栈顶状态为</a:t>
            </a:r>
            <a:r>
              <a:rPr lang="en-US" altLang="zh-CN" dirty="0" smtClean="0"/>
              <a:t>S</a:t>
            </a:r>
            <a:r>
              <a:rPr lang="en-US" altLang="zh-CN" baseline="-25000" dirty="0" smtClean="0"/>
              <a:t>i</a:t>
            </a:r>
            <a:r>
              <a:rPr lang="zh-CN" altLang="en-US" dirty="0" smtClean="0"/>
              <a:t>时遇到输入符号</a:t>
            </a:r>
            <a:r>
              <a:rPr lang="en-US" altLang="zh-CN" dirty="0" smtClean="0"/>
              <a:t>a</a:t>
            </a:r>
            <a:r>
              <a:rPr lang="zh-CN" altLang="en-US" dirty="0" smtClean="0"/>
              <a:t>应执行的动作。动作有</a:t>
            </a:r>
            <a:r>
              <a:rPr lang="en-US" altLang="zh-CN" dirty="0" smtClean="0"/>
              <a:t>4</a:t>
            </a:r>
            <a:r>
              <a:rPr lang="zh-CN" altLang="en-US" dirty="0" smtClean="0"/>
              <a:t>种可能：</a:t>
            </a:r>
            <a:endParaRPr lang="en-US" altLang="zh-CN" dirty="0" smtClean="0"/>
          </a:p>
          <a:p>
            <a:r>
              <a:rPr lang="zh-CN" altLang="en-US" dirty="0" smtClean="0"/>
              <a:t>（</a:t>
            </a:r>
            <a:r>
              <a:rPr lang="en-US" altLang="zh-CN" dirty="0" smtClean="0"/>
              <a:t>1</a:t>
            </a:r>
            <a:r>
              <a:rPr lang="zh-CN" altLang="en-US" dirty="0" smtClean="0"/>
              <a:t>）</a:t>
            </a:r>
            <a:r>
              <a:rPr lang="zh-CN" altLang="en-US" dirty="0" smtClean="0">
                <a:solidFill>
                  <a:srgbClr val="1700C0"/>
                </a:solidFill>
              </a:rPr>
              <a:t>移进</a:t>
            </a:r>
            <a:r>
              <a:rPr lang="zh-CN" altLang="en-US" dirty="0" smtClean="0"/>
              <a:t>： 当</a:t>
            </a:r>
            <a:r>
              <a:rPr lang="en-US" altLang="zh-CN" dirty="0" err="1" smtClean="0"/>
              <a:t>S</a:t>
            </a:r>
            <a:r>
              <a:rPr lang="en-US" altLang="zh-CN" baseline="-25000" dirty="0" err="1" smtClean="0"/>
              <a:t>j</a:t>
            </a:r>
            <a:r>
              <a:rPr lang="en-US" altLang="zh-CN" dirty="0" smtClean="0"/>
              <a:t>=GOTO[</a:t>
            </a:r>
            <a:r>
              <a:rPr lang="en-US" altLang="zh-CN" dirty="0" err="1" smtClean="0"/>
              <a:t>S</a:t>
            </a:r>
            <a:r>
              <a:rPr lang="en-US" altLang="zh-CN" baseline="-25000" dirty="0" err="1" smtClean="0"/>
              <a:t>i</a:t>
            </a:r>
            <a:r>
              <a:rPr lang="en-US" altLang="zh-CN" dirty="0" err="1" smtClean="0"/>
              <a:t>,a</a:t>
            </a:r>
            <a:r>
              <a:rPr lang="en-US" altLang="zh-CN" dirty="0" smtClean="0"/>
              <a:t>] </a:t>
            </a:r>
            <a:r>
              <a:rPr lang="zh-CN" altLang="en-US" dirty="0" smtClean="0"/>
              <a:t>成立，则把</a:t>
            </a:r>
            <a:r>
              <a:rPr lang="en-US" altLang="zh-CN" dirty="0" err="1" smtClean="0"/>
              <a:t>S</a:t>
            </a:r>
            <a:r>
              <a:rPr lang="en-US" altLang="zh-CN" baseline="-25000" dirty="0" err="1" smtClean="0"/>
              <a:t>j</a:t>
            </a:r>
            <a:r>
              <a:rPr lang="zh-CN" altLang="en-US" dirty="0" smtClean="0"/>
              <a:t>移入到状态栈，把</a:t>
            </a:r>
            <a:r>
              <a:rPr lang="en-US" altLang="zh-CN" dirty="0" smtClean="0"/>
              <a:t>a</a:t>
            </a:r>
            <a:r>
              <a:rPr lang="zh-CN" altLang="en-US" dirty="0" smtClean="0"/>
              <a:t>移入到文法符号栈。其中</a:t>
            </a:r>
            <a:r>
              <a:rPr lang="en-US" altLang="zh-CN" dirty="0" err="1" smtClean="0"/>
              <a:t>i,j</a:t>
            </a:r>
            <a:r>
              <a:rPr lang="zh-CN" altLang="en-US" dirty="0" smtClean="0"/>
              <a:t>表示状态号。</a:t>
            </a:r>
          </a:p>
        </p:txBody>
      </p:sp>
      <p:sp>
        <p:nvSpPr>
          <p:cNvPr id="11268"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414E2A9A-A73F-4F37-87C0-6CF05BCDA37B}" type="datetime1">
              <a:rPr lang="zh-CN" altLang="en-US" smtClean="0">
                <a:latin typeface="Times New Roman" pitchFamily="18" charset="0"/>
              </a:rPr>
              <a:pPr/>
              <a:t>2018/12/14</a:t>
            </a:fld>
            <a:endParaRPr lang="en-US" altLang="zh-CN" smtClean="0">
              <a:latin typeface="Times New Roman" pitchFamily="18" charset="0"/>
            </a:endParaRPr>
          </a:p>
        </p:txBody>
      </p:sp>
      <p:sp>
        <p:nvSpPr>
          <p:cNvPr id="11269"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1270"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0182D7C5-FBDC-4B9D-93C5-8225FBA01EE0}" type="slidenum">
              <a:rPr lang="en-US" altLang="zh-CN" smtClean="0">
                <a:latin typeface="Times New Roman" pitchFamily="18" charset="0"/>
              </a:rPr>
              <a:pPr/>
              <a:t>12</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en-US" altLang="zh-CN" dirty="0" smtClean="0">
                <a:latin typeface="宋体" pitchFamily="2" charset="-122"/>
              </a:rPr>
              <a:t>4</a:t>
            </a:r>
            <a:r>
              <a:rPr lang="zh-CN" altLang="en-US" dirty="0" smtClean="0">
                <a:latin typeface="宋体" pitchFamily="2" charset="-122"/>
              </a:rPr>
              <a:t>、</a:t>
            </a:r>
            <a:r>
              <a:rPr lang="en-US" altLang="zh-CN" dirty="0" smtClean="0">
                <a:latin typeface="宋体" pitchFamily="2" charset="-122"/>
              </a:rPr>
              <a:t>LR</a:t>
            </a:r>
            <a:r>
              <a:rPr lang="zh-CN" altLang="en-US" dirty="0" smtClean="0">
                <a:latin typeface="宋体" pitchFamily="2" charset="-122"/>
              </a:rPr>
              <a:t>分析器的工作过程</a:t>
            </a:r>
            <a:endParaRPr lang="zh-CN" altLang="en-US" dirty="0" smtClean="0"/>
          </a:p>
        </p:txBody>
      </p:sp>
      <p:sp>
        <p:nvSpPr>
          <p:cNvPr id="12291" name="内容占位符 2"/>
          <p:cNvSpPr>
            <a:spLocks noGrp="1"/>
          </p:cNvSpPr>
          <p:nvPr>
            <p:ph sz="quarter" idx="1"/>
          </p:nvPr>
        </p:nvSpPr>
        <p:spPr>
          <a:xfrm>
            <a:off x="457200" y="1219200"/>
            <a:ext cx="8229600" cy="4937125"/>
          </a:xfrm>
        </p:spPr>
        <p:txBody>
          <a:bodyPr/>
          <a:lstStyle/>
          <a:p>
            <a:r>
              <a:rPr lang="zh-CN" altLang="en-US" dirty="0" smtClean="0"/>
              <a:t>（</a:t>
            </a:r>
            <a:r>
              <a:rPr lang="en-US" altLang="zh-CN" dirty="0" smtClean="0"/>
              <a:t>2</a:t>
            </a:r>
            <a:r>
              <a:rPr lang="zh-CN" altLang="en-US" dirty="0" smtClean="0"/>
              <a:t>）</a:t>
            </a:r>
            <a:r>
              <a:rPr lang="zh-CN" altLang="en-US" dirty="0" smtClean="0">
                <a:solidFill>
                  <a:srgbClr val="1700C0"/>
                </a:solidFill>
              </a:rPr>
              <a:t>规约</a:t>
            </a:r>
            <a:r>
              <a:rPr lang="zh-CN" altLang="en-US" dirty="0" smtClean="0"/>
              <a:t>：当在栈顶形成句柄为</a:t>
            </a:r>
            <a:r>
              <a:rPr lang="el-GR" altLang="zh-CN" dirty="0" smtClean="0"/>
              <a:t>β</a:t>
            </a:r>
            <a:r>
              <a:rPr lang="zh-CN" altLang="en-US" dirty="0" smtClean="0"/>
              <a:t>时，则用</a:t>
            </a:r>
            <a:r>
              <a:rPr lang="el-GR" altLang="zh-CN" dirty="0" smtClean="0"/>
              <a:t>β</a:t>
            </a:r>
            <a:r>
              <a:rPr lang="zh-CN" altLang="en-US" dirty="0" smtClean="0"/>
              <a:t>规约为相应的非终结符</a:t>
            </a:r>
            <a:r>
              <a:rPr lang="en-US" altLang="zh-CN" dirty="0" smtClean="0"/>
              <a:t>A</a:t>
            </a:r>
            <a:r>
              <a:rPr lang="zh-CN" altLang="en-US" dirty="0" smtClean="0"/>
              <a:t>，即当文法中有</a:t>
            </a:r>
            <a:r>
              <a:rPr lang="en-US" altLang="zh-CN" dirty="0" smtClean="0"/>
              <a:t>A→</a:t>
            </a:r>
            <a:r>
              <a:rPr lang="el-GR" altLang="zh-CN" dirty="0" smtClean="0"/>
              <a:t>β</a:t>
            </a:r>
            <a:r>
              <a:rPr lang="zh-CN" altLang="en-US" dirty="0" smtClean="0"/>
              <a:t>的产生式，而</a:t>
            </a:r>
            <a:r>
              <a:rPr lang="el-GR" altLang="zh-CN" dirty="0" smtClean="0"/>
              <a:t>β</a:t>
            </a:r>
            <a:r>
              <a:rPr lang="zh-CN" altLang="en-US" dirty="0" smtClean="0"/>
              <a:t>的长度为</a:t>
            </a:r>
            <a:r>
              <a:rPr lang="en-US" altLang="zh-CN" dirty="0" smtClean="0"/>
              <a:t>r</a:t>
            </a:r>
            <a:r>
              <a:rPr lang="zh-CN" altLang="en-US" dirty="0" smtClean="0"/>
              <a:t>，则从状态栈和文法符号栈中自栈顶向下去掉</a:t>
            </a:r>
            <a:r>
              <a:rPr lang="en-US" altLang="zh-CN" dirty="0" smtClean="0"/>
              <a:t>r</a:t>
            </a:r>
            <a:r>
              <a:rPr lang="zh-CN" altLang="en-US" dirty="0" smtClean="0"/>
              <a:t>个符号，即栈指针</a:t>
            </a:r>
            <a:r>
              <a:rPr lang="en-US" altLang="zh-CN" dirty="0" smtClean="0"/>
              <a:t>SP</a:t>
            </a:r>
            <a:r>
              <a:rPr lang="zh-CN" altLang="en-US" dirty="0" smtClean="0"/>
              <a:t>减去</a:t>
            </a:r>
            <a:r>
              <a:rPr lang="en-US" altLang="zh-CN" dirty="0" smtClean="0"/>
              <a:t>r</a:t>
            </a:r>
            <a:r>
              <a:rPr lang="zh-CN" altLang="en-US" dirty="0" smtClean="0"/>
              <a:t>。并把</a:t>
            </a:r>
            <a:r>
              <a:rPr lang="en-US" altLang="zh-CN" dirty="0" smtClean="0"/>
              <a:t>A</a:t>
            </a:r>
            <a:r>
              <a:rPr lang="zh-CN" altLang="en-US" dirty="0" smtClean="0"/>
              <a:t>移入文法符号栈内，再把满足</a:t>
            </a:r>
            <a:r>
              <a:rPr lang="en-US" altLang="zh-CN" dirty="0" err="1" smtClean="0"/>
              <a:t>S</a:t>
            </a:r>
            <a:r>
              <a:rPr lang="en-US" altLang="zh-CN" baseline="-25000" dirty="0" err="1" smtClean="0"/>
              <a:t>j</a:t>
            </a:r>
            <a:r>
              <a:rPr lang="en-US" altLang="zh-CN" dirty="0" smtClean="0"/>
              <a:t>=GOTO[</a:t>
            </a:r>
            <a:r>
              <a:rPr lang="en-US" altLang="zh-CN" dirty="0" err="1" smtClean="0"/>
              <a:t>S</a:t>
            </a:r>
            <a:r>
              <a:rPr lang="en-US" altLang="zh-CN" baseline="-25000" dirty="0" err="1" smtClean="0"/>
              <a:t>i</a:t>
            </a:r>
            <a:r>
              <a:rPr lang="en-US" altLang="zh-CN" dirty="0" err="1" smtClean="0"/>
              <a:t>,A</a:t>
            </a:r>
            <a:r>
              <a:rPr lang="en-US" altLang="zh-CN" dirty="0" smtClean="0"/>
              <a:t>]</a:t>
            </a:r>
            <a:r>
              <a:rPr lang="zh-CN" altLang="en-US" dirty="0" smtClean="0"/>
              <a:t>的状态移进状态栈，其中</a:t>
            </a:r>
            <a:r>
              <a:rPr lang="en-US" altLang="zh-CN" dirty="0" smtClean="0"/>
              <a:t>S</a:t>
            </a:r>
            <a:r>
              <a:rPr lang="en-US" altLang="zh-CN" baseline="-25000" dirty="0" smtClean="0"/>
              <a:t>i</a:t>
            </a:r>
            <a:r>
              <a:rPr lang="zh-CN" altLang="en-US" dirty="0" smtClean="0"/>
              <a:t>为修改指针后的栈顶状态。</a:t>
            </a:r>
            <a:endParaRPr lang="en-US" altLang="zh-CN" dirty="0" smtClean="0"/>
          </a:p>
          <a:p>
            <a:r>
              <a:rPr lang="zh-CN" altLang="en-US" dirty="0" smtClean="0"/>
              <a:t>（</a:t>
            </a:r>
            <a:r>
              <a:rPr lang="en-US" altLang="zh-CN" dirty="0" smtClean="0"/>
              <a:t>3</a:t>
            </a:r>
            <a:r>
              <a:rPr lang="zh-CN" altLang="en-US" dirty="0" smtClean="0"/>
              <a:t>）</a:t>
            </a:r>
            <a:r>
              <a:rPr lang="zh-CN" altLang="en-US" dirty="0" smtClean="0">
                <a:solidFill>
                  <a:srgbClr val="1700C0"/>
                </a:solidFill>
              </a:rPr>
              <a:t>接受</a:t>
            </a:r>
            <a:r>
              <a:rPr lang="en-US" altLang="zh-CN" dirty="0" smtClean="0">
                <a:solidFill>
                  <a:srgbClr val="1700C0"/>
                </a:solidFill>
              </a:rPr>
              <a:t>acc</a:t>
            </a:r>
            <a:r>
              <a:rPr lang="zh-CN" altLang="en-US" dirty="0" smtClean="0"/>
              <a:t>：当规约到文法符号栈中只剩文法的开始符号</a:t>
            </a:r>
            <a:r>
              <a:rPr lang="en-US" altLang="zh-CN" dirty="0" smtClean="0"/>
              <a:t>S</a:t>
            </a:r>
            <a:r>
              <a:rPr lang="zh-CN" altLang="en-US" dirty="0" smtClean="0"/>
              <a:t>时，并且输入符号串已结束即当前输入符是‘</a:t>
            </a:r>
            <a:r>
              <a:rPr lang="en-US" altLang="zh-CN" dirty="0" smtClean="0"/>
              <a:t>#</a:t>
            </a:r>
            <a:r>
              <a:rPr lang="zh-CN" altLang="en-US" dirty="0" smtClean="0"/>
              <a:t>’，则为分析成功。</a:t>
            </a:r>
            <a:endParaRPr lang="en-US" altLang="zh-CN" dirty="0" smtClean="0"/>
          </a:p>
          <a:p>
            <a:r>
              <a:rPr lang="zh-CN" altLang="en-US" dirty="0" smtClean="0"/>
              <a:t>（</a:t>
            </a:r>
            <a:r>
              <a:rPr lang="en-US" altLang="zh-CN" dirty="0" smtClean="0"/>
              <a:t>4</a:t>
            </a:r>
            <a:r>
              <a:rPr lang="zh-CN" altLang="en-US" dirty="0" smtClean="0"/>
              <a:t>）</a:t>
            </a:r>
            <a:r>
              <a:rPr lang="zh-CN" altLang="en-US" dirty="0" smtClean="0">
                <a:solidFill>
                  <a:srgbClr val="1700C0"/>
                </a:solidFill>
              </a:rPr>
              <a:t>报错</a:t>
            </a:r>
            <a:r>
              <a:rPr lang="zh-CN" altLang="en-US" dirty="0" smtClean="0"/>
              <a:t>：当遇到状态栈顶为某一状态下出现不该遇到的文法符号时，则报错，说明输入串不是该文法能接受的句子。</a:t>
            </a:r>
            <a:endParaRPr lang="en-US" altLang="zh-CN" dirty="0" smtClean="0"/>
          </a:p>
          <a:p>
            <a:endParaRPr lang="zh-CN" altLang="en-US" dirty="0" smtClean="0"/>
          </a:p>
        </p:txBody>
      </p:sp>
      <p:sp>
        <p:nvSpPr>
          <p:cNvPr id="12292"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71F589FE-175B-4464-81D4-0EA74F2B5A8A}" type="datetime1">
              <a:rPr lang="zh-CN" altLang="en-US" smtClean="0">
                <a:latin typeface="Times New Roman" pitchFamily="18" charset="0"/>
              </a:rPr>
              <a:pPr/>
              <a:t>2018/12/14</a:t>
            </a:fld>
            <a:endParaRPr lang="en-US" altLang="zh-CN" smtClean="0">
              <a:latin typeface="Times New Roman" pitchFamily="18" charset="0"/>
            </a:endParaRPr>
          </a:p>
        </p:txBody>
      </p:sp>
      <p:sp>
        <p:nvSpPr>
          <p:cNvPr id="12293"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2294"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1AF479E4-DEB0-4139-9737-3D694F6C942E}" type="slidenum">
              <a:rPr lang="en-US" altLang="zh-CN" smtClean="0">
                <a:latin typeface="Times New Roman" pitchFamily="18" charset="0"/>
              </a:rPr>
              <a:pPr/>
              <a:t>13</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468313" y="165100"/>
            <a:ext cx="7772400" cy="906463"/>
          </a:xfrm>
        </p:spPr>
        <p:txBody>
          <a:bodyPr/>
          <a:lstStyle/>
          <a:p>
            <a:pPr eaLnBrk="1" hangingPunct="1"/>
            <a:r>
              <a:rPr lang="en-US" altLang="zh-CN" dirty="0" smtClean="0">
                <a:latin typeface="宋体" pitchFamily="2" charset="-122"/>
              </a:rPr>
              <a:t>5</a:t>
            </a:r>
            <a:r>
              <a:rPr lang="zh-CN" altLang="en-US" dirty="0" smtClean="0">
                <a:latin typeface="宋体" pitchFamily="2" charset="-122"/>
              </a:rPr>
              <a:t>、各种 </a:t>
            </a:r>
            <a:r>
              <a:rPr lang="en-US" altLang="zh-CN" dirty="0" smtClean="0">
                <a:latin typeface="宋体" pitchFamily="2" charset="-122"/>
              </a:rPr>
              <a:t>LR </a:t>
            </a:r>
            <a:r>
              <a:rPr lang="zh-CN" altLang="en-US" dirty="0" smtClean="0">
                <a:latin typeface="宋体" pitchFamily="2" charset="-122"/>
              </a:rPr>
              <a:t>分析表</a:t>
            </a:r>
          </a:p>
        </p:txBody>
      </p:sp>
      <p:sp>
        <p:nvSpPr>
          <p:cNvPr id="29699"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D5F80A08-4FDF-488D-A164-E486893B424D}" type="slidenum">
              <a:rPr lang="en-US" altLang="zh-CN" smtClean="0">
                <a:latin typeface="Times New Roman" pitchFamily="18" charset="0"/>
              </a:rPr>
              <a:pPr/>
              <a:t>14</a:t>
            </a:fld>
            <a:r>
              <a:rPr lang="en-US" altLang="zh-CN" dirty="0" smtClean="0">
                <a:latin typeface="Times New Roman" pitchFamily="18" charset="0"/>
              </a:rPr>
              <a:t>/36</a:t>
            </a:r>
          </a:p>
        </p:txBody>
      </p:sp>
      <p:sp>
        <p:nvSpPr>
          <p:cNvPr id="29700" name="Rectangle 1027"/>
          <p:cNvSpPr>
            <a:spLocks noGrp="1" noChangeArrowheads="1"/>
          </p:cNvSpPr>
          <p:nvPr>
            <p:ph sz="quarter" idx="1"/>
          </p:nvPr>
        </p:nvSpPr>
        <p:spPr>
          <a:xfrm>
            <a:off x="250825" y="1500188"/>
            <a:ext cx="8497888" cy="4114800"/>
          </a:xfrm>
        </p:spPr>
        <p:txBody>
          <a:bodyPr/>
          <a:lstStyle/>
          <a:p>
            <a:pPr eaLnBrk="1" hangingPunct="1"/>
            <a:r>
              <a:rPr lang="zh-CN" altLang="en-US" dirty="0" smtClean="0"/>
              <a:t>本章共介绍四种</a:t>
            </a:r>
            <a:r>
              <a:rPr lang="en-US" altLang="zh-CN" dirty="0" smtClean="0"/>
              <a:t>LR</a:t>
            </a:r>
            <a:r>
              <a:rPr lang="zh-CN" altLang="en-US" dirty="0" smtClean="0"/>
              <a:t>分析表，它们的特点分别是：</a:t>
            </a:r>
            <a:endParaRPr lang="en-US" altLang="zh-CN" dirty="0" smtClean="0"/>
          </a:p>
          <a:p>
            <a:pPr eaLnBrk="1" hangingPunct="1">
              <a:buNone/>
            </a:pPr>
            <a:r>
              <a:rPr lang="zh-CN" altLang="en-US" dirty="0" smtClean="0"/>
              <a:t>（</a:t>
            </a:r>
            <a:r>
              <a:rPr lang="en-US" altLang="zh-CN" dirty="0" smtClean="0"/>
              <a:t>1</a:t>
            </a:r>
            <a:r>
              <a:rPr lang="zh-CN" altLang="en-US" dirty="0" smtClean="0"/>
              <a:t>）</a:t>
            </a:r>
            <a:r>
              <a:rPr lang="en-US" altLang="zh-CN" dirty="0" smtClean="0"/>
              <a:t>LR(0):</a:t>
            </a:r>
            <a:r>
              <a:rPr lang="zh-CN" altLang="en-US" dirty="0" smtClean="0"/>
              <a:t>局限性大</a:t>
            </a:r>
            <a:r>
              <a:rPr lang="en-US" altLang="zh-CN" dirty="0" smtClean="0"/>
              <a:t>,</a:t>
            </a:r>
            <a:r>
              <a:rPr lang="zh-CN" altLang="en-US" dirty="0" smtClean="0"/>
              <a:t>但它是建立一般</a:t>
            </a:r>
            <a:r>
              <a:rPr lang="en-US" altLang="zh-CN" dirty="0" smtClean="0"/>
              <a:t>LR</a:t>
            </a:r>
            <a:r>
              <a:rPr lang="zh-CN" altLang="en-US" dirty="0" smtClean="0"/>
              <a:t>分析表的基础。</a:t>
            </a:r>
            <a:endParaRPr lang="en-US" altLang="zh-CN" dirty="0" smtClean="0"/>
          </a:p>
          <a:p>
            <a:pPr eaLnBrk="1" hangingPunct="1">
              <a:buNone/>
            </a:pPr>
            <a:r>
              <a:rPr lang="zh-CN" altLang="en-US" dirty="0" smtClean="0"/>
              <a:t>（</a:t>
            </a:r>
            <a:r>
              <a:rPr lang="en-US" altLang="zh-CN" dirty="0" smtClean="0"/>
              <a:t>2</a:t>
            </a:r>
            <a:r>
              <a:rPr lang="zh-CN" altLang="en-US" dirty="0" smtClean="0"/>
              <a:t>）</a:t>
            </a:r>
            <a:r>
              <a:rPr lang="en-US" altLang="zh-CN" dirty="0" smtClean="0"/>
              <a:t>SLR(</a:t>
            </a:r>
            <a:r>
              <a:rPr lang="zh-CN" altLang="en-US" dirty="0" smtClean="0"/>
              <a:t>简单</a:t>
            </a:r>
            <a:r>
              <a:rPr lang="en-US" altLang="zh-CN" dirty="0" smtClean="0"/>
              <a:t>LR</a:t>
            </a:r>
            <a:r>
              <a:rPr lang="zh-CN" altLang="en-US" dirty="0" smtClean="0"/>
              <a:t>表</a:t>
            </a:r>
            <a:r>
              <a:rPr lang="en-US" altLang="zh-CN" dirty="0" smtClean="0"/>
              <a:t>):</a:t>
            </a:r>
            <a:r>
              <a:rPr lang="zh-CN" altLang="en-US" dirty="0" smtClean="0"/>
              <a:t>较易实现又极有使用价值。</a:t>
            </a:r>
          </a:p>
          <a:p>
            <a:pPr eaLnBrk="1" hangingPunct="1">
              <a:buNone/>
            </a:pPr>
            <a:r>
              <a:rPr lang="zh-CN" altLang="en-US" dirty="0" smtClean="0"/>
              <a:t>（</a:t>
            </a:r>
            <a:r>
              <a:rPr lang="en-US" altLang="zh-CN" dirty="0" smtClean="0"/>
              <a:t>3</a:t>
            </a:r>
            <a:r>
              <a:rPr lang="zh-CN" altLang="en-US" dirty="0" smtClean="0"/>
              <a:t>）规范</a:t>
            </a:r>
            <a:r>
              <a:rPr lang="en-US" altLang="zh-CN" dirty="0" smtClean="0"/>
              <a:t>LR</a:t>
            </a:r>
            <a:r>
              <a:rPr lang="zh-CN" altLang="en-US" dirty="0" smtClean="0"/>
              <a:t>表</a:t>
            </a:r>
            <a:r>
              <a:rPr lang="en-US" altLang="zh-CN" dirty="0" smtClean="0"/>
              <a:t>: </a:t>
            </a:r>
            <a:r>
              <a:rPr lang="zh-CN" altLang="en-US" dirty="0" smtClean="0"/>
              <a:t>适用一大类文法</a:t>
            </a:r>
            <a:r>
              <a:rPr lang="en-US" altLang="zh-CN" dirty="0" smtClean="0"/>
              <a:t>,</a:t>
            </a:r>
            <a:r>
              <a:rPr lang="zh-CN" altLang="en-US" dirty="0" smtClean="0"/>
              <a:t>但分析表体积庞大。</a:t>
            </a:r>
          </a:p>
          <a:p>
            <a:pPr eaLnBrk="1" hangingPunct="1">
              <a:buNone/>
            </a:pPr>
            <a:r>
              <a:rPr lang="zh-CN" altLang="en-US" dirty="0" smtClean="0"/>
              <a:t>（</a:t>
            </a:r>
            <a:r>
              <a:rPr lang="en-US" altLang="zh-CN" dirty="0" smtClean="0"/>
              <a:t>4</a:t>
            </a:r>
            <a:r>
              <a:rPr lang="zh-CN" altLang="en-US" dirty="0" smtClean="0"/>
              <a:t>）</a:t>
            </a:r>
            <a:r>
              <a:rPr lang="en-US" altLang="zh-CN" dirty="0" smtClean="0"/>
              <a:t>LALR(</a:t>
            </a:r>
            <a:r>
              <a:rPr lang="zh-CN" altLang="en-US" dirty="0" smtClean="0"/>
              <a:t>向前</a:t>
            </a:r>
            <a:r>
              <a:rPr lang="en-US" altLang="zh-CN" dirty="0" smtClean="0"/>
              <a:t>LR)</a:t>
            </a:r>
            <a:r>
              <a:rPr lang="zh-CN" altLang="en-US" dirty="0" smtClean="0"/>
              <a:t>表</a:t>
            </a:r>
            <a:r>
              <a:rPr lang="en-US" altLang="zh-CN" dirty="0" smtClean="0"/>
              <a:t>: </a:t>
            </a:r>
            <a:r>
              <a:rPr lang="zh-CN" altLang="en-US" dirty="0" smtClean="0"/>
              <a:t>能力介于</a:t>
            </a:r>
            <a:r>
              <a:rPr lang="en-US" altLang="zh-CN" dirty="0" smtClean="0"/>
              <a:t>SLR</a:t>
            </a:r>
            <a:r>
              <a:rPr lang="zh-CN" altLang="en-US" dirty="0" smtClean="0"/>
              <a:t>和规范</a:t>
            </a:r>
            <a:r>
              <a:rPr lang="en-US" altLang="zh-CN" dirty="0" smtClean="0"/>
              <a:t>LR</a:t>
            </a:r>
            <a:r>
              <a:rPr lang="zh-CN" altLang="en-US" dirty="0" smtClean="0"/>
              <a:t>之间。</a:t>
            </a:r>
          </a:p>
        </p:txBody>
      </p:sp>
      <p:sp>
        <p:nvSpPr>
          <p:cNvPr id="29701" name="日期占位符 5"/>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6ECD3EEB-A476-4363-85A3-876F88147B5C}" type="datetime1">
              <a:rPr lang="zh-CN" altLang="en-US" smtClean="0">
                <a:latin typeface="Times New Roman" pitchFamily="18" charset="0"/>
              </a:rPr>
              <a:pPr/>
              <a:t>2018/12/14</a:t>
            </a:fld>
            <a:endParaRPr lang="en-US" altLang="zh-CN" smtClean="0">
              <a:latin typeface="Times New Roman" pitchFamily="18" charset="0"/>
            </a:endParaRPr>
          </a:p>
        </p:txBody>
      </p:sp>
      <p:sp>
        <p:nvSpPr>
          <p:cNvPr id="29702" name="页脚占位符 6"/>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pPr>
              <a:defRPr/>
            </a:pPr>
            <a:r>
              <a:rPr lang="en-US" altLang="zh-CN" dirty="0" smtClean="0">
                <a:latin typeface="+mj-ea"/>
              </a:rPr>
              <a:t>6.2 LR(0)</a:t>
            </a:r>
            <a:r>
              <a:rPr lang="zh-CN" altLang="en-US" dirty="0" smtClean="0">
                <a:latin typeface="+mj-ea"/>
              </a:rPr>
              <a:t>分析</a:t>
            </a:r>
          </a:p>
        </p:txBody>
      </p:sp>
      <p:sp>
        <p:nvSpPr>
          <p:cNvPr id="13315" name="内容占位符 2"/>
          <p:cNvSpPr>
            <a:spLocks noGrp="1"/>
          </p:cNvSpPr>
          <p:nvPr>
            <p:ph sz="quarter" idx="1"/>
          </p:nvPr>
        </p:nvSpPr>
        <p:spPr>
          <a:xfrm>
            <a:off x="142844" y="4286256"/>
            <a:ext cx="8786874" cy="2143140"/>
          </a:xfrm>
        </p:spPr>
        <p:txBody>
          <a:bodyPr/>
          <a:lstStyle/>
          <a:p>
            <a:pPr indent="0">
              <a:lnSpc>
                <a:spcPct val="95000"/>
              </a:lnSpc>
              <a:spcBef>
                <a:spcPts val="0"/>
              </a:spcBef>
            </a:pPr>
            <a:r>
              <a:rPr kumimoji="1" lang="zh-CN" altLang="en-US" sz="2400" dirty="0" smtClean="0"/>
              <a:t>输入串</a:t>
            </a:r>
            <a:r>
              <a:rPr kumimoji="1" lang="en-US" altLang="zh-CN" sz="2400" dirty="0" err="1" smtClean="0"/>
              <a:t>abbcde</a:t>
            </a:r>
            <a:r>
              <a:rPr kumimoji="1" lang="en-US" altLang="zh-CN" sz="2400" dirty="0" smtClean="0"/>
              <a:t>#</a:t>
            </a:r>
            <a:r>
              <a:rPr kumimoji="1" lang="zh-CN" altLang="en-US" sz="2400" dirty="0" smtClean="0"/>
              <a:t>当规约到第</a:t>
            </a:r>
            <a:r>
              <a:rPr kumimoji="1" lang="en-US" altLang="zh-CN" sz="2400" dirty="0" smtClean="0"/>
              <a:t>(5)</a:t>
            </a:r>
            <a:r>
              <a:rPr kumimoji="1" lang="zh-CN" altLang="en-US" sz="2400" dirty="0" smtClean="0"/>
              <a:t>步时栈中符号串为</a:t>
            </a:r>
            <a:r>
              <a:rPr kumimoji="1" lang="en-US" altLang="zh-CN" sz="2400" dirty="0" smtClean="0"/>
              <a:t>#</a:t>
            </a:r>
            <a:r>
              <a:rPr kumimoji="1" lang="en-US" altLang="zh-CN" sz="2400" dirty="0" err="1" smtClean="0"/>
              <a:t>aAb</a:t>
            </a:r>
            <a:r>
              <a:rPr kumimoji="1" lang="zh-CN" altLang="en-US" sz="2400" dirty="0" smtClean="0"/>
              <a:t>，采用了产生式</a:t>
            </a:r>
            <a:r>
              <a:rPr kumimoji="1" lang="en-US" altLang="zh-CN" sz="2400" dirty="0" smtClean="0"/>
              <a:t>(3)</a:t>
            </a:r>
            <a:r>
              <a:rPr kumimoji="1" lang="zh-CN" altLang="en-US" sz="2400" dirty="0" smtClean="0"/>
              <a:t>进行规约而不是用产生式</a:t>
            </a:r>
            <a:r>
              <a:rPr kumimoji="1" lang="en-US" altLang="zh-CN" sz="2400" dirty="0" smtClean="0"/>
              <a:t>(2)</a:t>
            </a:r>
            <a:r>
              <a:rPr kumimoji="1" lang="zh-CN" altLang="en-US" sz="2400" dirty="0" smtClean="0"/>
              <a:t>规约，而在第</a:t>
            </a:r>
            <a:r>
              <a:rPr kumimoji="1" lang="en-US" altLang="zh-CN" sz="2400" dirty="0" smtClean="0"/>
              <a:t>(3)</a:t>
            </a:r>
            <a:r>
              <a:rPr kumimoji="1" lang="zh-CN" altLang="en-US" sz="2400" dirty="0" smtClean="0"/>
              <a:t>步规约时栈中符号串为</a:t>
            </a:r>
            <a:r>
              <a:rPr kumimoji="1" lang="en-US" altLang="zh-CN" sz="2400" dirty="0" smtClean="0"/>
              <a:t>#</a:t>
            </a:r>
            <a:r>
              <a:rPr kumimoji="1" lang="en-US" altLang="zh-CN" sz="2400" dirty="0" err="1" smtClean="0"/>
              <a:t>ab</a:t>
            </a:r>
            <a:r>
              <a:rPr kumimoji="1" lang="zh-CN" altLang="en-US" sz="2400" dirty="0" smtClean="0"/>
              <a:t>时却用产生式</a:t>
            </a:r>
            <a:r>
              <a:rPr kumimoji="1" lang="en-US" altLang="zh-CN" sz="2400" dirty="0" smtClean="0"/>
              <a:t>(2)</a:t>
            </a:r>
            <a:r>
              <a:rPr kumimoji="1" lang="zh-CN" altLang="en-US" sz="2400" dirty="0" smtClean="0"/>
              <a:t>规约，虽然在第</a:t>
            </a:r>
            <a:r>
              <a:rPr kumimoji="1" lang="en-US" altLang="zh-CN" sz="2400" dirty="0" smtClean="0"/>
              <a:t>(3)</a:t>
            </a:r>
            <a:r>
              <a:rPr kumimoji="1" lang="zh-CN" altLang="en-US" sz="2400" dirty="0" smtClean="0"/>
              <a:t>步和第</a:t>
            </a:r>
            <a:r>
              <a:rPr kumimoji="1" lang="en-US" altLang="zh-CN" sz="2400" dirty="0" smtClean="0"/>
              <a:t>(5)</a:t>
            </a:r>
            <a:r>
              <a:rPr kumimoji="1" lang="zh-CN" altLang="en-US" sz="2400" dirty="0" smtClean="0"/>
              <a:t>步规约前栈顶符号都为</a:t>
            </a:r>
            <a:r>
              <a:rPr kumimoji="1" lang="en-US" altLang="zh-CN" sz="2400" dirty="0" smtClean="0"/>
              <a:t>b</a:t>
            </a:r>
            <a:r>
              <a:rPr kumimoji="1" lang="zh-CN" altLang="en-US" sz="2400" dirty="0" smtClean="0"/>
              <a:t>，但规约所用产生式却不同，</a:t>
            </a:r>
            <a:r>
              <a:rPr kumimoji="1" lang="zh-CN" altLang="en-US" sz="2400" dirty="0" smtClean="0">
                <a:solidFill>
                  <a:srgbClr val="1700C0"/>
                </a:solidFill>
              </a:rPr>
              <a:t>其原因</a:t>
            </a:r>
            <a:r>
              <a:rPr kumimoji="1" lang="zh-CN" altLang="en-US" sz="2400" dirty="0" smtClean="0"/>
              <a:t>在于已分析过的部分，即在</a:t>
            </a:r>
            <a:r>
              <a:rPr kumimoji="1" lang="zh-CN" altLang="en-US" sz="2400" dirty="0" smtClean="0">
                <a:solidFill>
                  <a:srgbClr val="1700C0"/>
                </a:solidFill>
              </a:rPr>
              <a:t>栈中的前缀不同</a:t>
            </a:r>
            <a:r>
              <a:rPr kumimoji="1" lang="zh-CN" altLang="en-US" sz="2400" dirty="0" smtClean="0"/>
              <a:t>。在</a:t>
            </a:r>
            <a:r>
              <a:rPr kumimoji="1" lang="en-US" altLang="zh-CN" sz="2400" dirty="0" smtClean="0"/>
              <a:t>LR</a:t>
            </a:r>
            <a:r>
              <a:rPr kumimoji="1" lang="zh-CN" altLang="en-US" sz="2400" dirty="0" smtClean="0"/>
              <a:t>分析中就体现为状态栈的栈顶状态不同。</a:t>
            </a:r>
            <a:endParaRPr kumimoji="1" lang="en-US" altLang="zh-CN" sz="2400" dirty="0" smtClean="0"/>
          </a:p>
          <a:p>
            <a:endParaRPr lang="zh-CN" altLang="en-US" sz="2400" dirty="0" smtClean="0"/>
          </a:p>
        </p:txBody>
      </p:sp>
      <p:sp>
        <p:nvSpPr>
          <p:cNvPr id="13316"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B8C4B5F3-FEC5-4D2E-8B06-3525D3B5A323}" type="datetime1">
              <a:rPr lang="zh-CN" altLang="en-US" smtClean="0">
                <a:latin typeface="Times New Roman" pitchFamily="18" charset="0"/>
              </a:rPr>
              <a:pPr/>
              <a:t>2018/12/14</a:t>
            </a:fld>
            <a:endParaRPr lang="en-US" altLang="zh-CN" smtClean="0">
              <a:latin typeface="Times New Roman" pitchFamily="18" charset="0"/>
            </a:endParaRPr>
          </a:p>
        </p:txBody>
      </p:sp>
      <p:sp>
        <p:nvSpPr>
          <p:cNvPr id="13317"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3318"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0986BEE7-9E37-4ECA-B9BA-A9803251FDE0}" type="slidenum">
              <a:rPr lang="en-US" altLang="zh-CN" smtClean="0">
                <a:latin typeface="Times New Roman" pitchFamily="18" charset="0"/>
              </a:rPr>
              <a:pPr/>
              <a:t>15</a:t>
            </a:fld>
            <a:r>
              <a:rPr lang="en-US" altLang="zh-CN" dirty="0" smtClean="0">
                <a:latin typeface="Times New Roman" pitchFamily="18" charset="0"/>
              </a:rPr>
              <a:t>/36</a:t>
            </a:r>
          </a:p>
        </p:txBody>
      </p:sp>
      <p:graphicFrame>
        <p:nvGraphicFramePr>
          <p:cNvPr id="7" name="Group 125"/>
          <p:cNvGraphicFramePr>
            <a:graphicFrameLocks noGrp="1"/>
          </p:cNvGraphicFramePr>
          <p:nvPr/>
        </p:nvGraphicFramePr>
        <p:xfrm>
          <a:off x="3143239" y="1428736"/>
          <a:ext cx="5857917" cy="2926080"/>
        </p:xfrm>
        <a:graphic>
          <a:graphicData uri="http://schemas.openxmlformats.org/drawingml/2006/table">
            <a:tbl>
              <a:tblPr/>
              <a:tblGrid>
                <a:gridCol w="585946"/>
                <a:gridCol w="584407"/>
                <a:gridCol w="587484"/>
                <a:gridCol w="585945"/>
                <a:gridCol w="585946"/>
                <a:gridCol w="584407"/>
                <a:gridCol w="585945"/>
                <a:gridCol w="587484"/>
                <a:gridCol w="584407"/>
                <a:gridCol w="585946"/>
              </a:tblGrid>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6</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9</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归</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归</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归</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进</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归</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dirty="0" smtClean="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rgbClr val="0000FF"/>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rgbClr val="1700C0"/>
                          </a:solidFill>
                          <a:effectLst/>
                          <a:latin typeface="宋体" pitchFamily="2" charset="-122"/>
                          <a:ea typeface="宋体" pitchFamily="2" charset="-122"/>
                        </a:rPr>
                        <a:t>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rgbClr val="0000FF"/>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zh-CN" altLang="zh-CN" sz="1800" b="1" i="0" u="none" strike="noStrike" cap="none" normalizeH="0" baseline="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33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8" name="内容占位符 2"/>
          <p:cNvSpPr txBox="1">
            <a:spLocks/>
          </p:cNvSpPr>
          <p:nvPr/>
        </p:nvSpPr>
        <p:spPr bwMode="auto">
          <a:xfrm>
            <a:off x="71406" y="1357298"/>
            <a:ext cx="3471858" cy="2281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Wingdings" pitchFamily="2" charset="2"/>
              <a:buChar char="n"/>
              <a:tabLst/>
              <a:defRPr/>
            </a:pPr>
            <a:r>
              <a:rPr kumimoji="0" lang="zh-CN" altLang="en-US" b="1" i="0" u="none" strike="noStrike" kern="1200" cap="none" spc="0" normalizeH="0" baseline="0" noProof="0" dirty="0" smtClean="0">
                <a:ln>
                  <a:noFill/>
                </a:ln>
                <a:solidFill>
                  <a:schemeClr val="tx1"/>
                </a:solidFill>
                <a:effectLst/>
                <a:uLnTx/>
                <a:uFillTx/>
                <a:latin typeface="+mj-ea"/>
                <a:ea typeface="+mj-ea"/>
                <a:cs typeface="+mn-cs"/>
              </a:rPr>
              <a:t>例</a:t>
            </a:r>
            <a:r>
              <a:rPr kumimoji="0" lang="en-US" altLang="zh-CN" b="1" i="0" u="none" strike="noStrike" kern="1200" cap="none" spc="0" normalizeH="0" baseline="0" noProof="0" dirty="0" smtClean="0">
                <a:ln>
                  <a:noFill/>
                </a:ln>
                <a:solidFill>
                  <a:schemeClr val="tx1"/>
                </a:solidFill>
                <a:effectLst/>
                <a:uLnTx/>
                <a:uFillTx/>
                <a:latin typeface="+mj-ea"/>
                <a:ea typeface="+mj-ea"/>
                <a:cs typeface="+mn-cs"/>
              </a:rPr>
              <a:t>6.1</a:t>
            </a:r>
            <a:r>
              <a:rPr kumimoji="0" lang="zh-CN" altLang="en-US" b="1" i="0" u="none" strike="noStrike" kern="1200" cap="none" spc="0" normalizeH="0" baseline="0" noProof="0" dirty="0" smtClean="0">
                <a:ln>
                  <a:noFill/>
                </a:ln>
                <a:solidFill>
                  <a:schemeClr val="tx1"/>
                </a:solidFill>
                <a:effectLst/>
                <a:uLnTx/>
                <a:uFillTx/>
                <a:latin typeface="+mj-ea"/>
                <a:ea typeface="+mj-ea"/>
                <a:cs typeface="+mn-cs"/>
              </a:rPr>
              <a:t>文法</a:t>
            </a:r>
            <a:r>
              <a:rPr kumimoji="0" lang="en-US" altLang="zh-CN" b="1" i="0" u="none" strike="noStrike" kern="1200" cap="none" spc="0" normalizeH="0" baseline="0" noProof="0" dirty="0" smtClean="0">
                <a:ln>
                  <a:noFill/>
                </a:ln>
                <a:solidFill>
                  <a:schemeClr val="tx1"/>
                </a:solidFill>
                <a:effectLst/>
                <a:uLnTx/>
                <a:uFillTx/>
                <a:latin typeface="+mj-ea"/>
                <a:ea typeface="+mj-ea"/>
                <a:cs typeface="+mn-cs"/>
              </a:rPr>
              <a:t>G[S]</a:t>
            </a:r>
            <a:r>
              <a:rPr kumimoji="0" lang="zh-CN" altLang="en-US" b="1" i="0" u="none" strike="noStrike" kern="1200" cap="none" spc="0" normalizeH="0" baseline="0" noProof="0" dirty="0" smtClean="0">
                <a:ln>
                  <a:noFill/>
                </a:ln>
                <a:solidFill>
                  <a:schemeClr val="tx1"/>
                </a:solidFill>
                <a:effectLst/>
                <a:uLnTx/>
                <a:uFillTx/>
                <a:latin typeface="+mj-ea"/>
                <a:ea typeface="+mj-ea"/>
                <a:cs typeface="+mn-cs"/>
              </a:rPr>
              <a:t>为：</a:t>
            </a:r>
            <a:endParaRPr kumimoji="0" lang="en-US" altLang="zh-CN" b="1" i="0" u="none" strike="noStrike" kern="1200" cap="none" spc="0" normalizeH="0" baseline="0" noProof="0" dirty="0" smtClean="0">
              <a:ln>
                <a:noFill/>
              </a:ln>
              <a:solidFill>
                <a:schemeClr val="tx1"/>
              </a:solidFill>
              <a:effectLst/>
              <a:uLnTx/>
              <a:uFillTx/>
              <a:latin typeface="+mj-ea"/>
              <a:ea typeface="+mj-ea"/>
              <a:cs typeface="+mn-cs"/>
            </a:endParaRPr>
          </a:p>
          <a:p>
            <a:pPr marL="547688" marR="0" lvl="1" indent="-273050" algn="l" defTabSz="914400" rtl="0" eaLnBrk="0" fontAlgn="base" latinLnBrk="0" hangingPunct="0">
              <a:lnSpc>
                <a:spcPct val="100000"/>
              </a:lnSpc>
              <a:spcBef>
                <a:spcPts val="500"/>
              </a:spcBef>
              <a:spcAft>
                <a:spcPct val="0"/>
              </a:spcAft>
              <a:buClr>
                <a:schemeClr val="accent2"/>
              </a:buClr>
              <a:buSzPct val="76000"/>
              <a:buFontTx/>
              <a:buNone/>
              <a:tabLst/>
              <a:defRPr/>
            </a:pP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(1)S </a:t>
            </a:r>
            <a:r>
              <a:rPr kumimoji="0" lang="en-US" altLang="zh-CN" b="1" i="0" u="none" strike="noStrike" kern="1200" cap="none" spc="0" normalizeH="0" baseline="0" noProof="0" dirty="0" err="1" smtClean="0">
                <a:ln>
                  <a:noFill/>
                </a:ln>
                <a:solidFill>
                  <a:schemeClr val="tx1"/>
                </a:solidFill>
                <a:effectLst/>
                <a:uLnTx/>
                <a:uFillTx/>
                <a:latin typeface="+mj-ea"/>
                <a:ea typeface="+mj-ea"/>
                <a:cs typeface="+mn-cs"/>
                <a:sym typeface="Symbol" pitchFamily="18" charset="2"/>
              </a:rPr>
              <a:t>aAcBe</a:t>
            </a: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   </a:t>
            </a:r>
          </a:p>
          <a:p>
            <a:pPr marL="547688" marR="0" lvl="1" indent="-273050" algn="l" defTabSz="914400" rtl="0" eaLnBrk="0" fontAlgn="base" latinLnBrk="0" hangingPunct="0">
              <a:lnSpc>
                <a:spcPct val="100000"/>
              </a:lnSpc>
              <a:spcBef>
                <a:spcPts val="500"/>
              </a:spcBef>
              <a:spcAft>
                <a:spcPct val="0"/>
              </a:spcAft>
              <a:buClr>
                <a:schemeClr val="accent2"/>
              </a:buClr>
              <a:buSzPct val="76000"/>
              <a:buFontTx/>
              <a:buNone/>
              <a:tabLst/>
              <a:defRPr/>
            </a:pP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(2)A b</a:t>
            </a:r>
          </a:p>
          <a:p>
            <a:pPr marL="547688" marR="0" lvl="1" indent="-273050" algn="l" defTabSz="914400" rtl="0" eaLnBrk="0" fontAlgn="base" latinLnBrk="0" hangingPunct="0">
              <a:lnSpc>
                <a:spcPct val="100000"/>
              </a:lnSpc>
              <a:spcBef>
                <a:spcPts val="500"/>
              </a:spcBef>
              <a:spcAft>
                <a:spcPct val="0"/>
              </a:spcAft>
              <a:buClr>
                <a:schemeClr val="accent2"/>
              </a:buClr>
              <a:buSzPct val="76000"/>
              <a:buFontTx/>
              <a:buNone/>
              <a:tabLst/>
              <a:defRPr/>
            </a:pP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(3)A </a:t>
            </a:r>
            <a:r>
              <a:rPr kumimoji="0" lang="en-US" altLang="zh-CN" b="1" i="0" u="none" strike="noStrike" kern="1200" cap="none" spc="0" normalizeH="0" baseline="0" noProof="0" dirty="0" err="1" smtClean="0">
                <a:ln>
                  <a:noFill/>
                </a:ln>
                <a:solidFill>
                  <a:schemeClr val="tx1"/>
                </a:solidFill>
                <a:effectLst/>
                <a:uLnTx/>
                <a:uFillTx/>
                <a:latin typeface="+mj-ea"/>
                <a:ea typeface="+mj-ea"/>
                <a:cs typeface="+mn-cs"/>
                <a:sym typeface="Symbol" pitchFamily="18" charset="2"/>
              </a:rPr>
              <a:t>Ab</a:t>
            </a: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		</a:t>
            </a:r>
          </a:p>
          <a:p>
            <a:pPr marL="547688" marR="0" lvl="1" indent="-273050" algn="l" defTabSz="914400" rtl="0" eaLnBrk="0" fontAlgn="base" latinLnBrk="0" hangingPunct="0">
              <a:lnSpc>
                <a:spcPct val="100000"/>
              </a:lnSpc>
              <a:spcBef>
                <a:spcPts val="500"/>
              </a:spcBef>
              <a:spcAft>
                <a:spcPct val="0"/>
              </a:spcAft>
              <a:buClr>
                <a:schemeClr val="accent2"/>
              </a:buClr>
              <a:buSzPct val="76000"/>
              <a:buFontTx/>
              <a:buNone/>
              <a:tabLst/>
              <a:defRPr/>
            </a:pPr>
            <a:r>
              <a:rPr kumimoji="0" lang="en-US" altLang="zh-CN"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(4)B d</a:t>
            </a:r>
          </a:p>
        </p:txBody>
      </p:sp>
      <p:sp>
        <p:nvSpPr>
          <p:cNvPr id="9" name="矩形 8"/>
          <p:cNvSpPr>
            <a:spLocks noChangeArrowheads="1"/>
          </p:cNvSpPr>
          <p:nvPr/>
        </p:nvSpPr>
        <p:spPr bwMode="auto">
          <a:xfrm>
            <a:off x="4071934" y="1130842"/>
            <a:ext cx="3735318" cy="369332"/>
          </a:xfrm>
          <a:prstGeom prst="rect">
            <a:avLst/>
          </a:prstGeom>
          <a:noFill/>
          <a:ln w="9525">
            <a:noFill/>
            <a:miter lim="800000"/>
            <a:headEnd/>
            <a:tailEnd/>
          </a:ln>
        </p:spPr>
        <p:txBody>
          <a:bodyPr wrap="none">
            <a:spAutoFit/>
          </a:bodyPr>
          <a:lstStyle/>
          <a:p>
            <a:r>
              <a:rPr lang="zh-CN" altLang="en-US" sz="1800" b="1" dirty="0" smtClean="0"/>
              <a:t>补充表</a:t>
            </a:r>
            <a:r>
              <a:rPr lang="en-US" altLang="zh-CN" sz="1800" b="1" dirty="0" smtClean="0"/>
              <a:t>1 </a:t>
            </a:r>
            <a:r>
              <a:rPr lang="zh-CN" altLang="en-US" sz="1800" b="1" dirty="0" smtClean="0"/>
              <a:t>输入串</a:t>
            </a:r>
            <a:r>
              <a:rPr lang="en-US" altLang="zh-CN" sz="1800" b="1" dirty="0" err="1" smtClean="0"/>
              <a:t>abbcde</a:t>
            </a:r>
            <a:r>
              <a:rPr lang="en-US" altLang="zh-CN" sz="1800" b="1" dirty="0" smtClean="0"/>
              <a:t>#</a:t>
            </a:r>
            <a:r>
              <a:rPr lang="zh-CN" altLang="en-US" sz="1800" b="1" dirty="0" smtClean="0"/>
              <a:t>的规约过程</a:t>
            </a:r>
            <a:endParaRPr lang="zh-CN" altLang="en-US" sz="1800"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smtClean="0"/>
              <a:t>（</a:t>
            </a:r>
            <a:r>
              <a:rPr lang="en-US" altLang="zh-CN" dirty="0" smtClean="0"/>
              <a:t>1</a:t>
            </a:r>
            <a:r>
              <a:rPr lang="zh-CN" altLang="en-US" dirty="0" smtClean="0"/>
              <a:t>）文法的</a:t>
            </a:r>
            <a:r>
              <a:rPr lang="en-US" altLang="zh-CN" dirty="0" smtClean="0"/>
              <a:t>LR(0)</a:t>
            </a:r>
            <a:r>
              <a:rPr lang="zh-CN" altLang="en-US" dirty="0" smtClean="0"/>
              <a:t>分析表</a:t>
            </a:r>
          </a:p>
        </p:txBody>
      </p:sp>
      <p:graphicFrame>
        <p:nvGraphicFramePr>
          <p:cNvPr id="7" name="内容占位符 6"/>
          <p:cNvGraphicFramePr>
            <a:graphicFrameLocks noGrp="1"/>
          </p:cNvGraphicFramePr>
          <p:nvPr>
            <p:ph sz="quarter" idx="1"/>
          </p:nvPr>
        </p:nvGraphicFramePr>
        <p:xfrm>
          <a:off x="642938" y="1714500"/>
          <a:ext cx="8043890" cy="4565100"/>
        </p:xfrm>
        <a:graphic>
          <a:graphicData uri="http://schemas.openxmlformats.org/drawingml/2006/table">
            <a:tbl>
              <a:tblPr firstRow="1" bandRow="1">
                <a:tableStyleId>{5C22544A-7EE6-4342-B048-85BDC9FD1C3A}</a:tableStyleId>
              </a:tblPr>
              <a:tblGrid>
                <a:gridCol w="804389"/>
                <a:gridCol w="804389"/>
                <a:gridCol w="804389"/>
                <a:gridCol w="804389"/>
                <a:gridCol w="804389"/>
                <a:gridCol w="804389"/>
                <a:gridCol w="804389"/>
                <a:gridCol w="804389"/>
                <a:gridCol w="804389"/>
                <a:gridCol w="804389"/>
              </a:tblGrid>
              <a:tr h="380425">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6">
                  <a:txBody>
                    <a:bodyPr/>
                    <a:lstStyle/>
                    <a:p>
                      <a:pPr algn="ctr"/>
                      <a:r>
                        <a:rPr lang="en-US" altLang="zh-CN" dirty="0" smtClean="0">
                          <a:solidFill>
                            <a:schemeClr val="tx1"/>
                          </a:solidFill>
                        </a:rPr>
                        <a:t>ACTION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altLang="zh-CN" dirty="0" smtClean="0">
                          <a:solidFill>
                            <a:schemeClr val="tx1"/>
                          </a:solidFill>
                        </a:rPr>
                        <a:t>GOTO</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c</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d</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S2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acc</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CN" sz="1800" dirty="0" smtClean="0"/>
                        <a:t>r2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r3</a:t>
                      </a:r>
                      <a:endParaRPr lang="zh-CN" altLang="en-US"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S9</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80425">
                <a:tc>
                  <a:txBody>
                    <a:bodyPr/>
                    <a:lstStyle/>
                    <a:p>
                      <a:pPr algn="ctr"/>
                      <a:r>
                        <a:rPr lang="en-US" altLang="zh-CN" dirty="0" smtClean="0"/>
                        <a:t>9</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t>r1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4477"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DB89010B-FB8B-4BCE-AF16-4C60F015E72B}" type="datetime1">
              <a:rPr lang="zh-CN" altLang="en-US" smtClean="0">
                <a:latin typeface="Times New Roman" pitchFamily="18" charset="0"/>
              </a:rPr>
              <a:pPr/>
              <a:t>2018/12/14</a:t>
            </a:fld>
            <a:endParaRPr lang="en-US" altLang="zh-CN" smtClean="0">
              <a:latin typeface="Times New Roman" pitchFamily="18" charset="0"/>
            </a:endParaRPr>
          </a:p>
        </p:txBody>
      </p:sp>
      <p:sp>
        <p:nvSpPr>
          <p:cNvPr id="14478"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4479"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7B0061CE-D51E-40D5-9589-FE8BF69DC84B}" type="slidenum">
              <a:rPr lang="en-US" altLang="zh-CN" smtClean="0">
                <a:latin typeface="Times New Roman" pitchFamily="18" charset="0"/>
              </a:rPr>
              <a:pPr/>
              <a:t>16</a:t>
            </a:fld>
            <a:r>
              <a:rPr lang="en-US" altLang="zh-CN" dirty="0" smtClean="0">
                <a:latin typeface="Times New Roman" pitchFamily="18" charset="0"/>
              </a:rPr>
              <a:t>/36</a:t>
            </a:r>
          </a:p>
        </p:txBody>
      </p:sp>
      <p:sp>
        <p:nvSpPr>
          <p:cNvPr id="14480" name="矩形 7"/>
          <p:cNvSpPr>
            <a:spLocks noChangeArrowheads="1"/>
          </p:cNvSpPr>
          <p:nvPr/>
        </p:nvSpPr>
        <p:spPr bwMode="auto">
          <a:xfrm>
            <a:off x="2855913" y="1285875"/>
            <a:ext cx="3325812" cy="369888"/>
          </a:xfrm>
          <a:prstGeom prst="rect">
            <a:avLst/>
          </a:prstGeom>
          <a:noFill/>
          <a:ln w="9525">
            <a:noFill/>
            <a:miter lim="800000"/>
            <a:headEnd/>
            <a:tailEnd/>
          </a:ln>
        </p:spPr>
        <p:txBody>
          <a:bodyPr wrap="none">
            <a:spAutoFit/>
          </a:bodyPr>
          <a:lstStyle/>
          <a:p>
            <a:r>
              <a:rPr lang="zh-CN" altLang="en-US" sz="1800" b="1" dirty="0" smtClean="0"/>
              <a:t>表</a:t>
            </a:r>
            <a:r>
              <a:rPr lang="en-US" altLang="zh-CN" sz="1800" b="1" dirty="0" smtClean="0"/>
              <a:t>6.1  </a:t>
            </a:r>
            <a:r>
              <a:rPr lang="zh-CN" altLang="en-US" sz="1800" b="1" dirty="0"/>
              <a:t>例</a:t>
            </a:r>
            <a:r>
              <a:rPr lang="en-US" altLang="zh-CN" sz="1800" b="1" dirty="0"/>
              <a:t>6.1</a:t>
            </a:r>
            <a:r>
              <a:rPr lang="zh-CN" altLang="en-US" sz="1800" b="1" dirty="0"/>
              <a:t>文法的</a:t>
            </a:r>
            <a:r>
              <a:rPr lang="en-US" altLang="zh-CN" sz="1800" b="1" dirty="0"/>
              <a:t>LR(0)</a:t>
            </a:r>
            <a:r>
              <a:rPr lang="zh-CN" altLang="en-US" sz="1800" b="1" dirty="0"/>
              <a:t>分析表</a:t>
            </a:r>
          </a:p>
        </p:txBody>
      </p:sp>
      <p:sp>
        <p:nvSpPr>
          <p:cNvPr id="9" name="矩形 8"/>
          <p:cNvSpPr/>
          <p:nvPr/>
        </p:nvSpPr>
        <p:spPr>
          <a:xfrm>
            <a:off x="6858016" y="1214422"/>
            <a:ext cx="1500198" cy="461665"/>
          </a:xfrm>
          <a:prstGeom prst="rect">
            <a:avLst/>
          </a:prstGeom>
        </p:spPr>
        <p:txBody>
          <a:bodyPr wrap="square">
            <a:spAutoFit/>
          </a:bodyPr>
          <a:lstStyle/>
          <a:p>
            <a:r>
              <a:rPr lang="en-US" altLang="zh-CN" dirty="0" err="1" smtClean="0">
                <a:solidFill>
                  <a:srgbClr val="FF0000"/>
                </a:solidFill>
              </a:rPr>
              <a:t>abbcde</a:t>
            </a:r>
            <a:r>
              <a:rPr lang="en-US" altLang="zh-CN" dirty="0" smtClean="0">
                <a:solidFill>
                  <a:srgbClr val="FF0000"/>
                </a:solidFill>
              </a:rPr>
              <a:t>#</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smtClean="0"/>
              <a:t>（</a:t>
            </a:r>
            <a:r>
              <a:rPr lang="en-US" altLang="zh-CN" dirty="0" smtClean="0"/>
              <a:t>2</a:t>
            </a:r>
            <a:r>
              <a:rPr lang="zh-CN" altLang="en-US" dirty="0" smtClean="0"/>
              <a:t>）输入串</a:t>
            </a:r>
            <a:r>
              <a:rPr lang="en-US" altLang="zh-CN" dirty="0" err="1" smtClean="0"/>
              <a:t>abbcde</a:t>
            </a:r>
            <a:r>
              <a:rPr lang="en-US" altLang="zh-CN" dirty="0" smtClean="0"/>
              <a:t>#</a:t>
            </a:r>
            <a:r>
              <a:rPr lang="zh-CN" altLang="en-US" dirty="0" smtClean="0"/>
              <a:t>的分析过程</a:t>
            </a:r>
          </a:p>
        </p:txBody>
      </p:sp>
      <p:graphicFrame>
        <p:nvGraphicFramePr>
          <p:cNvPr id="7" name="内容占位符 6"/>
          <p:cNvGraphicFramePr>
            <a:graphicFrameLocks noGrp="1"/>
          </p:cNvGraphicFramePr>
          <p:nvPr>
            <p:ph sz="quarter" idx="1"/>
          </p:nvPr>
        </p:nvGraphicFramePr>
        <p:xfrm>
          <a:off x="457200" y="1765300"/>
          <a:ext cx="8229600" cy="445008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70840">
                <a:tc>
                  <a:txBody>
                    <a:bodyPr/>
                    <a:lstStyle/>
                    <a:p>
                      <a:r>
                        <a:rPr lang="zh-CN" altLang="en-US" dirty="0" smtClean="0">
                          <a:solidFill>
                            <a:schemeClr val="tx1"/>
                          </a:solidFill>
                          <a:latin typeface="+mj-ea"/>
                          <a:ea typeface="+mj-ea"/>
                        </a:rPr>
                        <a:t>步骤</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smtClean="0">
                          <a:solidFill>
                            <a:schemeClr val="tx1"/>
                          </a:solidFill>
                          <a:latin typeface="+mj-ea"/>
                          <a:ea typeface="+mj-ea"/>
                        </a:rPr>
                        <a:t>状态栈</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smtClean="0">
                          <a:solidFill>
                            <a:schemeClr val="tx1"/>
                          </a:solidFill>
                          <a:latin typeface="+mj-ea"/>
                          <a:ea typeface="+mj-ea"/>
                        </a:rPr>
                        <a:t>符号栈</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dirty="0" smtClean="0">
                          <a:solidFill>
                            <a:schemeClr val="tx1"/>
                          </a:solidFill>
                          <a:latin typeface="+mj-ea"/>
                          <a:ea typeface="+mj-ea"/>
                        </a:rPr>
                        <a:t>输入串</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ACTION</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GOTO</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(1)</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0</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altLang="zh-CN" dirty="0" err="1" smtClean="0">
                          <a:solidFill>
                            <a:schemeClr val="tx1"/>
                          </a:solidFill>
                          <a:latin typeface="+mj-ea"/>
                          <a:ea typeface="+mj-ea"/>
                        </a:rPr>
                        <a:t>abbcde</a:t>
                      </a:r>
                      <a:r>
                        <a:rPr lang="en-US" altLang="zh-CN" dirty="0" smtClean="0">
                          <a:solidFill>
                            <a:schemeClr val="tx1"/>
                          </a:solidFill>
                          <a:latin typeface="+mj-ea"/>
                          <a:ea typeface="+mj-ea"/>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S2</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(2)</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02</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#a</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kumimoji="0" lang="en-US" altLang="zh-CN" kern="1200" dirty="0" err="1" smtClean="0">
                          <a:solidFill>
                            <a:schemeClr val="tx1"/>
                          </a:solidFill>
                          <a:latin typeface="+mj-ea"/>
                          <a:ea typeface="+mn-ea"/>
                          <a:cs typeface="+mn-cs"/>
                        </a:rPr>
                        <a:t>bbcde</a:t>
                      </a:r>
                      <a:r>
                        <a:rPr kumimoji="0" lang="en-US" altLang="zh-CN" kern="1200" dirty="0" smtClean="0">
                          <a:solidFill>
                            <a:schemeClr val="tx1"/>
                          </a:solidFill>
                          <a:latin typeface="+mj-ea"/>
                          <a:ea typeface="+mn-ea"/>
                          <a:cs typeface="+mn-cs"/>
                        </a:rPr>
                        <a:t>#</a:t>
                      </a:r>
                      <a:endParaRPr kumimoji="0" lang="zh-CN" altLang="en-US" kern="1200" dirty="0" smtClean="0">
                        <a:solidFill>
                          <a:schemeClr val="tx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altLang="zh-CN" kern="1200" dirty="0" smtClean="0">
                          <a:solidFill>
                            <a:schemeClr val="tx1"/>
                          </a:solidFill>
                          <a:latin typeface="+mj-ea"/>
                          <a:ea typeface="+mn-ea"/>
                          <a:cs typeface="+mn-cs"/>
                        </a:rPr>
                        <a:t>S4</a:t>
                      </a:r>
                      <a:endParaRPr kumimoji="0" lang="zh-CN" altLang="en-US" kern="1200" dirty="0" smtClean="0">
                        <a:solidFill>
                          <a:schemeClr val="tx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kern="1200" dirty="0" smtClean="0">
                          <a:solidFill>
                            <a:schemeClr val="tx1"/>
                          </a:solidFill>
                          <a:latin typeface="+mj-ea"/>
                          <a:ea typeface="+mn-ea"/>
                          <a:cs typeface="+mn-cs"/>
                        </a:rPr>
                        <a:t>02</a:t>
                      </a:r>
                      <a:r>
                        <a:rPr kumimoji="0" lang="en-US" altLang="zh-CN" b="1" kern="1200" dirty="0" smtClean="0">
                          <a:solidFill>
                            <a:srgbClr val="1700C0"/>
                          </a:solidFill>
                          <a:latin typeface="+mj-ea"/>
                          <a:ea typeface="+mn-ea"/>
                          <a:cs typeface="+mn-cs"/>
                        </a:rPr>
                        <a:t>4</a:t>
                      </a:r>
                      <a:endParaRPr kumimoji="0" lang="zh-CN" altLang="en-US" b="1" kern="1200" dirty="0" smtClean="0">
                        <a:solidFill>
                          <a:srgbClr val="1700C0"/>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b="1" kern="1200" dirty="0" err="1" smtClean="0">
                          <a:solidFill>
                            <a:srgbClr val="1700C0"/>
                          </a:solidFill>
                          <a:latin typeface="+mj-ea"/>
                          <a:ea typeface="+mn-ea"/>
                          <a:cs typeface="+mn-cs"/>
                        </a:rPr>
                        <a:t>ab</a:t>
                      </a:r>
                      <a:endParaRPr kumimoji="0" lang="zh-CN" altLang="en-US" b="1" kern="1200" dirty="0">
                        <a:solidFill>
                          <a:srgbClr val="1700C0"/>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err="1" smtClean="0">
                          <a:solidFill>
                            <a:schemeClr val="tx1"/>
                          </a:solidFill>
                          <a:latin typeface="+mj-ea"/>
                          <a:ea typeface="+mn-ea"/>
                          <a:cs typeface="+mn-cs"/>
                        </a:rPr>
                        <a:t>bbcde</a:t>
                      </a: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r2</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(4)</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kern="1200" dirty="0" err="1" smtClean="0">
                          <a:solidFill>
                            <a:schemeClr val="tx1"/>
                          </a:solidFill>
                          <a:latin typeface="+mj-ea"/>
                          <a:ea typeface="+mn-ea"/>
                          <a:cs typeface="+mn-cs"/>
                        </a:rPr>
                        <a:t>aA</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err="1" smtClean="0">
                          <a:solidFill>
                            <a:schemeClr val="tx1"/>
                          </a:solidFill>
                          <a:latin typeface="+mj-ea"/>
                          <a:ea typeface="+mn-ea"/>
                          <a:cs typeface="+mn-cs"/>
                        </a:rPr>
                        <a:t>bcde</a:t>
                      </a: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altLang="zh-CN" kern="1200" dirty="0" smtClean="0">
                          <a:solidFill>
                            <a:schemeClr val="tx1"/>
                          </a:solidFill>
                          <a:latin typeface="+mj-ea"/>
                          <a:ea typeface="+mn-ea"/>
                          <a:cs typeface="+mn-cs"/>
                        </a:rPr>
                        <a:t>S6</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(5)</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a:t>
                      </a:r>
                      <a:r>
                        <a:rPr kumimoji="0" lang="en-US" altLang="zh-CN" b="1" kern="1200" dirty="0" smtClean="0">
                          <a:solidFill>
                            <a:srgbClr val="1700C0"/>
                          </a:solidFill>
                          <a:latin typeface="+mj-ea"/>
                          <a:ea typeface="+mn-ea"/>
                          <a:cs typeface="+mn-cs"/>
                        </a:rPr>
                        <a:t>6</a:t>
                      </a:r>
                      <a:endParaRPr lang="zh-CN" altLang="en-US" b="1" dirty="0">
                        <a:solidFill>
                          <a:srgbClr val="1700C0"/>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b="1" kern="1200" dirty="0" err="1" smtClean="0">
                          <a:solidFill>
                            <a:srgbClr val="1700C0"/>
                          </a:solidFill>
                          <a:latin typeface="+mj-ea"/>
                          <a:ea typeface="+mn-ea"/>
                          <a:cs typeface="+mn-cs"/>
                        </a:rPr>
                        <a:t>aAb</a:t>
                      </a:r>
                      <a:endParaRPr lang="zh-CN" altLang="en-US" b="1" dirty="0">
                        <a:solidFill>
                          <a:srgbClr val="1700C0"/>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err="1" smtClean="0">
                          <a:solidFill>
                            <a:schemeClr val="tx1"/>
                          </a:solidFill>
                          <a:latin typeface="+mj-ea"/>
                          <a:ea typeface="+mn-ea"/>
                          <a:cs typeface="+mn-cs"/>
                        </a:rPr>
                        <a:t>bcde</a:t>
                      </a: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r3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(6)</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kern="1200" dirty="0" err="1" smtClean="0">
                          <a:solidFill>
                            <a:schemeClr val="tx1"/>
                          </a:solidFill>
                          <a:latin typeface="+mj-ea"/>
                          <a:ea typeface="+mn-ea"/>
                          <a:cs typeface="+mn-cs"/>
                        </a:rPr>
                        <a:t>aA</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err="1" smtClean="0">
                          <a:solidFill>
                            <a:schemeClr val="tx1"/>
                          </a:solidFill>
                          <a:latin typeface="+mj-ea"/>
                          <a:ea typeface="+mn-ea"/>
                          <a:cs typeface="+mn-cs"/>
                        </a:rPr>
                        <a:t>cde</a:t>
                      </a: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altLang="zh-CN" kern="1200" dirty="0" smtClean="0">
                          <a:solidFill>
                            <a:schemeClr val="tx1"/>
                          </a:solidFill>
                          <a:latin typeface="+mj-ea"/>
                          <a:ea typeface="+mn-ea"/>
                          <a:cs typeface="+mn-cs"/>
                        </a:rPr>
                        <a:t>S5</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(7)</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0235</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kern="1200" dirty="0" err="1" smtClean="0">
                          <a:solidFill>
                            <a:schemeClr val="tx1"/>
                          </a:solidFill>
                          <a:latin typeface="+mj-ea"/>
                          <a:ea typeface="+mn-ea"/>
                          <a:cs typeface="+mn-cs"/>
                        </a:rPr>
                        <a:t>aAc</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smtClean="0">
                          <a:solidFill>
                            <a:schemeClr val="tx1"/>
                          </a:solidFill>
                          <a:latin typeface="+mj-ea"/>
                          <a:ea typeface="+mn-ea"/>
                          <a:cs typeface="+mn-cs"/>
                        </a:rPr>
                        <a:t>de#</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altLang="zh-CN" kern="1200" dirty="0" smtClean="0">
                          <a:solidFill>
                            <a:schemeClr val="tx1"/>
                          </a:solidFill>
                          <a:latin typeface="+mj-ea"/>
                          <a:ea typeface="+mn-ea"/>
                          <a:cs typeface="+mn-cs"/>
                        </a:rPr>
                        <a:t>S8</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(8)</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02358</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b="1" kern="1200" dirty="0" err="1" smtClean="0">
                          <a:solidFill>
                            <a:srgbClr val="1700C0"/>
                          </a:solidFill>
                          <a:latin typeface="+mj-ea"/>
                          <a:ea typeface="+mn-ea"/>
                          <a:cs typeface="+mn-cs"/>
                        </a:rPr>
                        <a:t>aAcd</a:t>
                      </a:r>
                      <a:endParaRPr kumimoji="0" lang="zh-CN" altLang="en-US" b="1" kern="1200" dirty="0">
                        <a:solidFill>
                          <a:srgbClr val="1700C0"/>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smtClean="0">
                          <a:solidFill>
                            <a:schemeClr val="tx1"/>
                          </a:solidFill>
                          <a:latin typeface="+mj-ea"/>
                          <a:ea typeface="+mn-ea"/>
                          <a:cs typeface="+mn-cs"/>
                        </a:rPr>
                        <a:t>e#</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r4</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7</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(9)</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02357</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kern="1200" dirty="0" err="1" smtClean="0">
                          <a:solidFill>
                            <a:schemeClr val="tx1"/>
                          </a:solidFill>
                          <a:latin typeface="+mj-ea"/>
                          <a:ea typeface="+mn-ea"/>
                          <a:cs typeface="+mn-cs"/>
                        </a:rPr>
                        <a:t>aAcB</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smtClean="0">
                          <a:solidFill>
                            <a:schemeClr val="tx1"/>
                          </a:solidFill>
                          <a:latin typeface="+mj-ea"/>
                          <a:ea typeface="+mn-ea"/>
                          <a:cs typeface="+mn-cs"/>
                        </a:rPr>
                        <a:t>e#</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0" lang="en-US" altLang="zh-CN" kern="1200" dirty="0" smtClean="0">
                          <a:solidFill>
                            <a:schemeClr val="tx1"/>
                          </a:solidFill>
                          <a:latin typeface="+mj-ea"/>
                          <a:ea typeface="+mn-ea"/>
                          <a:cs typeface="+mn-cs"/>
                        </a:rPr>
                        <a:t>S9</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(10)</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023579</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a:t>
                      </a:r>
                      <a:r>
                        <a:rPr kumimoji="0" lang="en-US" altLang="zh-CN" b="1" kern="1200" dirty="0" err="1" smtClean="0">
                          <a:solidFill>
                            <a:srgbClr val="1700C0"/>
                          </a:solidFill>
                          <a:latin typeface="+mj-ea"/>
                          <a:ea typeface="+mn-ea"/>
                          <a:cs typeface="+mn-cs"/>
                        </a:rPr>
                        <a:t>aAcBe</a:t>
                      </a:r>
                      <a:endParaRPr kumimoji="0" lang="zh-CN" altLang="en-US" b="1" kern="1200" dirty="0">
                        <a:solidFill>
                          <a:srgbClr val="1700C0"/>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r1</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1</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altLang="zh-CN" dirty="0" smtClean="0">
                          <a:solidFill>
                            <a:schemeClr val="tx1"/>
                          </a:solidFill>
                          <a:latin typeface="+mj-ea"/>
                          <a:ea typeface="+mj-ea"/>
                        </a:rPr>
                        <a:t>(11)</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dirty="0" smtClean="0">
                          <a:solidFill>
                            <a:schemeClr val="tx1"/>
                          </a:solidFill>
                          <a:latin typeface="+mj-ea"/>
                          <a:ea typeface="+mj-ea"/>
                        </a:rPr>
                        <a:t>01</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zh-CN" kern="1200" dirty="0" smtClean="0">
                          <a:solidFill>
                            <a:schemeClr val="tx1"/>
                          </a:solidFill>
                          <a:latin typeface="+mj-ea"/>
                          <a:ea typeface="+mn-ea"/>
                          <a:cs typeface="+mn-cs"/>
                        </a:rPr>
                        <a:t>#S</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0" lang="en-US" altLang="zh-CN" kern="1200" dirty="0" smtClean="0">
                          <a:solidFill>
                            <a:schemeClr val="tx1"/>
                          </a:solidFill>
                          <a:latin typeface="+mj-ea"/>
                          <a:ea typeface="+mn-ea"/>
                          <a:cs typeface="+mn-cs"/>
                        </a:rPr>
                        <a:t>#</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smtClean="0">
                          <a:solidFill>
                            <a:schemeClr val="tx1"/>
                          </a:solidFill>
                          <a:latin typeface="+mj-ea"/>
                          <a:ea typeface="+mj-ea"/>
                        </a:rPr>
                        <a:t>acc</a:t>
                      </a: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dirty="0">
                        <a:solidFill>
                          <a:schemeClr val="tx1"/>
                        </a:solidFill>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5456"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97E8995A-B4B3-4DB1-8F5E-649325B0ECD4}" type="datetime1">
              <a:rPr lang="zh-CN" altLang="en-US" smtClean="0">
                <a:latin typeface="Times New Roman" pitchFamily="18" charset="0"/>
              </a:rPr>
              <a:pPr/>
              <a:t>2018/12/14</a:t>
            </a:fld>
            <a:endParaRPr lang="en-US" altLang="zh-CN" smtClean="0">
              <a:latin typeface="Times New Roman" pitchFamily="18" charset="0"/>
            </a:endParaRPr>
          </a:p>
        </p:txBody>
      </p:sp>
      <p:sp>
        <p:nvSpPr>
          <p:cNvPr id="15457"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5458"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4597D62F-DD63-4F42-AAA3-E3BAE61B2F18}" type="slidenum">
              <a:rPr lang="en-US" altLang="zh-CN" smtClean="0">
                <a:latin typeface="Times New Roman" pitchFamily="18" charset="0"/>
              </a:rPr>
              <a:pPr/>
              <a:t>17</a:t>
            </a:fld>
            <a:r>
              <a:rPr lang="en-US" altLang="zh-CN" dirty="0" smtClean="0">
                <a:latin typeface="Times New Roman" pitchFamily="18" charset="0"/>
              </a:rPr>
              <a:t>/36</a:t>
            </a:r>
          </a:p>
        </p:txBody>
      </p:sp>
      <p:sp>
        <p:nvSpPr>
          <p:cNvPr id="15459" name="矩形 7"/>
          <p:cNvSpPr>
            <a:spLocks noChangeArrowheads="1"/>
          </p:cNvSpPr>
          <p:nvPr/>
        </p:nvSpPr>
        <p:spPr bwMode="auto">
          <a:xfrm>
            <a:off x="2855913" y="1285875"/>
            <a:ext cx="3733800" cy="369888"/>
          </a:xfrm>
          <a:prstGeom prst="rect">
            <a:avLst/>
          </a:prstGeom>
          <a:noFill/>
          <a:ln w="9525">
            <a:noFill/>
            <a:miter lim="800000"/>
            <a:headEnd/>
            <a:tailEnd/>
          </a:ln>
        </p:spPr>
        <p:txBody>
          <a:bodyPr wrap="none">
            <a:spAutoFit/>
          </a:bodyPr>
          <a:lstStyle/>
          <a:p>
            <a:r>
              <a:rPr lang="zh-CN" altLang="en-US" sz="1800" b="1" dirty="0" smtClean="0"/>
              <a:t>表</a:t>
            </a:r>
            <a:r>
              <a:rPr lang="en-US" altLang="zh-CN" sz="1800" b="1" dirty="0" smtClean="0"/>
              <a:t>6.2  </a:t>
            </a:r>
            <a:r>
              <a:rPr lang="zh-CN" altLang="en-US" sz="1800" b="1" dirty="0"/>
              <a:t>对输入串</a:t>
            </a:r>
            <a:r>
              <a:rPr lang="en-US" altLang="zh-CN" sz="1800" b="1" dirty="0" err="1"/>
              <a:t>abbcde</a:t>
            </a:r>
            <a:r>
              <a:rPr lang="en-US" altLang="zh-CN" sz="1800" b="1" dirty="0"/>
              <a:t>#</a:t>
            </a:r>
            <a:r>
              <a:rPr lang="zh-CN" altLang="en-US" sz="1800" b="1" dirty="0"/>
              <a:t>的分析过程</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en-US" altLang="zh-CN" dirty="0" smtClean="0"/>
              <a:t>6.2.1</a:t>
            </a:r>
            <a:r>
              <a:rPr lang="zh-CN" altLang="en-US" dirty="0" smtClean="0"/>
              <a:t>可归前缀和子前缀</a:t>
            </a:r>
          </a:p>
        </p:txBody>
      </p:sp>
      <p:sp>
        <p:nvSpPr>
          <p:cNvPr id="16387" name="内容占位符 2"/>
          <p:cNvSpPr>
            <a:spLocks noGrp="1"/>
          </p:cNvSpPr>
          <p:nvPr>
            <p:ph sz="quarter" idx="1"/>
          </p:nvPr>
        </p:nvSpPr>
        <p:spPr>
          <a:xfrm>
            <a:off x="457200" y="1219200"/>
            <a:ext cx="8229600" cy="5067320"/>
          </a:xfrm>
        </p:spPr>
        <p:txBody>
          <a:bodyPr/>
          <a:lstStyle/>
          <a:p>
            <a:pPr>
              <a:lnSpc>
                <a:spcPct val="90000"/>
              </a:lnSpc>
            </a:pPr>
            <a:r>
              <a:rPr lang="zh-CN" altLang="en-US" dirty="0" smtClean="0"/>
              <a:t>为使最右推导和最左规约的关系看得更清楚，在每条产生式编上序号，用</a:t>
            </a:r>
            <a:r>
              <a:rPr lang="en-US" altLang="zh-CN" dirty="0" smtClean="0"/>
              <a:t>[</a:t>
            </a:r>
            <a:r>
              <a:rPr lang="en-US" altLang="zh-CN" dirty="0" err="1" smtClean="0"/>
              <a:t>i</a:t>
            </a:r>
            <a:r>
              <a:rPr lang="en-US" altLang="zh-CN" dirty="0" smtClean="0"/>
              <a:t>]</a:t>
            </a:r>
            <a:r>
              <a:rPr lang="zh-CN" altLang="en-US" dirty="0" smtClean="0"/>
              <a:t>表示，但</a:t>
            </a:r>
            <a:r>
              <a:rPr lang="en-US" altLang="zh-CN" dirty="0" smtClean="0"/>
              <a:t>[</a:t>
            </a:r>
            <a:r>
              <a:rPr lang="en-US" altLang="zh-CN" dirty="0" err="1" smtClean="0"/>
              <a:t>i</a:t>
            </a:r>
            <a:r>
              <a:rPr lang="en-US" altLang="zh-CN" dirty="0" smtClean="0"/>
              <a:t>]</a:t>
            </a:r>
            <a:r>
              <a:rPr lang="zh-CN" altLang="en-US" dirty="0" smtClean="0"/>
              <a:t>不属产生式的文法符号，并将其加在产生式的尾部。</a:t>
            </a:r>
            <a:endParaRPr lang="en-US" altLang="zh-CN" dirty="0" smtClean="0"/>
          </a:p>
          <a:p>
            <a:pPr>
              <a:lnSpc>
                <a:spcPct val="90000"/>
              </a:lnSpc>
            </a:pPr>
            <a:r>
              <a:rPr lang="zh-CN" altLang="en-US" dirty="0" smtClean="0"/>
              <a:t>例</a:t>
            </a:r>
            <a:r>
              <a:rPr lang="en-US" altLang="zh-CN" dirty="0" smtClean="0"/>
              <a:t>6.1</a:t>
            </a:r>
            <a:r>
              <a:rPr lang="zh-CN" altLang="en-US" dirty="0" smtClean="0"/>
              <a:t>的文法</a:t>
            </a:r>
            <a:r>
              <a:rPr lang="en-US" altLang="zh-CN" dirty="0" smtClean="0"/>
              <a:t>G[S]</a:t>
            </a:r>
            <a:r>
              <a:rPr lang="zh-CN" altLang="en-US" dirty="0" smtClean="0"/>
              <a:t>变为：</a:t>
            </a:r>
            <a:endParaRPr lang="en-US" altLang="zh-CN" dirty="0" smtClean="0"/>
          </a:p>
          <a:p>
            <a:pPr lvl="1">
              <a:lnSpc>
                <a:spcPct val="90000"/>
              </a:lnSpc>
              <a:buFontTx/>
              <a:buNone/>
            </a:pPr>
            <a:r>
              <a:rPr lang="en-US" altLang="zh-CN" sz="2400" dirty="0" smtClean="0">
                <a:sym typeface="Symbol" pitchFamily="18" charset="2"/>
              </a:rPr>
              <a:t>(1)S </a:t>
            </a:r>
            <a:r>
              <a:rPr lang="en-US" altLang="zh-CN" sz="2400" dirty="0" err="1" smtClean="0">
                <a:sym typeface="Symbol" pitchFamily="18" charset="2"/>
              </a:rPr>
              <a:t>aAcBe</a:t>
            </a:r>
            <a:r>
              <a:rPr lang="en-US" altLang="zh-CN" sz="2400" dirty="0" smtClean="0">
                <a:sym typeface="Symbol" pitchFamily="18" charset="2"/>
              </a:rPr>
              <a:t>[1]</a:t>
            </a:r>
          </a:p>
          <a:p>
            <a:pPr lvl="1">
              <a:lnSpc>
                <a:spcPct val="90000"/>
              </a:lnSpc>
              <a:buFontTx/>
              <a:buNone/>
            </a:pPr>
            <a:r>
              <a:rPr lang="en-US" altLang="zh-CN" sz="2400" dirty="0" smtClean="0">
                <a:sym typeface="Symbol" pitchFamily="18" charset="2"/>
              </a:rPr>
              <a:t>(2)A b[2] </a:t>
            </a:r>
          </a:p>
          <a:p>
            <a:pPr lvl="1">
              <a:lnSpc>
                <a:spcPct val="90000"/>
              </a:lnSpc>
              <a:buFontTx/>
              <a:buNone/>
            </a:pPr>
            <a:r>
              <a:rPr lang="en-US" altLang="zh-CN" sz="2400" dirty="0" smtClean="0">
                <a:sym typeface="Symbol" pitchFamily="18" charset="2"/>
              </a:rPr>
              <a:t>(3)A </a:t>
            </a:r>
            <a:r>
              <a:rPr lang="en-US" altLang="zh-CN" sz="2400" dirty="0" err="1" smtClean="0">
                <a:sym typeface="Symbol" pitchFamily="18" charset="2"/>
              </a:rPr>
              <a:t>Ab</a:t>
            </a:r>
            <a:r>
              <a:rPr lang="en-US" altLang="zh-CN" sz="2400" dirty="0" smtClean="0">
                <a:sym typeface="Symbol" pitchFamily="18" charset="2"/>
              </a:rPr>
              <a:t>[3]</a:t>
            </a:r>
          </a:p>
          <a:p>
            <a:pPr lvl="1">
              <a:lnSpc>
                <a:spcPct val="90000"/>
              </a:lnSpc>
              <a:buFontTx/>
              <a:buNone/>
            </a:pPr>
            <a:r>
              <a:rPr lang="en-US" altLang="zh-CN" sz="2400" dirty="0" smtClean="0">
                <a:sym typeface="Symbol" pitchFamily="18" charset="2"/>
              </a:rPr>
              <a:t>(4)B d[4]</a:t>
            </a:r>
          </a:p>
          <a:p>
            <a:pPr>
              <a:lnSpc>
                <a:spcPct val="90000"/>
              </a:lnSpc>
            </a:pPr>
            <a:r>
              <a:rPr lang="zh-CN" altLang="en-US" dirty="0" smtClean="0"/>
              <a:t>对输入串</a:t>
            </a:r>
            <a:r>
              <a:rPr lang="en-US" altLang="zh-CN" dirty="0" err="1" smtClean="0"/>
              <a:t>abbcde</a:t>
            </a:r>
            <a:r>
              <a:rPr lang="en-US" altLang="zh-CN" dirty="0" smtClean="0"/>
              <a:t>,</a:t>
            </a:r>
            <a:r>
              <a:rPr lang="zh-CN" altLang="en-US" dirty="0" smtClean="0"/>
              <a:t>带入序号的最右推导为：</a:t>
            </a:r>
            <a:endParaRPr lang="en-US" altLang="zh-CN" dirty="0" smtClean="0"/>
          </a:p>
          <a:p>
            <a:pPr>
              <a:lnSpc>
                <a:spcPct val="90000"/>
              </a:lnSpc>
              <a:buNone/>
            </a:pPr>
            <a:r>
              <a:rPr lang="en-US" altLang="zh-CN" dirty="0" smtClean="0"/>
              <a:t>  S=&gt;</a:t>
            </a:r>
            <a:r>
              <a:rPr lang="en-US" altLang="zh-CN" dirty="0" err="1" smtClean="0">
                <a:sym typeface="Symbol" pitchFamily="18" charset="2"/>
              </a:rPr>
              <a:t>aAc</a:t>
            </a:r>
            <a:r>
              <a:rPr lang="en-US" altLang="zh-CN" dirty="0" err="1" smtClean="0">
                <a:solidFill>
                  <a:srgbClr val="1700C0"/>
                </a:solidFill>
                <a:sym typeface="Symbol" pitchFamily="18" charset="2"/>
              </a:rPr>
              <a:t>B</a:t>
            </a:r>
            <a:r>
              <a:rPr lang="en-US" altLang="zh-CN" dirty="0" err="1" smtClean="0">
                <a:sym typeface="Symbol" pitchFamily="18" charset="2"/>
              </a:rPr>
              <a:t>e</a:t>
            </a:r>
            <a:r>
              <a:rPr lang="en-US" altLang="zh-CN" dirty="0" smtClean="0">
                <a:sym typeface="Symbol" pitchFamily="18" charset="2"/>
              </a:rPr>
              <a:t>[1]=&gt;</a:t>
            </a:r>
            <a:r>
              <a:rPr lang="en-US" altLang="zh-CN" dirty="0" err="1" smtClean="0">
                <a:sym typeface="Symbol" pitchFamily="18" charset="2"/>
              </a:rPr>
              <a:t>a</a:t>
            </a:r>
            <a:r>
              <a:rPr lang="en-US" altLang="zh-CN" dirty="0" err="1" smtClean="0">
                <a:solidFill>
                  <a:srgbClr val="1700C0"/>
                </a:solidFill>
                <a:sym typeface="Symbol" pitchFamily="18" charset="2"/>
              </a:rPr>
              <a:t>A</a:t>
            </a:r>
            <a:r>
              <a:rPr lang="en-US" altLang="zh-CN" dirty="0" err="1" smtClean="0">
                <a:sym typeface="Symbol" pitchFamily="18" charset="2"/>
              </a:rPr>
              <a:t>c</a:t>
            </a:r>
            <a:r>
              <a:rPr lang="en-US" altLang="zh-CN" dirty="0" err="1" smtClean="0">
                <a:solidFill>
                  <a:srgbClr val="00CC00"/>
                </a:solidFill>
                <a:sym typeface="Symbol" pitchFamily="18" charset="2"/>
              </a:rPr>
              <a:t>d</a:t>
            </a:r>
            <a:r>
              <a:rPr lang="en-US" altLang="zh-CN" dirty="0" smtClean="0">
                <a:sym typeface="Symbol" pitchFamily="18" charset="2"/>
              </a:rPr>
              <a:t>[4]e[1]=&gt;</a:t>
            </a:r>
            <a:r>
              <a:rPr lang="en-US" altLang="zh-CN" dirty="0" err="1" smtClean="0">
                <a:sym typeface="Symbol" pitchFamily="18" charset="2"/>
              </a:rPr>
              <a:t>a</a:t>
            </a:r>
            <a:r>
              <a:rPr lang="en-US" altLang="zh-CN" dirty="0" err="1" smtClean="0">
                <a:solidFill>
                  <a:srgbClr val="1700C0"/>
                </a:solidFill>
                <a:sym typeface="Symbol" pitchFamily="18" charset="2"/>
              </a:rPr>
              <a:t>A</a:t>
            </a:r>
            <a:r>
              <a:rPr lang="en-US" altLang="zh-CN" dirty="0" err="1" smtClean="0">
                <a:solidFill>
                  <a:srgbClr val="00CC00"/>
                </a:solidFill>
                <a:sym typeface="Symbol" pitchFamily="18" charset="2"/>
              </a:rPr>
              <a:t>b</a:t>
            </a:r>
            <a:r>
              <a:rPr lang="en-US" altLang="zh-CN" dirty="0" smtClean="0">
                <a:sym typeface="Symbol" pitchFamily="18" charset="2"/>
              </a:rPr>
              <a:t>[3]</a:t>
            </a:r>
            <a:r>
              <a:rPr lang="en-US" altLang="zh-CN" dirty="0" err="1" smtClean="0">
                <a:sym typeface="Symbol" pitchFamily="18" charset="2"/>
              </a:rPr>
              <a:t>cd</a:t>
            </a:r>
            <a:r>
              <a:rPr lang="en-US" altLang="zh-CN" dirty="0" smtClean="0">
                <a:sym typeface="Symbol" pitchFamily="18" charset="2"/>
              </a:rPr>
              <a:t>[4]e[1]</a:t>
            </a:r>
          </a:p>
          <a:p>
            <a:pPr>
              <a:lnSpc>
                <a:spcPct val="90000"/>
              </a:lnSpc>
              <a:buFont typeface="Wingdings" pitchFamily="2" charset="2"/>
              <a:buNone/>
            </a:pPr>
            <a:r>
              <a:rPr lang="en-US" altLang="zh-CN" dirty="0" smtClean="0">
                <a:sym typeface="Symbol" pitchFamily="18" charset="2"/>
              </a:rPr>
              <a:t>   =&gt;</a:t>
            </a:r>
            <a:r>
              <a:rPr lang="en-US" altLang="zh-CN" dirty="0" err="1" smtClean="0">
                <a:sym typeface="Symbol" pitchFamily="18" charset="2"/>
              </a:rPr>
              <a:t>a</a:t>
            </a:r>
            <a:r>
              <a:rPr lang="en-US" altLang="zh-CN" dirty="0" err="1" smtClean="0">
                <a:solidFill>
                  <a:srgbClr val="00CC00"/>
                </a:solidFill>
                <a:sym typeface="Symbol" pitchFamily="18" charset="2"/>
              </a:rPr>
              <a:t>b</a:t>
            </a:r>
            <a:r>
              <a:rPr lang="en-US" altLang="zh-CN" dirty="0" smtClean="0">
                <a:sym typeface="Symbol" pitchFamily="18" charset="2"/>
              </a:rPr>
              <a:t>[2]b[3]</a:t>
            </a:r>
            <a:r>
              <a:rPr lang="en-US" altLang="zh-CN" dirty="0" err="1" smtClean="0">
                <a:sym typeface="Symbol" pitchFamily="18" charset="2"/>
              </a:rPr>
              <a:t>cd</a:t>
            </a:r>
            <a:r>
              <a:rPr lang="en-US" altLang="zh-CN" dirty="0" smtClean="0">
                <a:sym typeface="Symbol" pitchFamily="18" charset="2"/>
              </a:rPr>
              <a:t>[4]e[1]</a:t>
            </a:r>
          </a:p>
          <a:p>
            <a:pPr>
              <a:lnSpc>
                <a:spcPct val="90000"/>
              </a:lnSpc>
              <a:buFont typeface="Wingdings" pitchFamily="2" charset="2"/>
              <a:buNone/>
            </a:pPr>
            <a:r>
              <a:rPr lang="zh-CN" altLang="en-US" dirty="0" smtClean="0">
                <a:sym typeface="Symbol" pitchFamily="18" charset="2"/>
              </a:rPr>
              <a:t>说明输入串</a:t>
            </a:r>
            <a:r>
              <a:rPr lang="en-US" altLang="zh-CN" dirty="0" err="1" smtClean="0">
                <a:sym typeface="Symbol" pitchFamily="18" charset="2"/>
              </a:rPr>
              <a:t>abbcde</a:t>
            </a:r>
            <a:r>
              <a:rPr lang="zh-CN" altLang="en-US" dirty="0" smtClean="0">
                <a:sym typeface="Symbol" pitchFamily="18" charset="2"/>
              </a:rPr>
              <a:t>是该文法的句子。</a:t>
            </a:r>
            <a:endParaRPr lang="zh-CN" altLang="en-US" dirty="0" smtClean="0"/>
          </a:p>
        </p:txBody>
      </p:sp>
      <p:sp>
        <p:nvSpPr>
          <p:cNvPr id="16388"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5B869DD1-EF14-44A7-B371-9BF612886BD5}" type="datetime1">
              <a:rPr lang="zh-CN" altLang="en-US" smtClean="0">
                <a:latin typeface="Times New Roman" pitchFamily="18" charset="0"/>
              </a:rPr>
              <a:pPr/>
              <a:t>2018/12/14</a:t>
            </a:fld>
            <a:endParaRPr lang="en-US" altLang="zh-CN" smtClean="0">
              <a:latin typeface="Times New Roman" pitchFamily="18" charset="0"/>
            </a:endParaRPr>
          </a:p>
        </p:txBody>
      </p:sp>
      <p:sp>
        <p:nvSpPr>
          <p:cNvPr id="16389"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6390"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24AB7278-5E6C-464D-B765-443E7008A246}" type="slidenum">
              <a:rPr lang="en-US" altLang="zh-CN" smtClean="0">
                <a:latin typeface="Times New Roman" pitchFamily="18" charset="0"/>
              </a:rPr>
              <a:pPr/>
              <a:t>18</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endParaRPr lang="zh-CN" altLang="en-US" dirty="0" smtClean="0"/>
          </a:p>
        </p:txBody>
      </p:sp>
      <p:sp>
        <p:nvSpPr>
          <p:cNvPr id="17411" name="内容占位符 2"/>
          <p:cNvSpPr>
            <a:spLocks noGrp="1"/>
          </p:cNvSpPr>
          <p:nvPr>
            <p:ph sz="quarter" idx="1"/>
          </p:nvPr>
        </p:nvSpPr>
        <p:spPr>
          <a:xfrm>
            <a:off x="71406" y="1219200"/>
            <a:ext cx="8229600" cy="4937125"/>
          </a:xfrm>
        </p:spPr>
        <p:txBody>
          <a:bodyPr/>
          <a:lstStyle/>
          <a:p>
            <a:r>
              <a:rPr lang="zh-CN" altLang="en-US" dirty="0" smtClean="0"/>
              <a:t>逆过程</a:t>
            </a:r>
            <a:r>
              <a:rPr lang="en-US" altLang="zh-CN" dirty="0" smtClean="0"/>
              <a:t>——</a:t>
            </a:r>
            <a:r>
              <a:rPr lang="zh-CN" altLang="en-US" dirty="0" smtClean="0"/>
              <a:t>最左规约为：</a:t>
            </a:r>
            <a:endParaRPr lang="en-US" altLang="zh-CN" dirty="0" smtClean="0"/>
          </a:p>
          <a:p>
            <a:pPr indent="273050">
              <a:lnSpc>
                <a:spcPct val="90000"/>
              </a:lnSpc>
              <a:buNone/>
            </a:pPr>
            <a:r>
              <a:rPr lang="en-US" altLang="zh-CN" dirty="0" err="1" smtClean="0">
                <a:solidFill>
                  <a:srgbClr val="1700C0"/>
                </a:solidFill>
                <a:sym typeface="Symbol" pitchFamily="18" charset="2"/>
              </a:rPr>
              <a:t>ab</a:t>
            </a:r>
            <a:r>
              <a:rPr lang="en-US" altLang="zh-CN" dirty="0" smtClean="0">
                <a:solidFill>
                  <a:srgbClr val="1700C0"/>
                </a:solidFill>
                <a:sym typeface="Symbol" pitchFamily="18" charset="2"/>
              </a:rPr>
              <a:t>[2]</a:t>
            </a:r>
            <a:r>
              <a:rPr lang="en-US" altLang="zh-CN" dirty="0" smtClean="0">
                <a:sym typeface="Symbol" pitchFamily="18" charset="2"/>
              </a:rPr>
              <a:t>b[3]</a:t>
            </a:r>
            <a:r>
              <a:rPr lang="en-US" altLang="zh-CN" dirty="0" err="1" smtClean="0">
                <a:sym typeface="Symbol" pitchFamily="18" charset="2"/>
              </a:rPr>
              <a:t>cd</a:t>
            </a:r>
            <a:r>
              <a:rPr lang="en-US" altLang="zh-CN" dirty="0" smtClean="0">
                <a:sym typeface="Symbol" pitchFamily="18" charset="2"/>
              </a:rPr>
              <a:t>[4]e[1]   </a:t>
            </a:r>
            <a:r>
              <a:rPr lang="zh-CN" altLang="en-US" dirty="0" smtClean="0">
                <a:sym typeface="Symbol" pitchFamily="18" charset="2"/>
              </a:rPr>
              <a:t>用产生式</a:t>
            </a:r>
            <a:r>
              <a:rPr lang="en-US" altLang="zh-CN" dirty="0" smtClean="0">
                <a:sym typeface="Symbol" pitchFamily="18" charset="2"/>
              </a:rPr>
              <a:t>(2)</a:t>
            </a:r>
            <a:r>
              <a:rPr lang="zh-CN" altLang="en-US" dirty="0" smtClean="0">
                <a:sym typeface="Symbol" pitchFamily="18" charset="2"/>
              </a:rPr>
              <a:t>规约</a:t>
            </a:r>
            <a:endParaRPr lang="en-US" altLang="zh-CN" dirty="0" smtClean="0">
              <a:sym typeface="Symbol" pitchFamily="18" charset="2"/>
            </a:endParaRPr>
          </a:p>
          <a:p>
            <a:pPr indent="273050">
              <a:lnSpc>
                <a:spcPct val="90000"/>
              </a:lnSpc>
              <a:buNone/>
            </a:pPr>
            <a:r>
              <a:rPr lang="en-US" altLang="zh-CN" dirty="0" smtClean="0">
                <a:sym typeface="Symbol" pitchFamily="18" charset="2"/>
              </a:rPr>
              <a:t>&lt;=</a:t>
            </a:r>
            <a:r>
              <a:rPr lang="en-US" altLang="zh-CN" dirty="0" err="1" smtClean="0">
                <a:solidFill>
                  <a:srgbClr val="1700C0"/>
                </a:solidFill>
                <a:sym typeface="Symbol" pitchFamily="18" charset="2"/>
              </a:rPr>
              <a:t>aAb</a:t>
            </a:r>
            <a:r>
              <a:rPr lang="en-US" altLang="zh-CN" dirty="0" smtClean="0">
                <a:solidFill>
                  <a:srgbClr val="1700C0"/>
                </a:solidFill>
                <a:sym typeface="Symbol" pitchFamily="18" charset="2"/>
              </a:rPr>
              <a:t>[3]</a:t>
            </a:r>
            <a:r>
              <a:rPr lang="en-US" altLang="zh-CN" dirty="0" err="1" smtClean="0">
                <a:sym typeface="Symbol" pitchFamily="18" charset="2"/>
              </a:rPr>
              <a:t>cd</a:t>
            </a:r>
            <a:r>
              <a:rPr lang="en-US" altLang="zh-CN" dirty="0" smtClean="0">
                <a:sym typeface="Symbol" pitchFamily="18" charset="2"/>
              </a:rPr>
              <a:t>[4]e[1]    </a:t>
            </a:r>
            <a:r>
              <a:rPr lang="zh-CN" altLang="en-US" dirty="0" smtClean="0">
                <a:sym typeface="Symbol" pitchFamily="18" charset="2"/>
              </a:rPr>
              <a:t>用产生式</a:t>
            </a:r>
            <a:r>
              <a:rPr lang="en-US" altLang="zh-CN" dirty="0" smtClean="0">
                <a:sym typeface="Symbol" pitchFamily="18" charset="2"/>
              </a:rPr>
              <a:t>(3)</a:t>
            </a:r>
            <a:r>
              <a:rPr lang="zh-CN" altLang="en-US" dirty="0" smtClean="0">
                <a:sym typeface="Symbol" pitchFamily="18" charset="2"/>
              </a:rPr>
              <a:t>规约</a:t>
            </a:r>
            <a:endParaRPr lang="en-US" altLang="zh-CN" dirty="0" smtClean="0">
              <a:sym typeface="Symbol" pitchFamily="18" charset="2"/>
            </a:endParaRPr>
          </a:p>
          <a:p>
            <a:pPr indent="273050">
              <a:lnSpc>
                <a:spcPct val="90000"/>
              </a:lnSpc>
              <a:buNone/>
            </a:pPr>
            <a:r>
              <a:rPr lang="en-US" altLang="zh-CN" dirty="0" smtClean="0">
                <a:sym typeface="Symbol" pitchFamily="18" charset="2"/>
              </a:rPr>
              <a:t>&lt;=</a:t>
            </a:r>
            <a:r>
              <a:rPr lang="en-US" altLang="zh-CN" dirty="0" err="1" smtClean="0">
                <a:solidFill>
                  <a:srgbClr val="1700C0"/>
                </a:solidFill>
                <a:sym typeface="Symbol" pitchFamily="18" charset="2"/>
              </a:rPr>
              <a:t>aAcd</a:t>
            </a:r>
            <a:r>
              <a:rPr lang="en-US" altLang="zh-CN" dirty="0" smtClean="0">
                <a:solidFill>
                  <a:srgbClr val="1700C0"/>
                </a:solidFill>
                <a:sym typeface="Symbol" pitchFamily="18" charset="2"/>
              </a:rPr>
              <a:t>[4]</a:t>
            </a:r>
            <a:r>
              <a:rPr lang="en-US" altLang="zh-CN" dirty="0" smtClean="0">
                <a:sym typeface="Symbol" pitchFamily="18" charset="2"/>
              </a:rPr>
              <a:t>e[1]        </a:t>
            </a:r>
            <a:r>
              <a:rPr lang="zh-CN" altLang="en-US" dirty="0" smtClean="0">
                <a:sym typeface="Symbol" pitchFamily="18" charset="2"/>
              </a:rPr>
              <a:t>用产生式</a:t>
            </a:r>
            <a:r>
              <a:rPr lang="en-US" altLang="zh-CN" dirty="0" smtClean="0">
                <a:sym typeface="Symbol" pitchFamily="18" charset="2"/>
              </a:rPr>
              <a:t>(4)</a:t>
            </a:r>
            <a:r>
              <a:rPr lang="zh-CN" altLang="en-US" dirty="0" smtClean="0">
                <a:sym typeface="Symbol" pitchFamily="18" charset="2"/>
              </a:rPr>
              <a:t>规约</a:t>
            </a:r>
            <a:endParaRPr lang="en-US" altLang="zh-CN" dirty="0" smtClean="0">
              <a:sym typeface="Symbol" pitchFamily="18" charset="2"/>
            </a:endParaRPr>
          </a:p>
          <a:p>
            <a:pPr indent="273050">
              <a:lnSpc>
                <a:spcPct val="90000"/>
              </a:lnSpc>
              <a:buNone/>
            </a:pPr>
            <a:r>
              <a:rPr lang="en-US" altLang="zh-CN" dirty="0" smtClean="0">
                <a:sym typeface="Symbol" pitchFamily="18" charset="2"/>
              </a:rPr>
              <a:t>&lt;=</a:t>
            </a:r>
            <a:r>
              <a:rPr lang="en-US" altLang="zh-CN" dirty="0" err="1" smtClean="0">
                <a:solidFill>
                  <a:srgbClr val="1700C0"/>
                </a:solidFill>
                <a:sym typeface="Symbol" pitchFamily="18" charset="2"/>
              </a:rPr>
              <a:t>aAcBe</a:t>
            </a:r>
            <a:r>
              <a:rPr lang="en-US" altLang="zh-CN" dirty="0" smtClean="0">
                <a:solidFill>
                  <a:srgbClr val="1700C0"/>
                </a:solidFill>
                <a:sym typeface="Symbol" pitchFamily="18" charset="2"/>
              </a:rPr>
              <a:t>[1]</a:t>
            </a:r>
            <a:r>
              <a:rPr lang="en-US" altLang="zh-CN" dirty="0" smtClean="0">
                <a:sym typeface="Symbol" pitchFamily="18" charset="2"/>
              </a:rPr>
              <a:t>           </a:t>
            </a:r>
            <a:r>
              <a:rPr lang="zh-CN" altLang="en-US" dirty="0" smtClean="0">
                <a:sym typeface="Symbol" pitchFamily="18" charset="2"/>
              </a:rPr>
              <a:t>用产生式</a:t>
            </a:r>
            <a:r>
              <a:rPr lang="en-US" altLang="zh-CN" dirty="0" smtClean="0">
                <a:sym typeface="Symbol" pitchFamily="18" charset="2"/>
              </a:rPr>
              <a:t>(1)</a:t>
            </a:r>
            <a:r>
              <a:rPr lang="zh-CN" altLang="en-US" dirty="0" smtClean="0">
                <a:sym typeface="Symbol" pitchFamily="18" charset="2"/>
              </a:rPr>
              <a:t>规约</a:t>
            </a:r>
            <a:endParaRPr lang="en-US" altLang="zh-CN" dirty="0" smtClean="0">
              <a:sym typeface="Symbol" pitchFamily="18" charset="2"/>
            </a:endParaRPr>
          </a:p>
          <a:p>
            <a:pPr indent="273050">
              <a:lnSpc>
                <a:spcPct val="90000"/>
              </a:lnSpc>
              <a:buNone/>
            </a:pPr>
            <a:r>
              <a:rPr lang="en-US" altLang="zh-CN" dirty="0" smtClean="0">
                <a:sym typeface="Symbol" pitchFamily="18" charset="2"/>
              </a:rPr>
              <a:t>&lt;=</a:t>
            </a:r>
            <a:r>
              <a:rPr lang="en-US" altLang="zh-CN" dirty="0" smtClean="0"/>
              <a:t> S</a:t>
            </a:r>
          </a:p>
          <a:p>
            <a:pPr>
              <a:lnSpc>
                <a:spcPct val="90000"/>
              </a:lnSpc>
            </a:pPr>
            <a:r>
              <a:rPr lang="en-US" altLang="zh-CN" dirty="0" smtClean="0"/>
              <a:t>“</a:t>
            </a:r>
            <a:r>
              <a:rPr lang="en-US" altLang="zh-CN" dirty="0" smtClean="0">
                <a:sym typeface="Symbol" pitchFamily="18" charset="2"/>
              </a:rPr>
              <a:t>&lt;=</a:t>
            </a:r>
            <a:r>
              <a:rPr lang="en-US" altLang="zh-CN" dirty="0" smtClean="0"/>
              <a:t>”</a:t>
            </a:r>
            <a:r>
              <a:rPr lang="zh-CN" altLang="en-US" dirty="0" smtClean="0"/>
              <a:t>表示规约。从这里可以看到对一个合法的句子而言，每次规约后得到的都是由已规约部分和输入剩余部分合起来构成文法的规范句型，而用哪个产生式继续规约</a:t>
            </a:r>
            <a:r>
              <a:rPr lang="zh-CN" altLang="en-US" dirty="0" smtClean="0">
                <a:solidFill>
                  <a:srgbClr val="1700C0"/>
                </a:solidFill>
              </a:rPr>
              <a:t>仅取决于当前句型的前部</a:t>
            </a:r>
            <a:r>
              <a:rPr lang="zh-CN" altLang="en-US" dirty="0" smtClean="0"/>
              <a:t>。</a:t>
            </a:r>
            <a:endParaRPr lang="en-US" altLang="zh-CN" dirty="0" smtClean="0">
              <a:sym typeface="Symbol" pitchFamily="18" charset="2"/>
            </a:endParaRPr>
          </a:p>
          <a:p>
            <a:endParaRPr lang="zh-CN" altLang="en-US" dirty="0" smtClean="0"/>
          </a:p>
        </p:txBody>
      </p:sp>
      <p:sp>
        <p:nvSpPr>
          <p:cNvPr id="17412"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25201661-992D-41E5-A964-2BD04BCD0806}" type="datetime1">
              <a:rPr lang="zh-CN" altLang="en-US" smtClean="0">
                <a:latin typeface="Times New Roman" pitchFamily="18" charset="0"/>
              </a:rPr>
              <a:pPr/>
              <a:t>2018/12/14</a:t>
            </a:fld>
            <a:endParaRPr lang="en-US" altLang="zh-CN" smtClean="0">
              <a:latin typeface="Times New Roman" pitchFamily="18" charset="0"/>
            </a:endParaRPr>
          </a:p>
        </p:txBody>
      </p:sp>
      <p:sp>
        <p:nvSpPr>
          <p:cNvPr id="17413"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7414"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6FBEA655-BBFB-4416-BCCB-35ACF708240D}" type="slidenum">
              <a:rPr lang="en-US" altLang="zh-CN" smtClean="0">
                <a:latin typeface="Times New Roman" pitchFamily="18" charset="0"/>
              </a:rPr>
              <a:pPr/>
              <a:t>19</a:t>
            </a:fld>
            <a:r>
              <a:rPr lang="en-US" altLang="zh-CN" dirty="0" smtClean="0">
                <a:latin typeface="Times New Roman" pitchFamily="18" charset="0"/>
              </a:rPr>
              <a:t>/36</a:t>
            </a:r>
          </a:p>
        </p:txBody>
      </p:sp>
      <p:sp>
        <p:nvSpPr>
          <p:cNvPr id="7" name="矩形 6"/>
          <p:cNvSpPr/>
          <p:nvPr/>
        </p:nvSpPr>
        <p:spPr>
          <a:xfrm>
            <a:off x="6357950" y="149684"/>
            <a:ext cx="2571768" cy="1421928"/>
          </a:xfrm>
          <a:prstGeom prst="rect">
            <a:avLst/>
          </a:prstGeom>
          <a:ln w="25400">
            <a:solidFill>
              <a:srgbClr val="FF0000"/>
            </a:solidFill>
          </a:ln>
        </p:spPr>
        <p:txBody>
          <a:bodyPr wrap="square">
            <a:spAutoFit/>
          </a:bodyPr>
          <a:lstStyle/>
          <a:p>
            <a:pPr marL="0" lvl="1" algn="l">
              <a:lnSpc>
                <a:spcPct val="90000"/>
              </a:lnSpc>
              <a:buFontTx/>
              <a:buNone/>
            </a:pPr>
            <a:r>
              <a:rPr lang="en-US" altLang="zh-CN" dirty="0" smtClean="0">
                <a:sym typeface="Symbol" pitchFamily="18" charset="2"/>
              </a:rPr>
              <a:t>(1)S </a:t>
            </a:r>
            <a:r>
              <a:rPr lang="en-US" altLang="zh-CN" dirty="0" err="1" smtClean="0">
                <a:sym typeface="Symbol" pitchFamily="18" charset="2"/>
              </a:rPr>
              <a:t>aAcBe</a:t>
            </a:r>
            <a:r>
              <a:rPr lang="en-US" altLang="zh-CN" dirty="0" smtClean="0">
                <a:sym typeface="Symbol" pitchFamily="18" charset="2"/>
              </a:rPr>
              <a:t>[1]</a:t>
            </a:r>
          </a:p>
          <a:p>
            <a:pPr marL="0" lvl="1" algn="l">
              <a:lnSpc>
                <a:spcPct val="90000"/>
              </a:lnSpc>
              <a:buFontTx/>
              <a:buNone/>
            </a:pPr>
            <a:r>
              <a:rPr lang="en-US" altLang="zh-CN" dirty="0" smtClean="0">
                <a:sym typeface="Symbol" pitchFamily="18" charset="2"/>
              </a:rPr>
              <a:t>(2)A b[2] </a:t>
            </a:r>
          </a:p>
          <a:p>
            <a:pPr marL="0" lvl="1" algn="l">
              <a:lnSpc>
                <a:spcPct val="90000"/>
              </a:lnSpc>
              <a:buFontTx/>
              <a:buNone/>
            </a:pPr>
            <a:r>
              <a:rPr lang="en-US" altLang="zh-CN" dirty="0" smtClean="0">
                <a:sym typeface="Symbol" pitchFamily="18" charset="2"/>
              </a:rPr>
              <a:t>(3)A </a:t>
            </a:r>
            <a:r>
              <a:rPr lang="en-US" altLang="zh-CN" dirty="0" err="1" smtClean="0">
                <a:sym typeface="Symbol" pitchFamily="18" charset="2"/>
              </a:rPr>
              <a:t>Ab</a:t>
            </a:r>
            <a:r>
              <a:rPr lang="en-US" altLang="zh-CN" dirty="0" smtClean="0">
                <a:sym typeface="Symbol" pitchFamily="18" charset="2"/>
              </a:rPr>
              <a:t>[3]</a:t>
            </a:r>
          </a:p>
          <a:p>
            <a:pPr marL="0" lvl="1" algn="l">
              <a:lnSpc>
                <a:spcPct val="90000"/>
              </a:lnSpc>
              <a:buFontTx/>
              <a:buNone/>
            </a:pPr>
            <a:r>
              <a:rPr lang="en-US" altLang="zh-CN" dirty="0" smtClean="0">
                <a:sym typeface="Symbol" pitchFamily="18" charset="2"/>
              </a:rPr>
              <a:t>(4)B d[4]</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dirty="0" smtClean="0"/>
              <a:t>可归前缀</a:t>
            </a:r>
          </a:p>
        </p:txBody>
      </p:sp>
      <p:sp>
        <p:nvSpPr>
          <p:cNvPr id="18435" name="内容占位符 2"/>
          <p:cNvSpPr>
            <a:spLocks noGrp="1"/>
          </p:cNvSpPr>
          <p:nvPr>
            <p:ph sz="quarter" idx="1"/>
          </p:nvPr>
        </p:nvSpPr>
        <p:spPr>
          <a:xfrm>
            <a:off x="457200" y="1219200"/>
            <a:ext cx="8229600" cy="4937125"/>
          </a:xfrm>
        </p:spPr>
        <p:txBody>
          <a:bodyPr/>
          <a:lstStyle/>
          <a:p>
            <a:r>
              <a:rPr lang="zh-CN" altLang="en-US" dirty="0" smtClean="0"/>
              <a:t>例中每次规约前句型的前部依次为：</a:t>
            </a:r>
            <a:endParaRPr lang="en-US" altLang="zh-CN" dirty="0" smtClean="0"/>
          </a:p>
          <a:p>
            <a:pPr indent="273050">
              <a:buNone/>
            </a:pPr>
            <a:r>
              <a:rPr lang="en-US" altLang="zh-CN" dirty="0" err="1" smtClean="0">
                <a:sym typeface="Symbol" pitchFamily="18" charset="2"/>
              </a:rPr>
              <a:t>ab</a:t>
            </a:r>
            <a:r>
              <a:rPr lang="en-US" altLang="zh-CN" dirty="0" smtClean="0">
                <a:sym typeface="Symbol" pitchFamily="18" charset="2"/>
              </a:rPr>
              <a:t>[2]</a:t>
            </a:r>
          </a:p>
          <a:p>
            <a:pPr indent="273050">
              <a:buNone/>
            </a:pPr>
            <a:r>
              <a:rPr lang="en-US" altLang="zh-CN" dirty="0" err="1" smtClean="0">
                <a:sym typeface="Symbol" pitchFamily="18" charset="2"/>
              </a:rPr>
              <a:t>aAb</a:t>
            </a:r>
            <a:r>
              <a:rPr lang="en-US" altLang="zh-CN" dirty="0" smtClean="0">
                <a:sym typeface="Symbol" pitchFamily="18" charset="2"/>
              </a:rPr>
              <a:t>[3]</a:t>
            </a:r>
          </a:p>
          <a:p>
            <a:pPr indent="273050">
              <a:buNone/>
            </a:pPr>
            <a:r>
              <a:rPr lang="en-US" altLang="zh-CN" dirty="0" err="1" smtClean="0">
                <a:sym typeface="Symbol" pitchFamily="18" charset="2"/>
              </a:rPr>
              <a:t>aAcd</a:t>
            </a:r>
            <a:r>
              <a:rPr lang="en-US" altLang="zh-CN" dirty="0" smtClean="0">
                <a:sym typeface="Symbol" pitchFamily="18" charset="2"/>
              </a:rPr>
              <a:t>[4]</a:t>
            </a:r>
          </a:p>
          <a:p>
            <a:pPr indent="273050">
              <a:buNone/>
            </a:pPr>
            <a:r>
              <a:rPr lang="en-US" altLang="zh-CN" dirty="0" err="1" smtClean="0">
                <a:sym typeface="Symbol" pitchFamily="18" charset="2"/>
              </a:rPr>
              <a:t>aAcBe</a:t>
            </a:r>
            <a:r>
              <a:rPr lang="en-US" altLang="zh-CN" dirty="0" smtClean="0">
                <a:sym typeface="Symbol" pitchFamily="18" charset="2"/>
              </a:rPr>
              <a:t>[1]</a:t>
            </a:r>
          </a:p>
          <a:p>
            <a:r>
              <a:rPr lang="zh-CN" altLang="en-US" dirty="0" smtClean="0">
                <a:solidFill>
                  <a:srgbClr val="1700C0"/>
                </a:solidFill>
                <a:sym typeface="Symbol" pitchFamily="18" charset="2"/>
              </a:rPr>
              <a:t>可归前缀</a:t>
            </a:r>
            <a:r>
              <a:rPr lang="zh-CN" altLang="en-US" dirty="0" smtClean="0">
                <a:sym typeface="Symbol" pitchFamily="18" charset="2"/>
              </a:rPr>
              <a:t>：把规范句型的每次规约前句型的前部称为可归前缀。</a:t>
            </a:r>
            <a:endParaRPr lang="en-US" altLang="zh-CN" dirty="0" smtClean="0">
              <a:sym typeface="Symbol" pitchFamily="18" charset="2"/>
            </a:endParaRPr>
          </a:p>
          <a:p>
            <a:r>
              <a:rPr lang="zh-CN" altLang="en-US" dirty="0" smtClean="0">
                <a:sym typeface="Symbol" pitchFamily="18" charset="2"/>
              </a:rPr>
              <a:t>表</a:t>
            </a:r>
            <a:r>
              <a:rPr lang="en-US" altLang="zh-CN" dirty="0" smtClean="0">
                <a:sym typeface="Symbol" pitchFamily="18" charset="2"/>
              </a:rPr>
              <a:t>6.2</a:t>
            </a:r>
            <a:r>
              <a:rPr lang="zh-CN" altLang="en-US" dirty="0" smtClean="0">
                <a:sym typeface="Symbol" pitchFamily="18" charset="2"/>
              </a:rPr>
              <a:t>分析过程中每次采取规约动作前符号中的内容正好是例中的前部，即分别对应步骤</a:t>
            </a:r>
            <a:r>
              <a:rPr lang="en-US" altLang="zh-CN" dirty="0" smtClean="0">
                <a:sym typeface="Symbol" pitchFamily="18" charset="2"/>
              </a:rPr>
              <a:t>(3)</a:t>
            </a:r>
            <a:r>
              <a:rPr lang="zh-CN" altLang="en-US" dirty="0" smtClean="0">
                <a:sym typeface="Symbol" pitchFamily="18" charset="2"/>
              </a:rPr>
              <a:t>、</a:t>
            </a:r>
            <a:r>
              <a:rPr lang="en-US" altLang="zh-CN" dirty="0" smtClean="0">
                <a:sym typeface="Symbol" pitchFamily="18" charset="2"/>
              </a:rPr>
              <a:t>(5)</a:t>
            </a:r>
            <a:r>
              <a:rPr lang="zh-CN" altLang="en-US" dirty="0" smtClean="0">
                <a:sym typeface="Symbol" pitchFamily="18" charset="2"/>
              </a:rPr>
              <a:t>、</a:t>
            </a:r>
            <a:r>
              <a:rPr lang="en-US" altLang="zh-CN" dirty="0" smtClean="0">
                <a:sym typeface="Symbol" pitchFamily="18" charset="2"/>
              </a:rPr>
              <a:t>(8)</a:t>
            </a:r>
            <a:r>
              <a:rPr lang="zh-CN" altLang="en-US" dirty="0" smtClean="0">
                <a:sym typeface="Symbol" pitchFamily="18" charset="2"/>
              </a:rPr>
              <a:t>、</a:t>
            </a:r>
            <a:r>
              <a:rPr lang="en-US" altLang="zh-CN" dirty="0" smtClean="0">
                <a:sym typeface="Symbol" pitchFamily="18" charset="2"/>
              </a:rPr>
              <a:t>(10)</a:t>
            </a:r>
            <a:r>
              <a:rPr lang="zh-CN" altLang="en-US" dirty="0" smtClean="0">
                <a:sym typeface="Symbol" pitchFamily="18" charset="2"/>
              </a:rPr>
              <a:t>时符号栈中的符号串。</a:t>
            </a:r>
            <a:endParaRPr lang="zh-CN" altLang="en-US" dirty="0" smtClean="0"/>
          </a:p>
        </p:txBody>
      </p:sp>
      <p:sp>
        <p:nvSpPr>
          <p:cNvPr id="18436"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90B11EE5-3AC6-438A-9E80-11FE48F98BF1}" type="datetime1">
              <a:rPr lang="zh-CN" altLang="en-US" smtClean="0">
                <a:latin typeface="Times New Roman" pitchFamily="18" charset="0"/>
              </a:rPr>
              <a:pPr/>
              <a:t>2018/12/14</a:t>
            </a:fld>
            <a:endParaRPr lang="en-US" altLang="zh-CN" smtClean="0">
              <a:latin typeface="Times New Roman" pitchFamily="18" charset="0"/>
            </a:endParaRPr>
          </a:p>
        </p:txBody>
      </p:sp>
      <p:sp>
        <p:nvSpPr>
          <p:cNvPr id="18437"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8438"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9F76C30D-24E1-4A5E-A1BA-3B884801F872}" type="slidenum">
              <a:rPr lang="en-US" altLang="zh-CN" smtClean="0">
                <a:latin typeface="Times New Roman" pitchFamily="18" charset="0"/>
              </a:rPr>
              <a:pPr/>
              <a:t>20</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dirty="0" smtClean="0"/>
              <a:t>活前缀</a:t>
            </a:r>
          </a:p>
        </p:txBody>
      </p:sp>
      <p:sp>
        <p:nvSpPr>
          <p:cNvPr id="19459" name="内容占位符 2"/>
          <p:cNvSpPr>
            <a:spLocks noGrp="1"/>
          </p:cNvSpPr>
          <p:nvPr>
            <p:ph sz="quarter" idx="1"/>
          </p:nvPr>
        </p:nvSpPr>
        <p:spPr>
          <a:xfrm>
            <a:off x="142844" y="1142984"/>
            <a:ext cx="8858280" cy="5143536"/>
          </a:xfrm>
        </p:spPr>
        <p:txBody>
          <a:bodyPr/>
          <a:lstStyle/>
          <a:p>
            <a:pPr indent="273050" eaLnBrk="1" hangingPunct="1">
              <a:lnSpc>
                <a:spcPct val="95000"/>
              </a:lnSpc>
              <a:spcBef>
                <a:spcPts val="0"/>
              </a:spcBef>
            </a:pPr>
            <a:r>
              <a:rPr lang="zh-CN" altLang="en-US" dirty="0" smtClean="0">
                <a:solidFill>
                  <a:srgbClr val="1700C0"/>
                </a:solidFill>
              </a:rPr>
              <a:t>字的前缀</a:t>
            </a:r>
            <a:r>
              <a:rPr lang="zh-CN" altLang="en-US" dirty="0" smtClean="0"/>
              <a:t>是指该字的任意首部</a:t>
            </a:r>
            <a:r>
              <a:rPr lang="en-US" altLang="zh-CN" dirty="0" smtClean="0"/>
              <a:t>, </a:t>
            </a:r>
            <a:r>
              <a:rPr lang="zh-CN" altLang="en-US" dirty="0" smtClean="0"/>
              <a:t>如字</a:t>
            </a:r>
            <a:r>
              <a:rPr lang="en-US" altLang="zh-CN" dirty="0" err="1" smtClean="0"/>
              <a:t>abc</a:t>
            </a:r>
            <a:r>
              <a:rPr lang="en-US" altLang="zh-CN" dirty="0" smtClean="0"/>
              <a:t> </a:t>
            </a:r>
            <a:r>
              <a:rPr lang="zh-CN" altLang="en-US" dirty="0" smtClean="0"/>
              <a:t>的前缀有</a:t>
            </a:r>
            <a:r>
              <a:rPr lang="en-US" altLang="zh-CN" dirty="0" err="1" smtClean="0"/>
              <a:t>ε,a,ab</a:t>
            </a:r>
            <a:r>
              <a:rPr lang="en-US" altLang="zh-CN" dirty="0" smtClean="0"/>
              <a:t> </a:t>
            </a:r>
            <a:r>
              <a:rPr lang="zh-CN" altLang="en-US" dirty="0" smtClean="0"/>
              <a:t>或</a:t>
            </a:r>
            <a:r>
              <a:rPr lang="en-US" altLang="zh-CN" dirty="0" err="1" smtClean="0"/>
              <a:t>abc</a:t>
            </a:r>
            <a:r>
              <a:rPr lang="en-US" altLang="zh-CN" dirty="0" smtClean="0"/>
              <a:t>.</a:t>
            </a:r>
          </a:p>
          <a:p>
            <a:pPr indent="273050" eaLnBrk="1" hangingPunct="1">
              <a:lnSpc>
                <a:spcPct val="95000"/>
              </a:lnSpc>
              <a:spcBef>
                <a:spcPts val="0"/>
              </a:spcBef>
            </a:pPr>
            <a:r>
              <a:rPr lang="zh-CN" altLang="en-US" dirty="0" smtClean="0">
                <a:solidFill>
                  <a:srgbClr val="1700C0"/>
                </a:solidFill>
              </a:rPr>
              <a:t>活前缀</a:t>
            </a:r>
            <a:r>
              <a:rPr lang="zh-CN" altLang="en-US" dirty="0" smtClean="0"/>
              <a:t>是指规范句型的一个前缀，这个前缀不含句柄之后的任何符号。也可定义为：在规范句型中形成可归前缀之前包括可归前缀在内的所有前缀都称为</a:t>
            </a:r>
            <a:r>
              <a:rPr lang="zh-CN" altLang="en-US" dirty="0" smtClean="0">
                <a:solidFill>
                  <a:srgbClr val="1700C0"/>
                </a:solidFill>
              </a:rPr>
              <a:t>活前缀</a:t>
            </a:r>
            <a:r>
              <a:rPr lang="zh-CN" altLang="en-US" dirty="0" smtClean="0"/>
              <a:t>。活前缀为一个或若干规范句型的前缀。</a:t>
            </a:r>
            <a:endParaRPr lang="en-US" altLang="zh-CN" dirty="0" smtClean="0"/>
          </a:p>
          <a:p>
            <a:pPr indent="273050" eaLnBrk="1" hangingPunct="1">
              <a:lnSpc>
                <a:spcPct val="95000"/>
              </a:lnSpc>
              <a:spcBef>
                <a:spcPts val="0"/>
              </a:spcBef>
            </a:pPr>
            <a:r>
              <a:rPr lang="zh-CN" altLang="en-US" dirty="0" smtClean="0"/>
              <a:t>上例中每个前部的前缀为：</a:t>
            </a:r>
            <a:endParaRPr lang="en-US" altLang="zh-CN" dirty="0" smtClean="0"/>
          </a:p>
          <a:p>
            <a:pPr indent="273050" eaLnBrk="1" hangingPunct="1">
              <a:lnSpc>
                <a:spcPct val="95000"/>
              </a:lnSpc>
              <a:spcBef>
                <a:spcPts val="0"/>
              </a:spcBef>
              <a:buNone/>
            </a:pPr>
            <a:r>
              <a:rPr lang="en-US" altLang="zh-CN" sz="2400" dirty="0" err="1" smtClean="0"/>
              <a:t>ε,a,ab</a:t>
            </a:r>
            <a:endParaRPr lang="en-US" altLang="zh-CN" sz="2400" dirty="0" smtClean="0"/>
          </a:p>
          <a:p>
            <a:pPr indent="273050" eaLnBrk="1" hangingPunct="1">
              <a:lnSpc>
                <a:spcPct val="95000"/>
              </a:lnSpc>
              <a:spcBef>
                <a:spcPts val="0"/>
              </a:spcBef>
              <a:buNone/>
            </a:pPr>
            <a:r>
              <a:rPr lang="en-US" altLang="zh-CN" sz="2400" dirty="0" err="1" smtClean="0"/>
              <a:t>ε,a,aA,aAb</a:t>
            </a:r>
            <a:endParaRPr lang="en-US" altLang="zh-CN" sz="2400" dirty="0" smtClean="0"/>
          </a:p>
          <a:p>
            <a:pPr indent="273050" eaLnBrk="1" hangingPunct="1">
              <a:lnSpc>
                <a:spcPct val="95000"/>
              </a:lnSpc>
              <a:spcBef>
                <a:spcPts val="0"/>
              </a:spcBef>
              <a:buNone/>
            </a:pPr>
            <a:r>
              <a:rPr lang="en-US" altLang="zh-CN" sz="2400" dirty="0" err="1" smtClean="0"/>
              <a:t>ε,a,aA,aAc</a:t>
            </a:r>
            <a:r>
              <a:rPr lang="en-US" altLang="zh-CN" sz="2400" dirty="0" smtClean="0"/>
              <a:t>, </a:t>
            </a:r>
            <a:r>
              <a:rPr lang="en-US" altLang="zh-CN" sz="2400" dirty="0" err="1" smtClean="0"/>
              <a:t>aAcd</a:t>
            </a:r>
            <a:endParaRPr lang="en-US" altLang="zh-CN" sz="2400" dirty="0" smtClean="0"/>
          </a:p>
          <a:p>
            <a:pPr indent="273050" eaLnBrk="1" hangingPunct="1">
              <a:lnSpc>
                <a:spcPct val="95000"/>
              </a:lnSpc>
              <a:spcBef>
                <a:spcPts val="0"/>
              </a:spcBef>
              <a:buNone/>
            </a:pPr>
            <a:r>
              <a:rPr lang="en-US" altLang="zh-CN" sz="2400" dirty="0" err="1" smtClean="0"/>
              <a:t>ε,a,aA,aAc</a:t>
            </a:r>
            <a:r>
              <a:rPr lang="en-US" altLang="zh-CN" sz="2400" dirty="0" smtClean="0"/>
              <a:t>, </a:t>
            </a:r>
            <a:r>
              <a:rPr lang="en-US" altLang="zh-CN" sz="2400" dirty="0" err="1" smtClean="0"/>
              <a:t>aAcB</a:t>
            </a:r>
            <a:r>
              <a:rPr lang="en-US" altLang="zh-CN" sz="2400" dirty="0" smtClean="0"/>
              <a:t>, </a:t>
            </a:r>
            <a:r>
              <a:rPr lang="en-US" altLang="zh-CN" sz="2400" dirty="0" err="1" smtClean="0"/>
              <a:t>aAcBe</a:t>
            </a:r>
            <a:endParaRPr lang="en-US" altLang="zh-CN" sz="2400" dirty="0" smtClean="0"/>
          </a:p>
          <a:p>
            <a:pPr indent="273050" eaLnBrk="1" hangingPunct="1">
              <a:lnSpc>
                <a:spcPct val="95000"/>
              </a:lnSpc>
              <a:spcBef>
                <a:spcPts val="0"/>
              </a:spcBef>
            </a:pPr>
            <a:r>
              <a:rPr lang="zh-CN" altLang="en-US" dirty="0" smtClean="0"/>
              <a:t>在规范规约过程中任何时刻只要已分析过的部分即在符号栈中的符号串均为规范句型的活前缀，则表明输入串的已被分析过的部分是该文法某规范句型的一个正确部分。</a:t>
            </a:r>
            <a:endParaRPr lang="en-US" altLang="zh-CN" dirty="0" smtClean="0"/>
          </a:p>
          <a:p>
            <a:endParaRPr lang="zh-CN" altLang="en-US" dirty="0" smtClean="0"/>
          </a:p>
        </p:txBody>
      </p:sp>
      <p:sp>
        <p:nvSpPr>
          <p:cNvPr id="19460" name="日期占位符 3"/>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EF350A07-BD63-4F7B-BD03-553965CC5B23}" type="datetime1">
              <a:rPr lang="zh-CN" altLang="en-US" smtClean="0">
                <a:latin typeface="Times New Roman" pitchFamily="18" charset="0"/>
              </a:rPr>
              <a:pPr/>
              <a:t>2018/12/14</a:t>
            </a:fld>
            <a:endParaRPr lang="en-US" altLang="zh-CN" smtClean="0">
              <a:latin typeface="Times New Roman" pitchFamily="18" charset="0"/>
            </a:endParaRPr>
          </a:p>
        </p:txBody>
      </p:sp>
      <p:sp>
        <p:nvSpPr>
          <p:cNvPr id="19461" name="页脚占位符 4"/>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19462" name="灯片编号占位符 5"/>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15592EF4-60A1-4D8A-8AE1-C59027C61B76}" type="slidenum">
              <a:rPr lang="en-US" altLang="zh-CN" smtClean="0">
                <a:latin typeface="Times New Roman" pitchFamily="18" charset="0"/>
              </a:rPr>
              <a:pPr/>
              <a:t>21</a:t>
            </a:fld>
            <a:r>
              <a:rPr lang="en-US" altLang="zh-CN" dirty="0" smtClean="0">
                <a:latin typeface="Times New Roman" pitchFamily="18" charset="0"/>
              </a:rPr>
              <a:t>/36</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52400"/>
            <a:ext cx="6400816" cy="990600"/>
          </a:xfrm>
        </p:spPr>
        <p:txBody>
          <a:bodyPr/>
          <a:lstStyle/>
          <a:p>
            <a:r>
              <a:rPr lang="zh-CN" altLang="en-US" dirty="0" smtClean="0"/>
              <a:t>拓广文法</a:t>
            </a:r>
            <a:endParaRPr lang="zh-CN" altLang="en-US" dirty="0"/>
          </a:p>
        </p:txBody>
      </p:sp>
      <p:sp>
        <p:nvSpPr>
          <p:cNvPr id="3" name="内容占位符 2"/>
          <p:cNvSpPr>
            <a:spLocks noGrp="1"/>
          </p:cNvSpPr>
          <p:nvPr>
            <p:ph sz="quarter" idx="1"/>
          </p:nvPr>
        </p:nvSpPr>
        <p:spPr/>
        <p:txBody>
          <a:bodyPr/>
          <a:lstStyle/>
          <a:p>
            <a:r>
              <a:rPr lang="zh-CN" altLang="en-US" dirty="0" smtClean="0"/>
              <a:t>为了便于</a:t>
            </a:r>
            <a:r>
              <a:rPr lang="en-US" altLang="zh-CN" dirty="0" smtClean="0"/>
              <a:t>LR</a:t>
            </a:r>
            <a:r>
              <a:rPr lang="zh-CN" altLang="en-US" dirty="0" smtClean="0"/>
              <a:t>分析，在原文法</a:t>
            </a:r>
            <a:r>
              <a:rPr lang="en-US" altLang="zh-CN" dirty="0" smtClean="0"/>
              <a:t>G</a:t>
            </a:r>
            <a:r>
              <a:rPr lang="zh-CN" altLang="en-US" dirty="0" smtClean="0"/>
              <a:t>中增加产生式</a:t>
            </a:r>
            <a:r>
              <a:rPr lang="en-US" altLang="zh-CN" dirty="0" smtClean="0"/>
              <a:t>S</a:t>
            </a:r>
            <a:r>
              <a:rPr lang="en-US" altLang="zh-CN" dirty="0" smtClean="0">
                <a:latin typeface="Times New Roman" pitchFamily="18" charset="0"/>
                <a:cs typeface="Times New Roman" pitchFamily="18" charset="0"/>
              </a:rPr>
              <a:t>’</a:t>
            </a:r>
            <a:r>
              <a:rPr lang="en-US" altLang="zh-CN" dirty="0" smtClean="0"/>
              <a:t>→S,S</a:t>
            </a:r>
            <a:r>
              <a:rPr lang="zh-CN" altLang="en-US" dirty="0" smtClean="0"/>
              <a:t>为原文法</a:t>
            </a:r>
            <a:r>
              <a:rPr lang="en-US" altLang="zh-CN" dirty="0" smtClean="0"/>
              <a:t>G</a:t>
            </a:r>
            <a:r>
              <a:rPr lang="zh-CN" altLang="en-US" dirty="0" smtClean="0"/>
              <a:t>的开始符号，所得新文法称为</a:t>
            </a:r>
            <a:r>
              <a:rPr lang="en-US" altLang="zh-CN" dirty="0" smtClean="0"/>
              <a:t>G</a:t>
            </a:r>
            <a:r>
              <a:rPr lang="zh-CN" altLang="en-US" dirty="0" smtClean="0"/>
              <a:t>的</a:t>
            </a:r>
            <a:r>
              <a:rPr lang="zh-CN" altLang="en-US" dirty="0" smtClean="0">
                <a:solidFill>
                  <a:srgbClr val="1700C0"/>
                </a:solidFill>
              </a:rPr>
              <a:t>拓广文法</a:t>
            </a:r>
            <a:r>
              <a:rPr lang="zh-CN" altLang="en-US" dirty="0" smtClean="0"/>
              <a:t>，以</a:t>
            </a:r>
            <a:r>
              <a:rPr lang="en-US" altLang="zh-CN" dirty="0" smtClean="0"/>
              <a:t>G’</a:t>
            </a:r>
            <a:r>
              <a:rPr lang="zh-CN" altLang="en-US" dirty="0" smtClean="0"/>
              <a:t>表示，</a:t>
            </a:r>
            <a:r>
              <a:rPr lang="en-US" altLang="zh-CN" dirty="0" smtClean="0"/>
              <a:t>S’</a:t>
            </a:r>
            <a:r>
              <a:rPr lang="zh-CN" altLang="en-US" dirty="0" smtClean="0"/>
              <a:t>为拓广后文法</a:t>
            </a:r>
            <a:r>
              <a:rPr lang="en-US" altLang="zh-CN" dirty="0" smtClean="0"/>
              <a:t>G’</a:t>
            </a:r>
            <a:r>
              <a:rPr lang="zh-CN" altLang="en-US" dirty="0" smtClean="0"/>
              <a:t>的开始符号。</a:t>
            </a:r>
            <a:endParaRPr lang="en-US" altLang="zh-CN" dirty="0" smtClean="0"/>
          </a:p>
          <a:p>
            <a:r>
              <a:rPr lang="zh-CN" altLang="en-US" dirty="0" smtClean="0"/>
              <a:t>对文法进行</a:t>
            </a:r>
            <a:r>
              <a:rPr lang="zh-CN" altLang="en-US" dirty="0" smtClean="0">
                <a:solidFill>
                  <a:srgbClr val="1700C0"/>
                </a:solidFill>
              </a:rPr>
              <a:t>拓广的目的</a:t>
            </a:r>
            <a:r>
              <a:rPr lang="zh-CN" altLang="en-US" dirty="0" smtClean="0"/>
              <a:t>是为了对某些右部含有开始符号的文法，在规约过程中能分清是否已规约到文法的最初开始符，还是在文法右部出现的开始符号，拓广文法的开始符号</a:t>
            </a:r>
            <a:r>
              <a:rPr lang="en-US" altLang="zh-CN" dirty="0" smtClean="0"/>
              <a:t>S’</a:t>
            </a:r>
            <a:r>
              <a:rPr lang="zh-CN" altLang="en-US" dirty="0" smtClean="0"/>
              <a:t>只在左部出现，这样确保了不会混淆。</a:t>
            </a:r>
            <a:endParaRPr lang="en-US" altLang="zh-CN" dirty="0" smtClean="0"/>
          </a:p>
          <a:p>
            <a:r>
              <a:rPr lang="zh-CN" altLang="en-US" dirty="0" smtClean="0"/>
              <a:t>例如，有文法</a:t>
            </a:r>
            <a:r>
              <a:rPr lang="en-US" altLang="zh-CN" dirty="0" smtClean="0"/>
              <a:t>G[S]:</a:t>
            </a:r>
          </a:p>
          <a:p>
            <a:pPr indent="273050">
              <a:buNone/>
            </a:pPr>
            <a:r>
              <a:rPr lang="en-US" altLang="zh-CN" dirty="0" smtClean="0"/>
              <a:t>S →Sa</a:t>
            </a:r>
          </a:p>
          <a:p>
            <a:pPr indent="273050">
              <a:buNone/>
            </a:pPr>
            <a:r>
              <a:rPr lang="en-US" altLang="zh-CN" dirty="0" smtClean="0"/>
              <a:t>S →a</a:t>
            </a:r>
            <a:endParaRPr lang="zh-CN" altLang="en-US" dirty="0"/>
          </a:p>
        </p:txBody>
      </p:sp>
      <p:sp>
        <p:nvSpPr>
          <p:cNvPr id="4" name="日期占位符 3"/>
          <p:cNvSpPr>
            <a:spLocks noGrp="1"/>
          </p:cNvSpPr>
          <p:nvPr>
            <p:ph type="dt" sz="half" idx="10"/>
          </p:nvPr>
        </p:nvSpPr>
        <p:spPr/>
        <p:txBody>
          <a:bodyPr/>
          <a:lstStyle/>
          <a:p>
            <a:pPr>
              <a:defRPr/>
            </a:pPr>
            <a:fld id="{2B6450A4-96B7-4CE3-A50C-09509702B7C4}"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22</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活前缀定义</a:t>
            </a:r>
            <a:endParaRPr lang="zh-CN" altLang="en-US" dirty="0"/>
          </a:p>
        </p:txBody>
      </p:sp>
      <p:sp>
        <p:nvSpPr>
          <p:cNvPr id="3" name="内容占位符 2"/>
          <p:cNvSpPr>
            <a:spLocks noGrp="1"/>
          </p:cNvSpPr>
          <p:nvPr>
            <p:ph sz="quarter" idx="1"/>
          </p:nvPr>
        </p:nvSpPr>
        <p:spPr/>
        <p:txBody>
          <a:bodyPr/>
          <a:lstStyle/>
          <a:p>
            <a:pPr>
              <a:lnSpc>
                <a:spcPct val="150000"/>
              </a:lnSpc>
            </a:pPr>
            <a:r>
              <a:rPr lang="zh-CN" altLang="en-US" dirty="0" smtClean="0"/>
              <a:t>定义</a:t>
            </a:r>
            <a:r>
              <a:rPr lang="en-US" altLang="zh-CN" dirty="0" smtClean="0"/>
              <a:t>6.1 </a:t>
            </a:r>
            <a:r>
              <a:rPr lang="zh-CN" altLang="en-US" dirty="0" smtClean="0"/>
              <a:t>若              是文法</a:t>
            </a:r>
            <a:r>
              <a:rPr lang="en-US" altLang="zh-CN" dirty="0" smtClean="0"/>
              <a:t>G</a:t>
            </a:r>
            <a:r>
              <a:rPr lang="zh-CN" altLang="en-US" dirty="0" smtClean="0"/>
              <a:t>的拓广文法</a:t>
            </a:r>
            <a:r>
              <a:rPr lang="en-US" altLang="zh-CN" dirty="0" smtClean="0"/>
              <a:t>G’</a:t>
            </a:r>
            <a:r>
              <a:rPr lang="zh-CN" altLang="en-US" dirty="0" smtClean="0"/>
              <a:t>中的一个规范推导，符号串</a:t>
            </a:r>
            <a:r>
              <a:rPr lang="en-US" altLang="zh-CN" dirty="0" smtClean="0"/>
              <a:t>γ</a:t>
            </a:r>
            <a:r>
              <a:rPr lang="zh-CN" altLang="en-US" dirty="0" smtClean="0"/>
              <a:t>是</a:t>
            </a:r>
            <a:r>
              <a:rPr lang="el-GR" altLang="zh-CN" dirty="0" smtClean="0"/>
              <a:t>αβ</a:t>
            </a:r>
            <a:r>
              <a:rPr lang="zh-CN" altLang="en-US" dirty="0" smtClean="0"/>
              <a:t>的前缀，则称</a:t>
            </a:r>
            <a:r>
              <a:rPr lang="en-US" altLang="zh-CN" dirty="0" smtClean="0"/>
              <a:t>γ</a:t>
            </a:r>
            <a:r>
              <a:rPr lang="zh-CN" altLang="en-US" dirty="0" smtClean="0"/>
              <a:t>是</a:t>
            </a:r>
            <a:r>
              <a:rPr lang="en-US" altLang="zh-CN" dirty="0" smtClean="0"/>
              <a:t>G</a:t>
            </a:r>
            <a:r>
              <a:rPr lang="zh-CN" altLang="en-US" dirty="0" smtClean="0"/>
              <a:t>的一个</a:t>
            </a:r>
            <a:r>
              <a:rPr lang="zh-CN" altLang="en-US" dirty="0" smtClean="0">
                <a:solidFill>
                  <a:srgbClr val="1700C0"/>
                </a:solidFill>
              </a:rPr>
              <a:t>活前缀</a:t>
            </a:r>
            <a:r>
              <a:rPr lang="zh-CN" altLang="en-US" dirty="0" smtClean="0"/>
              <a:t>。也就是说</a:t>
            </a:r>
            <a:r>
              <a:rPr lang="en-US" altLang="zh-CN" dirty="0" smtClean="0"/>
              <a:t>γ</a:t>
            </a:r>
            <a:r>
              <a:rPr lang="zh-CN" altLang="en-US" dirty="0" smtClean="0"/>
              <a:t>是规范句型</a:t>
            </a:r>
            <a:r>
              <a:rPr lang="el-GR" altLang="zh-CN" dirty="0" smtClean="0"/>
              <a:t>αβω</a:t>
            </a:r>
            <a:r>
              <a:rPr lang="zh-CN" altLang="en-US" dirty="0" smtClean="0"/>
              <a:t>的前缀，但它的</a:t>
            </a:r>
            <a:r>
              <a:rPr lang="zh-CN" altLang="en-US" dirty="0" smtClean="0">
                <a:solidFill>
                  <a:srgbClr val="1700C0"/>
                </a:solidFill>
              </a:rPr>
              <a:t>右端不超过该句型句柄的末端</a:t>
            </a:r>
            <a:r>
              <a:rPr lang="zh-CN" altLang="en-US" dirty="0" smtClean="0"/>
              <a:t>。</a:t>
            </a:r>
            <a:endParaRPr lang="en-US" altLang="zh-CN" dirty="0" smtClean="0"/>
          </a:p>
          <a:p>
            <a:pPr>
              <a:lnSpc>
                <a:spcPct val="120000"/>
              </a:lnSpc>
            </a:pPr>
            <a:r>
              <a:rPr lang="zh-CN" altLang="en-US" dirty="0" smtClean="0"/>
              <a:t>在</a:t>
            </a:r>
            <a:r>
              <a:rPr lang="en-US" altLang="zh-CN" dirty="0" smtClean="0"/>
              <a:t>LR</a:t>
            </a:r>
            <a:r>
              <a:rPr lang="zh-CN" altLang="en-US" dirty="0" smtClean="0"/>
              <a:t>分析过程中，实际上是把</a:t>
            </a:r>
            <a:r>
              <a:rPr lang="el-GR" altLang="zh-CN" dirty="0" smtClean="0"/>
              <a:t>αβ</a:t>
            </a:r>
            <a:r>
              <a:rPr lang="zh-CN" altLang="en-US" dirty="0" smtClean="0"/>
              <a:t>的前缀列出放在符号栈中，一旦在栈中出现</a:t>
            </a:r>
            <a:r>
              <a:rPr lang="el-GR" altLang="zh-CN" dirty="0" smtClean="0"/>
              <a:t>αβ</a:t>
            </a:r>
            <a:r>
              <a:rPr lang="zh-CN" altLang="en-US" dirty="0" smtClean="0"/>
              <a:t>，即句柄已经形成，则用产生式</a:t>
            </a:r>
            <a:r>
              <a:rPr lang="en-US" altLang="zh-CN" dirty="0" smtClean="0"/>
              <a:t>A →</a:t>
            </a:r>
            <a:r>
              <a:rPr lang="el-GR" altLang="zh-CN" dirty="0" smtClean="0"/>
              <a:t>β</a:t>
            </a:r>
            <a:r>
              <a:rPr lang="zh-CN" altLang="en-US" dirty="0" smtClean="0"/>
              <a:t>进行规约。</a:t>
            </a:r>
            <a:endParaRPr lang="zh-CN" altLang="en-US" dirty="0"/>
          </a:p>
        </p:txBody>
      </p:sp>
      <p:sp>
        <p:nvSpPr>
          <p:cNvPr id="4" name="日期占位符 3"/>
          <p:cNvSpPr>
            <a:spLocks noGrp="1"/>
          </p:cNvSpPr>
          <p:nvPr>
            <p:ph type="dt" sz="half" idx="10"/>
          </p:nvPr>
        </p:nvSpPr>
        <p:spPr/>
        <p:txBody>
          <a:bodyPr/>
          <a:lstStyle/>
          <a:p>
            <a:pPr>
              <a:defRPr/>
            </a:pPr>
            <a:fld id="{D10EFB74-B418-48C0-95E9-764B625BE8B5}"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23</a:t>
            </a:fld>
            <a:r>
              <a:rPr lang="en-US" altLang="zh-CN" dirty="0" smtClean="0">
                <a:latin typeface="Times New Roman" pitchFamily="18" charset="0"/>
              </a:rPr>
              <a:t>/36</a:t>
            </a:r>
            <a:endParaRPr lang="en-US" altLang="zh-CN" dirty="0"/>
          </a:p>
        </p:txBody>
      </p:sp>
      <p:graphicFrame>
        <p:nvGraphicFramePr>
          <p:cNvPr id="98307" name="Object 3"/>
          <p:cNvGraphicFramePr>
            <a:graphicFrameLocks noChangeAspect="1"/>
          </p:cNvGraphicFramePr>
          <p:nvPr/>
        </p:nvGraphicFramePr>
        <p:xfrm>
          <a:off x="2571735" y="1285860"/>
          <a:ext cx="2071703" cy="682720"/>
        </p:xfrm>
        <a:graphic>
          <a:graphicData uri="http://schemas.openxmlformats.org/presentationml/2006/ole">
            <p:oleObj spid="_x0000_s98307" name="公式" r:id="rId3" imgW="1117440" imgH="368280" progId="Equation.3">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6.2.2</a:t>
            </a:r>
            <a:r>
              <a:rPr lang="zh-CN" altLang="en-US" dirty="0" smtClean="0"/>
              <a:t>识别活前缀的有限自动机</a:t>
            </a:r>
            <a:endParaRPr lang="zh-CN" altLang="en-US" dirty="0"/>
          </a:p>
        </p:txBody>
      </p:sp>
      <p:sp>
        <p:nvSpPr>
          <p:cNvPr id="3" name="内容占位符 2"/>
          <p:cNvSpPr>
            <a:spLocks noGrp="1"/>
          </p:cNvSpPr>
          <p:nvPr>
            <p:ph sz="quarter" idx="1"/>
          </p:nvPr>
        </p:nvSpPr>
        <p:spPr/>
        <p:txBody>
          <a:bodyPr/>
          <a:lstStyle/>
          <a:p>
            <a:r>
              <a:rPr lang="zh-CN" altLang="en-US" dirty="0" smtClean="0"/>
              <a:t>把终结符和非终结符都看成一个有限自动机的输入符号，每把一个符号进栈时看成已识别过了该符号，而状态进行转换，当识别到可归前缀时，相当在栈中形成句柄，则认为到达了识别句柄的终态。</a:t>
            </a:r>
            <a:endParaRPr lang="en-US" altLang="zh-CN" dirty="0" smtClean="0"/>
          </a:p>
          <a:p>
            <a:pPr>
              <a:lnSpc>
                <a:spcPct val="90000"/>
              </a:lnSpc>
            </a:pPr>
            <a:r>
              <a:rPr lang="zh-CN" altLang="en-US" dirty="0" smtClean="0"/>
              <a:t>例</a:t>
            </a:r>
            <a:r>
              <a:rPr lang="en-US" altLang="zh-CN" dirty="0" smtClean="0"/>
              <a:t>6.1</a:t>
            </a:r>
            <a:r>
              <a:rPr lang="zh-CN" altLang="en-US" dirty="0" smtClean="0"/>
              <a:t>文法</a:t>
            </a:r>
            <a:r>
              <a:rPr lang="en-US" altLang="zh-CN" dirty="0" smtClean="0"/>
              <a:t>G[S]</a:t>
            </a:r>
            <a:r>
              <a:rPr lang="zh-CN" altLang="en-US" dirty="0" smtClean="0"/>
              <a:t>的拓广文法表示成：</a:t>
            </a:r>
            <a:endParaRPr lang="en-US" altLang="zh-CN" dirty="0" smtClean="0"/>
          </a:p>
          <a:p>
            <a:pPr lvl="1">
              <a:lnSpc>
                <a:spcPct val="90000"/>
              </a:lnSpc>
              <a:buFontTx/>
              <a:buNone/>
            </a:pPr>
            <a:r>
              <a:rPr lang="en-US" altLang="zh-CN" sz="2400" dirty="0" smtClean="0">
                <a:sym typeface="Symbol" pitchFamily="18" charset="2"/>
              </a:rPr>
              <a:t>(1)S’S[0]</a:t>
            </a:r>
          </a:p>
          <a:p>
            <a:pPr lvl="1">
              <a:lnSpc>
                <a:spcPct val="90000"/>
              </a:lnSpc>
              <a:buFontTx/>
              <a:buNone/>
            </a:pPr>
            <a:r>
              <a:rPr lang="en-US" altLang="zh-CN" sz="2400" dirty="0" smtClean="0">
                <a:sym typeface="Symbol" pitchFamily="18" charset="2"/>
              </a:rPr>
              <a:t>(2)S </a:t>
            </a:r>
            <a:r>
              <a:rPr lang="en-US" altLang="zh-CN" sz="2400" dirty="0" err="1" smtClean="0">
                <a:sym typeface="Symbol" pitchFamily="18" charset="2"/>
              </a:rPr>
              <a:t>aAcBe</a:t>
            </a:r>
            <a:r>
              <a:rPr lang="en-US" altLang="zh-CN" sz="2400" dirty="0" smtClean="0">
                <a:sym typeface="Symbol" pitchFamily="18" charset="2"/>
              </a:rPr>
              <a:t>[1]</a:t>
            </a:r>
          </a:p>
          <a:p>
            <a:pPr lvl="1">
              <a:lnSpc>
                <a:spcPct val="90000"/>
              </a:lnSpc>
              <a:buFontTx/>
              <a:buNone/>
            </a:pPr>
            <a:r>
              <a:rPr lang="en-US" altLang="zh-CN" sz="2400" dirty="0" smtClean="0">
                <a:sym typeface="Symbol" pitchFamily="18" charset="2"/>
              </a:rPr>
              <a:t>(3)A b[2] </a:t>
            </a:r>
          </a:p>
          <a:p>
            <a:pPr lvl="1">
              <a:lnSpc>
                <a:spcPct val="90000"/>
              </a:lnSpc>
              <a:buFontTx/>
              <a:buNone/>
            </a:pPr>
            <a:r>
              <a:rPr lang="en-US" altLang="zh-CN" sz="2400" dirty="0" smtClean="0">
                <a:sym typeface="Symbol" pitchFamily="18" charset="2"/>
              </a:rPr>
              <a:t>(4)A </a:t>
            </a:r>
            <a:r>
              <a:rPr lang="en-US" altLang="zh-CN" sz="2400" dirty="0" err="1" smtClean="0">
                <a:sym typeface="Symbol" pitchFamily="18" charset="2"/>
              </a:rPr>
              <a:t>Ab</a:t>
            </a:r>
            <a:r>
              <a:rPr lang="en-US" altLang="zh-CN" sz="2400" dirty="0" smtClean="0">
                <a:sym typeface="Symbol" pitchFamily="18" charset="2"/>
              </a:rPr>
              <a:t>[3]		</a:t>
            </a:r>
          </a:p>
          <a:p>
            <a:pPr lvl="1">
              <a:lnSpc>
                <a:spcPct val="90000"/>
              </a:lnSpc>
              <a:buFontTx/>
              <a:buNone/>
            </a:pPr>
            <a:r>
              <a:rPr lang="en-US" altLang="zh-CN" sz="2400" dirty="0" smtClean="0">
                <a:sym typeface="Symbol" pitchFamily="18" charset="2"/>
              </a:rPr>
              <a:t>(5)B d[4]</a:t>
            </a:r>
          </a:p>
          <a:p>
            <a:endParaRPr lang="zh-CN" altLang="en-US" dirty="0"/>
          </a:p>
        </p:txBody>
      </p:sp>
      <p:sp>
        <p:nvSpPr>
          <p:cNvPr id="4" name="日期占位符 3"/>
          <p:cNvSpPr>
            <a:spLocks noGrp="1"/>
          </p:cNvSpPr>
          <p:nvPr>
            <p:ph type="dt" sz="half" idx="10"/>
          </p:nvPr>
        </p:nvSpPr>
        <p:spPr/>
        <p:txBody>
          <a:bodyPr/>
          <a:lstStyle/>
          <a:p>
            <a:pPr>
              <a:defRPr/>
            </a:pPr>
            <a:fld id="{01AFEF66-6C4E-4A9E-824E-D2D05BF47FB0}"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24</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可归前缀的有限自动机</a:t>
            </a:r>
            <a:endParaRPr lang="zh-CN" altLang="en-US" dirty="0"/>
          </a:p>
        </p:txBody>
      </p:sp>
      <p:sp>
        <p:nvSpPr>
          <p:cNvPr id="3" name="内容占位符 2"/>
          <p:cNvSpPr>
            <a:spLocks noGrp="1"/>
          </p:cNvSpPr>
          <p:nvPr>
            <p:ph sz="quarter" idx="1"/>
          </p:nvPr>
        </p:nvSpPr>
        <p:spPr>
          <a:xfrm>
            <a:off x="214282" y="1362076"/>
            <a:ext cx="2143140" cy="4638692"/>
          </a:xfrm>
        </p:spPr>
        <p:txBody>
          <a:bodyPr/>
          <a:lstStyle/>
          <a:p>
            <a:pPr marL="0" indent="0">
              <a:lnSpc>
                <a:spcPct val="150000"/>
              </a:lnSpc>
              <a:buNone/>
            </a:pPr>
            <a:r>
              <a:rPr lang="zh-CN" altLang="en-US" sz="2400" dirty="0" smtClean="0">
                <a:sym typeface="Symbol" pitchFamily="18" charset="2"/>
              </a:rPr>
              <a:t>句子</a:t>
            </a:r>
            <a:r>
              <a:rPr lang="en-US" altLang="zh-CN" sz="2400" dirty="0" err="1" smtClean="0">
                <a:sym typeface="Symbol" pitchFamily="18" charset="2"/>
              </a:rPr>
              <a:t>abbcde</a:t>
            </a:r>
            <a:r>
              <a:rPr lang="zh-CN" altLang="en-US" sz="2400" dirty="0" smtClean="0">
                <a:sym typeface="Symbol" pitchFamily="18" charset="2"/>
              </a:rPr>
              <a:t>的可归前缀为：</a:t>
            </a:r>
            <a:endParaRPr lang="en-US" altLang="zh-CN" sz="2400" dirty="0" smtClean="0">
              <a:sym typeface="Symbol" pitchFamily="18" charset="2"/>
            </a:endParaRPr>
          </a:p>
          <a:p>
            <a:pPr marL="0" indent="0">
              <a:lnSpc>
                <a:spcPct val="160000"/>
              </a:lnSpc>
              <a:buNone/>
            </a:pPr>
            <a:r>
              <a:rPr lang="en-US" altLang="zh-CN" dirty="0" smtClean="0">
                <a:sym typeface="Symbol" pitchFamily="18" charset="2"/>
              </a:rPr>
              <a:t>S[0]</a:t>
            </a:r>
          </a:p>
          <a:p>
            <a:pPr marL="0" indent="0">
              <a:lnSpc>
                <a:spcPct val="160000"/>
              </a:lnSpc>
              <a:buNone/>
            </a:pPr>
            <a:r>
              <a:rPr lang="en-US" altLang="zh-CN" dirty="0" err="1" smtClean="0">
                <a:sym typeface="Symbol" pitchFamily="18" charset="2"/>
              </a:rPr>
              <a:t>ab</a:t>
            </a:r>
            <a:r>
              <a:rPr lang="en-US" altLang="zh-CN" dirty="0" smtClean="0">
                <a:sym typeface="Symbol" pitchFamily="18" charset="2"/>
              </a:rPr>
              <a:t>[2]</a:t>
            </a:r>
          </a:p>
          <a:p>
            <a:pPr marL="0" indent="0">
              <a:lnSpc>
                <a:spcPct val="160000"/>
              </a:lnSpc>
              <a:buNone/>
            </a:pPr>
            <a:r>
              <a:rPr lang="en-US" altLang="zh-CN" dirty="0" err="1" smtClean="0">
                <a:sym typeface="Symbol" pitchFamily="18" charset="2"/>
              </a:rPr>
              <a:t>aAb</a:t>
            </a:r>
            <a:r>
              <a:rPr lang="en-US" altLang="zh-CN" dirty="0" smtClean="0">
                <a:sym typeface="Symbol" pitchFamily="18" charset="2"/>
              </a:rPr>
              <a:t>[3]</a:t>
            </a:r>
          </a:p>
          <a:p>
            <a:pPr marL="0" indent="0">
              <a:lnSpc>
                <a:spcPct val="160000"/>
              </a:lnSpc>
              <a:buNone/>
            </a:pPr>
            <a:r>
              <a:rPr lang="en-US" altLang="zh-CN" dirty="0" err="1" smtClean="0">
                <a:sym typeface="Symbol" pitchFamily="18" charset="2"/>
              </a:rPr>
              <a:t>aAcd</a:t>
            </a:r>
            <a:r>
              <a:rPr lang="en-US" altLang="zh-CN" dirty="0" smtClean="0">
                <a:sym typeface="Symbol" pitchFamily="18" charset="2"/>
              </a:rPr>
              <a:t>[4]</a:t>
            </a:r>
          </a:p>
          <a:p>
            <a:pPr marL="0" indent="0">
              <a:lnSpc>
                <a:spcPct val="160000"/>
              </a:lnSpc>
              <a:buNone/>
            </a:pPr>
            <a:r>
              <a:rPr lang="en-US" altLang="zh-CN" dirty="0" err="1" smtClean="0">
                <a:sym typeface="Symbol" pitchFamily="18" charset="2"/>
              </a:rPr>
              <a:t>aAcBe</a:t>
            </a:r>
            <a:r>
              <a:rPr lang="en-US" altLang="zh-CN" dirty="0" smtClean="0">
                <a:sym typeface="Symbol" pitchFamily="18" charset="2"/>
              </a:rPr>
              <a:t>[1]</a:t>
            </a:r>
          </a:p>
        </p:txBody>
      </p:sp>
      <p:sp>
        <p:nvSpPr>
          <p:cNvPr id="4" name="日期占位符 3"/>
          <p:cNvSpPr>
            <a:spLocks noGrp="1"/>
          </p:cNvSpPr>
          <p:nvPr>
            <p:ph type="dt" sz="half" idx="10"/>
          </p:nvPr>
        </p:nvSpPr>
        <p:spPr/>
        <p:txBody>
          <a:bodyPr/>
          <a:lstStyle/>
          <a:p>
            <a:pPr>
              <a:defRPr/>
            </a:pPr>
            <a:fld id="{2AB4BBBC-42E8-46E8-9D51-B34077B818B1}"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25</a:t>
            </a:fld>
            <a:r>
              <a:rPr lang="en-US" altLang="zh-CN" dirty="0" smtClean="0">
                <a:latin typeface="Times New Roman" pitchFamily="18" charset="0"/>
              </a:rPr>
              <a:t>/36</a:t>
            </a:r>
            <a:endParaRPr lang="en-US" altLang="zh-CN" dirty="0"/>
          </a:p>
        </p:txBody>
      </p:sp>
      <p:sp>
        <p:nvSpPr>
          <p:cNvPr id="8" name="Oval 3"/>
          <p:cNvSpPr>
            <a:spLocks noChangeArrowheads="1"/>
          </p:cNvSpPr>
          <p:nvPr/>
        </p:nvSpPr>
        <p:spPr bwMode="auto">
          <a:xfrm>
            <a:off x="3181376" y="404337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5</a:t>
            </a:r>
          </a:p>
        </p:txBody>
      </p:sp>
      <p:sp>
        <p:nvSpPr>
          <p:cNvPr id="9" name="Oval 4"/>
          <p:cNvSpPr>
            <a:spLocks noChangeArrowheads="1"/>
          </p:cNvSpPr>
          <p:nvPr/>
        </p:nvSpPr>
        <p:spPr bwMode="auto">
          <a:xfrm>
            <a:off x="5391176" y="332899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dirty="0">
                <a:latin typeface="宋体" charset="-122"/>
              </a:rPr>
              <a:t>④</a:t>
            </a:r>
          </a:p>
        </p:txBody>
      </p:sp>
      <p:sp>
        <p:nvSpPr>
          <p:cNvPr id="10" name="Oval 5"/>
          <p:cNvSpPr>
            <a:spLocks noChangeArrowheads="1"/>
          </p:cNvSpPr>
          <p:nvPr/>
        </p:nvSpPr>
        <p:spPr bwMode="auto">
          <a:xfrm>
            <a:off x="6610376" y="404337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dirty="0">
                <a:latin typeface="宋体" charset="-122"/>
              </a:rPr>
              <a:t>⑧</a:t>
            </a:r>
          </a:p>
        </p:txBody>
      </p:sp>
      <p:sp>
        <p:nvSpPr>
          <p:cNvPr id="11" name="Oval 6"/>
          <p:cNvSpPr>
            <a:spLocks noChangeArrowheads="1"/>
          </p:cNvSpPr>
          <p:nvPr/>
        </p:nvSpPr>
        <p:spPr bwMode="auto">
          <a:xfrm>
            <a:off x="3181376" y="475775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9</a:t>
            </a:r>
          </a:p>
        </p:txBody>
      </p:sp>
      <p:sp>
        <p:nvSpPr>
          <p:cNvPr id="12" name="Oval 7"/>
          <p:cNvSpPr>
            <a:spLocks noChangeArrowheads="1"/>
          </p:cNvSpPr>
          <p:nvPr/>
        </p:nvSpPr>
        <p:spPr bwMode="auto">
          <a:xfrm>
            <a:off x="4248176" y="268604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①</a:t>
            </a:r>
          </a:p>
        </p:txBody>
      </p:sp>
      <p:sp>
        <p:nvSpPr>
          <p:cNvPr id="13" name="Oval 8"/>
          <p:cNvSpPr>
            <a:spLocks noChangeArrowheads="1"/>
          </p:cNvSpPr>
          <p:nvPr/>
        </p:nvSpPr>
        <p:spPr bwMode="auto">
          <a:xfrm>
            <a:off x="3181376" y="332899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2</a:t>
            </a:r>
          </a:p>
        </p:txBody>
      </p:sp>
      <p:sp>
        <p:nvSpPr>
          <p:cNvPr id="14" name="Oval 9"/>
          <p:cNvSpPr>
            <a:spLocks noChangeArrowheads="1"/>
          </p:cNvSpPr>
          <p:nvPr/>
        </p:nvSpPr>
        <p:spPr bwMode="auto">
          <a:xfrm>
            <a:off x="3203626"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14</a:t>
            </a:r>
          </a:p>
        </p:txBody>
      </p:sp>
      <p:sp>
        <p:nvSpPr>
          <p:cNvPr id="15" name="Oval 10"/>
          <p:cNvSpPr>
            <a:spLocks noChangeArrowheads="1"/>
          </p:cNvSpPr>
          <p:nvPr/>
        </p:nvSpPr>
        <p:spPr bwMode="auto">
          <a:xfrm>
            <a:off x="4248176" y="332899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3</a:t>
            </a:r>
          </a:p>
        </p:txBody>
      </p:sp>
      <p:sp>
        <p:nvSpPr>
          <p:cNvPr id="16" name="Oval 11"/>
          <p:cNvSpPr>
            <a:spLocks noChangeArrowheads="1"/>
          </p:cNvSpPr>
          <p:nvPr/>
        </p:nvSpPr>
        <p:spPr bwMode="auto">
          <a:xfrm>
            <a:off x="3181376" y="268604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0</a:t>
            </a:r>
          </a:p>
        </p:txBody>
      </p:sp>
      <p:sp>
        <p:nvSpPr>
          <p:cNvPr id="17" name="Oval 12"/>
          <p:cNvSpPr>
            <a:spLocks noChangeArrowheads="1"/>
          </p:cNvSpPr>
          <p:nvPr/>
        </p:nvSpPr>
        <p:spPr bwMode="auto">
          <a:xfrm>
            <a:off x="4248176" y="404337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6</a:t>
            </a:r>
          </a:p>
        </p:txBody>
      </p:sp>
      <p:sp>
        <p:nvSpPr>
          <p:cNvPr id="18" name="Oval 13"/>
          <p:cNvSpPr>
            <a:spLocks noChangeArrowheads="1"/>
          </p:cNvSpPr>
          <p:nvPr/>
        </p:nvSpPr>
        <p:spPr bwMode="auto">
          <a:xfrm>
            <a:off x="5391176" y="404337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7</a:t>
            </a:r>
          </a:p>
        </p:txBody>
      </p:sp>
      <p:sp>
        <p:nvSpPr>
          <p:cNvPr id="19" name="Oval 14"/>
          <p:cNvSpPr>
            <a:spLocks noChangeArrowheads="1"/>
          </p:cNvSpPr>
          <p:nvPr/>
        </p:nvSpPr>
        <p:spPr bwMode="auto">
          <a:xfrm>
            <a:off x="4248176" y="475775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10</a:t>
            </a:r>
          </a:p>
        </p:txBody>
      </p:sp>
      <p:sp>
        <p:nvSpPr>
          <p:cNvPr id="20" name="Oval 15"/>
          <p:cNvSpPr>
            <a:spLocks noChangeArrowheads="1"/>
          </p:cNvSpPr>
          <p:nvPr/>
        </p:nvSpPr>
        <p:spPr bwMode="auto">
          <a:xfrm>
            <a:off x="5391176" y="475775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11</a:t>
            </a:r>
          </a:p>
        </p:txBody>
      </p:sp>
      <p:sp>
        <p:nvSpPr>
          <p:cNvPr id="21" name="Oval 16"/>
          <p:cNvSpPr>
            <a:spLocks noChangeArrowheads="1"/>
          </p:cNvSpPr>
          <p:nvPr/>
        </p:nvSpPr>
        <p:spPr bwMode="auto">
          <a:xfrm>
            <a:off x="6610376" y="475775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12</a:t>
            </a:r>
          </a:p>
        </p:txBody>
      </p:sp>
      <p:sp>
        <p:nvSpPr>
          <p:cNvPr id="22" name="Oval 17"/>
          <p:cNvSpPr>
            <a:spLocks noChangeArrowheads="1"/>
          </p:cNvSpPr>
          <p:nvPr/>
        </p:nvSpPr>
        <p:spPr bwMode="auto">
          <a:xfrm>
            <a:off x="5322908"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16</a:t>
            </a:r>
          </a:p>
        </p:txBody>
      </p:sp>
      <p:sp>
        <p:nvSpPr>
          <p:cNvPr id="23" name="Oval 18"/>
          <p:cNvSpPr>
            <a:spLocks noChangeArrowheads="1"/>
          </p:cNvSpPr>
          <p:nvPr/>
        </p:nvSpPr>
        <p:spPr bwMode="auto">
          <a:xfrm>
            <a:off x="4270426"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15</a:t>
            </a:r>
          </a:p>
        </p:txBody>
      </p:sp>
      <p:sp>
        <p:nvSpPr>
          <p:cNvPr id="24" name="Oval 19"/>
          <p:cNvSpPr>
            <a:spLocks noChangeArrowheads="1"/>
          </p:cNvSpPr>
          <p:nvPr/>
        </p:nvSpPr>
        <p:spPr bwMode="auto">
          <a:xfrm>
            <a:off x="7829576" y="475775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⒀</a:t>
            </a:r>
          </a:p>
        </p:txBody>
      </p:sp>
      <p:sp>
        <p:nvSpPr>
          <p:cNvPr id="25" name="Oval 20"/>
          <p:cNvSpPr>
            <a:spLocks noChangeArrowheads="1"/>
          </p:cNvSpPr>
          <p:nvPr/>
        </p:nvSpPr>
        <p:spPr bwMode="auto">
          <a:xfrm>
            <a:off x="6380224"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17</a:t>
            </a:r>
          </a:p>
        </p:txBody>
      </p:sp>
      <p:sp>
        <p:nvSpPr>
          <p:cNvPr id="26" name="Oval 21"/>
          <p:cNvSpPr>
            <a:spLocks noChangeArrowheads="1"/>
          </p:cNvSpPr>
          <p:nvPr/>
        </p:nvSpPr>
        <p:spPr bwMode="auto">
          <a:xfrm>
            <a:off x="7362836"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dirty="0"/>
              <a:t>18</a:t>
            </a:r>
          </a:p>
        </p:txBody>
      </p:sp>
      <p:sp>
        <p:nvSpPr>
          <p:cNvPr id="27" name="Oval 22"/>
          <p:cNvSpPr>
            <a:spLocks noChangeArrowheads="1"/>
          </p:cNvSpPr>
          <p:nvPr/>
        </p:nvSpPr>
        <p:spPr bwMode="auto">
          <a:xfrm>
            <a:off x="8429636" y="5514988"/>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⒆</a:t>
            </a:r>
          </a:p>
        </p:txBody>
      </p:sp>
      <p:sp>
        <p:nvSpPr>
          <p:cNvPr id="33" name="Line 28"/>
          <p:cNvSpPr>
            <a:spLocks noChangeShapeType="1"/>
          </p:cNvSpPr>
          <p:nvPr/>
        </p:nvSpPr>
        <p:spPr bwMode="auto">
          <a:xfrm>
            <a:off x="3638576" y="291464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4" name="Line 29"/>
          <p:cNvSpPr>
            <a:spLocks noChangeShapeType="1"/>
          </p:cNvSpPr>
          <p:nvPr/>
        </p:nvSpPr>
        <p:spPr bwMode="auto">
          <a:xfrm>
            <a:off x="3638576" y="355759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5" name="Line 30"/>
          <p:cNvSpPr>
            <a:spLocks noChangeShapeType="1"/>
          </p:cNvSpPr>
          <p:nvPr/>
        </p:nvSpPr>
        <p:spPr bwMode="auto">
          <a:xfrm>
            <a:off x="3638576" y="427197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 name="Line 31"/>
          <p:cNvSpPr>
            <a:spLocks noChangeShapeType="1"/>
          </p:cNvSpPr>
          <p:nvPr/>
        </p:nvSpPr>
        <p:spPr bwMode="auto">
          <a:xfrm>
            <a:off x="3638576" y="498635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7" name="Line 32"/>
          <p:cNvSpPr>
            <a:spLocks noChangeShapeType="1"/>
          </p:cNvSpPr>
          <p:nvPr/>
        </p:nvSpPr>
        <p:spPr bwMode="auto">
          <a:xfrm>
            <a:off x="3660826" y="574358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8" name="Line 33"/>
          <p:cNvSpPr>
            <a:spLocks noChangeShapeType="1"/>
          </p:cNvSpPr>
          <p:nvPr/>
        </p:nvSpPr>
        <p:spPr bwMode="auto">
          <a:xfrm>
            <a:off x="4727626" y="574358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 name="Line 34"/>
          <p:cNvSpPr>
            <a:spLocks noChangeShapeType="1"/>
          </p:cNvSpPr>
          <p:nvPr/>
        </p:nvSpPr>
        <p:spPr bwMode="auto">
          <a:xfrm>
            <a:off x="5856308" y="574358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0" name="Line 35"/>
          <p:cNvSpPr>
            <a:spLocks noChangeShapeType="1"/>
          </p:cNvSpPr>
          <p:nvPr/>
        </p:nvSpPr>
        <p:spPr bwMode="auto">
          <a:xfrm>
            <a:off x="6799320" y="574358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1" name="Line 36"/>
          <p:cNvSpPr>
            <a:spLocks noChangeShapeType="1"/>
          </p:cNvSpPr>
          <p:nvPr/>
        </p:nvSpPr>
        <p:spPr bwMode="auto">
          <a:xfrm>
            <a:off x="7820036" y="5743588"/>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2" name="Line 37"/>
          <p:cNvSpPr>
            <a:spLocks noChangeShapeType="1"/>
          </p:cNvSpPr>
          <p:nvPr/>
        </p:nvSpPr>
        <p:spPr bwMode="auto">
          <a:xfrm>
            <a:off x="7143776" y="498635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3" name="Line 38"/>
          <p:cNvSpPr>
            <a:spLocks noChangeShapeType="1"/>
          </p:cNvSpPr>
          <p:nvPr/>
        </p:nvSpPr>
        <p:spPr bwMode="auto">
          <a:xfrm>
            <a:off x="5924576" y="498635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4" name="Line 39"/>
          <p:cNvSpPr>
            <a:spLocks noChangeShapeType="1"/>
          </p:cNvSpPr>
          <p:nvPr/>
        </p:nvSpPr>
        <p:spPr bwMode="auto">
          <a:xfrm>
            <a:off x="5924576" y="427197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5" name="Line 40"/>
          <p:cNvSpPr>
            <a:spLocks noChangeShapeType="1"/>
          </p:cNvSpPr>
          <p:nvPr/>
        </p:nvSpPr>
        <p:spPr bwMode="auto">
          <a:xfrm>
            <a:off x="4705376" y="427197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6" name="Line 41"/>
          <p:cNvSpPr>
            <a:spLocks noChangeShapeType="1"/>
          </p:cNvSpPr>
          <p:nvPr/>
        </p:nvSpPr>
        <p:spPr bwMode="auto">
          <a:xfrm>
            <a:off x="4781576" y="355759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7" name="Line 42"/>
          <p:cNvSpPr>
            <a:spLocks noChangeShapeType="1"/>
          </p:cNvSpPr>
          <p:nvPr/>
        </p:nvSpPr>
        <p:spPr bwMode="auto">
          <a:xfrm>
            <a:off x="4781576" y="498635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48" name="Text Box 43"/>
          <p:cNvSpPr txBox="1">
            <a:spLocks noChangeArrowheads="1"/>
          </p:cNvSpPr>
          <p:nvPr/>
        </p:nvSpPr>
        <p:spPr bwMode="auto">
          <a:xfrm>
            <a:off x="3767164" y="2457448"/>
            <a:ext cx="354012"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S</a:t>
            </a:r>
          </a:p>
        </p:txBody>
      </p:sp>
      <p:sp>
        <p:nvSpPr>
          <p:cNvPr id="49" name="Text Box 44"/>
          <p:cNvSpPr txBox="1">
            <a:spLocks noChangeArrowheads="1"/>
          </p:cNvSpPr>
          <p:nvPr/>
        </p:nvSpPr>
        <p:spPr bwMode="auto">
          <a:xfrm>
            <a:off x="3808439" y="3100390"/>
            <a:ext cx="319087"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0" name="Text Box 45"/>
          <p:cNvSpPr txBox="1">
            <a:spLocks noChangeArrowheads="1"/>
          </p:cNvSpPr>
          <p:nvPr/>
        </p:nvSpPr>
        <p:spPr bwMode="auto">
          <a:xfrm>
            <a:off x="3790976" y="381477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1" name="Text Box 46"/>
          <p:cNvSpPr txBox="1">
            <a:spLocks noChangeArrowheads="1"/>
          </p:cNvSpPr>
          <p:nvPr/>
        </p:nvSpPr>
        <p:spPr bwMode="auto">
          <a:xfrm>
            <a:off x="3790976" y="452915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2" name="Text Box 47"/>
          <p:cNvSpPr txBox="1">
            <a:spLocks noChangeArrowheads="1"/>
          </p:cNvSpPr>
          <p:nvPr/>
        </p:nvSpPr>
        <p:spPr bwMode="auto">
          <a:xfrm>
            <a:off x="3813226" y="521495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3" name="Text Box 48"/>
          <p:cNvSpPr txBox="1">
            <a:spLocks noChangeArrowheads="1"/>
          </p:cNvSpPr>
          <p:nvPr/>
        </p:nvSpPr>
        <p:spPr bwMode="auto">
          <a:xfrm>
            <a:off x="4880026" y="5286388"/>
            <a:ext cx="404813"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4" name="Text Box 49"/>
          <p:cNvSpPr txBox="1">
            <a:spLocks noChangeArrowheads="1"/>
          </p:cNvSpPr>
          <p:nvPr/>
        </p:nvSpPr>
        <p:spPr bwMode="auto">
          <a:xfrm>
            <a:off x="4857776" y="4529150"/>
            <a:ext cx="404813"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5" name="Text Box 50"/>
          <p:cNvSpPr txBox="1">
            <a:spLocks noChangeArrowheads="1"/>
          </p:cNvSpPr>
          <p:nvPr/>
        </p:nvSpPr>
        <p:spPr bwMode="auto">
          <a:xfrm>
            <a:off x="4833964" y="3814770"/>
            <a:ext cx="404812"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56" name="Text Box 51"/>
          <p:cNvSpPr txBox="1">
            <a:spLocks noChangeArrowheads="1"/>
          </p:cNvSpPr>
          <p:nvPr/>
        </p:nvSpPr>
        <p:spPr bwMode="auto">
          <a:xfrm>
            <a:off x="4891114" y="310039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b</a:t>
            </a:r>
          </a:p>
        </p:txBody>
      </p:sp>
      <p:sp>
        <p:nvSpPr>
          <p:cNvPr id="57" name="Text Box 52"/>
          <p:cNvSpPr txBox="1">
            <a:spLocks noChangeArrowheads="1"/>
          </p:cNvSpPr>
          <p:nvPr/>
        </p:nvSpPr>
        <p:spPr bwMode="auto">
          <a:xfrm>
            <a:off x="5951558" y="5286388"/>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c</a:t>
            </a:r>
          </a:p>
        </p:txBody>
      </p:sp>
      <p:sp>
        <p:nvSpPr>
          <p:cNvPr id="58" name="Text Box 53"/>
          <p:cNvSpPr txBox="1">
            <a:spLocks noChangeArrowheads="1"/>
          </p:cNvSpPr>
          <p:nvPr/>
        </p:nvSpPr>
        <p:spPr bwMode="auto">
          <a:xfrm>
            <a:off x="6043639" y="4529150"/>
            <a:ext cx="319087"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c</a:t>
            </a:r>
          </a:p>
        </p:txBody>
      </p:sp>
      <p:sp>
        <p:nvSpPr>
          <p:cNvPr id="59" name="Text Box 54"/>
          <p:cNvSpPr txBox="1">
            <a:spLocks noChangeArrowheads="1"/>
          </p:cNvSpPr>
          <p:nvPr/>
        </p:nvSpPr>
        <p:spPr bwMode="auto">
          <a:xfrm>
            <a:off x="6034114" y="373857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b</a:t>
            </a:r>
          </a:p>
        </p:txBody>
      </p:sp>
      <p:sp>
        <p:nvSpPr>
          <p:cNvPr id="60" name="Text Box 55"/>
          <p:cNvSpPr txBox="1">
            <a:spLocks noChangeArrowheads="1"/>
          </p:cNvSpPr>
          <p:nvPr/>
        </p:nvSpPr>
        <p:spPr bwMode="auto">
          <a:xfrm>
            <a:off x="7305701" y="452915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d</a:t>
            </a:r>
          </a:p>
        </p:txBody>
      </p:sp>
      <p:sp>
        <p:nvSpPr>
          <p:cNvPr id="61" name="Text Box 56"/>
          <p:cNvSpPr txBox="1">
            <a:spLocks noChangeArrowheads="1"/>
          </p:cNvSpPr>
          <p:nvPr/>
        </p:nvSpPr>
        <p:spPr bwMode="auto">
          <a:xfrm>
            <a:off x="8001024" y="5286388"/>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dirty="0"/>
              <a:t>e</a:t>
            </a:r>
          </a:p>
        </p:txBody>
      </p:sp>
      <p:sp>
        <p:nvSpPr>
          <p:cNvPr id="63" name="Text Box 58"/>
          <p:cNvSpPr txBox="1">
            <a:spLocks noChangeArrowheads="1"/>
          </p:cNvSpPr>
          <p:nvPr/>
        </p:nvSpPr>
        <p:spPr bwMode="auto">
          <a:xfrm>
            <a:off x="7000892" y="5286388"/>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dirty="0">
                <a:latin typeface="宋体" charset="-122"/>
                <a:sym typeface="Symbol" pitchFamily="18" charset="2"/>
              </a:rPr>
              <a:t>B</a:t>
            </a:r>
            <a:endParaRPr lang="zh-CN" altLang="zh-CN" b="1" dirty="0">
              <a:latin typeface="宋体" charset="-122"/>
              <a:sym typeface="Symbol" pitchFamily="18" charset="2"/>
            </a:endParaRPr>
          </a:p>
        </p:txBody>
      </p:sp>
      <p:sp>
        <p:nvSpPr>
          <p:cNvPr id="70" name="Line 32"/>
          <p:cNvSpPr>
            <a:spLocks noChangeShapeType="1"/>
          </p:cNvSpPr>
          <p:nvPr/>
        </p:nvSpPr>
        <p:spPr bwMode="auto">
          <a:xfrm>
            <a:off x="2746678" y="5738842"/>
            <a:ext cx="4680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 name="Line 32"/>
          <p:cNvSpPr>
            <a:spLocks noChangeShapeType="1"/>
          </p:cNvSpPr>
          <p:nvPr/>
        </p:nvSpPr>
        <p:spPr bwMode="auto">
          <a:xfrm>
            <a:off x="2714612" y="5000636"/>
            <a:ext cx="4680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2" name="Line 32"/>
          <p:cNvSpPr>
            <a:spLocks noChangeShapeType="1"/>
          </p:cNvSpPr>
          <p:nvPr/>
        </p:nvSpPr>
        <p:spPr bwMode="auto">
          <a:xfrm>
            <a:off x="2714612" y="4286256"/>
            <a:ext cx="4680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3" name="Line 32"/>
          <p:cNvSpPr>
            <a:spLocks noChangeShapeType="1"/>
          </p:cNvSpPr>
          <p:nvPr/>
        </p:nvSpPr>
        <p:spPr bwMode="auto">
          <a:xfrm>
            <a:off x="2675240" y="3571876"/>
            <a:ext cx="4680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 name="Line 32"/>
          <p:cNvSpPr>
            <a:spLocks noChangeShapeType="1"/>
          </p:cNvSpPr>
          <p:nvPr/>
        </p:nvSpPr>
        <p:spPr bwMode="auto">
          <a:xfrm>
            <a:off x="2714612" y="2928934"/>
            <a:ext cx="4680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6" name="内容占位符 2"/>
          <p:cNvSpPr txBox="1">
            <a:spLocks/>
          </p:cNvSpPr>
          <p:nvPr/>
        </p:nvSpPr>
        <p:spPr bwMode="auto">
          <a:xfrm>
            <a:off x="2714612" y="1357298"/>
            <a:ext cx="6286544" cy="12144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a:r>
              <a:rPr lang="zh-CN" altLang="en-US" b="1" dirty="0" smtClean="0"/>
              <a:t>可归前缀的有限自动机如图</a:t>
            </a:r>
            <a:r>
              <a:rPr lang="en-US" altLang="zh-CN" b="1" dirty="0" smtClean="0"/>
              <a:t>6.2</a:t>
            </a:r>
            <a:r>
              <a:rPr lang="zh-CN" altLang="en-US" b="1" dirty="0" smtClean="0"/>
              <a:t>，图中每一个终态都是句柄识别态，用双圈表示，带*号的状态既为句柄识别态又是句子识别态。</a:t>
            </a:r>
            <a:endParaRPr lang="zh-CN" altLang="en-US" b="1" dirty="0"/>
          </a:p>
        </p:txBody>
      </p:sp>
      <p:sp>
        <p:nvSpPr>
          <p:cNvPr id="77" name="矩形 76"/>
          <p:cNvSpPr/>
          <p:nvPr/>
        </p:nvSpPr>
        <p:spPr>
          <a:xfrm>
            <a:off x="4714876" y="2571744"/>
            <a:ext cx="338554" cy="461665"/>
          </a:xfrm>
          <a:prstGeom prst="rect">
            <a:avLst/>
          </a:prstGeom>
        </p:spPr>
        <p:txBody>
          <a:bodyPr wrap="none">
            <a:spAutoFit/>
          </a:bodyPr>
          <a:lstStyle/>
          <a:p>
            <a:r>
              <a:rPr lang="zh-CN" altLang="en-US" b="1" dirty="0" smtClean="0"/>
              <a:t>*</a:t>
            </a:r>
            <a:endParaRPr lang="zh-CN" altLang="en-US" dirty="0"/>
          </a:p>
        </p:txBody>
      </p:sp>
      <p:sp>
        <p:nvSpPr>
          <p:cNvPr id="78" name="矩形 77"/>
          <p:cNvSpPr/>
          <p:nvPr/>
        </p:nvSpPr>
        <p:spPr>
          <a:xfrm>
            <a:off x="3571868" y="6000768"/>
            <a:ext cx="3408305" cy="400110"/>
          </a:xfrm>
          <a:prstGeom prst="rect">
            <a:avLst/>
          </a:prstGeom>
        </p:spPr>
        <p:txBody>
          <a:bodyPr wrap="none">
            <a:spAutoFit/>
          </a:bodyPr>
          <a:lstStyle/>
          <a:p>
            <a:r>
              <a:rPr lang="zh-CN" altLang="en-US" sz="2000" b="1" dirty="0" smtClean="0"/>
              <a:t>图</a:t>
            </a:r>
            <a:r>
              <a:rPr lang="en-US" altLang="zh-CN" sz="2000" b="1" dirty="0" smtClean="0"/>
              <a:t>6.2 </a:t>
            </a:r>
            <a:r>
              <a:rPr lang="zh-CN" altLang="en-US" sz="2000" b="1" dirty="0" smtClean="0"/>
              <a:t>可归前缀的有限自动机</a:t>
            </a:r>
            <a:endParaRPr lang="zh-CN" altLang="en-US" sz="2000" dirty="0"/>
          </a:p>
        </p:txBody>
      </p:sp>
      <p:cxnSp>
        <p:nvCxnSpPr>
          <p:cNvPr id="67" name="直接连接符 66"/>
          <p:cNvCxnSpPr/>
          <p:nvPr/>
        </p:nvCxnSpPr>
        <p:spPr>
          <a:xfrm rot="5400000">
            <a:off x="142844" y="3786190"/>
            <a:ext cx="457203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64"/>
          <p:cNvGrpSpPr/>
          <p:nvPr/>
        </p:nvGrpSpPr>
        <p:grpSpPr>
          <a:xfrm>
            <a:off x="142844" y="1214422"/>
            <a:ext cx="7286676" cy="4581540"/>
            <a:chOff x="381000" y="990600"/>
            <a:chExt cx="8305800" cy="5029200"/>
          </a:xfrm>
        </p:grpSpPr>
        <p:sp>
          <p:nvSpPr>
            <p:cNvPr id="31746" name="Oval 2"/>
            <p:cNvSpPr>
              <a:spLocks noChangeArrowheads="1"/>
            </p:cNvSpPr>
            <p:nvPr/>
          </p:nvSpPr>
          <p:spPr bwMode="auto">
            <a:xfrm>
              <a:off x="838200" y="3429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en-US" altLang="zh-CN"/>
                <a:t>x</a:t>
              </a:r>
            </a:p>
          </p:txBody>
        </p:sp>
        <p:sp>
          <p:nvSpPr>
            <p:cNvPr id="31747" name="Oval 3"/>
            <p:cNvSpPr>
              <a:spLocks noChangeArrowheads="1"/>
            </p:cNvSpPr>
            <p:nvPr/>
          </p:nvSpPr>
          <p:spPr bwMode="auto">
            <a:xfrm>
              <a:off x="2514600" y="3429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dirty="0"/>
                <a:t>5</a:t>
              </a:r>
            </a:p>
          </p:txBody>
        </p:sp>
        <p:sp>
          <p:nvSpPr>
            <p:cNvPr id="31748" name="Oval 4"/>
            <p:cNvSpPr>
              <a:spLocks noChangeArrowheads="1"/>
            </p:cNvSpPr>
            <p:nvPr/>
          </p:nvSpPr>
          <p:spPr bwMode="auto">
            <a:xfrm>
              <a:off x="4724400" y="2286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④</a:t>
              </a:r>
            </a:p>
          </p:txBody>
        </p:sp>
        <p:sp>
          <p:nvSpPr>
            <p:cNvPr id="31749" name="Oval 5"/>
            <p:cNvSpPr>
              <a:spLocks noChangeArrowheads="1"/>
            </p:cNvSpPr>
            <p:nvPr/>
          </p:nvSpPr>
          <p:spPr bwMode="auto">
            <a:xfrm>
              <a:off x="5943600" y="3429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dirty="0">
                  <a:latin typeface="宋体" charset="-122"/>
                </a:rPr>
                <a:t>⑧</a:t>
              </a:r>
            </a:p>
          </p:txBody>
        </p:sp>
        <p:sp>
          <p:nvSpPr>
            <p:cNvPr id="31750" name="Oval 6"/>
            <p:cNvSpPr>
              <a:spLocks noChangeArrowheads="1"/>
            </p:cNvSpPr>
            <p:nvPr/>
          </p:nvSpPr>
          <p:spPr bwMode="auto">
            <a:xfrm>
              <a:off x="2514600" y="4572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9</a:t>
              </a:r>
            </a:p>
          </p:txBody>
        </p:sp>
        <p:sp>
          <p:nvSpPr>
            <p:cNvPr id="31751" name="Oval 7"/>
            <p:cNvSpPr>
              <a:spLocks noChangeArrowheads="1"/>
            </p:cNvSpPr>
            <p:nvPr/>
          </p:nvSpPr>
          <p:spPr bwMode="auto">
            <a:xfrm>
              <a:off x="3581400" y="12192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①</a:t>
              </a:r>
            </a:p>
          </p:txBody>
        </p:sp>
        <p:sp>
          <p:nvSpPr>
            <p:cNvPr id="31752" name="Oval 8"/>
            <p:cNvSpPr>
              <a:spLocks noChangeArrowheads="1"/>
            </p:cNvSpPr>
            <p:nvPr/>
          </p:nvSpPr>
          <p:spPr bwMode="auto">
            <a:xfrm>
              <a:off x="2514600" y="2286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2</a:t>
              </a:r>
            </a:p>
          </p:txBody>
        </p:sp>
        <p:sp>
          <p:nvSpPr>
            <p:cNvPr id="31753" name="Oval 9"/>
            <p:cNvSpPr>
              <a:spLocks noChangeArrowheads="1"/>
            </p:cNvSpPr>
            <p:nvPr/>
          </p:nvSpPr>
          <p:spPr bwMode="auto">
            <a:xfrm>
              <a:off x="25146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14</a:t>
              </a:r>
            </a:p>
          </p:txBody>
        </p:sp>
        <p:sp>
          <p:nvSpPr>
            <p:cNvPr id="31754" name="Oval 10"/>
            <p:cNvSpPr>
              <a:spLocks noChangeArrowheads="1"/>
            </p:cNvSpPr>
            <p:nvPr/>
          </p:nvSpPr>
          <p:spPr bwMode="auto">
            <a:xfrm>
              <a:off x="3581400" y="2286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3</a:t>
              </a:r>
            </a:p>
          </p:txBody>
        </p:sp>
        <p:sp>
          <p:nvSpPr>
            <p:cNvPr id="31755" name="Oval 11"/>
            <p:cNvSpPr>
              <a:spLocks noChangeArrowheads="1"/>
            </p:cNvSpPr>
            <p:nvPr/>
          </p:nvSpPr>
          <p:spPr bwMode="auto">
            <a:xfrm>
              <a:off x="2514600" y="12192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0</a:t>
              </a:r>
            </a:p>
          </p:txBody>
        </p:sp>
        <p:sp>
          <p:nvSpPr>
            <p:cNvPr id="31756" name="Oval 12"/>
            <p:cNvSpPr>
              <a:spLocks noChangeArrowheads="1"/>
            </p:cNvSpPr>
            <p:nvPr/>
          </p:nvSpPr>
          <p:spPr bwMode="auto">
            <a:xfrm>
              <a:off x="3581400" y="3429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6</a:t>
              </a:r>
            </a:p>
          </p:txBody>
        </p:sp>
        <p:sp>
          <p:nvSpPr>
            <p:cNvPr id="31757" name="Oval 13"/>
            <p:cNvSpPr>
              <a:spLocks noChangeArrowheads="1"/>
            </p:cNvSpPr>
            <p:nvPr/>
          </p:nvSpPr>
          <p:spPr bwMode="auto">
            <a:xfrm>
              <a:off x="4724400" y="3429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dirty="0"/>
                <a:t>7</a:t>
              </a:r>
            </a:p>
          </p:txBody>
        </p:sp>
        <p:sp>
          <p:nvSpPr>
            <p:cNvPr id="31758" name="Oval 14"/>
            <p:cNvSpPr>
              <a:spLocks noChangeArrowheads="1"/>
            </p:cNvSpPr>
            <p:nvPr/>
          </p:nvSpPr>
          <p:spPr bwMode="auto">
            <a:xfrm>
              <a:off x="3581400" y="4572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10</a:t>
              </a:r>
            </a:p>
          </p:txBody>
        </p:sp>
        <p:sp>
          <p:nvSpPr>
            <p:cNvPr id="31759" name="Oval 15"/>
            <p:cNvSpPr>
              <a:spLocks noChangeArrowheads="1"/>
            </p:cNvSpPr>
            <p:nvPr/>
          </p:nvSpPr>
          <p:spPr bwMode="auto">
            <a:xfrm>
              <a:off x="4724400" y="4572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11</a:t>
              </a:r>
            </a:p>
          </p:txBody>
        </p:sp>
        <p:sp>
          <p:nvSpPr>
            <p:cNvPr id="31760" name="Oval 16"/>
            <p:cNvSpPr>
              <a:spLocks noChangeArrowheads="1"/>
            </p:cNvSpPr>
            <p:nvPr/>
          </p:nvSpPr>
          <p:spPr bwMode="auto">
            <a:xfrm>
              <a:off x="5943600" y="4572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12</a:t>
              </a:r>
            </a:p>
          </p:txBody>
        </p:sp>
        <p:sp>
          <p:nvSpPr>
            <p:cNvPr id="31761" name="Oval 17"/>
            <p:cNvSpPr>
              <a:spLocks noChangeArrowheads="1"/>
            </p:cNvSpPr>
            <p:nvPr/>
          </p:nvSpPr>
          <p:spPr bwMode="auto">
            <a:xfrm>
              <a:off x="47244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16</a:t>
              </a:r>
            </a:p>
          </p:txBody>
        </p:sp>
        <p:sp>
          <p:nvSpPr>
            <p:cNvPr id="31762" name="Oval 18"/>
            <p:cNvSpPr>
              <a:spLocks noChangeArrowheads="1"/>
            </p:cNvSpPr>
            <p:nvPr/>
          </p:nvSpPr>
          <p:spPr bwMode="auto">
            <a:xfrm>
              <a:off x="35814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15</a:t>
              </a:r>
            </a:p>
          </p:txBody>
        </p:sp>
        <p:sp>
          <p:nvSpPr>
            <p:cNvPr id="31763" name="Oval 19"/>
            <p:cNvSpPr>
              <a:spLocks noChangeArrowheads="1"/>
            </p:cNvSpPr>
            <p:nvPr/>
          </p:nvSpPr>
          <p:spPr bwMode="auto">
            <a:xfrm>
              <a:off x="7162800" y="45720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a:latin typeface="宋体" charset="-122"/>
                </a:rPr>
                <a:t>⒀</a:t>
              </a:r>
            </a:p>
          </p:txBody>
        </p:sp>
        <p:sp>
          <p:nvSpPr>
            <p:cNvPr id="31764" name="Oval 20"/>
            <p:cNvSpPr>
              <a:spLocks noChangeArrowheads="1"/>
            </p:cNvSpPr>
            <p:nvPr/>
          </p:nvSpPr>
          <p:spPr bwMode="auto">
            <a:xfrm>
              <a:off x="59436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17</a:t>
              </a:r>
            </a:p>
          </p:txBody>
        </p:sp>
        <p:sp>
          <p:nvSpPr>
            <p:cNvPr id="31765" name="Oval 21"/>
            <p:cNvSpPr>
              <a:spLocks noChangeArrowheads="1"/>
            </p:cNvSpPr>
            <p:nvPr/>
          </p:nvSpPr>
          <p:spPr bwMode="auto">
            <a:xfrm>
              <a:off x="71628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kumimoji="1" lang="zh-CN" altLang="en-US"/>
                <a:t>18</a:t>
              </a:r>
            </a:p>
          </p:txBody>
        </p:sp>
        <p:sp>
          <p:nvSpPr>
            <p:cNvPr id="31766" name="Oval 22"/>
            <p:cNvSpPr>
              <a:spLocks noChangeArrowheads="1"/>
            </p:cNvSpPr>
            <p:nvPr/>
          </p:nvSpPr>
          <p:spPr bwMode="auto">
            <a:xfrm>
              <a:off x="8229600" y="5562600"/>
              <a:ext cx="457200" cy="457200"/>
            </a:xfrm>
            <a:prstGeom prst="ellipse">
              <a:avLst/>
            </a:prstGeom>
            <a:solidFill>
              <a:schemeClr val="bg1"/>
            </a:solidFill>
            <a:ln w="9525">
              <a:solidFill>
                <a:schemeClr val="tx1"/>
              </a:solidFill>
              <a:round/>
              <a:headEnd/>
              <a:tailEnd/>
            </a:ln>
            <a:effectLst/>
          </p:spPr>
          <p:txBody>
            <a:bodyPr wrap="none" anchor="ctr"/>
            <a:lstStyle/>
            <a:p>
              <a:pPr algn="ctr" eaLnBrk="1" hangingPunct="1"/>
              <a:r>
                <a:rPr lang="zh-CN" altLang="en-US" b="1" dirty="0">
                  <a:latin typeface="宋体" charset="-122"/>
                </a:rPr>
                <a:t>⒆</a:t>
              </a:r>
            </a:p>
          </p:txBody>
        </p:sp>
        <p:sp>
          <p:nvSpPr>
            <p:cNvPr id="31767" name="Line 23"/>
            <p:cNvSpPr>
              <a:spLocks noChangeShapeType="1"/>
            </p:cNvSpPr>
            <p:nvPr/>
          </p:nvSpPr>
          <p:spPr bwMode="auto">
            <a:xfrm flipV="1">
              <a:off x="1219200" y="1600200"/>
              <a:ext cx="1295400" cy="18288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68" name="Line 24"/>
            <p:cNvSpPr>
              <a:spLocks noChangeShapeType="1"/>
            </p:cNvSpPr>
            <p:nvPr/>
          </p:nvSpPr>
          <p:spPr bwMode="auto">
            <a:xfrm flipV="1">
              <a:off x="1295400" y="2667000"/>
              <a:ext cx="1219200" cy="914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69" name="Line 25"/>
            <p:cNvSpPr>
              <a:spLocks noChangeShapeType="1"/>
            </p:cNvSpPr>
            <p:nvPr/>
          </p:nvSpPr>
          <p:spPr bwMode="auto">
            <a:xfrm>
              <a:off x="1295400" y="3657600"/>
              <a:ext cx="1219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0" name="Line 26"/>
            <p:cNvSpPr>
              <a:spLocks noChangeShapeType="1"/>
            </p:cNvSpPr>
            <p:nvPr/>
          </p:nvSpPr>
          <p:spPr bwMode="auto">
            <a:xfrm>
              <a:off x="1295400" y="3810000"/>
              <a:ext cx="1219200" cy="9144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1" name="Line 27"/>
            <p:cNvSpPr>
              <a:spLocks noChangeShapeType="1"/>
            </p:cNvSpPr>
            <p:nvPr/>
          </p:nvSpPr>
          <p:spPr bwMode="auto">
            <a:xfrm>
              <a:off x="1143000" y="3886200"/>
              <a:ext cx="1371600" cy="182880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2" name="Line 28"/>
            <p:cNvSpPr>
              <a:spLocks noChangeShapeType="1"/>
            </p:cNvSpPr>
            <p:nvPr/>
          </p:nvSpPr>
          <p:spPr bwMode="auto">
            <a:xfrm>
              <a:off x="2971800" y="14478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3" name="Line 29"/>
            <p:cNvSpPr>
              <a:spLocks noChangeShapeType="1"/>
            </p:cNvSpPr>
            <p:nvPr/>
          </p:nvSpPr>
          <p:spPr bwMode="auto">
            <a:xfrm>
              <a:off x="2971800" y="2514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4" name="Line 30"/>
            <p:cNvSpPr>
              <a:spLocks noChangeShapeType="1"/>
            </p:cNvSpPr>
            <p:nvPr/>
          </p:nvSpPr>
          <p:spPr bwMode="auto">
            <a:xfrm>
              <a:off x="2971800" y="3657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5" name="Line 31"/>
            <p:cNvSpPr>
              <a:spLocks noChangeShapeType="1"/>
            </p:cNvSpPr>
            <p:nvPr/>
          </p:nvSpPr>
          <p:spPr bwMode="auto">
            <a:xfrm>
              <a:off x="2971800" y="4800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6" name="Line 32"/>
            <p:cNvSpPr>
              <a:spLocks noChangeShapeType="1"/>
            </p:cNvSpPr>
            <p:nvPr/>
          </p:nvSpPr>
          <p:spPr bwMode="auto">
            <a:xfrm>
              <a:off x="2971800" y="57912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7" name="Line 33"/>
            <p:cNvSpPr>
              <a:spLocks noChangeShapeType="1"/>
            </p:cNvSpPr>
            <p:nvPr/>
          </p:nvSpPr>
          <p:spPr bwMode="auto">
            <a:xfrm>
              <a:off x="4038600" y="57912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8" name="Line 34"/>
            <p:cNvSpPr>
              <a:spLocks noChangeShapeType="1"/>
            </p:cNvSpPr>
            <p:nvPr/>
          </p:nvSpPr>
          <p:spPr bwMode="auto">
            <a:xfrm>
              <a:off x="5257800" y="57912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79" name="Line 35"/>
            <p:cNvSpPr>
              <a:spLocks noChangeShapeType="1"/>
            </p:cNvSpPr>
            <p:nvPr/>
          </p:nvSpPr>
          <p:spPr bwMode="auto">
            <a:xfrm>
              <a:off x="6477000" y="57912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0" name="Line 36"/>
            <p:cNvSpPr>
              <a:spLocks noChangeShapeType="1"/>
            </p:cNvSpPr>
            <p:nvPr/>
          </p:nvSpPr>
          <p:spPr bwMode="auto">
            <a:xfrm>
              <a:off x="7620000" y="57912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1" name="Line 37"/>
            <p:cNvSpPr>
              <a:spLocks noChangeShapeType="1"/>
            </p:cNvSpPr>
            <p:nvPr/>
          </p:nvSpPr>
          <p:spPr bwMode="auto">
            <a:xfrm>
              <a:off x="6477000" y="4800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2" name="Line 38"/>
            <p:cNvSpPr>
              <a:spLocks noChangeShapeType="1"/>
            </p:cNvSpPr>
            <p:nvPr/>
          </p:nvSpPr>
          <p:spPr bwMode="auto">
            <a:xfrm>
              <a:off x="5257800" y="4800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3" name="Line 39"/>
            <p:cNvSpPr>
              <a:spLocks noChangeShapeType="1"/>
            </p:cNvSpPr>
            <p:nvPr/>
          </p:nvSpPr>
          <p:spPr bwMode="auto">
            <a:xfrm>
              <a:off x="5257800" y="3657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4" name="Line 40"/>
            <p:cNvSpPr>
              <a:spLocks noChangeShapeType="1"/>
            </p:cNvSpPr>
            <p:nvPr/>
          </p:nvSpPr>
          <p:spPr bwMode="auto">
            <a:xfrm>
              <a:off x="4038600" y="3657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5" name="Line 41"/>
            <p:cNvSpPr>
              <a:spLocks noChangeShapeType="1"/>
            </p:cNvSpPr>
            <p:nvPr/>
          </p:nvSpPr>
          <p:spPr bwMode="auto">
            <a:xfrm>
              <a:off x="4114800" y="2514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6" name="Line 42"/>
            <p:cNvSpPr>
              <a:spLocks noChangeShapeType="1"/>
            </p:cNvSpPr>
            <p:nvPr/>
          </p:nvSpPr>
          <p:spPr bwMode="auto">
            <a:xfrm>
              <a:off x="4114800" y="4800600"/>
              <a:ext cx="6096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1787" name="Text Box 43"/>
            <p:cNvSpPr txBox="1">
              <a:spLocks noChangeArrowheads="1"/>
            </p:cNvSpPr>
            <p:nvPr/>
          </p:nvSpPr>
          <p:spPr bwMode="auto">
            <a:xfrm>
              <a:off x="3100388" y="990600"/>
              <a:ext cx="354012"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S</a:t>
              </a:r>
            </a:p>
          </p:txBody>
        </p:sp>
        <p:sp>
          <p:nvSpPr>
            <p:cNvPr id="31788" name="Text Box 44"/>
            <p:cNvSpPr txBox="1">
              <a:spLocks noChangeArrowheads="1"/>
            </p:cNvSpPr>
            <p:nvPr/>
          </p:nvSpPr>
          <p:spPr bwMode="auto">
            <a:xfrm>
              <a:off x="3141663" y="2057400"/>
              <a:ext cx="319087"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89" name="Text Box 45"/>
            <p:cNvSpPr txBox="1">
              <a:spLocks noChangeArrowheads="1"/>
            </p:cNvSpPr>
            <p:nvPr/>
          </p:nvSpPr>
          <p:spPr bwMode="auto">
            <a:xfrm>
              <a:off x="3124200" y="320040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0" name="Text Box 46"/>
            <p:cNvSpPr txBox="1">
              <a:spLocks noChangeArrowheads="1"/>
            </p:cNvSpPr>
            <p:nvPr/>
          </p:nvSpPr>
          <p:spPr bwMode="auto">
            <a:xfrm>
              <a:off x="3124200" y="434340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1" name="Text Box 47"/>
            <p:cNvSpPr txBox="1">
              <a:spLocks noChangeArrowheads="1"/>
            </p:cNvSpPr>
            <p:nvPr/>
          </p:nvSpPr>
          <p:spPr bwMode="auto">
            <a:xfrm>
              <a:off x="3124200" y="533400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2" name="Text Box 48"/>
            <p:cNvSpPr txBox="1">
              <a:spLocks noChangeArrowheads="1"/>
            </p:cNvSpPr>
            <p:nvPr/>
          </p:nvSpPr>
          <p:spPr bwMode="auto">
            <a:xfrm>
              <a:off x="4191000" y="5334000"/>
              <a:ext cx="404813"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3" name="Text Box 49"/>
            <p:cNvSpPr txBox="1">
              <a:spLocks noChangeArrowheads="1"/>
            </p:cNvSpPr>
            <p:nvPr/>
          </p:nvSpPr>
          <p:spPr bwMode="auto">
            <a:xfrm>
              <a:off x="4191000" y="4343400"/>
              <a:ext cx="404813"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4" name="Text Box 50"/>
            <p:cNvSpPr txBox="1">
              <a:spLocks noChangeArrowheads="1"/>
            </p:cNvSpPr>
            <p:nvPr/>
          </p:nvSpPr>
          <p:spPr bwMode="auto">
            <a:xfrm>
              <a:off x="4167188" y="3200400"/>
              <a:ext cx="404812"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A</a:t>
              </a:r>
            </a:p>
          </p:txBody>
        </p:sp>
        <p:sp>
          <p:nvSpPr>
            <p:cNvPr id="31795" name="Text Box 51"/>
            <p:cNvSpPr txBox="1">
              <a:spLocks noChangeArrowheads="1"/>
            </p:cNvSpPr>
            <p:nvPr/>
          </p:nvSpPr>
          <p:spPr bwMode="auto">
            <a:xfrm>
              <a:off x="4224338" y="205740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b</a:t>
              </a:r>
            </a:p>
          </p:txBody>
        </p:sp>
        <p:sp>
          <p:nvSpPr>
            <p:cNvPr id="31796" name="Text Box 52"/>
            <p:cNvSpPr txBox="1">
              <a:spLocks noChangeArrowheads="1"/>
            </p:cNvSpPr>
            <p:nvPr/>
          </p:nvSpPr>
          <p:spPr bwMode="auto">
            <a:xfrm>
              <a:off x="5353050" y="533400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c</a:t>
              </a:r>
            </a:p>
          </p:txBody>
        </p:sp>
        <p:sp>
          <p:nvSpPr>
            <p:cNvPr id="31797" name="Text Box 53"/>
            <p:cNvSpPr txBox="1">
              <a:spLocks noChangeArrowheads="1"/>
            </p:cNvSpPr>
            <p:nvPr/>
          </p:nvSpPr>
          <p:spPr bwMode="auto">
            <a:xfrm>
              <a:off x="5376863" y="4343400"/>
              <a:ext cx="319087"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c</a:t>
              </a:r>
            </a:p>
          </p:txBody>
        </p:sp>
        <p:sp>
          <p:nvSpPr>
            <p:cNvPr id="31798" name="Text Box 54"/>
            <p:cNvSpPr txBox="1">
              <a:spLocks noChangeArrowheads="1"/>
            </p:cNvSpPr>
            <p:nvPr/>
          </p:nvSpPr>
          <p:spPr bwMode="auto">
            <a:xfrm>
              <a:off x="5367338" y="312420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b</a:t>
              </a:r>
            </a:p>
          </p:txBody>
        </p:sp>
        <p:sp>
          <p:nvSpPr>
            <p:cNvPr id="31799" name="Text Box 55"/>
            <p:cNvSpPr txBox="1">
              <a:spLocks noChangeArrowheads="1"/>
            </p:cNvSpPr>
            <p:nvPr/>
          </p:nvSpPr>
          <p:spPr bwMode="auto">
            <a:xfrm>
              <a:off x="6638925" y="434340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d</a:t>
              </a:r>
            </a:p>
          </p:txBody>
        </p:sp>
        <p:sp>
          <p:nvSpPr>
            <p:cNvPr id="31800" name="Text Box 56"/>
            <p:cNvSpPr txBox="1">
              <a:spLocks noChangeArrowheads="1"/>
            </p:cNvSpPr>
            <p:nvPr/>
          </p:nvSpPr>
          <p:spPr bwMode="auto">
            <a:xfrm>
              <a:off x="7791450" y="5334000"/>
              <a:ext cx="319088"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kumimoji="1" lang="en-US" altLang="zh-CN"/>
                <a:t>e</a:t>
              </a:r>
            </a:p>
          </p:txBody>
        </p:sp>
        <p:sp>
          <p:nvSpPr>
            <p:cNvPr id="31801" name="Text Box 57"/>
            <p:cNvSpPr txBox="1">
              <a:spLocks noChangeArrowheads="1"/>
            </p:cNvSpPr>
            <p:nvPr/>
          </p:nvSpPr>
          <p:spPr bwMode="auto">
            <a:xfrm>
              <a:off x="1760538" y="20574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buFont typeface="Symbol" pitchFamily="18" charset="2"/>
                <a:buChar char="e"/>
              </a:pPr>
              <a:endParaRPr kumimoji="1" lang="zh-CN" altLang="zh-CN"/>
            </a:p>
          </p:txBody>
        </p:sp>
        <p:sp>
          <p:nvSpPr>
            <p:cNvPr id="31802" name="Text Box 58"/>
            <p:cNvSpPr txBox="1">
              <a:spLocks noChangeArrowheads="1"/>
            </p:cNvSpPr>
            <p:nvPr/>
          </p:nvSpPr>
          <p:spPr bwMode="auto">
            <a:xfrm>
              <a:off x="6637338" y="5334000"/>
              <a:ext cx="33655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a:latin typeface="宋体" charset="-122"/>
                  <a:sym typeface="Symbol" pitchFamily="18" charset="2"/>
                </a:rPr>
                <a:t>B</a:t>
              </a:r>
              <a:endParaRPr lang="zh-CN" altLang="zh-CN" b="1">
                <a:latin typeface="宋体" charset="-122"/>
                <a:sym typeface="Symbol" pitchFamily="18" charset="2"/>
              </a:endParaRPr>
            </a:p>
          </p:txBody>
        </p:sp>
        <p:sp>
          <p:nvSpPr>
            <p:cNvPr id="31803" name="Text Box 59"/>
            <p:cNvSpPr txBox="1">
              <a:spLocks noChangeArrowheads="1"/>
            </p:cNvSpPr>
            <p:nvPr/>
          </p:nvSpPr>
          <p:spPr bwMode="auto">
            <a:xfrm>
              <a:off x="1617663" y="21336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a:latin typeface="宋体" charset="-122"/>
                  <a:sym typeface="Symbol" pitchFamily="18" charset="2"/>
                </a:rPr>
                <a:t></a:t>
              </a:r>
              <a:endParaRPr lang="zh-CN" altLang="zh-CN" b="1">
                <a:latin typeface="宋体" charset="-122"/>
                <a:sym typeface="Symbol" pitchFamily="18" charset="2"/>
              </a:endParaRPr>
            </a:p>
          </p:txBody>
        </p:sp>
        <p:sp>
          <p:nvSpPr>
            <p:cNvPr id="31804" name="Text Box 60"/>
            <p:cNvSpPr txBox="1">
              <a:spLocks noChangeArrowheads="1"/>
            </p:cNvSpPr>
            <p:nvPr/>
          </p:nvSpPr>
          <p:spPr bwMode="auto">
            <a:xfrm>
              <a:off x="1600200" y="27432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dirty="0">
                  <a:latin typeface="宋体" charset="-122"/>
                  <a:sym typeface="Symbol" pitchFamily="18" charset="2"/>
                </a:rPr>
                <a:t></a:t>
              </a:r>
              <a:endParaRPr lang="zh-CN" altLang="zh-CN" b="1" dirty="0">
                <a:latin typeface="宋体" charset="-122"/>
                <a:sym typeface="Symbol" pitchFamily="18" charset="2"/>
              </a:endParaRPr>
            </a:p>
          </p:txBody>
        </p:sp>
        <p:sp>
          <p:nvSpPr>
            <p:cNvPr id="31805" name="Text Box 61"/>
            <p:cNvSpPr txBox="1">
              <a:spLocks noChangeArrowheads="1"/>
            </p:cNvSpPr>
            <p:nvPr/>
          </p:nvSpPr>
          <p:spPr bwMode="auto">
            <a:xfrm>
              <a:off x="1600200" y="32766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a:latin typeface="宋体" charset="-122"/>
                  <a:sym typeface="Symbol" pitchFamily="18" charset="2"/>
                </a:rPr>
                <a:t></a:t>
              </a:r>
              <a:endParaRPr lang="zh-CN" altLang="zh-CN" b="1">
                <a:latin typeface="宋体" charset="-122"/>
                <a:sym typeface="Symbol" pitchFamily="18" charset="2"/>
              </a:endParaRPr>
            </a:p>
          </p:txBody>
        </p:sp>
        <p:sp>
          <p:nvSpPr>
            <p:cNvPr id="31806" name="Text Box 62"/>
            <p:cNvSpPr txBox="1">
              <a:spLocks noChangeArrowheads="1"/>
            </p:cNvSpPr>
            <p:nvPr/>
          </p:nvSpPr>
          <p:spPr bwMode="auto">
            <a:xfrm>
              <a:off x="1587500" y="37338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a:latin typeface="宋体" charset="-122"/>
                  <a:sym typeface="Symbol" pitchFamily="18" charset="2"/>
                </a:rPr>
                <a:t></a:t>
              </a:r>
              <a:endParaRPr lang="zh-CN" altLang="zh-CN" b="1">
                <a:latin typeface="宋体" charset="-122"/>
                <a:sym typeface="Symbol" pitchFamily="18" charset="2"/>
              </a:endParaRPr>
            </a:p>
          </p:txBody>
        </p:sp>
        <p:sp>
          <p:nvSpPr>
            <p:cNvPr id="31807" name="Text Box 63"/>
            <p:cNvSpPr txBox="1">
              <a:spLocks noChangeArrowheads="1"/>
            </p:cNvSpPr>
            <p:nvPr/>
          </p:nvSpPr>
          <p:spPr bwMode="auto">
            <a:xfrm>
              <a:off x="1587500" y="4267200"/>
              <a:ext cx="317500" cy="457200"/>
            </a:xfrm>
            <a:prstGeom prst="rect">
              <a:avLst/>
            </a:prstGeom>
            <a:noFill/>
            <a:ln w="9525">
              <a:noFill/>
              <a:miter lim="800000"/>
              <a:headEnd/>
              <a:tailEnd/>
            </a:ln>
            <a:effectLst/>
          </p:spPr>
          <p:txBody>
            <a:bodyPr wrap="none" anchor="ctr">
              <a:spAutoFit/>
            </a:bodyPr>
            <a:lstStyle/>
            <a:p>
              <a:pPr algn="ctr" eaLnBrk="1" hangingPunct="1">
                <a:spcBef>
                  <a:spcPct val="50000"/>
                </a:spcBef>
              </a:pPr>
              <a:r>
                <a:rPr lang="zh-CN" altLang="en-US" b="1">
                  <a:latin typeface="宋体" charset="-122"/>
                  <a:sym typeface="Symbol" pitchFamily="18" charset="2"/>
                </a:rPr>
                <a:t></a:t>
              </a:r>
              <a:endParaRPr lang="zh-CN" altLang="zh-CN" b="1">
                <a:latin typeface="宋体" charset="-122"/>
                <a:sym typeface="Symbol" pitchFamily="18" charset="2"/>
              </a:endParaRPr>
            </a:p>
          </p:txBody>
        </p:sp>
        <p:sp>
          <p:nvSpPr>
            <p:cNvPr id="31808" name="AutoShape 64"/>
            <p:cNvSpPr>
              <a:spLocks noChangeArrowheads="1"/>
            </p:cNvSpPr>
            <p:nvPr/>
          </p:nvSpPr>
          <p:spPr bwMode="auto">
            <a:xfrm>
              <a:off x="381000" y="3581400"/>
              <a:ext cx="457200" cy="228600"/>
            </a:xfrm>
            <a:prstGeom prst="rightArrow">
              <a:avLst>
                <a:gd name="adj1" fmla="val 50000"/>
                <a:gd name="adj2" fmla="val 50000"/>
              </a:avLst>
            </a:prstGeom>
            <a:solidFill>
              <a:schemeClr val="bg1"/>
            </a:solidFill>
            <a:ln w="9525">
              <a:solidFill>
                <a:schemeClr val="tx1"/>
              </a:solidFill>
              <a:miter lim="800000"/>
              <a:headEnd/>
              <a:tailEnd/>
            </a:ln>
            <a:effectLst/>
          </p:spPr>
          <p:txBody>
            <a:bodyPr wrap="none" anchor="ctr"/>
            <a:lstStyle/>
            <a:p>
              <a:endParaRPr lang="zh-CN" altLang="en-US"/>
            </a:p>
          </p:txBody>
        </p:sp>
      </p:grpSp>
      <p:sp>
        <p:nvSpPr>
          <p:cNvPr id="66" name="标题 1"/>
          <p:cNvSpPr>
            <a:spLocks noGrp="1"/>
          </p:cNvSpPr>
          <p:nvPr>
            <p:ph type="title"/>
          </p:nvPr>
        </p:nvSpPr>
        <p:spPr>
          <a:xfrm>
            <a:off x="457200" y="152400"/>
            <a:ext cx="8229600" cy="990600"/>
          </a:xfrm>
        </p:spPr>
        <p:txBody>
          <a:bodyPr/>
          <a:lstStyle/>
          <a:p>
            <a:r>
              <a:rPr lang="zh-CN" altLang="en-US" dirty="0" smtClean="0"/>
              <a:t>可归前缀的不确定有限自动机</a:t>
            </a:r>
            <a:endParaRPr lang="zh-CN" altLang="en-US" dirty="0"/>
          </a:p>
        </p:txBody>
      </p:sp>
      <p:sp>
        <p:nvSpPr>
          <p:cNvPr id="67" name="矩形 66"/>
          <p:cNvSpPr/>
          <p:nvPr/>
        </p:nvSpPr>
        <p:spPr>
          <a:xfrm>
            <a:off x="2285984" y="5929330"/>
            <a:ext cx="4440639" cy="400110"/>
          </a:xfrm>
          <a:prstGeom prst="rect">
            <a:avLst/>
          </a:prstGeom>
        </p:spPr>
        <p:txBody>
          <a:bodyPr wrap="none">
            <a:spAutoFit/>
          </a:bodyPr>
          <a:lstStyle/>
          <a:p>
            <a:r>
              <a:rPr lang="zh-CN" altLang="en-US" sz="2000" b="1" dirty="0" smtClean="0"/>
              <a:t>图</a:t>
            </a:r>
            <a:r>
              <a:rPr lang="en-US" altLang="zh-CN" sz="2000" b="1" dirty="0" smtClean="0"/>
              <a:t>6.3 </a:t>
            </a:r>
            <a:r>
              <a:rPr lang="zh-CN" altLang="en-US" sz="2000" b="1" dirty="0" smtClean="0"/>
              <a:t>识别活前缀的不确定有限自动机</a:t>
            </a:r>
            <a:endParaRPr lang="zh-CN" altLang="en-US" sz="2000" dirty="0"/>
          </a:p>
        </p:txBody>
      </p:sp>
      <p:sp>
        <p:nvSpPr>
          <p:cNvPr id="68" name="矩形 67"/>
          <p:cNvSpPr/>
          <p:nvPr/>
        </p:nvSpPr>
        <p:spPr>
          <a:xfrm>
            <a:off x="4572000" y="1357298"/>
            <a:ext cx="4429124" cy="1200329"/>
          </a:xfrm>
          <a:prstGeom prst="rect">
            <a:avLst/>
          </a:prstGeom>
        </p:spPr>
        <p:txBody>
          <a:bodyPr wrap="square">
            <a:spAutoFit/>
          </a:bodyPr>
          <a:lstStyle/>
          <a:p>
            <a:r>
              <a:rPr lang="zh-CN" altLang="en-US" b="1" dirty="0" smtClean="0">
                <a:latin typeface="+mj-ea"/>
                <a:ea typeface="+mj-ea"/>
              </a:rPr>
              <a:t>如果加一个开始状态</a:t>
            </a:r>
            <a:r>
              <a:rPr lang="en-US" altLang="zh-CN" b="1" dirty="0" smtClean="0">
                <a:latin typeface="+mj-ea"/>
                <a:ea typeface="+mj-ea"/>
              </a:rPr>
              <a:t>X</a:t>
            </a:r>
            <a:r>
              <a:rPr lang="zh-CN" altLang="en-US" b="1" dirty="0" smtClean="0">
                <a:latin typeface="+mj-ea"/>
                <a:ea typeface="+mj-ea"/>
              </a:rPr>
              <a:t>并用</a:t>
            </a:r>
            <a:r>
              <a:rPr lang="en-US" altLang="zh-CN" b="1" dirty="0" smtClean="0">
                <a:latin typeface="+mj-ea"/>
                <a:ea typeface="+mj-ea"/>
              </a:rPr>
              <a:t>ε</a:t>
            </a:r>
            <a:r>
              <a:rPr lang="zh-CN" altLang="en-US" b="1" dirty="0" smtClean="0">
                <a:latin typeface="+mj-ea"/>
                <a:ea typeface="+mj-ea"/>
              </a:rPr>
              <a:t>弧和每个识别可归前缀的有限自动机连接，则可变为图</a:t>
            </a:r>
            <a:r>
              <a:rPr lang="en-US" altLang="zh-CN" b="1" dirty="0" smtClean="0">
                <a:latin typeface="+mj-ea"/>
                <a:ea typeface="+mj-ea"/>
              </a:rPr>
              <a:t>6.3</a:t>
            </a:r>
            <a:r>
              <a:rPr lang="zh-CN" altLang="en-US" b="1" dirty="0" smtClean="0">
                <a:latin typeface="+mj-ea"/>
                <a:ea typeface="+mj-ea"/>
              </a:rPr>
              <a:t>。</a:t>
            </a:r>
            <a:endParaRPr lang="zh-CN" altLang="en-US" b="1" dirty="0">
              <a:latin typeface="+mj-ea"/>
              <a:ea typeface="+mj-ea"/>
            </a:endParaRPr>
          </a:p>
        </p:txBody>
      </p:sp>
      <p:sp>
        <p:nvSpPr>
          <p:cNvPr id="69" name="矩形 68"/>
          <p:cNvSpPr/>
          <p:nvPr/>
        </p:nvSpPr>
        <p:spPr>
          <a:xfrm>
            <a:off x="3286116" y="1285860"/>
            <a:ext cx="338554" cy="461665"/>
          </a:xfrm>
          <a:prstGeom prst="rect">
            <a:avLst/>
          </a:prstGeom>
        </p:spPr>
        <p:txBody>
          <a:bodyPr wrap="none">
            <a:spAutoFit/>
          </a:bodyPr>
          <a:lstStyle/>
          <a:p>
            <a:r>
              <a:rPr lang="zh-CN" altLang="en-US" b="1" dirty="0" smtClean="0"/>
              <a:t>*</a:t>
            </a:r>
            <a:endParaRPr lang="zh-CN" altLang="en-US" dirty="0"/>
          </a:p>
        </p:txBody>
      </p:sp>
      <p:sp>
        <p:nvSpPr>
          <p:cNvPr id="70" name="日期占位符 3"/>
          <p:cNvSpPr>
            <a:spLocks noGrp="1"/>
          </p:cNvSpPr>
          <p:nvPr>
            <p:ph type="dt" sz="half" idx="10"/>
          </p:nvPr>
        </p:nvSpPr>
        <p:spPr>
          <a:xfrm>
            <a:off x="428625" y="6356350"/>
            <a:ext cx="1643063" cy="501650"/>
          </a:xfrm>
        </p:spPr>
        <p:txBody>
          <a:bodyPr/>
          <a:lstStyle/>
          <a:p>
            <a:pPr>
              <a:defRPr/>
            </a:pPr>
            <a:fld id="{A1D847E4-165A-4DCC-8889-A51788D0BD79}" type="datetime1">
              <a:rPr lang="zh-CN" altLang="en-US" smtClean="0"/>
              <a:pPr>
                <a:defRPr/>
              </a:pPr>
              <a:t>2018/12/14</a:t>
            </a:fld>
            <a:endParaRPr lang="en-US" altLang="zh-CN"/>
          </a:p>
        </p:txBody>
      </p:sp>
      <p:sp>
        <p:nvSpPr>
          <p:cNvPr id="71"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dirty="0"/>
          </a:p>
        </p:txBody>
      </p:sp>
      <p:sp>
        <p:nvSpPr>
          <p:cNvPr id="72"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26</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914400" y="1500174"/>
            <a:ext cx="1981200" cy="457200"/>
          </a:xfrm>
          <a:prstGeom prst="rect">
            <a:avLst/>
          </a:prstGeom>
          <a:noFill/>
          <a:ln w="9525">
            <a:noFill/>
            <a:miter lim="800000"/>
            <a:headEnd/>
            <a:tailEnd/>
          </a:ln>
          <a:effectLst/>
        </p:spPr>
        <p:txBody>
          <a:bodyPr>
            <a:spAutoFit/>
          </a:bodyPr>
          <a:lstStyle/>
          <a:p>
            <a:pPr eaLnBrk="1" hangingPunct="1">
              <a:spcBef>
                <a:spcPct val="50000"/>
              </a:spcBef>
            </a:pPr>
            <a:r>
              <a:rPr kumimoji="1" lang="en-US" altLang="zh-CN" dirty="0"/>
              <a:t>DFA</a:t>
            </a:r>
          </a:p>
        </p:txBody>
      </p:sp>
      <p:sp>
        <p:nvSpPr>
          <p:cNvPr id="41" name="标题 1"/>
          <p:cNvSpPr txBox="1">
            <a:spLocks/>
          </p:cNvSpPr>
          <p:nvPr/>
        </p:nvSpPr>
        <p:spPr>
          <a:xfrm>
            <a:off x="457200" y="366714"/>
            <a:ext cx="8229600" cy="704832"/>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1200" cap="none" spc="0" normalizeH="0" baseline="0" noProof="0" dirty="0" smtClean="0">
                <a:ln>
                  <a:noFill/>
                </a:ln>
                <a:solidFill>
                  <a:schemeClr val="tx2"/>
                </a:solidFill>
                <a:effectLst/>
                <a:uLnTx/>
                <a:uFillTx/>
                <a:latin typeface="+mj-lt"/>
                <a:ea typeface="+mj-ea"/>
                <a:cs typeface="+mj-cs"/>
              </a:rPr>
              <a:t>可归前缀的确定有限自动机</a:t>
            </a:r>
            <a:endParaRPr kumimoji="0" lang="zh-CN" altLang="en-US" sz="3600" b="1" i="0" u="none" strike="noStrike" kern="1200" cap="none" spc="0" normalizeH="0" baseline="0" noProof="0" dirty="0">
              <a:ln>
                <a:noFill/>
              </a:ln>
              <a:solidFill>
                <a:schemeClr val="tx2"/>
              </a:solidFill>
              <a:effectLst/>
              <a:uLnTx/>
              <a:uFillTx/>
              <a:latin typeface="+mj-lt"/>
              <a:ea typeface="+mj-ea"/>
              <a:cs typeface="+mj-cs"/>
            </a:endParaRPr>
          </a:p>
        </p:txBody>
      </p:sp>
      <p:sp>
        <p:nvSpPr>
          <p:cNvPr id="43" name="矩形 42"/>
          <p:cNvSpPr/>
          <p:nvPr/>
        </p:nvSpPr>
        <p:spPr>
          <a:xfrm>
            <a:off x="2285984" y="5929330"/>
            <a:ext cx="4182555" cy="400110"/>
          </a:xfrm>
          <a:prstGeom prst="rect">
            <a:avLst/>
          </a:prstGeom>
        </p:spPr>
        <p:txBody>
          <a:bodyPr wrap="none">
            <a:spAutoFit/>
          </a:bodyPr>
          <a:lstStyle/>
          <a:p>
            <a:r>
              <a:rPr lang="zh-CN" altLang="en-US" sz="2000" b="1" dirty="0" smtClean="0"/>
              <a:t>图</a:t>
            </a:r>
            <a:r>
              <a:rPr lang="en-US" altLang="zh-CN" sz="2000" b="1" dirty="0" smtClean="0"/>
              <a:t>6.4 </a:t>
            </a:r>
            <a:r>
              <a:rPr lang="zh-CN" altLang="en-US" sz="2000" b="1" dirty="0" smtClean="0"/>
              <a:t>识别活前缀的确定有限自动机</a:t>
            </a:r>
            <a:endParaRPr lang="zh-CN" altLang="en-US" sz="2000" dirty="0"/>
          </a:p>
        </p:txBody>
      </p:sp>
      <p:sp>
        <p:nvSpPr>
          <p:cNvPr id="44" name="矩形 43"/>
          <p:cNvSpPr/>
          <p:nvPr/>
        </p:nvSpPr>
        <p:spPr>
          <a:xfrm>
            <a:off x="1590240" y="3714752"/>
            <a:ext cx="338554" cy="461665"/>
          </a:xfrm>
          <a:prstGeom prst="rect">
            <a:avLst/>
          </a:prstGeom>
        </p:spPr>
        <p:txBody>
          <a:bodyPr wrap="none">
            <a:spAutoFit/>
          </a:bodyPr>
          <a:lstStyle/>
          <a:p>
            <a:r>
              <a:rPr lang="zh-CN" altLang="en-US" b="1" dirty="0" smtClean="0"/>
              <a:t>*</a:t>
            </a:r>
            <a:endParaRPr lang="zh-CN" altLang="en-US" dirty="0"/>
          </a:p>
        </p:txBody>
      </p:sp>
      <p:sp>
        <p:nvSpPr>
          <p:cNvPr id="45" name="日期占位符 3"/>
          <p:cNvSpPr>
            <a:spLocks noGrp="1"/>
          </p:cNvSpPr>
          <p:nvPr>
            <p:ph type="dt" sz="half" idx="10"/>
          </p:nvPr>
        </p:nvSpPr>
        <p:spPr>
          <a:xfrm>
            <a:off x="428625" y="6356350"/>
            <a:ext cx="1643063" cy="501650"/>
          </a:xfrm>
        </p:spPr>
        <p:txBody>
          <a:bodyPr/>
          <a:lstStyle/>
          <a:p>
            <a:pPr>
              <a:defRPr/>
            </a:pPr>
            <a:fld id="{C5D07F3A-DA64-4ECF-862F-F57DCA9EC56B}" type="datetime1">
              <a:rPr lang="zh-CN" altLang="en-US" smtClean="0"/>
              <a:pPr>
                <a:defRPr/>
              </a:pPr>
              <a:t>2018/12/14</a:t>
            </a:fld>
            <a:endParaRPr lang="en-US" altLang="zh-CN"/>
          </a:p>
        </p:txBody>
      </p:sp>
      <p:sp>
        <p:nvSpPr>
          <p:cNvPr id="46"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dirty="0"/>
          </a:p>
        </p:txBody>
      </p:sp>
      <p:sp>
        <p:nvSpPr>
          <p:cNvPr id="47"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27</a:t>
            </a:fld>
            <a:r>
              <a:rPr lang="en-US" altLang="zh-CN" dirty="0" smtClean="0">
                <a:latin typeface="Times New Roman" pitchFamily="18" charset="0"/>
              </a:rPr>
              <a:t>/36</a:t>
            </a:r>
            <a:endParaRPr lang="en-US" altLang="zh-CN" dirty="0"/>
          </a:p>
        </p:txBody>
      </p:sp>
      <p:pic>
        <p:nvPicPr>
          <p:cNvPr id="48" name="图片 47"/>
          <p:cNvPicPr>
            <a:picLocks noChangeAspect="1"/>
          </p:cNvPicPr>
          <p:nvPr/>
        </p:nvPicPr>
        <p:blipFill>
          <a:blip r:embed="rId2" cstate="print"/>
          <a:stretch>
            <a:fillRect/>
          </a:stretch>
        </p:blipFill>
        <p:spPr>
          <a:xfrm>
            <a:off x="1428728" y="2357430"/>
            <a:ext cx="5731090" cy="3384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circle(in)">
                                      <p:cBhvr>
                                        <p:cTn id="7"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71406" y="1134446"/>
            <a:ext cx="5786478" cy="5223512"/>
          </a:xfrm>
        </p:spPr>
        <p:txBody>
          <a:bodyPr/>
          <a:lstStyle/>
          <a:p>
            <a:r>
              <a:rPr lang="zh-CN" altLang="en-US" dirty="0" smtClean="0"/>
              <a:t>用有限自动机识别时每当识别完句柄，则状态应退回到去掉句柄所构成的串，例如在图</a:t>
            </a:r>
            <a:r>
              <a:rPr lang="en-US" altLang="zh-CN" dirty="0" smtClean="0"/>
              <a:t>6.4</a:t>
            </a:r>
            <a:r>
              <a:rPr lang="zh-CN" altLang="en-US" dirty="0" smtClean="0"/>
              <a:t>中若已识别到终态 ⑤ ，这时句柄已形成，而且句柄是</a:t>
            </a:r>
            <a:r>
              <a:rPr lang="en-US" altLang="zh-CN" dirty="0" err="1" smtClean="0"/>
              <a:t>Ab</a:t>
            </a:r>
            <a:r>
              <a:rPr lang="zh-CN" altLang="en-US" dirty="0" smtClean="0"/>
              <a:t>，则应用</a:t>
            </a:r>
            <a:r>
              <a:rPr lang="en-US" altLang="zh-CN" dirty="0" err="1" smtClean="0"/>
              <a:t>A→Ab</a:t>
            </a:r>
            <a:r>
              <a:rPr lang="zh-CN" altLang="en-US" dirty="0" smtClean="0"/>
              <a:t>归约，状态应退回到②，又因左部为</a:t>
            </a:r>
            <a:r>
              <a:rPr lang="en-US" altLang="zh-CN" dirty="0" smtClean="0"/>
              <a:t>A</a:t>
            </a:r>
            <a:r>
              <a:rPr lang="zh-CN" altLang="en-US" dirty="0" smtClean="0"/>
              <a:t>，所以，相当在状态②时又遇到</a:t>
            </a:r>
            <a:r>
              <a:rPr lang="en-US" altLang="zh-CN" dirty="0" smtClean="0"/>
              <a:t>A</a:t>
            </a:r>
            <a:r>
              <a:rPr lang="zh-CN" altLang="en-US" dirty="0" smtClean="0"/>
              <a:t>，这时应转向状态④。在状态④再遇输入串的一个</a:t>
            </a:r>
            <a:r>
              <a:rPr lang="en-US" altLang="zh-CN" dirty="0" smtClean="0"/>
              <a:t>b</a:t>
            </a:r>
            <a:r>
              <a:rPr lang="zh-CN" altLang="en-US" dirty="0" smtClean="0"/>
              <a:t>，又转到终态 ⑤ ，重复上述过程。以上我们仅由对某些句子规范推导的逆过程直观地看出它的活前缀和可归前缀，然后构造其有限自动机。</a:t>
            </a:r>
            <a:endParaRPr lang="zh-CN" altLang="en-US" dirty="0"/>
          </a:p>
        </p:txBody>
      </p:sp>
      <p:sp>
        <p:nvSpPr>
          <p:cNvPr id="4" name="日期占位符 3"/>
          <p:cNvSpPr>
            <a:spLocks noGrp="1"/>
          </p:cNvSpPr>
          <p:nvPr>
            <p:ph type="dt" sz="half" idx="10"/>
          </p:nvPr>
        </p:nvSpPr>
        <p:spPr/>
        <p:txBody>
          <a:bodyPr/>
          <a:lstStyle/>
          <a:p>
            <a:pPr>
              <a:defRPr/>
            </a:pPr>
            <a:fld id="{0F89C2C1-7800-4516-BB00-9402E8458209}"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dirty="0"/>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28</a:t>
            </a:fld>
            <a:r>
              <a:rPr lang="en-US" altLang="zh-CN" dirty="0" smtClean="0">
                <a:latin typeface="Times New Roman" pitchFamily="18" charset="0"/>
              </a:rPr>
              <a:t>/36</a:t>
            </a:r>
            <a:endParaRPr lang="en-US" altLang="zh-CN" dirty="0"/>
          </a:p>
        </p:txBody>
      </p:sp>
      <p:pic>
        <p:nvPicPr>
          <p:cNvPr id="128002" name="Picture 2"/>
          <p:cNvPicPr>
            <a:picLocks noChangeAspect="1" noChangeArrowheads="1"/>
          </p:cNvPicPr>
          <p:nvPr/>
        </p:nvPicPr>
        <p:blipFill>
          <a:blip r:embed="rId2" cstate="print"/>
          <a:srcRect/>
          <a:stretch>
            <a:fillRect/>
          </a:stretch>
        </p:blipFill>
        <p:spPr bwMode="auto">
          <a:xfrm>
            <a:off x="5807537" y="2000240"/>
            <a:ext cx="3336463" cy="27017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en-US" altLang="zh-CN" sz="3200" dirty="0" smtClean="0"/>
              <a:t>6.2.3</a:t>
            </a:r>
            <a:r>
              <a:rPr lang="zh-CN" altLang="en-US" sz="3200" dirty="0" smtClean="0"/>
              <a:t>活前缀及其可归前缀的一般计算方法</a:t>
            </a:r>
            <a:endParaRPr kumimoji="1" lang="zh-CN" altLang="en-US" sz="3200" b="1" dirty="0">
              <a:solidFill>
                <a:srgbClr val="800000"/>
              </a:solidFill>
            </a:endParaRPr>
          </a:p>
        </p:txBody>
      </p:sp>
      <p:sp>
        <p:nvSpPr>
          <p:cNvPr id="27651" name="Rectangle 3"/>
          <p:cNvSpPr>
            <a:spLocks noGrp="1" noChangeArrowheads="1"/>
          </p:cNvSpPr>
          <p:nvPr>
            <p:ph type="body" idx="1"/>
          </p:nvPr>
        </p:nvSpPr>
        <p:spPr>
          <a:xfrm>
            <a:off x="428596" y="1428736"/>
            <a:ext cx="8429684" cy="4543444"/>
          </a:xfrm>
        </p:spPr>
        <p:txBody>
          <a:bodyPr/>
          <a:lstStyle/>
          <a:p>
            <a:pPr>
              <a:buFont typeface="Monotype Sorts" pitchFamily="2" charset="2"/>
              <a:buNone/>
            </a:pPr>
            <a:r>
              <a:rPr lang="zh-CN" altLang="en-US" dirty="0"/>
              <a:t>启示:</a:t>
            </a:r>
            <a:r>
              <a:rPr lang="en-US" altLang="zh-CN" dirty="0"/>
              <a:t>LR</a:t>
            </a:r>
            <a:r>
              <a:rPr lang="zh-CN" altLang="en-US" dirty="0"/>
              <a:t>分析使用的信息之一是句柄左</a:t>
            </a:r>
            <a:r>
              <a:rPr lang="zh-CN" altLang="en-US" dirty="0" smtClean="0"/>
              <a:t>部的</a:t>
            </a:r>
            <a:r>
              <a:rPr lang="zh-CN" altLang="en-US" dirty="0"/>
              <a:t>内容.</a:t>
            </a:r>
          </a:p>
          <a:p>
            <a:pPr>
              <a:buFont typeface="Monotype Sorts" pitchFamily="2" charset="2"/>
              <a:buNone/>
            </a:pPr>
            <a:r>
              <a:rPr lang="zh-CN" altLang="en-US" dirty="0" smtClean="0">
                <a:solidFill>
                  <a:srgbClr val="1700C0"/>
                </a:solidFill>
              </a:rPr>
              <a:t>定义</a:t>
            </a:r>
            <a:r>
              <a:rPr lang="en-US" altLang="zh-CN" dirty="0" smtClean="0">
                <a:solidFill>
                  <a:srgbClr val="1700C0"/>
                </a:solidFill>
              </a:rPr>
              <a:t>6.2</a:t>
            </a:r>
            <a:r>
              <a:rPr lang="zh-CN" altLang="en-US" dirty="0" smtClean="0"/>
              <a:t>(</a:t>
            </a:r>
            <a:r>
              <a:rPr lang="zh-CN" altLang="en-US" dirty="0"/>
              <a:t>非终结符的左文)</a:t>
            </a:r>
          </a:p>
          <a:p>
            <a:pPr>
              <a:lnSpc>
                <a:spcPct val="140000"/>
              </a:lnSpc>
              <a:spcAft>
                <a:spcPts val="600"/>
              </a:spcAft>
              <a:buSzTx/>
              <a:buFont typeface="Monotype Sorts" pitchFamily="2" charset="2"/>
              <a:buNone/>
            </a:pPr>
            <a:r>
              <a:rPr lang="en-US" altLang="zh-CN" dirty="0" smtClean="0"/>
              <a:t>   LC(A)={</a:t>
            </a:r>
            <a:r>
              <a:rPr lang="el-GR" altLang="zh-CN" dirty="0" smtClean="0">
                <a:ea typeface="宋体"/>
                <a:sym typeface="Symbol" pitchFamily="18" charset="2"/>
              </a:rPr>
              <a:t>α</a:t>
            </a:r>
            <a:r>
              <a:rPr lang="en-US" altLang="zh-CN" dirty="0" smtClean="0"/>
              <a:t>| </a:t>
            </a:r>
            <a:r>
              <a:rPr lang="en-US" altLang="zh-CN" dirty="0"/>
              <a:t>S’</a:t>
            </a:r>
            <a:r>
              <a:rPr lang="en-US" altLang="zh-CN" dirty="0" smtClean="0">
                <a:sym typeface="Symbol" pitchFamily="18" charset="2"/>
              </a:rPr>
              <a:t></a:t>
            </a:r>
            <a:r>
              <a:rPr lang="el-GR" altLang="zh-CN" dirty="0" smtClean="0">
                <a:sym typeface="Symbol" pitchFamily="18" charset="2"/>
              </a:rPr>
              <a:t>α</a:t>
            </a:r>
            <a:r>
              <a:rPr lang="en-US" altLang="zh-CN" dirty="0" smtClean="0">
                <a:sym typeface="Symbol" pitchFamily="18" charset="2"/>
              </a:rPr>
              <a:t>A</a:t>
            </a:r>
            <a:r>
              <a:rPr lang="en-US" altLang="zh-CN" dirty="0">
                <a:sym typeface="Symbol" pitchFamily="18" charset="2"/>
              </a:rPr>
              <a:t></a:t>
            </a:r>
            <a:r>
              <a:rPr lang="en-US" altLang="zh-CN" dirty="0" smtClean="0"/>
              <a:t>,</a:t>
            </a:r>
            <a:r>
              <a:rPr lang="el-GR" altLang="zh-CN" dirty="0" smtClean="0">
                <a:sym typeface="Symbol" pitchFamily="18" charset="2"/>
              </a:rPr>
              <a:t>α</a:t>
            </a:r>
            <a:r>
              <a:rPr lang="en-US" altLang="zh-CN" dirty="0" smtClean="0">
                <a:sym typeface="Symbol" pitchFamily="18" charset="2"/>
              </a:rPr>
              <a:t></a:t>
            </a:r>
            <a:r>
              <a:rPr lang="en-US" altLang="zh-CN" dirty="0">
                <a:sym typeface="Symbol" pitchFamily="18" charset="2"/>
              </a:rPr>
              <a:t>V</a:t>
            </a:r>
            <a:r>
              <a:rPr lang="en-US" altLang="zh-CN" baseline="30000" dirty="0">
                <a:sym typeface="Symbol" pitchFamily="18" charset="2"/>
              </a:rPr>
              <a:t>*</a:t>
            </a:r>
            <a:r>
              <a:rPr lang="en-US" altLang="zh-CN" dirty="0">
                <a:sym typeface="Symbol" pitchFamily="18" charset="2"/>
              </a:rPr>
              <a:t>, </a:t>
            </a:r>
            <a:r>
              <a:rPr lang="en-US" altLang="zh-CN" dirty="0" smtClean="0">
                <a:sym typeface="Symbol" pitchFamily="18" charset="2"/>
              </a:rPr>
              <a:t>V</a:t>
            </a:r>
            <a:r>
              <a:rPr lang="en-US" altLang="zh-CN" baseline="-25000" dirty="0" smtClean="0">
                <a:sym typeface="Symbol" pitchFamily="18" charset="2"/>
              </a:rPr>
              <a:t>T</a:t>
            </a:r>
            <a:r>
              <a:rPr lang="en-US" altLang="zh-CN" baseline="30000" dirty="0" smtClean="0">
                <a:sym typeface="Symbol" pitchFamily="18" charset="2"/>
              </a:rPr>
              <a:t>*</a:t>
            </a:r>
            <a:r>
              <a:rPr lang="en-US" altLang="zh-CN" dirty="0" smtClean="0"/>
              <a:t>},</a:t>
            </a:r>
            <a:r>
              <a:rPr lang="zh-CN" altLang="en-US" dirty="0" smtClean="0"/>
              <a:t>这里</a:t>
            </a:r>
            <a:r>
              <a:rPr lang="en-US" altLang="zh-CN" dirty="0" smtClean="0"/>
              <a:t>LC(A)</a:t>
            </a:r>
            <a:r>
              <a:rPr lang="zh-CN" altLang="en-US" dirty="0" smtClean="0"/>
              <a:t>表明了在规范推导中在</a:t>
            </a:r>
            <a:r>
              <a:rPr lang="zh-CN" altLang="en-US" dirty="0" smtClean="0">
                <a:solidFill>
                  <a:srgbClr val="FF0000"/>
                </a:solidFill>
              </a:rPr>
              <a:t>非终结符</a:t>
            </a:r>
            <a:r>
              <a:rPr lang="en-US" altLang="zh-CN" dirty="0" smtClean="0">
                <a:solidFill>
                  <a:srgbClr val="FF0000"/>
                </a:solidFill>
              </a:rPr>
              <a:t>A</a:t>
            </a:r>
            <a:r>
              <a:rPr lang="zh-CN" altLang="en-US" dirty="0" smtClean="0">
                <a:solidFill>
                  <a:srgbClr val="FF0000"/>
                </a:solidFill>
              </a:rPr>
              <a:t>左边</a:t>
            </a:r>
            <a:r>
              <a:rPr lang="zh-CN" altLang="en-US" dirty="0" smtClean="0"/>
              <a:t>所出现的符号串的集合。</a:t>
            </a:r>
            <a:endParaRPr lang="en-US" altLang="zh-CN" dirty="0"/>
          </a:p>
          <a:p>
            <a:pPr>
              <a:spcAft>
                <a:spcPts val="600"/>
              </a:spcAft>
              <a:buSzTx/>
              <a:buFont typeface="Monotype Sorts" pitchFamily="2" charset="2"/>
              <a:buNone/>
            </a:pPr>
            <a:r>
              <a:rPr lang="zh-CN" altLang="en-US" dirty="0" smtClean="0"/>
              <a:t>  对</a:t>
            </a:r>
            <a:r>
              <a:rPr lang="zh-CN" altLang="en-US" dirty="0"/>
              <a:t>拓广文法的开始符号</a:t>
            </a:r>
            <a:r>
              <a:rPr lang="en-US" altLang="zh-CN" dirty="0"/>
              <a:t>S’:</a:t>
            </a:r>
          </a:p>
          <a:p>
            <a:pPr lvl="3">
              <a:buSzTx/>
              <a:buFont typeface="Monotype Sorts" pitchFamily="2" charset="2"/>
              <a:buNone/>
            </a:pPr>
            <a:r>
              <a:rPr lang="en-US" altLang="zh-CN" sz="2600" dirty="0"/>
              <a:t>LC(S’)={</a:t>
            </a:r>
            <a:r>
              <a:rPr lang="en-US" altLang="zh-CN" sz="2600" dirty="0">
                <a:sym typeface="Symbol" pitchFamily="18" charset="2"/>
              </a:rPr>
              <a:t></a:t>
            </a:r>
            <a:r>
              <a:rPr lang="en-US" altLang="zh-CN" sz="2600" dirty="0"/>
              <a:t>}</a:t>
            </a:r>
          </a:p>
          <a:p>
            <a:pPr>
              <a:buSzTx/>
              <a:buFont typeface="Monotype Sorts" pitchFamily="2" charset="2"/>
              <a:buNone/>
            </a:pPr>
            <a:r>
              <a:rPr lang="zh-CN" altLang="en-US" dirty="0" smtClean="0">
                <a:solidFill>
                  <a:srgbClr val="1700C0"/>
                </a:solidFill>
              </a:rPr>
              <a:t>推论：</a:t>
            </a:r>
            <a:r>
              <a:rPr lang="zh-CN" altLang="en-US" dirty="0" smtClean="0"/>
              <a:t>若</a:t>
            </a:r>
            <a:r>
              <a:rPr lang="en-US" altLang="zh-CN" dirty="0"/>
              <a:t>B</a:t>
            </a:r>
            <a:r>
              <a:rPr lang="en-US" altLang="zh-CN" dirty="0">
                <a:sym typeface="Symbol" pitchFamily="18" charset="2"/>
              </a:rPr>
              <a:t>A</a:t>
            </a:r>
            <a:r>
              <a:rPr lang="en-US" altLang="zh-CN" dirty="0"/>
              <a:t>  </a:t>
            </a:r>
            <a:r>
              <a:rPr lang="zh-CN" altLang="en-US" dirty="0"/>
              <a:t>则:</a:t>
            </a:r>
            <a:r>
              <a:rPr lang="en-US" altLang="zh-CN" dirty="0"/>
              <a:t>LC(A)</a:t>
            </a:r>
            <a:r>
              <a:rPr lang="en-US" altLang="zh-CN" dirty="0">
                <a:sym typeface="Symbol" pitchFamily="18" charset="2"/>
              </a:rPr>
              <a:t></a:t>
            </a:r>
            <a:r>
              <a:rPr lang="en-US" altLang="zh-CN" dirty="0"/>
              <a:t>LC(B).{</a:t>
            </a:r>
            <a:r>
              <a:rPr lang="en-US" altLang="zh-CN" dirty="0">
                <a:sym typeface="Symbol" pitchFamily="18" charset="2"/>
              </a:rPr>
              <a:t></a:t>
            </a:r>
            <a:r>
              <a:rPr lang="en-US" altLang="zh-CN" dirty="0"/>
              <a:t>}</a:t>
            </a:r>
          </a:p>
          <a:p>
            <a:pPr>
              <a:buFont typeface="Monotype Sorts" pitchFamily="2" charset="2"/>
              <a:buNone/>
            </a:pPr>
            <a:endParaRPr lang="zh-CN" altLang="zh-CN" dirty="0"/>
          </a:p>
        </p:txBody>
      </p:sp>
      <p:grpSp>
        <p:nvGrpSpPr>
          <p:cNvPr id="2" name="Group 4"/>
          <p:cNvGrpSpPr>
            <a:grpSpLocks/>
          </p:cNvGrpSpPr>
          <p:nvPr/>
        </p:nvGrpSpPr>
        <p:grpSpPr bwMode="auto">
          <a:xfrm>
            <a:off x="3581400" y="2057400"/>
            <a:ext cx="457200" cy="838200"/>
            <a:chOff x="3216" y="1440"/>
            <a:chExt cx="288" cy="528"/>
          </a:xfrm>
        </p:grpSpPr>
        <p:sp>
          <p:nvSpPr>
            <p:cNvPr id="27653" name="Text Box 5"/>
            <p:cNvSpPr txBox="1">
              <a:spLocks noChangeArrowheads="1"/>
            </p:cNvSpPr>
            <p:nvPr/>
          </p:nvSpPr>
          <p:spPr bwMode="auto">
            <a:xfrm>
              <a:off x="3216" y="1680"/>
              <a:ext cx="288" cy="288"/>
            </a:xfrm>
            <a:prstGeom prst="rect">
              <a:avLst/>
            </a:prstGeom>
            <a:noFill/>
            <a:ln w="9525">
              <a:noFill/>
              <a:miter lim="800000"/>
              <a:headEnd/>
              <a:tailEnd/>
            </a:ln>
            <a:effectLst/>
          </p:spPr>
          <p:txBody>
            <a:bodyPr>
              <a:spAutoFit/>
            </a:bodyPr>
            <a:lstStyle/>
            <a:p>
              <a:pPr eaLnBrk="1" hangingPunct="1">
                <a:spcBef>
                  <a:spcPct val="50000"/>
                </a:spcBef>
              </a:pPr>
              <a:endParaRPr kumimoji="1" lang="en-US" altLang="zh-CN"/>
            </a:p>
          </p:txBody>
        </p:sp>
        <p:sp>
          <p:nvSpPr>
            <p:cNvPr id="27654" name="Text Box 6"/>
            <p:cNvSpPr txBox="1">
              <a:spLocks noChangeArrowheads="1"/>
            </p:cNvSpPr>
            <p:nvPr/>
          </p:nvSpPr>
          <p:spPr bwMode="auto">
            <a:xfrm>
              <a:off x="3216" y="1440"/>
              <a:ext cx="288" cy="288"/>
            </a:xfrm>
            <a:prstGeom prst="rect">
              <a:avLst/>
            </a:prstGeom>
            <a:noFill/>
            <a:ln w="9525">
              <a:noFill/>
              <a:miter lim="800000"/>
              <a:headEnd/>
              <a:tailEnd/>
            </a:ln>
            <a:effectLst/>
          </p:spPr>
          <p:txBody>
            <a:bodyPr>
              <a:spAutoFit/>
            </a:bodyPr>
            <a:lstStyle/>
            <a:p>
              <a:pPr eaLnBrk="1" hangingPunct="1">
                <a:spcBef>
                  <a:spcPct val="50000"/>
                </a:spcBef>
              </a:pPr>
              <a:endParaRPr kumimoji="1" lang="zh-CN" altLang="en-US"/>
            </a:p>
          </p:txBody>
        </p:sp>
      </p:grpSp>
      <p:grpSp>
        <p:nvGrpSpPr>
          <p:cNvPr id="3" name="Group 10"/>
          <p:cNvGrpSpPr>
            <a:grpSpLocks/>
          </p:cNvGrpSpPr>
          <p:nvPr/>
        </p:nvGrpSpPr>
        <p:grpSpPr bwMode="auto">
          <a:xfrm>
            <a:off x="3286116" y="2376486"/>
            <a:ext cx="457200" cy="838200"/>
            <a:chOff x="3216" y="1440"/>
            <a:chExt cx="288" cy="528"/>
          </a:xfrm>
        </p:grpSpPr>
        <p:sp>
          <p:nvSpPr>
            <p:cNvPr id="27659" name="Text Box 11"/>
            <p:cNvSpPr txBox="1">
              <a:spLocks noChangeArrowheads="1"/>
            </p:cNvSpPr>
            <p:nvPr/>
          </p:nvSpPr>
          <p:spPr bwMode="auto">
            <a:xfrm>
              <a:off x="3216" y="1680"/>
              <a:ext cx="288" cy="288"/>
            </a:xfrm>
            <a:prstGeom prst="rect">
              <a:avLst/>
            </a:prstGeom>
            <a:noFill/>
            <a:ln w="9525">
              <a:noFill/>
              <a:miter lim="800000"/>
              <a:headEnd/>
              <a:tailEnd/>
            </a:ln>
            <a:effectLst/>
          </p:spPr>
          <p:txBody>
            <a:bodyPr>
              <a:spAutoFit/>
            </a:bodyPr>
            <a:lstStyle/>
            <a:p>
              <a:pPr eaLnBrk="1" hangingPunct="1">
                <a:spcBef>
                  <a:spcPct val="50000"/>
                </a:spcBef>
              </a:pPr>
              <a:r>
                <a:rPr kumimoji="1" lang="en-US" altLang="zh-CN" dirty="0"/>
                <a:t>R</a:t>
              </a:r>
            </a:p>
          </p:txBody>
        </p:sp>
        <p:sp>
          <p:nvSpPr>
            <p:cNvPr id="27660" name="Text Box 12"/>
            <p:cNvSpPr txBox="1">
              <a:spLocks noChangeArrowheads="1"/>
            </p:cNvSpPr>
            <p:nvPr/>
          </p:nvSpPr>
          <p:spPr bwMode="auto">
            <a:xfrm>
              <a:off x="3216" y="1440"/>
              <a:ext cx="288" cy="288"/>
            </a:xfrm>
            <a:prstGeom prst="rect">
              <a:avLst/>
            </a:prstGeom>
            <a:noFill/>
            <a:ln w="9525">
              <a:noFill/>
              <a:miter lim="800000"/>
              <a:headEnd/>
              <a:tailEnd/>
            </a:ln>
            <a:effectLst/>
          </p:spPr>
          <p:txBody>
            <a:bodyPr>
              <a:spAutoFit/>
            </a:bodyPr>
            <a:lstStyle/>
            <a:p>
              <a:pPr eaLnBrk="1" hangingPunct="1">
                <a:spcBef>
                  <a:spcPct val="50000"/>
                </a:spcBef>
              </a:pPr>
              <a:r>
                <a:rPr kumimoji="1" lang="zh-CN" altLang="en-US" dirty="0"/>
                <a:t>*</a:t>
              </a:r>
            </a:p>
          </p:txBody>
        </p:sp>
      </p:grpSp>
      <p:sp>
        <p:nvSpPr>
          <p:cNvPr id="10" name="日期占位符 3"/>
          <p:cNvSpPr>
            <a:spLocks noGrp="1"/>
          </p:cNvSpPr>
          <p:nvPr>
            <p:ph type="dt" sz="half" idx="10"/>
          </p:nvPr>
        </p:nvSpPr>
        <p:spPr>
          <a:xfrm>
            <a:off x="428625" y="6356350"/>
            <a:ext cx="1643063" cy="501650"/>
          </a:xfrm>
        </p:spPr>
        <p:txBody>
          <a:bodyPr/>
          <a:lstStyle/>
          <a:p>
            <a:pPr>
              <a:defRPr/>
            </a:pPr>
            <a:fld id="{8D308BE2-5BBC-491F-B031-BF5DC44B8F08}" type="datetime1">
              <a:rPr lang="zh-CN" altLang="en-US" smtClean="0"/>
              <a:pPr>
                <a:defRPr/>
              </a:pPr>
              <a:t>2018/12/14</a:t>
            </a:fld>
            <a:endParaRPr lang="en-US" altLang="zh-CN"/>
          </a:p>
        </p:txBody>
      </p:sp>
      <p:sp>
        <p:nvSpPr>
          <p:cNvPr id="11"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dirty="0"/>
          </a:p>
        </p:txBody>
      </p:sp>
      <p:sp>
        <p:nvSpPr>
          <p:cNvPr id="12"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29</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26"/>
          <p:cNvSpPr>
            <a:spLocks noGrp="1" noChangeArrowheads="1"/>
          </p:cNvSpPr>
          <p:nvPr>
            <p:ph type="title"/>
          </p:nvPr>
        </p:nvSpPr>
        <p:spPr>
          <a:xfrm>
            <a:off x="285720" y="1214422"/>
            <a:ext cx="8401080" cy="857256"/>
          </a:xfrm>
        </p:spPr>
        <p:txBody>
          <a:bodyPr/>
          <a:lstStyle/>
          <a:p>
            <a:r>
              <a:rPr lang="en-US" altLang="zh-CN" sz="2600" dirty="0">
                <a:latin typeface="+mj-ea"/>
                <a:sym typeface="Symbol" pitchFamily="18" charset="2"/>
              </a:rPr>
              <a:t>G[S]: (0)</a:t>
            </a:r>
            <a:r>
              <a:rPr lang="en-US" altLang="zh-CN" sz="2600" dirty="0">
                <a:latin typeface="+mj-ea"/>
              </a:rPr>
              <a:t> S’</a:t>
            </a:r>
            <a:r>
              <a:rPr lang="en-US" altLang="zh-CN" sz="2600" dirty="0">
                <a:latin typeface="+mj-ea"/>
                <a:sym typeface="Symbol" pitchFamily="18" charset="2"/>
              </a:rPr>
              <a:t>S  (1) </a:t>
            </a:r>
            <a:r>
              <a:rPr lang="en-US" altLang="zh-CN" sz="2600" dirty="0" smtClean="0">
                <a:latin typeface="+mj-ea"/>
                <a:sym typeface="Symbol" pitchFamily="18" charset="2"/>
              </a:rPr>
              <a:t>S </a:t>
            </a:r>
            <a:r>
              <a:rPr lang="en-US" altLang="zh-CN" sz="2600" dirty="0">
                <a:latin typeface="+mj-ea"/>
                <a:sym typeface="Symbol" pitchFamily="18" charset="2"/>
              </a:rPr>
              <a:t></a:t>
            </a:r>
            <a:r>
              <a:rPr lang="en-US" altLang="zh-CN" sz="2600" dirty="0" err="1" smtClean="0">
                <a:latin typeface="+mj-ea"/>
                <a:sym typeface="Symbol" pitchFamily="18" charset="2"/>
              </a:rPr>
              <a:t>aAcBe</a:t>
            </a:r>
            <a:r>
              <a:rPr lang="en-US" altLang="zh-CN" sz="2600" dirty="0" smtClean="0">
                <a:latin typeface="+mj-ea"/>
                <a:sym typeface="Symbol" pitchFamily="18" charset="2"/>
              </a:rPr>
              <a:t>    </a:t>
            </a:r>
            <a:r>
              <a:rPr lang="en-US" altLang="zh-CN" sz="2600" dirty="0">
                <a:latin typeface="+mj-ea"/>
                <a:sym typeface="Symbol" pitchFamily="18" charset="2"/>
              </a:rPr>
              <a:t/>
            </a:r>
            <a:br>
              <a:rPr lang="en-US" altLang="zh-CN" sz="2600" dirty="0">
                <a:latin typeface="+mj-ea"/>
                <a:sym typeface="Symbol" pitchFamily="18" charset="2"/>
              </a:rPr>
            </a:br>
            <a:r>
              <a:rPr lang="en-US" altLang="zh-CN" sz="2600" dirty="0">
                <a:latin typeface="+mj-ea"/>
                <a:sym typeface="Symbol" pitchFamily="18" charset="2"/>
              </a:rPr>
              <a:t>      </a:t>
            </a:r>
            <a:r>
              <a:rPr lang="en-US" altLang="zh-CN" sz="2600" dirty="0" smtClean="0">
                <a:latin typeface="+mj-ea"/>
                <a:sym typeface="Symbol" pitchFamily="18" charset="2"/>
              </a:rPr>
              <a:t>(</a:t>
            </a:r>
            <a:r>
              <a:rPr lang="en-US" altLang="zh-CN" sz="2600" dirty="0">
                <a:latin typeface="+mj-ea"/>
                <a:sym typeface="Symbol" pitchFamily="18" charset="2"/>
              </a:rPr>
              <a:t>2)A b   </a:t>
            </a:r>
            <a:r>
              <a:rPr lang="en-US" altLang="zh-CN" sz="2600" dirty="0" smtClean="0">
                <a:latin typeface="+mj-ea"/>
                <a:sym typeface="Symbol" pitchFamily="18" charset="2"/>
              </a:rPr>
              <a:t> (</a:t>
            </a:r>
            <a:r>
              <a:rPr lang="en-US" altLang="zh-CN" sz="2600" dirty="0">
                <a:latin typeface="+mj-ea"/>
                <a:sym typeface="Symbol" pitchFamily="18" charset="2"/>
              </a:rPr>
              <a:t>3) </a:t>
            </a:r>
            <a:r>
              <a:rPr lang="en-US" altLang="zh-CN" sz="2600" dirty="0" smtClean="0">
                <a:latin typeface="+mj-ea"/>
                <a:sym typeface="Symbol" pitchFamily="18" charset="2"/>
              </a:rPr>
              <a:t>A </a:t>
            </a:r>
            <a:r>
              <a:rPr lang="en-US" altLang="zh-CN" sz="2600" dirty="0">
                <a:latin typeface="+mj-ea"/>
                <a:sym typeface="Symbol" pitchFamily="18" charset="2"/>
              </a:rPr>
              <a:t></a:t>
            </a:r>
            <a:r>
              <a:rPr lang="en-US" altLang="zh-CN" sz="2600" dirty="0" err="1">
                <a:latin typeface="+mj-ea"/>
                <a:sym typeface="Symbol" pitchFamily="18" charset="2"/>
              </a:rPr>
              <a:t>Ab</a:t>
            </a:r>
            <a:r>
              <a:rPr lang="en-US" altLang="zh-CN" sz="2600" dirty="0">
                <a:latin typeface="+mj-ea"/>
                <a:sym typeface="Symbol" pitchFamily="18" charset="2"/>
              </a:rPr>
              <a:t>	  (4)B d</a:t>
            </a:r>
            <a:endParaRPr lang="zh-CN" altLang="en-US" sz="2600" dirty="0">
              <a:latin typeface="+mj-ea"/>
              <a:sym typeface="Symbol" pitchFamily="18" charset="2"/>
            </a:endParaRPr>
          </a:p>
        </p:txBody>
      </p:sp>
      <p:sp>
        <p:nvSpPr>
          <p:cNvPr id="91139" name="Rectangle 1027"/>
          <p:cNvSpPr>
            <a:spLocks noGrp="1" noChangeArrowheads="1"/>
          </p:cNvSpPr>
          <p:nvPr>
            <p:ph type="body" sz="half" idx="1"/>
          </p:nvPr>
        </p:nvSpPr>
        <p:spPr>
          <a:xfrm>
            <a:off x="142844" y="2000240"/>
            <a:ext cx="4719638" cy="4429156"/>
          </a:xfrm>
        </p:spPr>
        <p:txBody>
          <a:bodyPr/>
          <a:lstStyle/>
          <a:p>
            <a:pPr lvl="1">
              <a:buFontTx/>
              <a:buNone/>
            </a:pPr>
            <a:r>
              <a:rPr lang="zh-CN" altLang="en-US" dirty="0"/>
              <a:t>每个非终结符的左文方程组</a:t>
            </a:r>
          </a:p>
          <a:p>
            <a:pPr>
              <a:buFont typeface="Monotype Sorts" pitchFamily="2" charset="2"/>
              <a:buNone/>
            </a:pPr>
            <a:r>
              <a:rPr lang="en-US" altLang="zh-CN" sz="2400" b="0" dirty="0">
                <a:latin typeface="Times New Roman" pitchFamily="18" charset="0"/>
                <a:cs typeface="Times New Roman" pitchFamily="18" charset="0"/>
              </a:rPr>
              <a:t>LC(S’)={</a:t>
            </a:r>
            <a:r>
              <a:rPr lang="en-US" altLang="zh-CN" sz="2400" b="0" dirty="0">
                <a:latin typeface="Times New Roman" pitchFamily="18" charset="0"/>
                <a:cs typeface="Times New Roman" pitchFamily="18" charset="0"/>
                <a:sym typeface="Symbol" pitchFamily="18" charset="2"/>
              </a:rPr>
              <a:t></a:t>
            </a:r>
            <a:r>
              <a:rPr lang="en-US" altLang="zh-CN" sz="2400" b="0" dirty="0">
                <a:latin typeface="Times New Roman" pitchFamily="18" charset="0"/>
                <a:cs typeface="Times New Roman" pitchFamily="18" charset="0"/>
              </a:rPr>
              <a:t>}</a:t>
            </a:r>
          </a:p>
          <a:p>
            <a:pPr>
              <a:buFont typeface="Monotype Sorts" pitchFamily="2" charset="2"/>
              <a:buNone/>
            </a:pPr>
            <a:r>
              <a:rPr lang="en-US" altLang="zh-CN" sz="2400" b="0" dirty="0">
                <a:latin typeface="Times New Roman" pitchFamily="18" charset="0"/>
                <a:cs typeface="Times New Roman" pitchFamily="18" charset="0"/>
              </a:rPr>
              <a:t>LC(S)=LC(S’).{</a:t>
            </a:r>
            <a:r>
              <a:rPr lang="en-US" altLang="zh-CN" sz="2400" b="0" dirty="0">
                <a:latin typeface="Times New Roman" pitchFamily="18" charset="0"/>
                <a:cs typeface="Times New Roman" pitchFamily="18" charset="0"/>
                <a:sym typeface="Symbol" pitchFamily="18" charset="2"/>
              </a:rPr>
              <a:t></a:t>
            </a:r>
            <a:r>
              <a:rPr lang="en-US" altLang="zh-CN" sz="2400" b="0" dirty="0" smtClean="0">
                <a:latin typeface="Times New Roman" pitchFamily="18" charset="0"/>
                <a:cs typeface="Times New Roman" pitchFamily="18" charset="0"/>
              </a:rPr>
              <a:t>}={</a:t>
            </a:r>
            <a:r>
              <a:rPr lang="en-US" altLang="zh-CN" sz="2400" b="0" dirty="0" smtClean="0">
                <a:latin typeface="Times New Roman" pitchFamily="18" charset="0"/>
                <a:cs typeface="Times New Roman" pitchFamily="18" charset="0"/>
                <a:sym typeface="Symbol" pitchFamily="18" charset="2"/>
              </a:rPr>
              <a:t></a:t>
            </a:r>
            <a:r>
              <a:rPr lang="en-US" altLang="zh-CN" sz="2400" b="0" dirty="0" smtClean="0">
                <a:latin typeface="Times New Roman" pitchFamily="18" charset="0"/>
                <a:cs typeface="Times New Roman" pitchFamily="18" charset="0"/>
              </a:rPr>
              <a:t>}</a:t>
            </a:r>
            <a:endParaRPr lang="en-US" altLang="zh-CN" sz="2400" b="0" dirty="0">
              <a:latin typeface="Times New Roman" pitchFamily="18" charset="0"/>
              <a:cs typeface="Times New Roman" pitchFamily="18" charset="0"/>
            </a:endParaRPr>
          </a:p>
          <a:p>
            <a:pPr>
              <a:buFont typeface="Monotype Sorts" pitchFamily="2" charset="2"/>
              <a:buNone/>
            </a:pPr>
            <a:r>
              <a:rPr lang="en-US" altLang="zh-CN" sz="2400" b="0" dirty="0">
                <a:latin typeface="Times New Roman" pitchFamily="18" charset="0"/>
                <a:cs typeface="Times New Roman" pitchFamily="18" charset="0"/>
              </a:rPr>
              <a:t>LC(A)=LC(S).{a}</a:t>
            </a:r>
            <a:r>
              <a:rPr lang="en-US" altLang="zh-CN" sz="2400" b="0" dirty="0" smtClean="0">
                <a:latin typeface="Times New Roman" pitchFamily="18" charset="0"/>
                <a:cs typeface="Times New Roman" pitchFamily="18" charset="0"/>
                <a:sym typeface="Symbol" pitchFamily="18" charset="2"/>
              </a:rPr>
              <a:t></a:t>
            </a:r>
            <a:r>
              <a:rPr lang="en-US" altLang="zh-CN" sz="2400" b="0" dirty="0" smtClean="0">
                <a:latin typeface="Times New Roman" pitchFamily="18" charset="0"/>
                <a:cs typeface="Times New Roman" pitchFamily="18" charset="0"/>
              </a:rPr>
              <a:t>LC(A).{</a:t>
            </a:r>
            <a:r>
              <a:rPr lang="en-US" altLang="zh-CN" sz="2400" b="0" dirty="0">
                <a:latin typeface="Times New Roman" pitchFamily="18" charset="0"/>
                <a:cs typeface="Times New Roman" pitchFamily="18" charset="0"/>
                <a:sym typeface="Symbol" pitchFamily="18" charset="2"/>
              </a:rPr>
              <a:t></a:t>
            </a:r>
            <a:r>
              <a:rPr lang="en-US" altLang="zh-CN" sz="2400" b="0" dirty="0" smtClean="0">
                <a:latin typeface="Times New Roman" pitchFamily="18" charset="0"/>
                <a:cs typeface="Times New Roman" pitchFamily="18" charset="0"/>
              </a:rPr>
              <a:t>}={</a:t>
            </a:r>
            <a:r>
              <a:rPr lang="en-US" altLang="zh-CN" sz="2400" b="0" dirty="0" smtClean="0">
                <a:latin typeface="Times New Roman" pitchFamily="18" charset="0"/>
                <a:cs typeface="Times New Roman" pitchFamily="18" charset="0"/>
                <a:sym typeface="Symbol" pitchFamily="18" charset="2"/>
              </a:rPr>
              <a:t>a</a:t>
            </a:r>
            <a:r>
              <a:rPr lang="en-US" altLang="zh-CN" sz="2400" b="0" dirty="0" smtClean="0">
                <a:latin typeface="Times New Roman" pitchFamily="18" charset="0"/>
                <a:cs typeface="Times New Roman" pitchFamily="18" charset="0"/>
              </a:rPr>
              <a:t>}</a:t>
            </a:r>
            <a:endParaRPr lang="en-US" altLang="zh-CN" sz="2400" b="0" dirty="0">
              <a:latin typeface="Times New Roman" pitchFamily="18" charset="0"/>
              <a:cs typeface="Times New Roman" pitchFamily="18" charset="0"/>
            </a:endParaRPr>
          </a:p>
          <a:p>
            <a:pPr>
              <a:buFont typeface="Monotype Sorts" pitchFamily="2" charset="2"/>
              <a:buNone/>
            </a:pPr>
            <a:r>
              <a:rPr lang="en-US" altLang="zh-CN" sz="2400" b="0" dirty="0">
                <a:latin typeface="Times New Roman" pitchFamily="18" charset="0"/>
                <a:cs typeface="Times New Roman" pitchFamily="18" charset="0"/>
              </a:rPr>
              <a:t>LC(B)=LC(S).{</a:t>
            </a:r>
            <a:r>
              <a:rPr lang="en-US" altLang="zh-CN" sz="2400" b="0" dirty="0" err="1">
                <a:latin typeface="Times New Roman" pitchFamily="18" charset="0"/>
                <a:cs typeface="Times New Roman" pitchFamily="18" charset="0"/>
              </a:rPr>
              <a:t>aAc</a:t>
            </a:r>
            <a:r>
              <a:rPr lang="en-US" altLang="zh-CN" sz="2400" b="0" dirty="0" smtClean="0">
                <a:latin typeface="Times New Roman" pitchFamily="18" charset="0"/>
                <a:cs typeface="Times New Roman" pitchFamily="18" charset="0"/>
              </a:rPr>
              <a:t>}={</a:t>
            </a:r>
            <a:r>
              <a:rPr lang="en-US" altLang="zh-CN" sz="2400" b="0" dirty="0" err="1" smtClean="0">
                <a:latin typeface="Times New Roman" pitchFamily="18" charset="0"/>
                <a:cs typeface="Times New Roman" pitchFamily="18" charset="0"/>
              </a:rPr>
              <a:t>aAc</a:t>
            </a:r>
            <a:r>
              <a:rPr lang="en-US" altLang="zh-CN" sz="2400" b="0" dirty="0" smtClean="0">
                <a:latin typeface="Times New Roman" pitchFamily="18" charset="0"/>
                <a:cs typeface="Times New Roman" pitchFamily="18" charset="0"/>
              </a:rPr>
              <a:t>}</a:t>
            </a:r>
            <a:endParaRPr lang="en-US" altLang="zh-CN" sz="2400" b="0" dirty="0">
              <a:latin typeface="Times New Roman" pitchFamily="18" charset="0"/>
              <a:cs typeface="Times New Roman" pitchFamily="18" charset="0"/>
            </a:endParaRPr>
          </a:p>
          <a:p>
            <a:pPr>
              <a:buFont typeface="Monotype Sorts" pitchFamily="2" charset="2"/>
              <a:buNone/>
            </a:pPr>
            <a:r>
              <a:rPr lang="zh-CN" altLang="en-US" sz="2400" dirty="0"/>
              <a:t>化简为：</a:t>
            </a:r>
          </a:p>
          <a:p>
            <a:pPr>
              <a:buFont typeface="Monotype Sorts" pitchFamily="2" charset="2"/>
              <a:buNone/>
            </a:pPr>
            <a:r>
              <a:rPr lang="en-US" altLang="zh-CN" sz="2400" b="0" dirty="0" smtClean="0">
                <a:latin typeface="Times New Roman" pitchFamily="18" charset="0"/>
                <a:cs typeface="Times New Roman" pitchFamily="18" charset="0"/>
              </a:rPr>
              <a:t>LC(S’)</a:t>
            </a:r>
            <a:r>
              <a:rPr lang="en-US" altLang="zh-CN" sz="2400" dirty="0" smtClean="0"/>
              <a:t>= </a:t>
            </a:r>
            <a:r>
              <a:rPr lang="en-US" altLang="zh-CN" sz="2400" dirty="0">
                <a:sym typeface="Symbol" pitchFamily="18" charset="2"/>
              </a:rPr>
              <a:t></a:t>
            </a:r>
            <a:endParaRPr lang="en-US" altLang="zh-CN" sz="2400" dirty="0"/>
          </a:p>
          <a:p>
            <a:pPr>
              <a:buFont typeface="Monotype Sorts" pitchFamily="2" charset="2"/>
              <a:buNone/>
            </a:pPr>
            <a:r>
              <a:rPr lang="en-US" altLang="zh-CN" sz="2400" b="0" dirty="0" smtClean="0">
                <a:latin typeface="Times New Roman" pitchFamily="18" charset="0"/>
                <a:cs typeface="Times New Roman" pitchFamily="18" charset="0"/>
              </a:rPr>
              <a:t>LC(S)</a:t>
            </a:r>
            <a:r>
              <a:rPr lang="en-US" altLang="zh-CN" sz="2400" dirty="0" smtClean="0"/>
              <a:t>=</a:t>
            </a:r>
            <a:r>
              <a:rPr lang="en-US" altLang="zh-CN" sz="2400" b="0" dirty="0" smtClean="0">
                <a:latin typeface="Times New Roman" pitchFamily="18" charset="0"/>
                <a:cs typeface="Times New Roman" pitchFamily="18" charset="0"/>
              </a:rPr>
              <a:t>LC(S’)</a:t>
            </a:r>
            <a:endParaRPr lang="en-US" altLang="zh-CN" sz="2400" dirty="0"/>
          </a:p>
          <a:p>
            <a:pPr>
              <a:buFont typeface="Monotype Sorts" pitchFamily="2" charset="2"/>
              <a:buNone/>
            </a:pPr>
            <a:r>
              <a:rPr lang="en-US" altLang="zh-CN" sz="2400" b="0" dirty="0" smtClean="0">
                <a:latin typeface="Times New Roman" pitchFamily="18" charset="0"/>
                <a:cs typeface="Times New Roman" pitchFamily="18" charset="0"/>
              </a:rPr>
              <a:t>LC(A)</a:t>
            </a:r>
            <a:r>
              <a:rPr lang="en-US" altLang="zh-CN" sz="2400" dirty="0" smtClean="0"/>
              <a:t>=</a:t>
            </a:r>
            <a:r>
              <a:rPr lang="en-US" altLang="zh-CN" sz="2400" b="0" dirty="0" smtClean="0">
                <a:latin typeface="Times New Roman" pitchFamily="18" charset="0"/>
                <a:cs typeface="Times New Roman" pitchFamily="18" charset="0"/>
              </a:rPr>
              <a:t>LC(S)</a:t>
            </a:r>
            <a:r>
              <a:rPr lang="en-US" altLang="zh-CN" sz="2400" dirty="0" err="1" smtClean="0"/>
              <a:t>a+</a:t>
            </a:r>
            <a:r>
              <a:rPr lang="en-US" altLang="zh-CN" sz="2400" b="0" dirty="0" err="1" smtClean="0">
                <a:latin typeface="Times New Roman" pitchFamily="18" charset="0"/>
                <a:cs typeface="Times New Roman" pitchFamily="18" charset="0"/>
              </a:rPr>
              <a:t>LC</a:t>
            </a:r>
            <a:r>
              <a:rPr lang="en-US" altLang="zh-CN" sz="2400" b="0" dirty="0" smtClean="0">
                <a:latin typeface="Times New Roman" pitchFamily="18" charset="0"/>
                <a:cs typeface="Times New Roman" pitchFamily="18" charset="0"/>
              </a:rPr>
              <a:t>(A)</a:t>
            </a:r>
            <a:endParaRPr lang="en-US" altLang="zh-CN" sz="2400" dirty="0"/>
          </a:p>
          <a:p>
            <a:pPr>
              <a:buFont typeface="Monotype Sorts" pitchFamily="2" charset="2"/>
              <a:buNone/>
            </a:pPr>
            <a:r>
              <a:rPr lang="en-US" altLang="zh-CN" sz="2400" b="0" dirty="0" smtClean="0">
                <a:latin typeface="Times New Roman" pitchFamily="18" charset="0"/>
                <a:cs typeface="Times New Roman" pitchFamily="18" charset="0"/>
              </a:rPr>
              <a:t>LC(B)</a:t>
            </a:r>
            <a:r>
              <a:rPr lang="en-US" altLang="zh-CN" sz="2400" dirty="0" smtClean="0"/>
              <a:t>=</a:t>
            </a:r>
            <a:r>
              <a:rPr lang="en-US" altLang="zh-CN" sz="2400" b="0" dirty="0" smtClean="0">
                <a:latin typeface="Times New Roman" pitchFamily="18" charset="0"/>
                <a:cs typeface="Times New Roman" pitchFamily="18" charset="0"/>
              </a:rPr>
              <a:t>LC(S)</a:t>
            </a:r>
            <a:r>
              <a:rPr lang="en-US" altLang="zh-CN" sz="2400" dirty="0" err="1" smtClean="0"/>
              <a:t>aAc</a:t>
            </a:r>
            <a:endParaRPr lang="zh-CN" altLang="en-US" sz="2400" dirty="0"/>
          </a:p>
        </p:txBody>
      </p:sp>
      <p:sp>
        <p:nvSpPr>
          <p:cNvPr id="91140" name="Rectangle 1028"/>
          <p:cNvSpPr>
            <a:spLocks noGrp="1" noChangeArrowheads="1"/>
          </p:cNvSpPr>
          <p:nvPr>
            <p:ph type="body" sz="half" idx="2"/>
          </p:nvPr>
        </p:nvSpPr>
        <p:spPr>
          <a:xfrm>
            <a:off x="5072066" y="2138386"/>
            <a:ext cx="3643338" cy="3790944"/>
          </a:xfrm>
        </p:spPr>
        <p:txBody>
          <a:bodyPr/>
          <a:lstStyle/>
          <a:p>
            <a:pPr>
              <a:buFont typeface="Monotype Sorts" pitchFamily="2" charset="2"/>
              <a:buNone/>
            </a:pPr>
            <a:r>
              <a:rPr lang="zh-CN" altLang="en-US" sz="2400" dirty="0"/>
              <a:t>用代入法求解得：</a:t>
            </a:r>
            <a:endParaRPr lang="zh-CN" altLang="zh-CN" sz="2400" dirty="0"/>
          </a:p>
          <a:p>
            <a:pPr>
              <a:buFont typeface="Monotype Sorts" pitchFamily="2" charset="2"/>
              <a:buNone/>
            </a:pPr>
            <a:r>
              <a:rPr lang="en-US" altLang="zh-CN" sz="2400" b="0" dirty="0" smtClean="0">
                <a:latin typeface="Times New Roman" pitchFamily="18" charset="0"/>
                <a:cs typeface="Times New Roman" pitchFamily="18" charset="0"/>
              </a:rPr>
              <a:t>LC(S’)</a:t>
            </a:r>
            <a:r>
              <a:rPr lang="en-US" altLang="zh-CN" sz="2400" dirty="0" smtClean="0"/>
              <a:t>= </a:t>
            </a:r>
            <a:r>
              <a:rPr lang="en-US" altLang="zh-CN" sz="2400" dirty="0" smtClean="0">
                <a:sym typeface="Symbol" pitchFamily="18" charset="2"/>
              </a:rPr>
              <a:t></a:t>
            </a:r>
            <a:endParaRPr lang="en-US" altLang="zh-CN" sz="2400" dirty="0" smtClean="0"/>
          </a:p>
          <a:p>
            <a:pPr>
              <a:buFont typeface="Monotype Sorts" pitchFamily="2" charset="2"/>
              <a:buNone/>
            </a:pPr>
            <a:r>
              <a:rPr lang="en-US" altLang="zh-CN" sz="2400" b="0" dirty="0" smtClean="0">
                <a:latin typeface="Times New Roman" pitchFamily="18" charset="0"/>
                <a:cs typeface="Times New Roman" pitchFamily="18" charset="0"/>
              </a:rPr>
              <a:t>LC(S)</a:t>
            </a:r>
            <a:r>
              <a:rPr lang="en-US" altLang="zh-CN" sz="2400" dirty="0" smtClean="0"/>
              <a:t>= </a:t>
            </a:r>
            <a:r>
              <a:rPr lang="en-US" altLang="zh-CN" sz="2400" dirty="0" smtClean="0">
                <a:sym typeface="Symbol" pitchFamily="18" charset="2"/>
              </a:rPr>
              <a:t></a:t>
            </a:r>
            <a:endParaRPr lang="en-US" altLang="zh-CN" sz="2400" dirty="0" smtClean="0"/>
          </a:p>
          <a:p>
            <a:pPr>
              <a:buFont typeface="Monotype Sorts" pitchFamily="2" charset="2"/>
              <a:buNone/>
            </a:pPr>
            <a:r>
              <a:rPr lang="en-US" altLang="zh-CN" sz="2400" b="0" dirty="0" smtClean="0">
                <a:latin typeface="Times New Roman" pitchFamily="18" charset="0"/>
                <a:cs typeface="Times New Roman" pitchFamily="18" charset="0"/>
              </a:rPr>
              <a:t>LC(A)</a:t>
            </a:r>
            <a:r>
              <a:rPr lang="en-US" altLang="zh-CN" sz="2400" dirty="0" smtClean="0"/>
              <a:t>=a</a:t>
            </a:r>
          </a:p>
          <a:p>
            <a:pPr>
              <a:buFont typeface="Monotype Sorts" pitchFamily="2" charset="2"/>
              <a:buNone/>
            </a:pPr>
            <a:r>
              <a:rPr lang="en-US" altLang="zh-CN" sz="2400" b="0" dirty="0" smtClean="0">
                <a:latin typeface="Times New Roman" pitchFamily="18" charset="0"/>
                <a:cs typeface="Times New Roman" pitchFamily="18" charset="0"/>
              </a:rPr>
              <a:t>LC(B)</a:t>
            </a:r>
            <a:r>
              <a:rPr lang="en-US" altLang="zh-CN" sz="2400" dirty="0" smtClean="0"/>
              <a:t>=</a:t>
            </a:r>
            <a:r>
              <a:rPr lang="en-US" altLang="zh-CN" sz="2400" dirty="0" err="1" smtClean="0"/>
              <a:t>aAc</a:t>
            </a:r>
            <a:endParaRPr lang="en-US" altLang="zh-CN" sz="2400" dirty="0"/>
          </a:p>
          <a:p>
            <a:pPr>
              <a:buFont typeface="Monotype Sorts" pitchFamily="2" charset="2"/>
              <a:buNone/>
            </a:pPr>
            <a:endParaRPr lang="zh-CN" altLang="en-US" sz="2400" dirty="0"/>
          </a:p>
        </p:txBody>
      </p:sp>
      <p:sp>
        <p:nvSpPr>
          <p:cNvPr id="5" name="Rectangle 2"/>
          <p:cNvSpPr txBox="1">
            <a:spLocks noChangeArrowheads="1"/>
          </p:cNvSpPr>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dirty="0" smtClean="0">
                <a:solidFill>
                  <a:schemeClr val="tx2"/>
                </a:solidFill>
                <a:latin typeface="+mj-lt"/>
                <a:ea typeface="+mj-ea"/>
                <a:cs typeface="+mj-cs"/>
              </a:rPr>
              <a:t>举例</a:t>
            </a:r>
            <a:endParaRPr kumimoji="1" lang="zh-CN" altLang="en-US" sz="3200" b="1" i="0" u="none" strike="noStrike" kern="1200" cap="none" spc="0" normalizeH="0" baseline="0" noProof="0" dirty="0">
              <a:ln>
                <a:noFill/>
              </a:ln>
              <a:solidFill>
                <a:srgbClr val="800000"/>
              </a:solidFill>
              <a:effectLst/>
              <a:uLnTx/>
              <a:uFillTx/>
              <a:latin typeface="+mj-lt"/>
              <a:ea typeface="+mj-ea"/>
              <a:cs typeface="+mj-cs"/>
            </a:endParaRPr>
          </a:p>
        </p:txBody>
      </p:sp>
      <p:cxnSp>
        <p:nvCxnSpPr>
          <p:cNvPr id="7" name="直接连接符 6"/>
          <p:cNvCxnSpPr/>
          <p:nvPr/>
        </p:nvCxnSpPr>
        <p:spPr>
          <a:xfrm rot="5400000">
            <a:off x="2857488" y="4071942"/>
            <a:ext cx="385765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日期占位符 3"/>
          <p:cNvSpPr>
            <a:spLocks noGrp="1"/>
          </p:cNvSpPr>
          <p:nvPr>
            <p:ph type="dt" sz="half" idx="10"/>
          </p:nvPr>
        </p:nvSpPr>
        <p:spPr>
          <a:xfrm>
            <a:off x="428625" y="6356350"/>
            <a:ext cx="1643063" cy="501650"/>
          </a:xfrm>
        </p:spPr>
        <p:txBody>
          <a:bodyPr/>
          <a:lstStyle/>
          <a:p>
            <a:pPr>
              <a:defRPr/>
            </a:pPr>
            <a:fld id="{072DD54F-05A2-43EE-8180-8044ACA383D9}" type="datetime1">
              <a:rPr lang="zh-CN" altLang="en-US" smtClean="0"/>
              <a:pPr>
                <a:defRPr/>
              </a:pPr>
              <a:t>2018/12/14</a:t>
            </a:fld>
            <a:endParaRPr lang="en-US" altLang="zh-CN"/>
          </a:p>
        </p:txBody>
      </p:sp>
      <p:sp>
        <p:nvSpPr>
          <p:cNvPr id="9"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dirty="0"/>
          </a:p>
        </p:txBody>
      </p:sp>
      <p:sp>
        <p:nvSpPr>
          <p:cNvPr id="10"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30</a:t>
            </a:fld>
            <a:r>
              <a:rPr lang="en-US" altLang="zh-CN" dirty="0" smtClean="0">
                <a:latin typeface="Times New Roman" pitchFamily="18" charset="0"/>
              </a:rPr>
              <a:t>/36</a:t>
            </a:r>
            <a:endParaRPr lang="en-US" altLang="zh-CN" dirty="0"/>
          </a:p>
        </p:txBody>
      </p:sp>
      <p:sp>
        <p:nvSpPr>
          <p:cNvPr id="11" name="矩形 10"/>
          <p:cNvSpPr/>
          <p:nvPr/>
        </p:nvSpPr>
        <p:spPr>
          <a:xfrm>
            <a:off x="4139952" y="548680"/>
            <a:ext cx="4390946" cy="461665"/>
          </a:xfrm>
          <a:prstGeom prst="rect">
            <a:avLst/>
          </a:prstGeom>
          <a:ln w="25400">
            <a:solidFill>
              <a:srgbClr val="FF0000"/>
            </a:solidFill>
          </a:ln>
        </p:spPr>
        <p:txBody>
          <a:bodyPr wrap="none">
            <a:spAutoFit/>
          </a:bodyPr>
          <a:lstStyle/>
          <a:p>
            <a:r>
              <a:rPr lang="zh-CN" altLang="en-US" dirty="0" smtClean="0"/>
              <a:t>若</a:t>
            </a:r>
            <a:r>
              <a:rPr lang="en-US" altLang="zh-CN" dirty="0" smtClean="0"/>
              <a:t>B</a:t>
            </a:r>
            <a:r>
              <a:rPr lang="en-US" altLang="zh-CN" dirty="0" smtClean="0">
                <a:sym typeface="Symbol" pitchFamily="18" charset="2"/>
              </a:rPr>
              <a:t>A</a:t>
            </a:r>
            <a:r>
              <a:rPr lang="en-US" altLang="zh-CN" dirty="0" smtClean="0"/>
              <a:t>  </a:t>
            </a:r>
            <a:r>
              <a:rPr lang="zh-CN" altLang="en-US" dirty="0" smtClean="0"/>
              <a:t>则:</a:t>
            </a:r>
            <a:r>
              <a:rPr lang="en-US" altLang="zh-CN" dirty="0" smtClean="0"/>
              <a:t>LC(A)</a:t>
            </a:r>
            <a:r>
              <a:rPr lang="en-US" altLang="zh-CN" dirty="0" smtClean="0">
                <a:sym typeface="Symbol" pitchFamily="18" charset="2"/>
              </a:rPr>
              <a:t></a:t>
            </a:r>
            <a:r>
              <a:rPr lang="en-US" altLang="zh-CN" dirty="0" smtClean="0"/>
              <a:t>LC(B).{</a:t>
            </a:r>
            <a:r>
              <a:rPr lang="en-US" altLang="zh-CN" dirty="0" smtClean="0">
                <a:sym typeface="Symbol" pitchFamily="18" charset="2"/>
              </a:rPr>
              <a:t></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包含句柄的活前缀</a:t>
            </a:r>
            <a:endParaRPr lang="zh-CN" altLang="en-US" dirty="0"/>
          </a:p>
        </p:txBody>
      </p:sp>
      <p:sp>
        <p:nvSpPr>
          <p:cNvPr id="3" name="内容占位符 2"/>
          <p:cNvSpPr>
            <a:spLocks noGrp="1"/>
          </p:cNvSpPr>
          <p:nvPr>
            <p:ph sz="quarter" idx="1"/>
          </p:nvPr>
        </p:nvSpPr>
        <p:spPr/>
        <p:txBody>
          <a:bodyPr/>
          <a:lstStyle/>
          <a:p>
            <a:r>
              <a:rPr lang="zh-CN" altLang="en-US" dirty="0" smtClean="0"/>
              <a:t>这仅求出了每个非终结符在规范推导过程中用该非终结符的右部替换该非终结符之前，它的左部可能出现的串，也就是在规范规约过程中用句柄规约成该非终结符之前不包含句柄部分的串，因而只要再把句柄加入则就求得了包含句柄的活前缀，对</a:t>
            </a:r>
            <a:r>
              <a:rPr lang="en-US" altLang="zh-CN" dirty="0" smtClean="0"/>
              <a:t>LR(0)</a:t>
            </a:r>
            <a:r>
              <a:rPr lang="zh-CN" altLang="en-US" dirty="0" smtClean="0"/>
              <a:t>方法来说，</a:t>
            </a:r>
            <a:r>
              <a:rPr lang="zh-CN" altLang="en-US" dirty="0" smtClean="0">
                <a:solidFill>
                  <a:srgbClr val="1700C0"/>
                </a:solidFill>
              </a:rPr>
              <a:t>包含句柄的活前缀</a:t>
            </a:r>
            <a:r>
              <a:rPr lang="zh-CN" altLang="en-US" dirty="0" smtClean="0"/>
              <a:t>就是把已求得的活前缀再加上产生式的右部。</a:t>
            </a:r>
            <a:endParaRPr lang="en-US" altLang="zh-CN" dirty="0" smtClean="0"/>
          </a:p>
          <a:p>
            <a:r>
              <a:rPr lang="zh-CN" altLang="en-US" dirty="0" smtClean="0">
                <a:solidFill>
                  <a:srgbClr val="1700C0"/>
                </a:solidFill>
              </a:rPr>
              <a:t>规定：</a:t>
            </a:r>
            <a:r>
              <a:rPr lang="en-US" altLang="zh-CN" dirty="0" smtClean="0"/>
              <a:t>LR(0)CONTEXT(A →</a:t>
            </a:r>
            <a:r>
              <a:rPr lang="el-GR" altLang="zh-CN" dirty="0" smtClean="0">
                <a:ea typeface="宋体"/>
              </a:rPr>
              <a:t>β</a:t>
            </a:r>
            <a:r>
              <a:rPr lang="en-US" altLang="zh-CN" dirty="0" smtClean="0">
                <a:ea typeface="宋体"/>
              </a:rPr>
              <a:t>)=LC(A).</a:t>
            </a:r>
            <a:r>
              <a:rPr lang="el-GR" altLang="zh-CN" dirty="0" smtClean="0"/>
              <a:t>β</a:t>
            </a:r>
            <a:r>
              <a:rPr lang="en-US" altLang="zh-CN" dirty="0" smtClean="0"/>
              <a:t>, LR(0)CONTEXT(A →</a:t>
            </a:r>
            <a:r>
              <a:rPr lang="el-GR" altLang="zh-CN" dirty="0" smtClean="0"/>
              <a:t>β</a:t>
            </a:r>
            <a:r>
              <a:rPr lang="en-US" altLang="zh-CN" dirty="0" smtClean="0"/>
              <a:t>),</a:t>
            </a:r>
            <a:r>
              <a:rPr lang="zh-CN" altLang="en-US" dirty="0" smtClean="0"/>
              <a:t>可简写为</a:t>
            </a:r>
            <a:r>
              <a:rPr lang="en-US" altLang="zh-CN" dirty="0" smtClean="0"/>
              <a:t>LR(0)C(A →</a:t>
            </a:r>
            <a:r>
              <a:rPr lang="el-GR" altLang="zh-CN" dirty="0" smtClean="0"/>
              <a:t>β</a:t>
            </a:r>
            <a:r>
              <a:rPr lang="en-US" altLang="zh-CN" dirty="0" smtClean="0"/>
              <a:t>)</a:t>
            </a:r>
            <a:endParaRPr lang="zh-CN" altLang="en-US" dirty="0"/>
          </a:p>
        </p:txBody>
      </p:sp>
      <p:sp>
        <p:nvSpPr>
          <p:cNvPr id="4" name="日期占位符 3"/>
          <p:cNvSpPr>
            <a:spLocks noGrp="1"/>
          </p:cNvSpPr>
          <p:nvPr>
            <p:ph type="dt" sz="half" idx="10"/>
          </p:nvPr>
        </p:nvSpPr>
        <p:spPr/>
        <p:txBody>
          <a:bodyPr/>
          <a:lstStyle/>
          <a:p>
            <a:pPr>
              <a:defRPr/>
            </a:pPr>
            <a:fld id="{22B1E714-B1BF-4303-BAFD-B4485F72FD5F}" type="datetime1">
              <a:rPr lang="zh-CN" altLang="en-US" smtClean="0"/>
              <a:pPr>
                <a:defRPr/>
              </a:pPr>
              <a:t>2018/12/14</a:t>
            </a:fld>
            <a:endParaRPr lang="en-US" altLang="zh-CN" dirty="0"/>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31</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188640"/>
            <a:ext cx="7772400" cy="914400"/>
          </a:xfrm>
        </p:spPr>
        <p:txBody>
          <a:bodyPr>
            <a:normAutofit/>
          </a:bodyPr>
          <a:lstStyle/>
          <a:p>
            <a:r>
              <a:rPr lang="zh-CN" altLang="en-US" sz="3200" dirty="0" smtClean="0"/>
              <a:t>包含句柄的活前缀举例</a:t>
            </a:r>
            <a:endParaRPr lang="zh-CN" altLang="en-US" sz="3200" dirty="0">
              <a:sym typeface="Symbol" pitchFamily="18" charset="2"/>
            </a:endParaRPr>
          </a:p>
        </p:txBody>
      </p:sp>
      <p:sp>
        <p:nvSpPr>
          <p:cNvPr id="30723" name="Rectangle 3"/>
          <p:cNvSpPr>
            <a:spLocks noGrp="1" noChangeArrowheads="1"/>
          </p:cNvSpPr>
          <p:nvPr>
            <p:ph type="body" idx="1"/>
          </p:nvPr>
        </p:nvSpPr>
        <p:spPr>
          <a:xfrm>
            <a:off x="71406" y="1295400"/>
            <a:ext cx="8534400" cy="5181600"/>
          </a:xfrm>
        </p:spPr>
        <p:txBody>
          <a:bodyPr/>
          <a:lstStyle/>
          <a:p>
            <a:pPr>
              <a:buFont typeface="Monotype Sorts" pitchFamily="2" charset="2"/>
              <a:buNone/>
            </a:pPr>
            <a:r>
              <a:rPr lang="zh-CN" altLang="en-US" dirty="0" smtClean="0"/>
              <a:t>例</a:t>
            </a:r>
            <a:r>
              <a:rPr lang="en-US" altLang="zh-CN" dirty="0" smtClean="0"/>
              <a:t>6.1 </a:t>
            </a:r>
            <a:r>
              <a:rPr lang="en-US" altLang="zh-CN" dirty="0" smtClean="0">
                <a:sym typeface="Symbol" pitchFamily="18" charset="2"/>
              </a:rPr>
              <a:t>G[S]: </a:t>
            </a:r>
          </a:p>
          <a:p>
            <a:pPr>
              <a:buFont typeface="Monotype Sorts" pitchFamily="2" charset="2"/>
              <a:buNone/>
            </a:pPr>
            <a:r>
              <a:rPr lang="en-US" altLang="zh-CN" dirty="0" smtClean="0">
                <a:sym typeface="Symbol" pitchFamily="18" charset="2"/>
              </a:rPr>
              <a:t>  (0)</a:t>
            </a:r>
            <a:r>
              <a:rPr lang="en-US" altLang="zh-CN" dirty="0" smtClean="0"/>
              <a:t> S’</a:t>
            </a:r>
            <a:r>
              <a:rPr lang="en-US" altLang="zh-CN" dirty="0" smtClean="0">
                <a:sym typeface="Symbol" pitchFamily="18" charset="2"/>
              </a:rPr>
              <a:t>S  (1)  S </a:t>
            </a:r>
            <a:r>
              <a:rPr lang="en-US" altLang="zh-CN" dirty="0" err="1" smtClean="0">
                <a:sym typeface="Symbol" pitchFamily="18" charset="2"/>
              </a:rPr>
              <a:t>aAcBe</a:t>
            </a:r>
            <a:r>
              <a:rPr lang="en-US" altLang="zh-CN" dirty="0" smtClean="0">
                <a:sym typeface="Symbol" pitchFamily="18" charset="2"/>
              </a:rPr>
              <a:t>    </a:t>
            </a:r>
            <a:br>
              <a:rPr lang="en-US" altLang="zh-CN" dirty="0" smtClean="0">
                <a:sym typeface="Symbol" pitchFamily="18" charset="2"/>
              </a:rPr>
            </a:br>
            <a:r>
              <a:rPr lang="en-US" altLang="zh-CN" dirty="0" smtClean="0">
                <a:sym typeface="Symbol" pitchFamily="18" charset="2"/>
              </a:rPr>
              <a:t> (2)A b    (3)  A </a:t>
            </a:r>
            <a:r>
              <a:rPr lang="en-US" altLang="zh-CN" dirty="0" err="1" smtClean="0">
                <a:sym typeface="Symbol" pitchFamily="18" charset="2"/>
              </a:rPr>
              <a:t>Ab</a:t>
            </a:r>
            <a:r>
              <a:rPr lang="en-US" altLang="zh-CN" dirty="0" smtClean="0">
                <a:sym typeface="Symbol" pitchFamily="18" charset="2"/>
              </a:rPr>
              <a:t>	  (4)B d</a:t>
            </a:r>
            <a:endParaRPr lang="en-US" altLang="zh-CN" dirty="0"/>
          </a:p>
          <a:p>
            <a:pPr>
              <a:buFont typeface="Monotype Sorts" pitchFamily="2" charset="2"/>
              <a:buNone/>
            </a:pPr>
            <a:r>
              <a:rPr lang="zh-CN" altLang="en-US" dirty="0" smtClean="0"/>
              <a:t>则包含句柄的活前缀有</a:t>
            </a:r>
            <a:r>
              <a:rPr lang="zh-CN" altLang="en-US" dirty="0"/>
              <a:t>:</a:t>
            </a:r>
          </a:p>
          <a:p>
            <a:pPr indent="273050">
              <a:buFont typeface="Monotype Sorts" pitchFamily="2" charset="2"/>
              <a:buNone/>
            </a:pPr>
            <a:r>
              <a:rPr lang="en-US" altLang="zh-CN" dirty="0" smtClean="0"/>
              <a:t>LR(0)C(S</a:t>
            </a:r>
            <a:r>
              <a:rPr lang="en-US" altLang="zh-CN" dirty="0"/>
              <a:t>’</a:t>
            </a:r>
            <a:r>
              <a:rPr lang="en-US" altLang="zh-CN" dirty="0">
                <a:sym typeface="Symbol" pitchFamily="18" charset="2"/>
              </a:rPr>
              <a:t></a:t>
            </a:r>
            <a:r>
              <a:rPr lang="en-US" altLang="zh-CN" dirty="0"/>
              <a:t>S</a:t>
            </a:r>
            <a:r>
              <a:rPr lang="en-US" altLang="zh-CN" dirty="0" smtClean="0"/>
              <a:t>)=LC(S’).S=S</a:t>
            </a:r>
            <a:endParaRPr lang="en-US" altLang="zh-CN" dirty="0"/>
          </a:p>
          <a:p>
            <a:pPr indent="273050">
              <a:buFont typeface="Monotype Sorts" pitchFamily="2" charset="2"/>
              <a:buNone/>
            </a:pPr>
            <a:r>
              <a:rPr lang="en-US" altLang="zh-CN" dirty="0" smtClean="0"/>
              <a:t>LR(0)C(</a:t>
            </a:r>
            <a:r>
              <a:rPr lang="en-US" altLang="zh-CN" dirty="0" err="1" smtClean="0"/>
              <a:t>S</a:t>
            </a:r>
            <a:r>
              <a:rPr lang="en-US" altLang="zh-CN" dirty="0" err="1">
                <a:sym typeface="Symbol" pitchFamily="18" charset="2"/>
              </a:rPr>
              <a:t></a:t>
            </a:r>
            <a:r>
              <a:rPr lang="en-US" altLang="zh-CN" dirty="0" err="1"/>
              <a:t>aAcBe</a:t>
            </a:r>
            <a:r>
              <a:rPr lang="en-US" altLang="zh-CN" dirty="0" smtClean="0"/>
              <a:t>)=LC(S).</a:t>
            </a:r>
            <a:r>
              <a:rPr lang="en-US" altLang="zh-CN" dirty="0" err="1" smtClean="0"/>
              <a:t>aAcBe</a:t>
            </a:r>
            <a:r>
              <a:rPr lang="en-US" altLang="zh-CN" dirty="0" smtClean="0"/>
              <a:t>=</a:t>
            </a:r>
            <a:r>
              <a:rPr lang="en-US" altLang="zh-CN" dirty="0" err="1" smtClean="0"/>
              <a:t>aAcBe</a:t>
            </a:r>
            <a:endParaRPr lang="en-US" altLang="zh-CN" dirty="0"/>
          </a:p>
          <a:p>
            <a:pPr indent="273050">
              <a:buFont typeface="Monotype Sorts" pitchFamily="2" charset="2"/>
              <a:buNone/>
            </a:pPr>
            <a:r>
              <a:rPr lang="en-US" altLang="zh-CN" dirty="0" smtClean="0"/>
              <a:t>LR(0)C(</a:t>
            </a:r>
            <a:r>
              <a:rPr lang="en-US" altLang="zh-CN" dirty="0" err="1" smtClean="0"/>
              <a:t>A</a:t>
            </a:r>
            <a:r>
              <a:rPr lang="en-US" altLang="zh-CN" dirty="0" err="1">
                <a:sym typeface="Symbol" pitchFamily="18" charset="2"/>
              </a:rPr>
              <a:t></a:t>
            </a:r>
            <a:r>
              <a:rPr lang="en-US" altLang="zh-CN" dirty="0" err="1"/>
              <a:t>b</a:t>
            </a:r>
            <a:r>
              <a:rPr lang="en-US" altLang="zh-CN" dirty="0" smtClean="0"/>
              <a:t>)=LC(A).b=</a:t>
            </a:r>
            <a:r>
              <a:rPr lang="en-US" altLang="zh-CN" dirty="0" err="1" smtClean="0"/>
              <a:t>ab</a:t>
            </a:r>
            <a:endParaRPr lang="en-US" altLang="zh-CN" dirty="0"/>
          </a:p>
          <a:p>
            <a:pPr indent="273050">
              <a:buFont typeface="Monotype Sorts" pitchFamily="2" charset="2"/>
              <a:buNone/>
            </a:pPr>
            <a:r>
              <a:rPr lang="en-US" altLang="zh-CN" dirty="0" smtClean="0"/>
              <a:t>LR(0)C(</a:t>
            </a:r>
            <a:r>
              <a:rPr lang="en-US" altLang="zh-CN" dirty="0" err="1" smtClean="0"/>
              <a:t>A</a:t>
            </a:r>
            <a:r>
              <a:rPr lang="en-US" altLang="zh-CN" dirty="0" err="1">
                <a:sym typeface="Symbol" pitchFamily="18" charset="2"/>
              </a:rPr>
              <a:t></a:t>
            </a:r>
            <a:r>
              <a:rPr lang="en-US" altLang="zh-CN" dirty="0" err="1"/>
              <a:t>Ab</a:t>
            </a:r>
            <a:r>
              <a:rPr lang="en-US" altLang="zh-CN" dirty="0" smtClean="0"/>
              <a:t>)=LC(A).</a:t>
            </a:r>
            <a:r>
              <a:rPr lang="en-US" altLang="zh-CN" dirty="0" err="1" smtClean="0"/>
              <a:t>Ab</a:t>
            </a:r>
            <a:r>
              <a:rPr lang="en-US" altLang="zh-CN" dirty="0" smtClean="0"/>
              <a:t>=</a:t>
            </a:r>
            <a:r>
              <a:rPr lang="en-US" altLang="zh-CN" dirty="0" err="1" smtClean="0"/>
              <a:t>aAb</a:t>
            </a:r>
            <a:endParaRPr lang="en-US" altLang="zh-CN" dirty="0"/>
          </a:p>
          <a:p>
            <a:pPr indent="273050">
              <a:buFont typeface="Monotype Sorts" pitchFamily="2" charset="2"/>
              <a:buNone/>
            </a:pPr>
            <a:r>
              <a:rPr lang="en-US" altLang="zh-CN" dirty="0" smtClean="0"/>
              <a:t>LR(0)C(</a:t>
            </a:r>
            <a:r>
              <a:rPr lang="en-US" altLang="zh-CN" dirty="0" err="1" smtClean="0"/>
              <a:t>B</a:t>
            </a:r>
            <a:r>
              <a:rPr lang="en-US" altLang="zh-CN" dirty="0" err="1">
                <a:sym typeface="Symbol" pitchFamily="18" charset="2"/>
              </a:rPr>
              <a:t></a:t>
            </a:r>
            <a:r>
              <a:rPr lang="en-US" altLang="zh-CN" dirty="0" err="1"/>
              <a:t>d</a:t>
            </a:r>
            <a:r>
              <a:rPr lang="en-US" altLang="zh-CN" dirty="0" smtClean="0"/>
              <a:t>)=LC(B).d=</a:t>
            </a:r>
            <a:r>
              <a:rPr lang="en-US" altLang="zh-CN" dirty="0" err="1" smtClean="0"/>
              <a:t>aAcd</a:t>
            </a:r>
            <a:endParaRPr lang="en-US" altLang="zh-CN" dirty="0" smtClean="0"/>
          </a:p>
          <a:p>
            <a:pPr>
              <a:buFont typeface="Monotype Sorts" pitchFamily="2" charset="2"/>
              <a:buNone/>
            </a:pPr>
            <a:r>
              <a:rPr lang="zh-CN" altLang="en-US" dirty="0" smtClean="0"/>
              <a:t>包含句柄的活前缀也就是可归前缀，将它们展开也就得到了所有的活前缀，计算的结果为</a:t>
            </a:r>
            <a:r>
              <a:rPr lang="en-US" altLang="zh-CN" dirty="0" smtClean="0"/>
              <a:t>V</a:t>
            </a:r>
            <a:r>
              <a:rPr lang="en-US" altLang="zh-CN" baseline="-25000" dirty="0" smtClean="0"/>
              <a:t>N</a:t>
            </a:r>
            <a:r>
              <a:rPr lang="en-US" altLang="zh-CN" dirty="0" smtClean="0"/>
              <a:t> ∪ V</a:t>
            </a:r>
            <a:r>
              <a:rPr lang="en-US" altLang="zh-CN" baseline="-25000" dirty="0" smtClean="0"/>
              <a:t>T</a:t>
            </a:r>
            <a:r>
              <a:rPr lang="zh-CN" altLang="en-US" dirty="0" smtClean="0"/>
              <a:t>上的正规式。</a:t>
            </a:r>
            <a:endParaRPr lang="zh-CN" altLang="en-US" dirty="0"/>
          </a:p>
          <a:p>
            <a:pPr>
              <a:buFont typeface="Monotype Sorts" pitchFamily="2" charset="2"/>
              <a:buNone/>
            </a:pPr>
            <a:endParaRPr lang="zh-CN" altLang="zh-CN" dirty="0"/>
          </a:p>
        </p:txBody>
      </p:sp>
      <p:sp>
        <p:nvSpPr>
          <p:cNvPr id="4" name="Rectangle 1028"/>
          <p:cNvSpPr txBox="1">
            <a:spLocks noChangeArrowheads="1"/>
          </p:cNvSpPr>
          <p:nvPr/>
        </p:nvSpPr>
        <p:spPr>
          <a:xfrm>
            <a:off x="7000892" y="2786058"/>
            <a:ext cx="2071734" cy="2071702"/>
          </a:xfrm>
          <a:prstGeom prst="rect">
            <a:avLst/>
          </a:prstGeom>
          <a:ln>
            <a:solidFill>
              <a:srgbClr val="1700C0"/>
            </a:solidFill>
          </a:ln>
        </p:spPr>
        <p:txBody>
          <a:bodyPr/>
          <a:lstStyle/>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Monotype Sorts" pitchFamily="2" charset="2"/>
              <a:buNone/>
              <a:tabLst/>
              <a:defRPr/>
            </a:pPr>
            <a:r>
              <a:rPr kumimoji="0" lang="en-US" altLang="zh-CN"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LC(S’)</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rPr>
              <a:t>= </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a:t>
            </a:r>
            <a:endParaRPr kumimoji="0" lang="en-US" altLang="zh-CN" sz="2400" b="1" i="0" u="none" strike="noStrike" kern="1200" cap="none" spc="0" normalizeH="0" baseline="0" noProof="0" dirty="0" smtClean="0">
              <a:ln>
                <a:noFill/>
              </a:ln>
              <a:solidFill>
                <a:schemeClr val="tx1"/>
              </a:solidFill>
              <a:effectLst/>
              <a:uLnTx/>
              <a:uFillTx/>
              <a:latin typeface="+mj-ea"/>
              <a:ea typeface="+mj-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Monotype Sorts" pitchFamily="2" charset="2"/>
              <a:buNone/>
              <a:tabLst/>
              <a:defRPr/>
            </a:pPr>
            <a:r>
              <a:rPr kumimoji="0" lang="en-US" altLang="zh-CN"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LC(S)</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rPr>
              <a:t>= </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sym typeface="Symbol" pitchFamily="18" charset="2"/>
              </a:rPr>
              <a:t></a:t>
            </a:r>
            <a:endParaRPr kumimoji="0" lang="en-US" altLang="zh-CN" sz="2400" b="1" i="0" u="none" strike="noStrike" kern="1200" cap="none" spc="0" normalizeH="0" baseline="0" noProof="0" dirty="0" smtClean="0">
              <a:ln>
                <a:noFill/>
              </a:ln>
              <a:solidFill>
                <a:schemeClr val="tx1"/>
              </a:solidFill>
              <a:effectLst/>
              <a:uLnTx/>
              <a:uFillTx/>
              <a:latin typeface="+mj-ea"/>
              <a:ea typeface="+mj-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Monotype Sorts" pitchFamily="2" charset="2"/>
              <a:buNone/>
              <a:tabLst/>
              <a:defRPr/>
            </a:pPr>
            <a:r>
              <a:rPr kumimoji="0" lang="en-US" altLang="zh-CN"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LC(A)</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rPr>
              <a:t>=a</a:t>
            </a: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Monotype Sorts" pitchFamily="2" charset="2"/>
              <a:buNone/>
              <a:tabLst/>
              <a:defRPr/>
            </a:pPr>
            <a:r>
              <a:rPr kumimoji="0" lang="en-US" altLang="zh-CN" sz="2400" b="0"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LC(B)</a:t>
            </a:r>
            <a:r>
              <a:rPr kumimoji="0" lang="en-US" altLang="zh-CN" sz="2400" b="1" i="0" u="none" strike="noStrike" kern="1200" cap="none" spc="0" normalizeH="0" baseline="0" noProof="0" dirty="0" smtClean="0">
                <a:ln>
                  <a:noFill/>
                </a:ln>
                <a:solidFill>
                  <a:schemeClr val="tx1"/>
                </a:solidFill>
                <a:effectLst/>
                <a:uLnTx/>
                <a:uFillTx/>
                <a:latin typeface="+mj-ea"/>
                <a:ea typeface="+mj-ea"/>
                <a:cs typeface="+mn-cs"/>
              </a:rPr>
              <a:t>=</a:t>
            </a:r>
            <a:r>
              <a:rPr kumimoji="0" lang="en-US" altLang="zh-CN" sz="2400" b="1" i="0" u="none" strike="noStrike" kern="1200" cap="none" spc="0" normalizeH="0" baseline="0" noProof="0" dirty="0" err="1" smtClean="0">
                <a:ln>
                  <a:noFill/>
                </a:ln>
                <a:solidFill>
                  <a:schemeClr val="tx1"/>
                </a:solidFill>
                <a:effectLst/>
                <a:uLnTx/>
                <a:uFillTx/>
                <a:latin typeface="+mj-ea"/>
                <a:ea typeface="+mj-ea"/>
                <a:cs typeface="+mn-cs"/>
              </a:rPr>
              <a:t>aAc</a:t>
            </a:r>
            <a:endParaRPr kumimoji="0" lang="en-US" altLang="zh-CN" sz="2400" b="1" i="0" u="none" strike="noStrike" kern="1200" cap="none" spc="0" normalizeH="0" baseline="0" noProof="0" dirty="0" smtClean="0">
              <a:ln>
                <a:noFill/>
              </a:ln>
              <a:solidFill>
                <a:schemeClr val="tx1"/>
              </a:solidFill>
              <a:effectLst/>
              <a:uLnTx/>
              <a:uFillTx/>
              <a:latin typeface="+mj-ea"/>
              <a:ea typeface="+mj-ea"/>
              <a:cs typeface="+mn-cs"/>
            </a:endParaRPr>
          </a:p>
          <a:p>
            <a:pPr marL="273050" marR="0" lvl="0" indent="-273050" algn="l" defTabSz="914400" rtl="0" eaLnBrk="0" fontAlgn="base" latinLnBrk="0" hangingPunct="0">
              <a:lnSpc>
                <a:spcPct val="100000"/>
              </a:lnSpc>
              <a:spcBef>
                <a:spcPts val="600"/>
              </a:spcBef>
              <a:spcAft>
                <a:spcPct val="0"/>
              </a:spcAft>
              <a:buClr>
                <a:schemeClr val="accent1"/>
              </a:buClr>
              <a:buSzPct val="76000"/>
              <a:buFont typeface="Monotype Sorts" pitchFamily="2" charset="2"/>
              <a:buNone/>
              <a:tabLst/>
              <a:defRPr/>
            </a:pPr>
            <a:endParaRPr kumimoji="0" lang="zh-CN" altLang="en-US" sz="2400" b="1" i="0" u="none" strike="noStrike" kern="1200" cap="none" spc="0" normalizeH="0" baseline="0" noProof="0" dirty="0">
              <a:ln>
                <a:noFill/>
              </a:ln>
              <a:solidFill>
                <a:schemeClr val="tx1"/>
              </a:solidFill>
              <a:effectLst/>
              <a:uLnTx/>
              <a:uFillTx/>
              <a:latin typeface="+mj-ea"/>
              <a:ea typeface="+mj-ea"/>
              <a:cs typeface="+mn-cs"/>
            </a:endParaRPr>
          </a:p>
        </p:txBody>
      </p:sp>
      <p:sp>
        <p:nvSpPr>
          <p:cNvPr id="5" name="日期占位符 3"/>
          <p:cNvSpPr>
            <a:spLocks noGrp="1"/>
          </p:cNvSpPr>
          <p:nvPr>
            <p:ph type="dt" sz="half" idx="10"/>
          </p:nvPr>
        </p:nvSpPr>
        <p:spPr>
          <a:xfrm>
            <a:off x="428625" y="6356350"/>
            <a:ext cx="1643063" cy="501650"/>
          </a:xfrm>
        </p:spPr>
        <p:txBody>
          <a:bodyPr/>
          <a:lstStyle/>
          <a:p>
            <a:pPr>
              <a:defRPr/>
            </a:pPr>
            <a:fld id="{6A57FE45-B1EB-44E0-BD50-76E0C65368D7}" type="datetime1">
              <a:rPr lang="zh-CN" altLang="en-US" smtClean="0"/>
              <a:pPr>
                <a:defRPr/>
              </a:pPr>
              <a:t>2018/12/14</a:t>
            </a:fld>
            <a:endParaRPr lang="en-US" altLang="zh-CN" dirty="0"/>
          </a:p>
        </p:txBody>
      </p:sp>
      <p:sp>
        <p:nvSpPr>
          <p:cNvPr id="6"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7"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32</a:t>
            </a:fld>
            <a:r>
              <a:rPr lang="en-US" altLang="zh-CN" dirty="0" smtClean="0">
                <a:latin typeface="Times New Roman" pitchFamily="18" charset="0"/>
              </a:rPr>
              <a:t>/36</a:t>
            </a:r>
            <a:endParaRPr lang="en-US" altLang="zh-CN" dirty="0"/>
          </a:p>
        </p:txBody>
      </p:sp>
      <p:sp>
        <p:nvSpPr>
          <p:cNvPr id="8" name="矩形 7"/>
          <p:cNvSpPr/>
          <p:nvPr/>
        </p:nvSpPr>
        <p:spPr>
          <a:xfrm>
            <a:off x="4355976" y="0"/>
            <a:ext cx="4572000" cy="1477328"/>
          </a:xfrm>
          <a:prstGeom prst="rect">
            <a:avLst/>
          </a:prstGeom>
          <a:ln w="25400">
            <a:solidFill>
              <a:srgbClr val="FF0000"/>
            </a:solidFill>
          </a:ln>
        </p:spPr>
        <p:txBody>
          <a:bodyPr>
            <a:spAutoFit/>
          </a:bodyPr>
          <a:lstStyle/>
          <a:p>
            <a:pPr indent="273050" algn="l">
              <a:lnSpc>
                <a:spcPct val="90000"/>
              </a:lnSpc>
              <a:buNone/>
            </a:pPr>
            <a:r>
              <a:rPr lang="en-US" altLang="zh-CN" sz="2000" dirty="0" err="1" smtClean="0">
                <a:solidFill>
                  <a:srgbClr val="1700C0"/>
                </a:solidFill>
                <a:sym typeface="Symbol" pitchFamily="18" charset="2"/>
              </a:rPr>
              <a:t>ab</a:t>
            </a:r>
            <a:r>
              <a:rPr lang="en-US" altLang="zh-CN" sz="2000" dirty="0" smtClean="0">
                <a:solidFill>
                  <a:srgbClr val="1700C0"/>
                </a:solidFill>
                <a:sym typeface="Symbol" pitchFamily="18" charset="2"/>
              </a:rPr>
              <a:t>[2]</a:t>
            </a:r>
            <a:r>
              <a:rPr lang="en-US" altLang="zh-CN" sz="2000" dirty="0" smtClean="0">
                <a:sym typeface="Symbol" pitchFamily="18" charset="2"/>
              </a:rPr>
              <a:t>b[3]</a:t>
            </a:r>
            <a:r>
              <a:rPr lang="en-US" altLang="zh-CN" sz="2000" dirty="0" err="1" smtClean="0">
                <a:sym typeface="Symbol" pitchFamily="18" charset="2"/>
              </a:rPr>
              <a:t>cd</a:t>
            </a:r>
            <a:r>
              <a:rPr lang="en-US" altLang="zh-CN" sz="2000" dirty="0" smtClean="0">
                <a:sym typeface="Symbol" pitchFamily="18" charset="2"/>
              </a:rPr>
              <a:t>[4]e[1]   </a:t>
            </a:r>
            <a:r>
              <a:rPr lang="zh-CN" altLang="en-US" sz="2000" dirty="0" smtClean="0">
                <a:sym typeface="Symbol" pitchFamily="18" charset="2"/>
              </a:rPr>
              <a:t>用产生式</a:t>
            </a:r>
            <a:r>
              <a:rPr lang="en-US" altLang="zh-CN" sz="2000" dirty="0" smtClean="0">
                <a:sym typeface="Symbol" pitchFamily="18" charset="2"/>
              </a:rPr>
              <a:t>(2)</a:t>
            </a:r>
            <a:r>
              <a:rPr lang="zh-CN" altLang="en-US" sz="2000" dirty="0" smtClean="0">
                <a:sym typeface="Symbol" pitchFamily="18" charset="2"/>
              </a:rPr>
              <a:t>规约</a:t>
            </a:r>
            <a:endParaRPr lang="en-US" altLang="zh-CN" sz="2000" dirty="0" smtClean="0">
              <a:sym typeface="Symbol" pitchFamily="18" charset="2"/>
            </a:endParaRPr>
          </a:p>
          <a:p>
            <a:pPr indent="273050" algn="l">
              <a:lnSpc>
                <a:spcPct val="90000"/>
              </a:lnSpc>
              <a:buNone/>
            </a:pPr>
            <a:r>
              <a:rPr lang="en-US" altLang="zh-CN" sz="2000" dirty="0" smtClean="0">
                <a:sym typeface="Symbol" pitchFamily="18" charset="2"/>
              </a:rPr>
              <a:t>&lt;=</a:t>
            </a:r>
            <a:r>
              <a:rPr lang="en-US" altLang="zh-CN" sz="2000" dirty="0" err="1" smtClean="0">
                <a:solidFill>
                  <a:srgbClr val="1700C0"/>
                </a:solidFill>
                <a:sym typeface="Symbol" pitchFamily="18" charset="2"/>
              </a:rPr>
              <a:t>aAb</a:t>
            </a:r>
            <a:r>
              <a:rPr lang="en-US" altLang="zh-CN" sz="2000" dirty="0" smtClean="0">
                <a:solidFill>
                  <a:srgbClr val="1700C0"/>
                </a:solidFill>
                <a:sym typeface="Symbol" pitchFamily="18" charset="2"/>
              </a:rPr>
              <a:t>[3]</a:t>
            </a:r>
            <a:r>
              <a:rPr lang="en-US" altLang="zh-CN" sz="2000" dirty="0" err="1" smtClean="0">
                <a:sym typeface="Symbol" pitchFamily="18" charset="2"/>
              </a:rPr>
              <a:t>cd</a:t>
            </a:r>
            <a:r>
              <a:rPr lang="en-US" altLang="zh-CN" sz="2000" dirty="0" smtClean="0">
                <a:sym typeface="Symbol" pitchFamily="18" charset="2"/>
              </a:rPr>
              <a:t>[4]e[1]    </a:t>
            </a:r>
            <a:r>
              <a:rPr lang="zh-CN" altLang="en-US" sz="2000" dirty="0" smtClean="0">
                <a:sym typeface="Symbol" pitchFamily="18" charset="2"/>
              </a:rPr>
              <a:t>用产生式</a:t>
            </a:r>
            <a:r>
              <a:rPr lang="en-US" altLang="zh-CN" sz="2000" dirty="0" smtClean="0">
                <a:sym typeface="Symbol" pitchFamily="18" charset="2"/>
              </a:rPr>
              <a:t>(3)</a:t>
            </a:r>
            <a:r>
              <a:rPr lang="zh-CN" altLang="en-US" sz="2000" dirty="0" smtClean="0">
                <a:sym typeface="Symbol" pitchFamily="18" charset="2"/>
              </a:rPr>
              <a:t>规约</a:t>
            </a:r>
            <a:endParaRPr lang="en-US" altLang="zh-CN" sz="2000" dirty="0" smtClean="0">
              <a:sym typeface="Symbol" pitchFamily="18" charset="2"/>
            </a:endParaRPr>
          </a:p>
          <a:p>
            <a:pPr indent="273050" algn="l">
              <a:lnSpc>
                <a:spcPct val="90000"/>
              </a:lnSpc>
              <a:buNone/>
            </a:pPr>
            <a:r>
              <a:rPr lang="en-US" altLang="zh-CN" sz="2000" dirty="0" smtClean="0">
                <a:sym typeface="Symbol" pitchFamily="18" charset="2"/>
              </a:rPr>
              <a:t>&lt;=</a:t>
            </a:r>
            <a:r>
              <a:rPr lang="en-US" altLang="zh-CN" sz="2000" dirty="0" err="1" smtClean="0">
                <a:solidFill>
                  <a:srgbClr val="1700C0"/>
                </a:solidFill>
                <a:sym typeface="Symbol" pitchFamily="18" charset="2"/>
              </a:rPr>
              <a:t>aAcd</a:t>
            </a:r>
            <a:r>
              <a:rPr lang="en-US" altLang="zh-CN" sz="2000" dirty="0" smtClean="0">
                <a:solidFill>
                  <a:srgbClr val="1700C0"/>
                </a:solidFill>
                <a:sym typeface="Symbol" pitchFamily="18" charset="2"/>
              </a:rPr>
              <a:t>[4]</a:t>
            </a:r>
            <a:r>
              <a:rPr lang="en-US" altLang="zh-CN" sz="2000" dirty="0" smtClean="0">
                <a:sym typeface="Symbol" pitchFamily="18" charset="2"/>
              </a:rPr>
              <a:t>e[1]        </a:t>
            </a:r>
            <a:r>
              <a:rPr lang="zh-CN" altLang="en-US" sz="2000" dirty="0" smtClean="0">
                <a:sym typeface="Symbol" pitchFamily="18" charset="2"/>
              </a:rPr>
              <a:t>用产生式</a:t>
            </a:r>
            <a:r>
              <a:rPr lang="en-US" altLang="zh-CN" sz="2000" dirty="0" smtClean="0">
                <a:sym typeface="Symbol" pitchFamily="18" charset="2"/>
              </a:rPr>
              <a:t>(4)</a:t>
            </a:r>
            <a:r>
              <a:rPr lang="zh-CN" altLang="en-US" sz="2000" dirty="0" smtClean="0">
                <a:sym typeface="Symbol" pitchFamily="18" charset="2"/>
              </a:rPr>
              <a:t>规约</a:t>
            </a:r>
            <a:endParaRPr lang="en-US" altLang="zh-CN" sz="2000" dirty="0" smtClean="0">
              <a:sym typeface="Symbol" pitchFamily="18" charset="2"/>
            </a:endParaRPr>
          </a:p>
          <a:p>
            <a:pPr indent="273050" algn="l">
              <a:lnSpc>
                <a:spcPct val="90000"/>
              </a:lnSpc>
              <a:buNone/>
            </a:pPr>
            <a:r>
              <a:rPr lang="en-US" altLang="zh-CN" sz="2000" dirty="0" smtClean="0">
                <a:sym typeface="Symbol" pitchFamily="18" charset="2"/>
              </a:rPr>
              <a:t>&lt;=</a:t>
            </a:r>
            <a:r>
              <a:rPr lang="en-US" altLang="zh-CN" sz="2000" dirty="0" err="1" smtClean="0">
                <a:solidFill>
                  <a:srgbClr val="1700C0"/>
                </a:solidFill>
                <a:sym typeface="Symbol" pitchFamily="18" charset="2"/>
              </a:rPr>
              <a:t>aAcBe</a:t>
            </a:r>
            <a:r>
              <a:rPr lang="en-US" altLang="zh-CN" sz="2000" dirty="0" smtClean="0">
                <a:solidFill>
                  <a:srgbClr val="1700C0"/>
                </a:solidFill>
                <a:sym typeface="Symbol" pitchFamily="18" charset="2"/>
              </a:rPr>
              <a:t>[1]</a:t>
            </a:r>
            <a:r>
              <a:rPr lang="en-US" altLang="zh-CN" sz="2000" dirty="0" smtClean="0">
                <a:sym typeface="Symbol" pitchFamily="18" charset="2"/>
              </a:rPr>
              <a:t>           </a:t>
            </a:r>
            <a:r>
              <a:rPr lang="zh-CN" altLang="en-US" sz="2000" dirty="0" smtClean="0">
                <a:sym typeface="Symbol" pitchFamily="18" charset="2"/>
              </a:rPr>
              <a:t>用产生式</a:t>
            </a:r>
            <a:r>
              <a:rPr lang="en-US" altLang="zh-CN" sz="2000" dirty="0" smtClean="0">
                <a:sym typeface="Symbol" pitchFamily="18" charset="2"/>
              </a:rPr>
              <a:t>(1)</a:t>
            </a:r>
            <a:r>
              <a:rPr lang="zh-CN" altLang="en-US" sz="2000" dirty="0" smtClean="0">
                <a:sym typeface="Symbol" pitchFamily="18" charset="2"/>
              </a:rPr>
              <a:t>规约</a:t>
            </a:r>
            <a:endParaRPr lang="en-US" altLang="zh-CN" sz="2000" dirty="0" smtClean="0">
              <a:sym typeface="Symbol" pitchFamily="18" charset="2"/>
            </a:endParaRPr>
          </a:p>
          <a:p>
            <a:pPr indent="273050" algn="l">
              <a:lnSpc>
                <a:spcPct val="90000"/>
              </a:lnSpc>
              <a:buNone/>
            </a:pPr>
            <a:r>
              <a:rPr lang="en-US" altLang="zh-CN" sz="2000" dirty="0" smtClean="0">
                <a:sym typeface="Symbol" pitchFamily="18" charset="2"/>
              </a:rPr>
              <a:t>&lt;=</a:t>
            </a:r>
            <a:r>
              <a:rPr lang="en-US" altLang="zh-CN" sz="2000" dirty="0" smtClean="0"/>
              <a:t> S</a:t>
            </a:r>
            <a:endParaRPr lang="en-US" altLang="zh-CN" sz="20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noFill/>
          <a:ln w="9525">
            <a:noFill/>
            <a:miter lim="800000"/>
            <a:headEnd/>
            <a:tailEnd/>
          </a:ln>
        </p:spPr>
        <p:txBody>
          <a:bodyPr vert="horz" wrap="square" lIns="91440" tIns="45720" rIns="91440" bIns="45720" numCol="1" anchor="b" anchorCtr="0" compatLnSpc="1">
            <a:prstTxWarp prst="textNoShape">
              <a:avLst/>
            </a:prstTxWarp>
            <a:normAutofit/>
          </a:bodyPr>
          <a:lstStyle/>
          <a:p>
            <a:r>
              <a:rPr lang="zh-CN" altLang="en-US" dirty="0" smtClean="0"/>
              <a:t>举例</a:t>
            </a:r>
          </a:p>
        </p:txBody>
      </p:sp>
      <p:sp>
        <p:nvSpPr>
          <p:cNvPr id="44035" name="Rectangle 1027"/>
          <p:cNvSpPr>
            <a:spLocks noGrp="1" noChangeArrowheads="1"/>
          </p:cNvSpPr>
          <p:nvPr>
            <p:ph type="body" idx="1"/>
          </p:nvPr>
        </p:nvSpPr>
        <p:spPr>
          <a:xfrm>
            <a:off x="457200" y="1219200"/>
            <a:ext cx="8229600" cy="5067320"/>
          </a:xfrm>
        </p:spPr>
        <p:txBody>
          <a:bodyPr/>
          <a:lstStyle/>
          <a:p>
            <a:pPr>
              <a:spcBef>
                <a:spcPts val="0"/>
              </a:spcBef>
              <a:buFont typeface="Monotype Sorts" pitchFamily="2" charset="2"/>
              <a:buNone/>
            </a:pPr>
            <a:r>
              <a:rPr lang="zh-CN" altLang="en-US" sz="2400" b="1" dirty="0" smtClean="0">
                <a:latin typeface="宋体" charset="-122"/>
              </a:rPr>
              <a:t>文法</a:t>
            </a:r>
            <a:r>
              <a:rPr lang="en-US" altLang="zh-CN" sz="2400" b="1" dirty="0">
                <a:latin typeface="宋体" charset="-122"/>
              </a:rPr>
              <a:t>G</a:t>
            </a:r>
            <a:r>
              <a:rPr lang="zh-CN" altLang="en-US" sz="2400" b="1" dirty="0" smtClean="0">
                <a:latin typeface="宋体" charset="-122"/>
              </a:rPr>
              <a:t>:（</a:t>
            </a:r>
            <a:r>
              <a:rPr lang="zh-CN" altLang="en-US" sz="2400" b="1" dirty="0">
                <a:latin typeface="宋体" charset="-122"/>
              </a:rPr>
              <a:t>0）</a:t>
            </a:r>
            <a:r>
              <a:rPr lang="en-US" altLang="zh-CN" sz="2400" b="1" dirty="0" smtClean="0">
                <a:latin typeface="宋体" charset="-122"/>
              </a:rPr>
              <a:t>S’→</a:t>
            </a:r>
            <a:r>
              <a:rPr lang="en-US" altLang="zh-CN" sz="2400" b="1" dirty="0">
                <a:latin typeface="宋体" charset="-122"/>
              </a:rPr>
              <a:t>E  </a:t>
            </a:r>
            <a:r>
              <a:rPr lang="en-US" altLang="zh-CN" sz="2400" b="1" dirty="0" smtClean="0">
                <a:latin typeface="宋体" charset="-122"/>
              </a:rPr>
              <a:t>(</a:t>
            </a:r>
            <a:r>
              <a:rPr lang="en-US" altLang="zh-CN" sz="2400" b="1" dirty="0">
                <a:latin typeface="宋体" charset="-122"/>
              </a:rPr>
              <a:t>1) </a:t>
            </a:r>
            <a:r>
              <a:rPr lang="en-US" altLang="zh-CN" sz="2400" b="1" dirty="0" err="1">
                <a:latin typeface="宋体" charset="-122"/>
              </a:rPr>
              <a:t>E→aA</a:t>
            </a:r>
            <a:r>
              <a:rPr lang="en-US" altLang="zh-CN" sz="2400" b="1" dirty="0">
                <a:latin typeface="宋体" charset="-122"/>
              </a:rPr>
              <a:t>   </a:t>
            </a:r>
            <a:r>
              <a:rPr lang="en-US" altLang="zh-CN" sz="2400" b="1" dirty="0" smtClean="0">
                <a:latin typeface="宋体" charset="-122"/>
              </a:rPr>
              <a:t>(</a:t>
            </a:r>
            <a:r>
              <a:rPr lang="en-US" altLang="zh-CN" sz="2400" b="1" dirty="0">
                <a:latin typeface="宋体" charset="-122"/>
              </a:rPr>
              <a:t>2) </a:t>
            </a:r>
            <a:r>
              <a:rPr lang="en-US" altLang="zh-CN" sz="2400" b="1" dirty="0" err="1">
                <a:latin typeface="宋体" charset="-122"/>
              </a:rPr>
              <a:t>E→</a:t>
            </a:r>
            <a:r>
              <a:rPr lang="en-US" altLang="zh-CN" sz="2400" b="1" dirty="0" err="1" smtClean="0">
                <a:latin typeface="宋体" charset="-122"/>
              </a:rPr>
              <a:t>bB</a:t>
            </a:r>
            <a:r>
              <a:rPr lang="en-US" altLang="zh-CN" sz="2400" b="1" dirty="0" smtClean="0">
                <a:latin typeface="宋体" charset="-122"/>
              </a:rPr>
              <a:t>   </a:t>
            </a:r>
          </a:p>
          <a:p>
            <a:pPr>
              <a:spcBef>
                <a:spcPts val="0"/>
              </a:spcBef>
              <a:buFont typeface="Monotype Sorts" pitchFamily="2" charset="2"/>
              <a:buNone/>
            </a:pPr>
            <a:r>
              <a:rPr lang="en-US" altLang="zh-CN" sz="2400" dirty="0" smtClean="0">
                <a:latin typeface="宋体" charset="-122"/>
              </a:rPr>
              <a:t>       (3) </a:t>
            </a:r>
            <a:r>
              <a:rPr lang="en-US" altLang="zh-CN" sz="2400" dirty="0" err="1" smtClean="0">
                <a:latin typeface="宋体" charset="-122"/>
              </a:rPr>
              <a:t>A→cA</a:t>
            </a:r>
            <a:r>
              <a:rPr lang="en-US" altLang="zh-CN" sz="2400" dirty="0" smtClean="0">
                <a:latin typeface="宋体" charset="-122"/>
              </a:rPr>
              <a:t> </a:t>
            </a:r>
            <a:r>
              <a:rPr lang="en-US" altLang="zh-CN" sz="2400" b="1" dirty="0" smtClean="0">
                <a:latin typeface="宋体" charset="-122"/>
              </a:rPr>
              <a:t>  (</a:t>
            </a:r>
            <a:r>
              <a:rPr lang="en-US" altLang="zh-CN" sz="2400" b="1" dirty="0">
                <a:latin typeface="宋体" charset="-122"/>
              </a:rPr>
              <a:t>4) </a:t>
            </a:r>
            <a:r>
              <a:rPr lang="en-US" altLang="zh-CN" sz="2400" b="1" dirty="0" err="1">
                <a:latin typeface="宋体" charset="-122"/>
              </a:rPr>
              <a:t>A→d</a:t>
            </a:r>
            <a:r>
              <a:rPr lang="en-US" altLang="zh-CN" sz="2400" b="1" dirty="0">
                <a:latin typeface="宋体" charset="-122"/>
              </a:rPr>
              <a:t>    </a:t>
            </a:r>
            <a:r>
              <a:rPr lang="en-US" altLang="zh-CN" sz="2400" b="1" dirty="0" smtClean="0">
                <a:latin typeface="宋体" charset="-122"/>
              </a:rPr>
              <a:t>(</a:t>
            </a:r>
            <a:r>
              <a:rPr lang="en-US" altLang="zh-CN" sz="2400" b="1" dirty="0">
                <a:latin typeface="宋体" charset="-122"/>
              </a:rPr>
              <a:t>5) </a:t>
            </a:r>
            <a:r>
              <a:rPr lang="en-US" altLang="zh-CN" sz="2400" b="1" dirty="0" err="1">
                <a:latin typeface="宋体" charset="-122"/>
              </a:rPr>
              <a:t>B→</a:t>
            </a:r>
            <a:r>
              <a:rPr lang="en-US" altLang="zh-CN" sz="2400" b="1" dirty="0" err="1" smtClean="0">
                <a:latin typeface="宋体" charset="-122"/>
              </a:rPr>
              <a:t>cB</a:t>
            </a:r>
            <a:r>
              <a:rPr lang="en-US" altLang="zh-CN" sz="2400" b="1" dirty="0" smtClean="0">
                <a:latin typeface="宋体" charset="-122"/>
              </a:rPr>
              <a:t>   (6) </a:t>
            </a:r>
            <a:r>
              <a:rPr lang="en-US" altLang="zh-CN" sz="2400" b="1" dirty="0" err="1">
                <a:latin typeface="宋体" charset="-122"/>
              </a:rPr>
              <a:t>B→d</a:t>
            </a:r>
            <a:r>
              <a:rPr lang="en-US" altLang="zh-CN" sz="2400" b="1" dirty="0">
                <a:latin typeface="宋体" charset="-122"/>
              </a:rPr>
              <a:t> </a:t>
            </a:r>
          </a:p>
          <a:p>
            <a:pPr>
              <a:spcBef>
                <a:spcPts val="0"/>
              </a:spcBef>
              <a:buFont typeface="Monotype Sorts" pitchFamily="2" charset="2"/>
              <a:buNone/>
            </a:pPr>
            <a:r>
              <a:rPr lang="zh-CN" altLang="en-US" sz="2400" b="1" dirty="0" smtClean="0">
                <a:latin typeface="宋体" charset="-122"/>
              </a:rPr>
              <a:t>求不包含句柄在内的活前缀方程组为：</a:t>
            </a:r>
            <a:endParaRPr lang="en-US" altLang="zh-CN" sz="2400" b="1" dirty="0" smtClean="0">
              <a:latin typeface="宋体" charset="-122"/>
            </a:endParaRPr>
          </a:p>
          <a:p>
            <a:pPr indent="273050">
              <a:spcBef>
                <a:spcPts val="0"/>
              </a:spcBef>
              <a:buFont typeface="Monotype Sorts" pitchFamily="2" charset="2"/>
              <a:buNone/>
            </a:pPr>
            <a:r>
              <a:rPr lang="en-US" altLang="zh-CN" sz="2400" dirty="0" smtClean="0">
                <a:cs typeface="Times New Roman" pitchFamily="18" charset="0"/>
              </a:rPr>
              <a:t>LC(S’)=</a:t>
            </a:r>
            <a:r>
              <a:rPr lang="en-US" altLang="zh-CN" sz="2400" dirty="0" smtClean="0">
                <a:cs typeface="Times New Roman" pitchFamily="18" charset="0"/>
                <a:sym typeface="Symbol" pitchFamily="18" charset="2"/>
              </a:rPr>
              <a:t></a:t>
            </a:r>
            <a:endParaRPr lang="en-US" altLang="zh-CN" sz="2400" dirty="0" smtClean="0">
              <a:cs typeface="Times New Roman" pitchFamily="18" charset="0"/>
            </a:endParaRPr>
          </a:p>
          <a:p>
            <a:pPr indent="273050">
              <a:spcBef>
                <a:spcPts val="0"/>
              </a:spcBef>
              <a:buFont typeface="Monotype Sorts" pitchFamily="2" charset="2"/>
              <a:buNone/>
            </a:pPr>
            <a:r>
              <a:rPr lang="en-US" altLang="zh-CN" sz="2400" dirty="0" smtClean="0">
                <a:cs typeface="Times New Roman" pitchFamily="18" charset="0"/>
              </a:rPr>
              <a:t>LC(E)=LC(S’).</a:t>
            </a:r>
            <a:r>
              <a:rPr lang="en-US" altLang="zh-CN" sz="2400" dirty="0" smtClean="0">
                <a:cs typeface="Times New Roman" pitchFamily="18" charset="0"/>
                <a:sym typeface="Symbol" pitchFamily="18" charset="2"/>
              </a:rPr>
              <a:t></a:t>
            </a:r>
            <a:r>
              <a:rPr lang="en-US" altLang="zh-CN" sz="2400" dirty="0" smtClean="0">
                <a:cs typeface="Times New Roman" pitchFamily="18" charset="0"/>
              </a:rPr>
              <a:t>=</a:t>
            </a:r>
            <a:r>
              <a:rPr lang="en-US" altLang="zh-CN" sz="2400" dirty="0" smtClean="0">
                <a:cs typeface="Times New Roman" pitchFamily="18" charset="0"/>
                <a:sym typeface="Symbol" pitchFamily="18" charset="2"/>
              </a:rPr>
              <a:t></a:t>
            </a:r>
            <a:endParaRPr lang="en-US" altLang="zh-CN" sz="2400" dirty="0" smtClean="0">
              <a:cs typeface="Times New Roman" pitchFamily="18" charset="0"/>
            </a:endParaRPr>
          </a:p>
          <a:p>
            <a:pPr indent="273050">
              <a:spcBef>
                <a:spcPts val="0"/>
              </a:spcBef>
              <a:buFont typeface="Monotype Sorts" pitchFamily="2" charset="2"/>
              <a:buNone/>
            </a:pPr>
            <a:r>
              <a:rPr lang="en-US" altLang="zh-CN" sz="2400" dirty="0" smtClean="0">
                <a:cs typeface="Times New Roman" pitchFamily="18" charset="0"/>
              </a:rPr>
              <a:t>LC(A)=LC(E).</a:t>
            </a:r>
            <a:r>
              <a:rPr lang="en-US" altLang="zh-CN" sz="2400" dirty="0" err="1" smtClean="0">
                <a:cs typeface="Times New Roman" pitchFamily="18" charset="0"/>
              </a:rPr>
              <a:t>a</a:t>
            </a:r>
            <a:r>
              <a:rPr lang="en-US" altLang="zh-CN" sz="2400" dirty="0" err="1" smtClean="0">
                <a:cs typeface="Times New Roman" pitchFamily="18" charset="0"/>
                <a:sym typeface="Symbol" pitchFamily="18" charset="2"/>
              </a:rPr>
              <a:t>|</a:t>
            </a:r>
            <a:r>
              <a:rPr lang="en-US" altLang="zh-CN" sz="2400" dirty="0" err="1" smtClean="0">
                <a:cs typeface="Times New Roman" pitchFamily="18" charset="0"/>
              </a:rPr>
              <a:t>LC</a:t>
            </a:r>
            <a:r>
              <a:rPr lang="en-US" altLang="zh-CN" sz="2400" dirty="0" smtClean="0">
                <a:cs typeface="Times New Roman" pitchFamily="18" charset="0"/>
              </a:rPr>
              <a:t>(A).c=</a:t>
            </a:r>
            <a:r>
              <a:rPr lang="en-US" altLang="zh-CN" sz="2400" dirty="0" smtClean="0">
                <a:cs typeface="Times New Roman" pitchFamily="18" charset="0"/>
                <a:sym typeface="Symbol" pitchFamily="18" charset="2"/>
              </a:rPr>
              <a:t>ac</a:t>
            </a:r>
            <a:r>
              <a:rPr lang="en-US" altLang="zh-CN" sz="2400" baseline="30000" dirty="0" smtClean="0">
                <a:sym typeface="Symbol" pitchFamily="18" charset="2"/>
              </a:rPr>
              <a:t>*</a:t>
            </a:r>
            <a:endParaRPr lang="en-US" altLang="zh-CN" sz="2400" baseline="30000" dirty="0" smtClean="0"/>
          </a:p>
          <a:p>
            <a:pPr indent="273050">
              <a:spcBef>
                <a:spcPts val="0"/>
              </a:spcBef>
              <a:buFont typeface="Monotype Sorts" pitchFamily="2" charset="2"/>
              <a:buNone/>
            </a:pPr>
            <a:r>
              <a:rPr lang="en-US" altLang="zh-CN" sz="2400" dirty="0" smtClean="0">
                <a:cs typeface="Times New Roman" pitchFamily="18" charset="0"/>
              </a:rPr>
              <a:t>LC(B)=LC(E).</a:t>
            </a:r>
            <a:r>
              <a:rPr lang="en-US" altLang="zh-CN" sz="2400" dirty="0" err="1" smtClean="0">
                <a:cs typeface="Times New Roman" pitchFamily="18" charset="0"/>
              </a:rPr>
              <a:t>b|LC</a:t>
            </a:r>
            <a:r>
              <a:rPr lang="en-US" altLang="zh-CN" sz="2400" dirty="0" smtClean="0">
                <a:cs typeface="Times New Roman" pitchFamily="18" charset="0"/>
              </a:rPr>
              <a:t>(B).c=</a:t>
            </a:r>
            <a:r>
              <a:rPr lang="en-US" altLang="zh-CN" sz="2400" dirty="0" err="1" smtClean="0">
                <a:cs typeface="Times New Roman" pitchFamily="18" charset="0"/>
                <a:sym typeface="Symbol" pitchFamily="18" charset="2"/>
              </a:rPr>
              <a:t>bc</a:t>
            </a:r>
            <a:r>
              <a:rPr lang="en-US" altLang="zh-CN" sz="2400" baseline="30000" dirty="0" smtClean="0">
                <a:sym typeface="Symbol" pitchFamily="18" charset="2"/>
              </a:rPr>
              <a:t>*</a:t>
            </a:r>
            <a:endParaRPr lang="en-US" altLang="zh-CN" sz="2400" baseline="30000" dirty="0" smtClean="0"/>
          </a:p>
          <a:p>
            <a:pPr>
              <a:spcBef>
                <a:spcPts val="0"/>
              </a:spcBef>
              <a:buFont typeface="Monotype Sorts" pitchFamily="2" charset="2"/>
              <a:buNone/>
            </a:pPr>
            <a:r>
              <a:rPr lang="zh-CN" altLang="en-US" sz="2400" dirty="0" smtClean="0">
                <a:latin typeface="宋体" charset="-122"/>
              </a:rPr>
              <a:t>则包含句柄的活前缀为：</a:t>
            </a:r>
            <a:endParaRPr lang="en-US" altLang="zh-CN" sz="2400" dirty="0" smtClean="0">
              <a:latin typeface="宋体" charset="-122"/>
            </a:endParaRPr>
          </a:p>
          <a:p>
            <a:pPr indent="273050">
              <a:spcBef>
                <a:spcPts val="0"/>
              </a:spcBef>
              <a:buFont typeface="Monotype Sorts" pitchFamily="2" charset="2"/>
              <a:buNone/>
            </a:pPr>
            <a:r>
              <a:rPr lang="en-US" altLang="zh-CN" sz="2400" dirty="0" smtClean="0"/>
              <a:t>LR(0)C(S’</a:t>
            </a:r>
            <a:r>
              <a:rPr lang="en-US" altLang="zh-CN" sz="2400" dirty="0" smtClean="0">
                <a:sym typeface="Symbol" pitchFamily="18" charset="2"/>
              </a:rPr>
              <a:t></a:t>
            </a:r>
            <a:r>
              <a:rPr lang="en-US" altLang="zh-CN" sz="2400" dirty="0" smtClean="0"/>
              <a:t>E)=E ,    LR(0)C(</a:t>
            </a:r>
            <a:r>
              <a:rPr lang="en-US" altLang="zh-CN" sz="2400" dirty="0" err="1" smtClean="0"/>
              <a:t>E</a:t>
            </a:r>
            <a:r>
              <a:rPr lang="en-US" altLang="zh-CN" sz="2400" dirty="0" err="1" smtClean="0">
                <a:sym typeface="Symbol" pitchFamily="18" charset="2"/>
              </a:rPr>
              <a:t></a:t>
            </a:r>
            <a:r>
              <a:rPr lang="en-US" altLang="zh-CN" sz="2400" dirty="0" err="1" smtClean="0"/>
              <a:t>aA</a:t>
            </a:r>
            <a:r>
              <a:rPr lang="en-US" altLang="zh-CN" sz="2400" dirty="0" smtClean="0"/>
              <a:t>)=</a:t>
            </a:r>
            <a:r>
              <a:rPr lang="en-US" altLang="zh-CN" sz="2400" dirty="0" err="1" smtClean="0"/>
              <a:t>aA</a:t>
            </a:r>
            <a:endParaRPr lang="en-US" altLang="zh-CN" sz="2400" dirty="0" smtClean="0"/>
          </a:p>
          <a:p>
            <a:pPr indent="273050">
              <a:spcBef>
                <a:spcPts val="0"/>
              </a:spcBef>
              <a:buFont typeface="Monotype Sorts" pitchFamily="2" charset="2"/>
              <a:buNone/>
            </a:pPr>
            <a:r>
              <a:rPr lang="en-US" altLang="zh-CN" sz="2400" dirty="0" smtClean="0"/>
              <a:t>LR(0)C(</a:t>
            </a:r>
            <a:r>
              <a:rPr lang="en-US" altLang="zh-CN" sz="2400" dirty="0" err="1" smtClean="0"/>
              <a:t>E</a:t>
            </a:r>
            <a:r>
              <a:rPr lang="en-US" altLang="zh-CN" sz="2400" dirty="0" err="1" smtClean="0">
                <a:sym typeface="Symbol" pitchFamily="18" charset="2"/>
              </a:rPr>
              <a:t></a:t>
            </a:r>
            <a:r>
              <a:rPr lang="en-US" altLang="zh-CN" sz="2400" dirty="0" err="1" smtClean="0"/>
              <a:t>bB</a:t>
            </a:r>
            <a:r>
              <a:rPr lang="en-US" altLang="zh-CN" sz="2400" dirty="0" smtClean="0"/>
              <a:t>)=</a:t>
            </a:r>
            <a:r>
              <a:rPr lang="en-US" altLang="zh-CN" sz="2400" dirty="0" err="1" smtClean="0"/>
              <a:t>bB</a:t>
            </a:r>
            <a:r>
              <a:rPr lang="en-US" altLang="zh-CN" sz="2400" dirty="0" smtClean="0"/>
              <a:t>,     LR(0)C(</a:t>
            </a:r>
            <a:r>
              <a:rPr lang="en-US" altLang="zh-CN" sz="2400" dirty="0" err="1" smtClean="0"/>
              <a:t>A</a:t>
            </a:r>
            <a:r>
              <a:rPr lang="en-US" altLang="zh-CN" sz="2400" dirty="0" err="1" smtClean="0">
                <a:sym typeface="Symbol" pitchFamily="18" charset="2"/>
              </a:rPr>
              <a:t>c</a:t>
            </a:r>
            <a:r>
              <a:rPr lang="en-US" altLang="zh-CN" sz="2400" dirty="0" err="1" smtClean="0"/>
              <a:t>A</a:t>
            </a:r>
            <a:r>
              <a:rPr lang="en-US" altLang="zh-CN" sz="2400" dirty="0" smtClean="0"/>
              <a:t>)=ac</a:t>
            </a:r>
            <a:r>
              <a:rPr lang="en-US" altLang="zh-CN" sz="2400" baseline="30000" dirty="0" smtClean="0"/>
              <a:t>*</a:t>
            </a:r>
            <a:r>
              <a:rPr lang="en-US" altLang="zh-CN" sz="2400" dirty="0" err="1" smtClean="0"/>
              <a:t>cA</a:t>
            </a:r>
            <a:endParaRPr lang="en-US" altLang="zh-CN" sz="2400" dirty="0" smtClean="0"/>
          </a:p>
          <a:p>
            <a:pPr indent="273050">
              <a:spcBef>
                <a:spcPts val="0"/>
              </a:spcBef>
              <a:buFont typeface="Monotype Sorts" pitchFamily="2" charset="2"/>
              <a:buNone/>
            </a:pPr>
            <a:r>
              <a:rPr lang="en-US" altLang="zh-CN" sz="2400" dirty="0" smtClean="0"/>
              <a:t>LR(0)C(</a:t>
            </a:r>
            <a:r>
              <a:rPr lang="en-US" altLang="zh-CN" sz="2400" dirty="0" err="1" smtClean="0"/>
              <a:t>A</a:t>
            </a:r>
            <a:r>
              <a:rPr lang="en-US" altLang="zh-CN" sz="2400" dirty="0" err="1" smtClean="0">
                <a:sym typeface="Symbol" pitchFamily="18" charset="2"/>
              </a:rPr>
              <a:t></a:t>
            </a:r>
            <a:r>
              <a:rPr lang="en-US" altLang="zh-CN" sz="2400" dirty="0" err="1" smtClean="0"/>
              <a:t>d</a:t>
            </a:r>
            <a:r>
              <a:rPr lang="en-US" altLang="zh-CN" sz="2400" dirty="0" smtClean="0"/>
              <a:t>)=ac</a:t>
            </a:r>
            <a:r>
              <a:rPr lang="en-US" altLang="zh-CN" sz="2400" baseline="30000" dirty="0" smtClean="0"/>
              <a:t>*</a:t>
            </a:r>
            <a:r>
              <a:rPr lang="en-US" altLang="zh-CN" sz="2400" dirty="0" smtClean="0"/>
              <a:t>d,    LR(0)C(</a:t>
            </a:r>
            <a:r>
              <a:rPr lang="en-US" altLang="zh-CN" sz="2400" dirty="0" err="1" smtClean="0"/>
              <a:t>B</a:t>
            </a:r>
            <a:r>
              <a:rPr lang="en-US" altLang="zh-CN" sz="2400" dirty="0" err="1" smtClean="0">
                <a:sym typeface="Symbol" pitchFamily="18" charset="2"/>
              </a:rPr>
              <a:t>c</a:t>
            </a:r>
            <a:r>
              <a:rPr lang="en-US" altLang="zh-CN" sz="2400" dirty="0" err="1" smtClean="0"/>
              <a:t>B</a:t>
            </a:r>
            <a:r>
              <a:rPr lang="en-US" altLang="zh-CN" sz="2400" dirty="0" smtClean="0"/>
              <a:t>)=</a:t>
            </a:r>
            <a:r>
              <a:rPr lang="en-US" altLang="zh-CN" sz="2400" dirty="0" err="1" smtClean="0"/>
              <a:t>bc</a:t>
            </a:r>
            <a:r>
              <a:rPr lang="en-US" altLang="zh-CN" sz="2400" baseline="30000" dirty="0" smtClean="0"/>
              <a:t>*</a:t>
            </a:r>
            <a:r>
              <a:rPr lang="en-US" altLang="zh-CN" sz="2400" dirty="0" err="1" smtClean="0"/>
              <a:t>cB</a:t>
            </a:r>
            <a:endParaRPr lang="en-US" altLang="zh-CN" sz="2400" dirty="0" smtClean="0"/>
          </a:p>
          <a:p>
            <a:pPr indent="273050">
              <a:spcBef>
                <a:spcPts val="0"/>
              </a:spcBef>
              <a:buFont typeface="Monotype Sorts" pitchFamily="2" charset="2"/>
              <a:buNone/>
            </a:pPr>
            <a:r>
              <a:rPr lang="en-US" altLang="zh-CN" sz="2400" dirty="0" smtClean="0"/>
              <a:t>LR(0)C(</a:t>
            </a:r>
            <a:r>
              <a:rPr lang="en-US" altLang="zh-CN" sz="2400" dirty="0" err="1" smtClean="0"/>
              <a:t>B</a:t>
            </a:r>
            <a:r>
              <a:rPr lang="en-US" altLang="zh-CN" sz="2400" dirty="0" err="1" smtClean="0">
                <a:sym typeface="Symbol" pitchFamily="18" charset="2"/>
              </a:rPr>
              <a:t>d</a:t>
            </a:r>
            <a:r>
              <a:rPr lang="en-US" altLang="zh-CN" sz="2400" dirty="0" smtClean="0"/>
              <a:t>)=</a:t>
            </a:r>
            <a:r>
              <a:rPr lang="en-US" altLang="zh-CN" sz="2400" dirty="0" err="1" smtClean="0"/>
              <a:t>bc</a:t>
            </a:r>
            <a:r>
              <a:rPr lang="en-US" altLang="zh-CN" sz="2400" baseline="30000" dirty="0" smtClean="0"/>
              <a:t>*</a:t>
            </a:r>
            <a:r>
              <a:rPr lang="en-US" altLang="zh-CN" sz="2400" dirty="0" smtClean="0"/>
              <a:t>d</a:t>
            </a:r>
          </a:p>
          <a:p>
            <a:pPr>
              <a:lnSpc>
                <a:spcPct val="90000"/>
              </a:lnSpc>
              <a:buFont typeface="Monotype Sorts" pitchFamily="2" charset="2"/>
              <a:buNone/>
            </a:pPr>
            <a:r>
              <a:rPr lang="zh-CN" altLang="en-US" sz="2400" dirty="0" smtClean="0">
                <a:latin typeface="宋体" charset="-122"/>
              </a:rPr>
              <a:t>由此可构造以文法符号为字母表的识别活前缀的不确定有限自动机。</a:t>
            </a:r>
            <a:endParaRPr lang="en-US" altLang="zh-CN" sz="2400" dirty="0" smtClean="0">
              <a:latin typeface="宋体" charset="-122"/>
            </a:endParaRPr>
          </a:p>
          <a:p>
            <a:pPr>
              <a:lnSpc>
                <a:spcPct val="90000"/>
              </a:lnSpc>
              <a:buFont typeface="Monotype Sorts" pitchFamily="2" charset="2"/>
              <a:buNone/>
            </a:pPr>
            <a:endParaRPr lang="en-US" altLang="zh-CN" sz="2400" b="1" dirty="0" smtClean="0">
              <a:latin typeface="宋体" charset="-122"/>
            </a:endParaRPr>
          </a:p>
          <a:p>
            <a:pPr>
              <a:lnSpc>
                <a:spcPct val="90000"/>
              </a:lnSpc>
              <a:buFont typeface="Monotype Sorts" pitchFamily="2" charset="2"/>
              <a:buNone/>
            </a:pPr>
            <a:endParaRPr lang="en-US" altLang="zh-CN" sz="2400" b="1" dirty="0">
              <a:latin typeface="宋体" charset="-122"/>
            </a:endParaRPr>
          </a:p>
          <a:p>
            <a:pPr>
              <a:lnSpc>
                <a:spcPct val="90000"/>
              </a:lnSpc>
              <a:buFont typeface="Monotype Sorts" pitchFamily="2" charset="2"/>
              <a:buNone/>
            </a:pPr>
            <a:r>
              <a:rPr lang="en-US" altLang="zh-CN" sz="2400" b="1" dirty="0">
                <a:latin typeface="宋体" charset="-122"/>
              </a:rPr>
              <a:t>    </a:t>
            </a:r>
            <a:endParaRPr lang="zh-CN" altLang="en-US" sz="2400" b="1" dirty="0">
              <a:latin typeface="宋体" charset="-122"/>
            </a:endParaRPr>
          </a:p>
        </p:txBody>
      </p:sp>
      <p:sp>
        <p:nvSpPr>
          <p:cNvPr id="4" name="日期占位符 3"/>
          <p:cNvSpPr>
            <a:spLocks noGrp="1"/>
          </p:cNvSpPr>
          <p:nvPr>
            <p:ph type="dt" sz="half" idx="10"/>
          </p:nvPr>
        </p:nvSpPr>
        <p:spPr>
          <a:xfrm>
            <a:off x="428625" y="6356350"/>
            <a:ext cx="1643063" cy="501650"/>
          </a:xfrm>
        </p:spPr>
        <p:txBody>
          <a:bodyPr/>
          <a:lstStyle/>
          <a:p>
            <a:pPr>
              <a:defRPr/>
            </a:pPr>
            <a:fld id="{DBB5A4C7-6810-46AE-B383-1C371090FA90}" type="datetime1">
              <a:rPr lang="zh-CN" altLang="en-US" smtClean="0"/>
              <a:pPr>
                <a:defRPr/>
              </a:pPr>
              <a:t>2018/12/14</a:t>
            </a:fld>
            <a:endParaRPr lang="en-US" altLang="zh-CN" dirty="0"/>
          </a:p>
        </p:txBody>
      </p:sp>
      <p:sp>
        <p:nvSpPr>
          <p:cNvPr id="5" name="页脚占位符 4"/>
          <p:cNvSpPr>
            <a:spLocks noGrp="1"/>
          </p:cNvSpPr>
          <p:nvPr>
            <p:ph type="ftr" sz="quarter" idx="11"/>
          </p:nvPr>
        </p:nvSpPr>
        <p:spPr>
          <a:xfrm>
            <a:off x="2898775" y="6356350"/>
            <a:ext cx="2244725" cy="501650"/>
          </a:xfrm>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a:xfrm>
            <a:off x="7948613" y="6350000"/>
            <a:ext cx="909637" cy="293688"/>
          </a:xfrm>
        </p:spPr>
        <p:txBody>
          <a:bodyPr/>
          <a:lstStyle/>
          <a:p>
            <a:pPr>
              <a:defRPr/>
            </a:pPr>
            <a:fld id="{53640F14-4809-4C5D-8CA3-182C8B06CCF7}" type="slidenum">
              <a:rPr lang="en-US" altLang="zh-CN" smtClean="0"/>
              <a:pPr>
                <a:defRPr/>
              </a:pPr>
              <a:t>33</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460382" cy="400110"/>
          </a:xfrm>
        </p:spPr>
        <p:txBody>
          <a:bodyPr wrap="none">
            <a:spAutoFit/>
          </a:bodyPr>
          <a:lstStyle/>
          <a:p>
            <a:pPr algn="ctr">
              <a:spcBef>
                <a:spcPct val="0"/>
              </a:spcBef>
            </a:pPr>
            <a:endParaRPr kumimoji="1" lang="zh-CN" altLang="en-US" sz="2000" dirty="0" smtClean="0">
              <a:latin typeface="Times New Roman" pitchFamily="18" charset="0"/>
              <a:ea typeface="宋体" pitchFamily="2" charset="-122"/>
            </a:endParaRPr>
          </a:p>
        </p:txBody>
      </p:sp>
      <p:sp>
        <p:nvSpPr>
          <p:cNvPr id="4" name="日期占位符 3"/>
          <p:cNvSpPr>
            <a:spLocks noGrp="1"/>
          </p:cNvSpPr>
          <p:nvPr>
            <p:ph type="dt" sz="half" idx="10"/>
          </p:nvPr>
        </p:nvSpPr>
        <p:spPr/>
        <p:txBody>
          <a:bodyPr/>
          <a:lstStyle/>
          <a:p>
            <a:pPr>
              <a:defRPr/>
            </a:pPr>
            <a:fld id="{9DD4E56F-4456-4522-A160-79859A361050}"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34</a:t>
            </a:fld>
            <a:endParaRPr lang="en-US" altLang="zh-CN"/>
          </a:p>
        </p:txBody>
      </p:sp>
      <p:grpSp>
        <p:nvGrpSpPr>
          <p:cNvPr id="7" name="组合 6"/>
          <p:cNvGrpSpPr/>
          <p:nvPr/>
        </p:nvGrpSpPr>
        <p:grpSpPr>
          <a:xfrm>
            <a:off x="127903" y="692516"/>
            <a:ext cx="4515535" cy="5522566"/>
            <a:chOff x="4306529" y="739379"/>
            <a:chExt cx="4515535" cy="5522566"/>
          </a:xfrm>
        </p:grpSpPr>
        <p:pic>
          <p:nvPicPr>
            <p:cNvPr id="8" name="图片 7"/>
            <p:cNvPicPr>
              <a:picLocks noChangeAspect="1"/>
            </p:cNvPicPr>
            <p:nvPr/>
          </p:nvPicPr>
          <p:blipFill>
            <a:blip r:embed="rId2" cstate="print"/>
            <a:stretch>
              <a:fillRect/>
            </a:stretch>
          </p:blipFill>
          <p:spPr>
            <a:xfrm>
              <a:off x="4306529" y="739379"/>
              <a:ext cx="4515535" cy="5256000"/>
            </a:xfrm>
            <a:prstGeom prst="rect">
              <a:avLst/>
            </a:prstGeom>
          </p:spPr>
        </p:pic>
        <p:sp>
          <p:nvSpPr>
            <p:cNvPr id="9" name="文本框 3"/>
            <p:cNvSpPr txBox="1"/>
            <p:nvPr/>
          </p:nvSpPr>
          <p:spPr>
            <a:xfrm>
              <a:off x="4660490" y="5861835"/>
              <a:ext cx="4161574" cy="400110"/>
            </a:xfrm>
            <a:prstGeom prst="rect">
              <a:avLst/>
            </a:prstGeom>
            <a:noFill/>
          </p:spPr>
          <p:txBody>
            <a:bodyPr wrap="square" rtlCol="0">
              <a:spAutoFit/>
            </a:bodyPr>
            <a:lstStyle/>
            <a:p>
              <a:r>
                <a:rPr lang="zh-CN" altLang="en-US" sz="2000" b="1" dirty="0" smtClean="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000" b="1" dirty="0" smtClean="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6.5 </a:t>
              </a:r>
              <a:r>
                <a:rPr lang="zh-CN" altLang="en-US" sz="2000" b="1" dirty="0" smtClean="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构造识别</a:t>
              </a:r>
              <a:r>
                <a:rPr lang="zh-CN" altLang="en-US" sz="2000" b="1" dirty="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活</a:t>
              </a:r>
              <a:r>
                <a:rPr lang="zh-CN" altLang="en-US" sz="2000" b="1" dirty="0" smtClean="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前缀</a:t>
              </a:r>
              <a:r>
                <a:rPr lang="zh-CN" altLang="en-US" sz="2000" b="1" dirty="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的</a:t>
              </a:r>
              <a:r>
                <a:rPr lang="en-US" altLang="zh-CN" sz="2000" b="1" dirty="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rPr>
                <a:t>NFA</a:t>
              </a:r>
              <a:endParaRPr lang="zh-CN" altLang="en-US" sz="2000" b="1" dirty="0">
                <a:ln w="0"/>
                <a:effectLst>
                  <a:reflection blurRad="6350" stA="53000" endA="300" endPos="35500" dir="5400000" sy="-90000" algn="bl" rotWithShape="0"/>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pic>
        <p:nvPicPr>
          <p:cNvPr id="10" name="图片 9"/>
          <p:cNvPicPr>
            <a:picLocks noChangeAspect="1"/>
          </p:cNvPicPr>
          <p:nvPr/>
        </p:nvPicPr>
        <p:blipFill>
          <a:blip r:embed="rId3" cstate="print"/>
          <a:stretch>
            <a:fillRect/>
          </a:stretch>
        </p:blipFill>
        <p:spPr>
          <a:xfrm>
            <a:off x="4643438" y="1969330"/>
            <a:ext cx="4371647" cy="3817124"/>
          </a:xfrm>
          <a:prstGeom prst="rect">
            <a:avLst/>
          </a:prstGeom>
        </p:spPr>
      </p:pic>
      <p:sp>
        <p:nvSpPr>
          <p:cNvPr id="11" name="矩形 10"/>
          <p:cNvSpPr/>
          <p:nvPr/>
        </p:nvSpPr>
        <p:spPr>
          <a:xfrm>
            <a:off x="6191400" y="5886410"/>
            <a:ext cx="1595310" cy="400110"/>
          </a:xfrm>
          <a:prstGeom prst="rect">
            <a:avLst/>
          </a:prstGeom>
        </p:spPr>
        <p:txBody>
          <a:bodyPr wrap="none">
            <a:spAutoFit/>
          </a:bodyPr>
          <a:lstStyle/>
          <a:p>
            <a:r>
              <a:rPr lang="zh-CN" altLang="en-US" sz="2000" b="1" dirty="0" smtClean="0">
                <a:ln w="0"/>
                <a:effectLst>
                  <a:reflection blurRad="6350" stA="53000" endA="300" endPos="35500" dir="5400000" sy="-90000" algn="bl" rotWithShape="0"/>
                </a:effectLst>
                <a:ea typeface="华文中宋" panose="02010600040101010101" pitchFamily="2" charset="-122"/>
                <a:cs typeface="Times New Roman" panose="02020603050405020304" pitchFamily="18" charset="0"/>
              </a:rPr>
              <a:t>图</a:t>
            </a:r>
            <a:r>
              <a:rPr lang="en-US" altLang="zh-CN" sz="2000" b="1" dirty="0" smtClean="0">
                <a:ln w="0"/>
                <a:effectLst>
                  <a:reflection blurRad="6350" stA="53000" endA="300" endPos="35500" dir="5400000" sy="-90000" algn="bl" rotWithShape="0"/>
                </a:effectLst>
                <a:ea typeface="华文中宋" panose="02010600040101010101" pitchFamily="2" charset="-122"/>
                <a:cs typeface="Times New Roman" panose="02020603050405020304" pitchFamily="18" charset="0"/>
              </a:rPr>
              <a:t>6.6 </a:t>
            </a:r>
            <a:r>
              <a:rPr lang="zh-CN" altLang="en-US" sz="2000" b="1" dirty="0" smtClean="0">
                <a:ln w="0"/>
                <a:effectLst>
                  <a:reflection blurRad="6350" stA="53000" endA="300" endPos="35500" dir="5400000" sy="-90000" algn="bl" rotWithShape="0"/>
                </a:effectLst>
                <a:ea typeface="华文中宋" panose="02010600040101010101" pitchFamily="2" charset="-122"/>
                <a:cs typeface="Times New Roman" panose="02020603050405020304" pitchFamily="18" charset="0"/>
              </a:rPr>
              <a:t>确定化</a:t>
            </a:r>
            <a:endParaRPr lang="zh-CN" altLang="en-US" sz="2000" b="1" dirty="0">
              <a:ln w="0"/>
              <a:effectLst>
                <a:reflection blurRad="6350" stA="53000" endA="300" endPos="35500" dir="5400000" sy="-90000" algn="bl" rotWithShape="0"/>
              </a:effectLst>
              <a:ea typeface="华文中宋" panose="02010600040101010101" pitchFamily="2" charset="-122"/>
              <a:cs typeface="Times New Roman" panose="02020603050405020304" pitchFamily="18" charset="0"/>
            </a:endParaRPr>
          </a:p>
        </p:txBody>
      </p:sp>
      <p:sp>
        <p:nvSpPr>
          <p:cNvPr id="12" name="矩形 11"/>
          <p:cNvSpPr/>
          <p:nvPr/>
        </p:nvSpPr>
        <p:spPr>
          <a:xfrm>
            <a:off x="3643306" y="0"/>
            <a:ext cx="5286412" cy="1323439"/>
          </a:xfrm>
          <a:prstGeom prst="rect">
            <a:avLst/>
          </a:prstGeom>
          <a:ln w="25400">
            <a:solidFill>
              <a:srgbClr val="FF0000"/>
            </a:solidFill>
          </a:ln>
        </p:spPr>
        <p:txBody>
          <a:bodyPr wrap="square">
            <a:spAutoFit/>
          </a:bodyPr>
          <a:lstStyle/>
          <a:p>
            <a:pPr algn="l">
              <a:spcBef>
                <a:spcPts val="0"/>
              </a:spcBef>
              <a:buFont typeface="Monotype Sorts" pitchFamily="2" charset="2"/>
              <a:buNone/>
            </a:pPr>
            <a:r>
              <a:rPr lang="en-US" altLang="zh-CN" sz="2000" dirty="0" smtClean="0"/>
              <a:t>LR(0)C(S’</a:t>
            </a:r>
            <a:r>
              <a:rPr lang="en-US" altLang="zh-CN" sz="2000" dirty="0" smtClean="0">
                <a:sym typeface="Symbol" pitchFamily="18" charset="2"/>
              </a:rPr>
              <a:t></a:t>
            </a:r>
            <a:r>
              <a:rPr lang="en-US" altLang="zh-CN" sz="2000" dirty="0" smtClean="0"/>
              <a:t>E)=E ,    LR(0)C(</a:t>
            </a:r>
            <a:r>
              <a:rPr lang="en-US" altLang="zh-CN" sz="2000" dirty="0" err="1" smtClean="0"/>
              <a:t>E</a:t>
            </a:r>
            <a:r>
              <a:rPr lang="en-US" altLang="zh-CN" sz="2000" dirty="0" err="1" smtClean="0">
                <a:sym typeface="Symbol" pitchFamily="18" charset="2"/>
              </a:rPr>
              <a:t></a:t>
            </a:r>
            <a:r>
              <a:rPr lang="en-US" altLang="zh-CN" sz="2000" dirty="0" err="1" smtClean="0"/>
              <a:t>aA</a:t>
            </a:r>
            <a:r>
              <a:rPr lang="en-US" altLang="zh-CN" sz="2000" dirty="0" smtClean="0"/>
              <a:t>)=</a:t>
            </a:r>
            <a:r>
              <a:rPr lang="en-US" altLang="zh-CN" sz="2000" dirty="0" err="1" smtClean="0"/>
              <a:t>aA</a:t>
            </a:r>
            <a:endParaRPr lang="en-US" altLang="zh-CN" sz="2000" dirty="0" smtClean="0"/>
          </a:p>
          <a:p>
            <a:pPr algn="l">
              <a:spcBef>
                <a:spcPts val="0"/>
              </a:spcBef>
              <a:buFont typeface="Monotype Sorts" pitchFamily="2" charset="2"/>
              <a:buNone/>
            </a:pPr>
            <a:r>
              <a:rPr lang="en-US" altLang="zh-CN" sz="2000" dirty="0" smtClean="0"/>
              <a:t>LR(0)C(</a:t>
            </a:r>
            <a:r>
              <a:rPr lang="en-US" altLang="zh-CN" sz="2000" dirty="0" err="1" smtClean="0"/>
              <a:t>E</a:t>
            </a:r>
            <a:r>
              <a:rPr lang="en-US" altLang="zh-CN" sz="2000" dirty="0" err="1" smtClean="0">
                <a:sym typeface="Symbol" pitchFamily="18" charset="2"/>
              </a:rPr>
              <a:t></a:t>
            </a:r>
            <a:r>
              <a:rPr lang="en-US" altLang="zh-CN" sz="2000" dirty="0" err="1" smtClean="0"/>
              <a:t>bB</a:t>
            </a:r>
            <a:r>
              <a:rPr lang="en-US" altLang="zh-CN" sz="2000" dirty="0" smtClean="0"/>
              <a:t>)=</a:t>
            </a:r>
            <a:r>
              <a:rPr lang="en-US" altLang="zh-CN" sz="2000" dirty="0" err="1" smtClean="0"/>
              <a:t>bB</a:t>
            </a:r>
            <a:r>
              <a:rPr lang="en-US" altLang="zh-CN" sz="2000" dirty="0" smtClean="0"/>
              <a:t>,     LR(0)C(</a:t>
            </a:r>
            <a:r>
              <a:rPr lang="en-US" altLang="zh-CN" sz="2000" dirty="0" err="1" smtClean="0"/>
              <a:t>A</a:t>
            </a:r>
            <a:r>
              <a:rPr lang="en-US" altLang="zh-CN" sz="2000" dirty="0" err="1" smtClean="0">
                <a:sym typeface="Symbol" pitchFamily="18" charset="2"/>
              </a:rPr>
              <a:t>c</a:t>
            </a:r>
            <a:r>
              <a:rPr lang="en-US" altLang="zh-CN" sz="2000" dirty="0" err="1" smtClean="0"/>
              <a:t>A</a:t>
            </a:r>
            <a:r>
              <a:rPr lang="en-US" altLang="zh-CN" sz="2000" dirty="0" smtClean="0"/>
              <a:t>)=ac</a:t>
            </a:r>
            <a:r>
              <a:rPr lang="en-US" altLang="zh-CN" sz="2000" baseline="30000" dirty="0" smtClean="0"/>
              <a:t>*</a:t>
            </a:r>
            <a:r>
              <a:rPr lang="en-US" altLang="zh-CN" sz="2000" dirty="0" err="1" smtClean="0"/>
              <a:t>cA</a:t>
            </a:r>
            <a:endParaRPr lang="en-US" altLang="zh-CN" sz="2000" dirty="0" smtClean="0"/>
          </a:p>
          <a:p>
            <a:pPr algn="l">
              <a:spcBef>
                <a:spcPts val="0"/>
              </a:spcBef>
              <a:buFont typeface="Monotype Sorts" pitchFamily="2" charset="2"/>
              <a:buNone/>
            </a:pPr>
            <a:r>
              <a:rPr lang="en-US" altLang="zh-CN" sz="2000" dirty="0" smtClean="0"/>
              <a:t>LR(0)C(</a:t>
            </a:r>
            <a:r>
              <a:rPr lang="en-US" altLang="zh-CN" sz="2000" dirty="0" err="1" smtClean="0"/>
              <a:t>A</a:t>
            </a:r>
            <a:r>
              <a:rPr lang="en-US" altLang="zh-CN" sz="2000" dirty="0" err="1" smtClean="0">
                <a:sym typeface="Symbol" pitchFamily="18" charset="2"/>
              </a:rPr>
              <a:t></a:t>
            </a:r>
            <a:r>
              <a:rPr lang="en-US" altLang="zh-CN" sz="2000" dirty="0" err="1" smtClean="0"/>
              <a:t>d</a:t>
            </a:r>
            <a:r>
              <a:rPr lang="en-US" altLang="zh-CN" sz="2000" dirty="0" smtClean="0"/>
              <a:t>)=ac</a:t>
            </a:r>
            <a:r>
              <a:rPr lang="en-US" altLang="zh-CN" sz="2000" baseline="30000" dirty="0" smtClean="0"/>
              <a:t>*</a:t>
            </a:r>
            <a:r>
              <a:rPr lang="en-US" altLang="zh-CN" sz="2000" dirty="0" smtClean="0"/>
              <a:t>d,    LR(0)C(</a:t>
            </a:r>
            <a:r>
              <a:rPr lang="en-US" altLang="zh-CN" sz="2000" dirty="0" err="1" smtClean="0"/>
              <a:t>B</a:t>
            </a:r>
            <a:r>
              <a:rPr lang="en-US" altLang="zh-CN" sz="2000" dirty="0" err="1" smtClean="0">
                <a:sym typeface="Symbol" pitchFamily="18" charset="2"/>
              </a:rPr>
              <a:t>c</a:t>
            </a:r>
            <a:r>
              <a:rPr lang="en-US" altLang="zh-CN" sz="2000" dirty="0" err="1" smtClean="0"/>
              <a:t>B</a:t>
            </a:r>
            <a:r>
              <a:rPr lang="en-US" altLang="zh-CN" sz="2000" dirty="0" smtClean="0"/>
              <a:t>)=</a:t>
            </a:r>
            <a:r>
              <a:rPr lang="en-US" altLang="zh-CN" sz="2000" dirty="0" err="1" smtClean="0"/>
              <a:t>bc</a:t>
            </a:r>
            <a:r>
              <a:rPr lang="en-US" altLang="zh-CN" sz="2000" baseline="30000" dirty="0" smtClean="0"/>
              <a:t>*</a:t>
            </a:r>
            <a:r>
              <a:rPr lang="en-US" altLang="zh-CN" sz="2000" dirty="0" err="1" smtClean="0"/>
              <a:t>cB</a:t>
            </a:r>
            <a:endParaRPr lang="en-US" altLang="zh-CN" sz="2000" dirty="0" smtClean="0"/>
          </a:p>
          <a:p>
            <a:pPr algn="l">
              <a:spcBef>
                <a:spcPts val="0"/>
              </a:spcBef>
              <a:buFont typeface="Monotype Sorts" pitchFamily="2" charset="2"/>
              <a:buNone/>
            </a:pPr>
            <a:r>
              <a:rPr lang="en-US" altLang="zh-CN" sz="2000" dirty="0" smtClean="0"/>
              <a:t>LR(0)C(</a:t>
            </a:r>
            <a:r>
              <a:rPr lang="en-US" altLang="zh-CN" sz="2000" dirty="0" err="1" smtClean="0"/>
              <a:t>B</a:t>
            </a:r>
            <a:r>
              <a:rPr lang="en-US" altLang="zh-CN" sz="2000" dirty="0" err="1" smtClean="0">
                <a:sym typeface="Symbol" pitchFamily="18" charset="2"/>
              </a:rPr>
              <a:t>d</a:t>
            </a:r>
            <a:r>
              <a:rPr lang="en-US" altLang="zh-CN" sz="2000" dirty="0" smtClean="0"/>
              <a:t>)=</a:t>
            </a:r>
            <a:r>
              <a:rPr lang="en-US" altLang="zh-CN" sz="2000" dirty="0" err="1" smtClean="0"/>
              <a:t>bc</a:t>
            </a:r>
            <a:r>
              <a:rPr lang="en-US" altLang="zh-CN" sz="2000" baseline="30000" dirty="0" smtClean="0"/>
              <a:t>*</a:t>
            </a:r>
            <a:r>
              <a:rPr lang="en-US" altLang="zh-CN" sz="2000" dirty="0" smtClean="0"/>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80">
                                          <p:stCondLst>
                                            <p:cond delay="0"/>
                                          </p:stCondLst>
                                        </p:cTn>
                                        <p:tgtEl>
                                          <p:spTgt spid="10"/>
                                        </p:tgtEl>
                                      </p:cBhvr>
                                    </p:animEffect>
                                    <p:anim calcmode="lin" valueType="num">
                                      <p:cBhvr>
                                        <p:cTn id="15"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0" dur="26">
                                          <p:stCondLst>
                                            <p:cond delay="650"/>
                                          </p:stCondLst>
                                        </p:cTn>
                                        <p:tgtEl>
                                          <p:spTgt spid="10"/>
                                        </p:tgtEl>
                                      </p:cBhvr>
                                      <p:to x="100000" y="60000"/>
                                    </p:animScale>
                                    <p:animScale>
                                      <p:cBhvr>
                                        <p:cTn id="21" dur="166" decel="50000">
                                          <p:stCondLst>
                                            <p:cond delay="676"/>
                                          </p:stCondLst>
                                        </p:cTn>
                                        <p:tgtEl>
                                          <p:spTgt spid="10"/>
                                        </p:tgtEl>
                                      </p:cBhvr>
                                      <p:to x="100000" y="100000"/>
                                    </p:animScale>
                                    <p:animScale>
                                      <p:cBhvr>
                                        <p:cTn id="22" dur="26">
                                          <p:stCondLst>
                                            <p:cond delay="1312"/>
                                          </p:stCondLst>
                                        </p:cTn>
                                        <p:tgtEl>
                                          <p:spTgt spid="10"/>
                                        </p:tgtEl>
                                      </p:cBhvr>
                                      <p:to x="100000" y="80000"/>
                                    </p:animScale>
                                    <p:animScale>
                                      <p:cBhvr>
                                        <p:cTn id="23" dur="166" decel="50000">
                                          <p:stCondLst>
                                            <p:cond delay="1338"/>
                                          </p:stCondLst>
                                        </p:cTn>
                                        <p:tgtEl>
                                          <p:spTgt spid="10"/>
                                        </p:tgtEl>
                                      </p:cBhvr>
                                      <p:to x="100000" y="100000"/>
                                    </p:animScale>
                                    <p:animScale>
                                      <p:cBhvr>
                                        <p:cTn id="24" dur="26">
                                          <p:stCondLst>
                                            <p:cond delay="1642"/>
                                          </p:stCondLst>
                                        </p:cTn>
                                        <p:tgtEl>
                                          <p:spTgt spid="10"/>
                                        </p:tgtEl>
                                      </p:cBhvr>
                                      <p:to x="100000" y="90000"/>
                                    </p:animScale>
                                    <p:animScale>
                                      <p:cBhvr>
                                        <p:cTn id="25" dur="166" decel="50000">
                                          <p:stCondLst>
                                            <p:cond delay="1668"/>
                                          </p:stCondLst>
                                        </p:cTn>
                                        <p:tgtEl>
                                          <p:spTgt spid="10"/>
                                        </p:tgtEl>
                                      </p:cBhvr>
                                      <p:to x="100000" y="100000"/>
                                    </p:animScale>
                                    <p:animScale>
                                      <p:cBhvr>
                                        <p:cTn id="26" dur="26">
                                          <p:stCondLst>
                                            <p:cond delay="1808"/>
                                          </p:stCondLst>
                                        </p:cTn>
                                        <p:tgtEl>
                                          <p:spTgt spid="10"/>
                                        </p:tgtEl>
                                      </p:cBhvr>
                                      <p:to x="100000" y="95000"/>
                                    </p:animScale>
                                    <p:animScale>
                                      <p:cBhvr>
                                        <p:cTn id="27"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r>
              <a:rPr lang="zh-CN" altLang="en-US" dirty="0" smtClean="0"/>
              <a:t>因此，对任何一个上下文无关文法只要能构造出它的识别可归前缀的有限自动机，就可以构造其相应的分析表，也就是前面所介绍的状态转换表和动作表。</a:t>
            </a:r>
            <a:endParaRPr lang="zh-CN" altLang="en-US" dirty="0"/>
          </a:p>
        </p:txBody>
      </p:sp>
      <p:sp>
        <p:nvSpPr>
          <p:cNvPr id="4" name="日期占位符 3"/>
          <p:cNvSpPr>
            <a:spLocks noGrp="1"/>
          </p:cNvSpPr>
          <p:nvPr>
            <p:ph type="dt" sz="half" idx="10"/>
          </p:nvPr>
        </p:nvSpPr>
        <p:spPr/>
        <p:txBody>
          <a:bodyPr/>
          <a:lstStyle/>
          <a:p>
            <a:pPr>
              <a:defRPr/>
            </a:pPr>
            <a:fld id="{66A6B5F3-C821-413C-A37F-6B84F25F0365}" type="datetime1">
              <a:rPr lang="zh-CN" altLang="en-US" smtClean="0"/>
              <a:pPr>
                <a:defRPr/>
              </a:pPr>
              <a:t>2018/12/14</a:t>
            </a:fld>
            <a:endParaRPr lang="en-US" altLang="zh-CN"/>
          </a:p>
        </p:txBody>
      </p:sp>
      <p:sp>
        <p:nvSpPr>
          <p:cNvPr id="5" name="页脚占位符 4"/>
          <p:cNvSpPr>
            <a:spLocks noGrp="1"/>
          </p:cNvSpPr>
          <p:nvPr>
            <p:ph type="ftr" sz="quarter" idx="11"/>
          </p:nvPr>
        </p:nvSpPr>
        <p:spPr/>
        <p:txBody>
          <a:bodyPr/>
          <a:lstStyle/>
          <a:p>
            <a:pPr>
              <a:defRPr/>
            </a:pPr>
            <a:r>
              <a:rPr lang="zh-CN" altLang="en-US" smtClean="0"/>
              <a:t>第</a:t>
            </a:r>
            <a:r>
              <a:rPr lang="en-US" altLang="zh-CN" smtClean="0"/>
              <a:t>6</a:t>
            </a:r>
            <a:r>
              <a:rPr lang="zh-CN" altLang="en-US" smtClean="0"/>
              <a:t>章 </a:t>
            </a:r>
            <a:r>
              <a:rPr lang="en-US" altLang="zh-CN" smtClean="0"/>
              <a:t>LR</a:t>
            </a:r>
            <a:r>
              <a:rPr lang="zh-CN" altLang="en-US" smtClean="0"/>
              <a:t>分析</a:t>
            </a:r>
            <a:endParaRPr lang="en-US" altLang="zh-CN"/>
          </a:p>
        </p:txBody>
      </p:sp>
      <p:sp>
        <p:nvSpPr>
          <p:cNvPr id="6" name="灯片编号占位符 5"/>
          <p:cNvSpPr>
            <a:spLocks noGrp="1"/>
          </p:cNvSpPr>
          <p:nvPr>
            <p:ph type="sldNum" sz="quarter" idx="12"/>
          </p:nvPr>
        </p:nvSpPr>
        <p:spPr/>
        <p:txBody>
          <a:bodyPr/>
          <a:lstStyle/>
          <a:p>
            <a:pPr>
              <a:defRPr/>
            </a:pPr>
            <a:fld id="{53640F14-4809-4C5D-8CA3-182C8B06CCF7}" type="slidenum">
              <a:rPr lang="en-US" altLang="zh-CN" smtClean="0"/>
              <a:pPr>
                <a:defRPr/>
              </a:pPr>
              <a:t>35</a:t>
            </a:fld>
            <a:r>
              <a:rPr lang="en-US" altLang="zh-CN" dirty="0" smtClean="0">
                <a:latin typeface="Times New Roman" pitchFamily="18" charset="0"/>
              </a:rPr>
              <a:t>/36</a:t>
            </a:r>
            <a:endParaRPr lang="en-US" altLang="zh-C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7"/>
          <p:cNvSpPr>
            <a:spLocks noGrp="1"/>
          </p:cNvSpPr>
          <p:nvPr>
            <p:ph type="title"/>
          </p:nvPr>
        </p:nvSpPr>
        <p:spPr/>
        <p:txBody>
          <a:bodyPr/>
          <a:lstStyle/>
          <a:p>
            <a:endParaRPr lang="zh-CN" altLang="en-US" smtClean="0"/>
          </a:p>
        </p:txBody>
      </p:sp>
      <p:sp>
        <p:nvSpPr>
          <p:cNvPr id="93187" name="内容占位符 8"/>
          <p:cNvSpPr>
            <a:spLocks noGrp="1"/>
          </p:cNvSpPr>
          <p:nvPr>
            <p:ph sz="quarter" idx="1"/>
          </p:nvPr>
        </p:nvSpPr>
        <p:spPr>
          <a:xfrm>
            <a:off x="457200" y="1219200"/>
            <a:ext cx="8229600" cy="4937125"/>
          </a:xfrm>
        </p:spPr>
        <p:txBody>
          <a:bodyPr/>
          <a:lstStyle/>
          <a:p>
            <a:endParaRPr lang="zh-CN" altLang="en-US" smtClean="0"/>
          </a:p>
        </p:txBody>
      </p:sp>
      <p:sp>
        <p:nvSpPr>
          <p:cNvPr id="93188" name="日期占位符 4"/>
          <p:cNvSpPr>
            <a:spLocks noGrp="1"/>
          </p:cNvSpPr>
          <p:nvPr>
            <p:ph type="dt" sz="quarter" idx="10"/>
          </p:nvPr>
        </p:nvSpPr>
        <p:spPr bwMode="auto">
          <a:noFill/>
          <a:ln>
            <a:miter lim="800000"/>
            <a:headEnd/>
            <a:tailEnd/>
          </a:ln>
        </p:spPr>
        <p:txBody>
          <a:bodyPr wrap="square" lIns="91440" tIns="45720" rIns="91440" bIns="45720" numCol="1" anchor="t" anchorCtr="0" compatLnSpc="1">
            <a:prstTxWarp prst="textNoShape">
              <a:avLst/>
            </a:prstTxWarp>
          </a:bodyPr>
          <a:lstStyle/>
          <a:p>
            <a:fld id="{BDF482C6-5699-4BAA-A386-B8EEA15E86EE}" type="datetime1">
              <a:rPr lang="zh-CN" altLang="en-US" smtClean="0">
                <a:latin typeface="Times New Roman" pitchFamily="18" charset="0"/>
              </a:rPr>
              <a:pPr/>
              <a:t>2018/12/14</a:t>
            </a:fld>
            <a:endParaRPr lang="en-US" altLang="zh-CN" smtClean="0">
              <a:latin typeface="Times New Roman" pitchFamily="18" charset="0"/>
            </a:endParaRPr>
          </a:p>
        </p:txBody>
      </p:sp>
      <p:sp>
        <p:nvSpPr>
          <p:cNvPr id="93189" name="页脚占位符 5"/>
          <p:cNvSpPr>
            <a:spLocks noGrp="1"/>
          </p:cNvSpPr>
          <p:nvPr>
            <p:ph type="ftr" sz="quarter" idx="11"/>
          </p:nvPr>
        </p:nvSpPr>
        <p:spPr bwMode="auto">
          <a:noFill/>
          <a:ln>
            <a:miter lim="800000"/>
            <a:headEnd/>
            <a:tailEnd/>
          </a:ln>
        </p:spPr>
        <p:txBody>
          <a:bodyPr wrap="square" lIns="91440" tIns="45720" rIns="91440" bIns="45720" numCol="1" anchor="t" anchorCtr="0" compatLnSpc="1">
            <a:prstTxWarp prst="textNoShape">
              <a:avLst/>
            </a:prstTxWarp>
          </a:bodyPr>
          <a:lstStyle/>
          <a:p>
            <a:r>
              <a:rPr lang="zh-CN" altLang="en-US" smtClean="0">
                <a:latin typeface="Times New Roman" pitchFamily="18" charset="0"/>
              </a:rPr>
              <a:t>第</a:t>
            </a:r>
            <a:r>
              <a:rPr lang="en-US" altLang="zh-CN" smtClean="0">
                <a:latin typeface="Times New Roman" pitchFamily="18" charset="0"/>
              </a:rPr>
              <a:t>6</a:t>
            </a:r>
            <a:r>
              <a:rPr lang="zh-CN" altLang="en-US" smtClean="0">
                <a:latin typeface="Times New Roman" pitchFamily="18" charset="0"/>
              </a:rPr>
              <a:t>章 </a:t>
            </a:r>
            <a:r>
              <a:rPr lang="en-US" altLang="zh-CN" smtClean="0">
                <a:latin typeface="Times New Roman" pitchFamily="18" charset="0"/>
              </a:rPr>
              <a:t>LR</a:t>
            </a:r>
            <a:r>
              <a:rPr lang="zh-CN" altLang="en-US" smtClean="0">
                <a:latin typeface="Times New Roman" pitchFamily="18" charset="0"/>
              </a:rPr>
              <a:t>分析</a:t>
            </a:r>
            <a:endParaRPr lang="en-US" altLang="zh-CN" smtClean="0">
              <a:latin typeface="Times New Roman" pitchFamily="18" charset="0"/>
            </a:endParaRPr>
          </a:p>
        </p:txBody>
      </p:sp>
      <p:sp>
        <p:nvSpPr>
          <p:cNvPr id="93190" name="灯片编号占位符 6"/>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D23F5B44-C96C-48E6-BAB4-6FC831118794}" type="slidenum">
              <a:rPr lang="en-US" altLang="zh-CN" smtClean="0">
                <a:latin typeface="Times New Roman" pitchFamily="18" charset="0"/>
              </a:rPr>
              <a:pPr/>
              <a:t>36</a:t>
            </a:fld>
            <a:r>
              <a:rPr lang="en-US" altLang="zh-CN" dirty="0" smtClean="0">
                <a:latin typeface="Times New Roman" pitchFamily="18" charset="0"/>
              </a:rPr>
              <a:t>/36</a:t>
            </a:r>
          </a:p>
        </p:txBody>
      </p:sp>
      <p:sp>
        <p:nvSpPr>
          <p:cNvPr id="93191" name="Rectangle 4"/>
          <p:cNvSpPr>
            <a:spLocks noChangeArrowheads="1"/>
          </p:cNvSpPr>
          <p:nvPr/>
        </p:nvSpPr>
        <p:spPr bwMode="auto">
          <a:xfrm>
            <a:off x="4456113" y="3879850"/>
            <a:ext cx="2819400" cy="701675"/>
          </a:xfrm>
          <a:prstGeom prst="rect">
            <a:avLst/>
          </a:prstGeom>
          <a:noFill/>
          <a:ln w="9525">
            <a:noFill/>
            <a:miter lim="800000"/>
            <a:headEnd/>
            <a:tailEnd/>
          </a:ln>
        </p:spPr>
        <p:txBody>
          <a:bodyPr>
            <a:spAutoFit/>
          </a:bodyPr>
          <a:lstStyle/>
          <a:p>
            <a:r>
              <a:rPr lang="en-US" altLang="zh-CN" sz="4000" b="1" i="1">
                <a:solidFill>
                  <a:schemeClr val="tx2"/>
                </a:solidFill>
                <a:latin typeface="Arial" pitchFamily="34" charset="0"/>
              </a:rPr>
              <a:t>Thank You</a:t>
            </a:r>
            <a:endParaRPr lang="en-US" altLang="zh-CN" sz="3200" b="1" i="1">
              <a:solidFill>
                <a:schemeClr val="tx2"/>
              </a:solidFill>
              <a:latin typeface="CMR10"/>
            </a:endParaRPr>
          </a:p>
        </p:txBody>
      </p:sp>
      <p:sp>
        <p:nvSpPr>
          <p:cNvPr id="93192" name="Rectangle 5"/>
          <p:cNvSpPr>
            <a:spLocks noChangeArrowheads="1"/>
          </p:cNvSpPr>
          <p:nvPr/>
        </p:nvSpPr>
        <p:spPr bwMode="auto">
          <a:xfrm>
            <a:off x="2398713" y="2565400"/>
            <a:ext cx="5486400" cy="609600"/>
          </a:xfrm>
          <a:prstGeom prst="rect">
            <a:avLst/>
          </a:prstGeom>
          <a:noFill/>
          <a:ln w="9525">
            <a:noFill/>
            <a:miter lim="800000"/>
            <a:headEnd/>
            <a:tailEnd/>
          </a:ln>
        </p:spPr>
        <p:txBody>
          <a:bodyPr anchor="b"/>
          <a:lstStyle/>
          <a:p>
            <a:pPr>
              <a:lnSpc>
                <a:spcPct val="90000"/>
              </a:lnSpc>
            </a:pPr>
            <a:r>
              <a:rPr lang="en-US" altLang="zh-CN" sz="3200" b="1" i="1" dirty="0">
                <a:solidFill>
                  <a:schemeClr val="tx2"/>
                </a:solidFill>
                <a:latin typeface="Arial" pitchFamily="34" charset="0"/>
              </a:rPr>
              <a:t>The End of </a:t>
            </a:r>
            <a:r>
              <a:rPr lang="en-US" altLang="zh-CN" sz="3200" b="1" i="1" dirty="0" smtClean="0">
                <a:solidFill>
                  <a:schemeClr val="tx2"/>
                </a:solidFill>
                <a:latin typeface="Arial" pitchFamily="34" charset="0"/>
              </a:rPr>
              <a:t>Ch.6. </a:t>
            </a:r>
            <a:r>
              <a:rPr lang="en-US" altLang="zh-CN" sz="3200" b="1" i="1" dirty="0" smtClean="0">
                <a:solidFill>
                  <a:schemeClr val="tx2"/>
                </a:solidFill>
                <a:latin typeface="CMR10"/>
              </a:rPr>
              <a:t> </a:t>
            </a:r>
            <a:endParaRPr lang="en-US" altLang="zh-CN" sz="3200" b="1" i="1" dirty="0">
              <a:solidFill>
                <a:schemeClr val="tx2"/>
              </a:solidFill>
              <a:latin typeface="CMR1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质朴">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noFill/>
        <a:ln w="9525">
          <a:solidFill>
            <a:schemeClr val="tx1"/>
          </a:solidFill>
          <a:round/>
          <a:headEnd/>
          <a:tailEnd type="triangle" w="med" len="med"/>
        </a:ln>
        <a:effectLst/>
      </a:spPr>
      <a:bodyPr wrap="none" anchor="ctr"/>
      <a:lstStyle>
        <a:defPPr>
          <a:defRPr/>
        </a:defPPr>
      </a:lstStyle>
    </a:sp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10926</TotalTime>
  <Words>3639</Words>
  <Application>Microsoft Office PowerPoint</Application>
  <PresentationFormat>全屏显示(4:3)</PresentationFormat>
  <Paragraphs>612</Paragraphs>
  <Slides>36</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38" baseType="lpstr">
      <vt:lpstr>质朴</vt:lpstr>
      <vt:lpstr>公式</vt:lpstr>
      <vt:lpstr>第6章 LR 分析</vt:lpstr>
      <vt:lpstr>概述</vt:lpstr>
      <vt:lpstr>概述</vt:lpstr>
      <vt:lpstr>概述</vt:lpstr>
      <vt:lpstr>本章内容</vt:lpstr>
      <vt:lpstr>6.1 LR分析概述</vt:lpstr>
      <vt:lpstr>2、LR分析器的结构</vt:lpstr>
      <vt:lpstr>2、LR分析器的结构</vt:lpstr>
      <vt:lpstr>2、LR分析器的结构</vt:lpstr>
      <vt:lpstr>3、LR分析器的基本思想</vt:lpstr>
      <vt:lpstr>4、LR分析器的工作过程</vt:lpstr>
      <vt:lpstr>4、LR分析器的工作过程</vt:lpstr>
      <vt:lpstr>4、LR分析器的工作过程</vt:lpstr>
      <vt:lpstr>5、各种 LR 分析表</vt:lpstr>
      <vt:lpstr>6.2 LR(0)分析</vt:lpstr>
      <vt:lpstr>（1）文法的LR(0)分析表</vt:lpstr>
      <vt:lpstr>（2）输入串abbcde#的分析过程</vt:lpstr>
      <vt:lpstr>6.2.1可归前缀和子前缀</vt:lpstr>
      <vt:lpstr>幻灯片 19</vt:lpstr>
      <vt:lpstr>可归前缀</vt:lpstr>
      <vt:lpstr>活前缀</vt:lpstr>
      <vt:lpstr>拓广文法</vt:lpstr>
      <vt:lpstr>活前缀定义</vt:lpstr>
      <vt:lpstr>6.2.2识别活前缀的有限自动机</vt:lpstr>
      <vt:lpstr>可归前缀的有限自动机</vt:lpstr>
      <vt:lpstr>可归前缀的不确定有限自动机</vt:lpstr>
      <vt:lpstr>幻灯片 27</vt:lpstr>
      <vt:lpstr>幻灯片 28</vt:lpstr>
      <vt:lpstr>6.2.3活前缀及其可归前缀的一般计算方法</vt:lpstr>
      <vt:lpstr>G[S]: (0) S’S  (1) S aAcBe           (2)A b    (3) A Ab   (4)B d</vt:lpstr>
      <vt:lpstr>包含句柄的活前缀</vt:lpstr>
      <vt:lpstr>包含句柄的活前缀举例</vt:lpstr>
      <vt:lpstr>举例</vt:lpstr>
      <vt:lpstr>幻灯片 34</vt:lpstr>
      <vt:lpstr>幻灯片 35</vt:lpstr>
      <vt:lpstr>幻灯片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&lt;&lt; 编译程序设计原理 &gt;&gt;    教案</dc:title>
  <dc:creator>Liao</dc:creator>
  <cp:lastModifiedBy>江西理工大学</cp:lastModifiedBy>
  <cp:revision>726</cp:revision>
  <dcterms:created xsi:type="dcterms:W3CDTF">1995-06-17T23:31:02Z</dcterms:created>
  <dcterms:modified xsi:type="dcterms:W3CDTF">2018-12-14T08:22:56Z</dcterms:modified>
</cp:coreProperties>
</file>